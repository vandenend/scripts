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8" r:id="rId1"/>
    <p:sldMasterId id="2147483708" r:id="rId2"/>
  </p:sldMasterIdLst>
  <p:notesMasterIdLst>
    <p:notesMasterId r:id="rId17"/>
  </p:notesMasterIdLst>
  <p:handoutMasterIdLst>
    <p:handoutMasterId r:id="rId18"/>
  </p:handoutMasterIdLst>
  <p:sldIdLst>
    <p:sldId id="781" r:id="rId3"/>
    <p:sldId id="768" r:id="rId4"/>
    <p:sldId id="795" r:id="rId5"/>
    <p:sldId id="657" r:id="rId6"/>
    <p:sldId id="786" r:id="rId7"/>
    <p:sldId id="784" r:id="rId8"/>
    <p:sldId id="792" r:id="rId9"/>
    <p:sldId id="793" r:id="rId10"/>
    <p:sldId id="796" r:id="rId11"/>
    <p:sldId id="790" r:id="rId12"/>
    <p:sldId id="783" r:id="rId13"/>
    <p:sldId id="782" r:id="rId14"/>
    <p:sldId id="791" r:id="rId15"/>
    <p:sldId id="794" r:id="rId16"/>
  </p:sldIdLst>
  <p:sldSz cx="9144000" cy="6858000" type="screen4x3"/>
  <p:notesSz cx="6805613" cy="99441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59AA52A-C8DC-0079-4B3D-3D94CB4CC93F}" name="Sleijpen, O.C.H.M. (Olaf) (DIR_DIR)" initials="SO((" userId="S::o.c.h.m.sleijpen@dnb.nl::e1834a21-b3b8-47a2-be81-be8d1b72480a" providerId="AD"/>
  <p188:author id="{114EDE45-E8DB-37B7-C237-E6B69FEBD181}" name="Hebbink, G.E. (Gerbert) (EBO_CMA)" initials="HG((" userId="S::g.e.hebbink@dnb.nl::444fd58c-4ff3-4106-ad46-ede14c697b3e" providerId="AD"/>
  <p188:author id="{19AFD3AA-EF12-0A5E-B173-A3D533F398FE}" name="Robert-Paul Berben (EBO_ECMO)" initials="RB" userId="S::r.p.berben@dnb.nl::e0d9533d-c10d-4fed-b4b8-e1abed61a76a" providerId="AD"/>
  <p188:author id="{B57F0CF1-687C-DE38-9287-2219F7DAA597}" name="Henneman, M.L. (Maria) (COM_COM)" initials="HM((" userId="S::M.L.Henneman@dnb.nl::93a05259-aa37-4f46-ab68-ed256dca0c3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10099"/>
    <a:srgbClr val="9B9000"/>
    <a:srgbClr val="002060"/>
    <a:srgbClr val="211261"/>
    <a:srgbClr val="2B323C"/>
    <a:srgbClr val="0000FF"/>
    <a:srgbClr val="7F7F7F"/>
    <a:srgbClr val="162257"/>
    <a:srgbClr val="44287F"/>
    <a:srgbClr val="9B9B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7102E3-B1ED-4733-957D-85FAB5094C64}" v="59" dt="2026-09-18T13:15:23.091"/>
    <p1510:client id="{13B43BEF-9B9B-431D-9308-0B2B126B7992}" v="77" dt="2026-09-18T18:49:25.77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Stijl, gemiddeld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Stijl, gemiddeld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Stijl, gemiddeld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Stijl, gemiddeld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Stijl, gemiddeld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Stijl, gemiddeld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8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5" Type="http://schemas.microsoft.com/office/2018/10/relationships/authors" Target="author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 Willem van den End (EBO_CMA)" userId="32ade95a-e024-4672-952f-5ed8641a9e00" providerId="ADAL" clId="{3BBBE02E-ACD4-4586-9407-5E79BF620DF1}"/>
    <pc:docChg chg="undo custSel modSld">
      <pc:chgData name="Jan Willem van den End (EBO_CMA)" userId="32ade95a-e024-4672-952f-5ed8641a9e00" providerId="ADAL" clId="{3BBBE02E-ACD4-4586-9407-5E79BF620DF1}" dt="2026-09-18T19:12:02.526" v="592" actId="20577"/>
      <pc:docMkLst>
        <pc:docMk/>
      </pc:docMkLst>
      <pc:sldChg chg="addSp delSp modSp mod">
        <pc:chgData name="Jan Willem van den End (EBO_CMA)" userId="32ade95a-e024-4672-952f-5ed8641a9e00" providerId="ADAL" clId="{3BBBE02E-ACD4-4586-9407-5E79BF620DF1}" dt="2026-09-18T18:49:54.512" v="98" actId="27309"/>
        <pc:sldMkLst>
          <pc:docMk/>
          <pc:sldMk cId="2304846322" sldId="792"/>
        </pc:sldMkLst>
        <pc:spChg chg="mod">
          <ac:chgData name="Jan Willem van den End (EBO_CMA)" userId="32ade95a-e024-4672-952f-5ed8641a9e00" providerId="ADAL" clId="{3BBBE02E-ACD4-4586-9407-5E79BF620DF1}" dt="2026-09-18T18:43:15.768" v="85" actId="20577"/>
          <ac:spMkLst>
            <pc:docMk/>
            <pc:sldMk cId="2304846322" sldId="792"/>
            <ac:spMk id="6" creationId="{CF9708F7-32AE-5645-3159-CE1174AB0729}"/>
          </ac:spMkLst>
        </pc:spChg>
        <pc:graphicFrameChg chg="add del modGraphic">
          <ac:chgData name="Jan Willem van den End (EBO_CMA)" userId="32ade95a-e024-4672-952f-5ed8641a9e00" providerId="ADAL" clId="{3BBBE02E-ACD4-4586-9407-5E79BF620DF1}" dt="2026-09-18T18:49:54.512" v="98" actId="27309"/>
          <ac:graphicFrameMkLst>
            <pc:docMk/>
            <pc:sldMk cId="2304846322" sldId="792"/>
            <ac:graphicFrameMk id="9" creationId="{271B1B44-14A0-3DCE-F0CE-A489973C9714}"/>
          </ac:graphicFrameMkLst>
        </pc:graphicFrameChg>
      </pc:sldChg>
      <pc:sldChg chg="modSp mod">
        <pc:chgData name="Jan Willem van den End (EBO_CMA)" userId="32ade95a-e024-4672-952f-5ed8641a9e00" providerId="ADAL" clId="{3BBBE02E-ACD4-4586-9407-5E79BF620DF1}" dt="2026-09-18T18:42:26.091" v="73" actId="20577"/>
        <pc:sldMkLst>
          <pc:docMk/>
          <pc:sldMk cId="515665883" sldId="793"/>
        </pc:sldMkLst>
        <pc:spChg chg="mod">
          <ac:chgData name="Jan Willem van den End (EBO_CMA)" userId="32ade95a-e024-4672-952f-5ed8641a9e00" providerId="ADAL" clId="{3BBBE02E-ACD4-4586-9407-5E79BF620DF1}" dt="2026-09-18T18:42:26.091" v="73" actId="20577"/>
          <ac:spMkLst>
            <pc:docMk/>
            <pc:sldMk cId="515665883" sldId="793"/>
            <ac:spMk id="2" creationId="{6B853D72-57E4-54DF-F916-E87E4C65C99E}"/>
          </ac:spMkLst>
        </pc:spChg>
      </pc:sldChg>
      <pc:sldChg chg="addSp delSp modSp mod">
        <pc:chgData name="Jan Willem van den End (EBO_CMA)" userId="32ade95a-e024-4672-952f-5ed8641a9e00" providerId="ADAL" clId="{3BBBE02E-ACD4-4586-9407-5E79BF620DF1}" dt="2026-09-18T19:12:02.526" v="592" actId="20577"/>
        <pc:sldMkLst>
          <pc:docMk/>
          <pc:sldMk cId="909146083" sldId="796"/>
        </pc:sldMkLst>
        <pc:spChg chg="mod">
          <ac:chgData name="Jan Willem van den End (EBO_CMA)" userId="32ade95a-e024-4672-952f-5ed8641a9e00" providerId="ADAL" clId="{3BBBE02E-ACD4-4586-9407-5E79BF620DF1}" dt="2026-09-18T19:12:02.526" v="592" actId="20577"/>
          <ac:spMkLst>
            <pc:docMk/>
            <pc:sldMk cId="909146083" sldId="796"/>
            <ac:spMk id="2" creationId="{9D7DFCD1-CA74-2C76-7A49-94B41E557F74}"/>
          </ac:spMkLst>
        </pc:spChg>
        <pc:spChg chg="add mod">
          <ac:chgData name="Jan Willem van den End (EBO_CMA)" userId="32ade95a-e024-4672-952f-5ed8641a9e00" providerId="ADAL" clId="{3BBBE02E-ACD4-4586-9407-5E79BF620DF1}" dt="2026-09-18T18:56:06.647" v="165" actId="1038"/>
          <ac:spMkLst>
            <pc:docMk/>
            <pc:sldMk cId="909146083" sldId="796"/>
            <ac:spMk id="6" creationId="{4ED6076C-5ED2-F560-9ECC-68A359BFC0CA}"/>
          </ac:spMkLst>
        </pc:spChg>
        <pc:picChg chg="del mod">
          <ac:chgData name="Jan Willem van den End (EBO_CMA)" userId="32ade95a-e024-4672-952f-5ed8641a9e00" providerId="ADAL" clId="{3BBBE02E-ACD4-4586-9407-5E79BF620DF1}" dt="2026-09-18T18:49:16.922" v="91" actId="478"/>
          <ac:picMkLst>
            <pc:docMk/>
            <pc:sldMk cId="909146083" sldId="796"/>
            <ac:picMk id="3" creationId="{B8AE92C3-2830-FAC2-938C-8AB03FFDFA8A}"/>
          </ac:picMkLst>
        </pc:picChg>
        <pc:picChg chg="mod">
          <ac:chgData name="Jan Willem van den End (EBO_CMA)" userId="32ade95a-e024-4672-952f-5ed8641a9e00" providerId="ADAL" clId="{3BBBE02E-ACD4-4586-9407-5E79BF620DF1}" dt="2026-09-18T18:56:06.647" v="165" actId="1038"/>
          <ac:picMkLst>
            <pc:docMk/>
            <pc:sldMk cId="909146083" sldId="796"/>
            <ac:picMk id="4" creationId="{FD6B8E7D-29E9-A720-3479-9CC57D8735B6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5445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6BBE9F-2231-4498-A3E5-DFB02EDDD594}" type="datetimeFigureOut">
              <a:rPr lang="nl-NL" smtClean="0"/>
              <a:t>18-9-2026</a:t>
            </a:fld>
            <a:endParaRPr lang="nl-NL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9445625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54450" y="9445625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6F0578-CC77-4CC6-8BD4-1C24732170C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6216919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0D5B51-A3C5-4FC7-8A0D-54EFEFAFACD3}" type="datetimeFigureOut">
              <a:rPr lang="nl-NL" smtClean="0"/>
              <a:t>18-9-2026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3013"/>
            <a:ext cx="4471987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0562" y="4785598"/>
            <a:ext cx="5444490" cy="391548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54939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513F78-5509-4637-B397-C3DEABA5615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38850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513F78-5509-4637-B397-C3DEABA56153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554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2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82934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6A921-151D-0DF3-6FAB-E2178B70A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A8D2CC52-7055-C4F5-9776-623326025D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8349AC74-CDDA-DD36-1991-DAE35EA6E6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ACE3154-DBE9-5AA3-E1EA-0FF8C60847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76092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36597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2F355-1972-2393-BE86-3ED62A5F2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0949E41C-3A1B-7506-9467-350925154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A6DA90D2-1A07-3CDD-DC37-B10D687FEB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7E40117-2FC2-AD64-7A69-257DCDF9CD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5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14445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1EF1A-2BFE-FC73-A652-E93653709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08E45FAF-A103-FAAB-7970-46F9F5DD78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0EDCB2AF-C97E-CB13-E1A4-6EFAD03217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BB08B61-6468-52E0-E472-F09207F523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6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70682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48E58-CB75-905B-068E-CDD7A9D2A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687A6651-9D8C-041E-6221-CB4A80DAA5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F634D1AC-E4B8-E07C-05B4-D7A415247C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026BB5A-DB7F-2C88-876D-A4F0BE83B4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7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19242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90BC5-06E4-392E-9044-211CD5CF8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C3A3BA49-0B7A-D781-55F9-636B649C75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8F9248E1-2394-BB6E-ACF7-C8BB520C44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3D28C7A-35E3-D7B6-1A04-5292B9F6D9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779568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F143D-9E44-94EC-AB52-06F1DEC0D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48347234-BA72-C5A5-000F-B7C8EE2A6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67B9C725-AD21-6CD5-3DA4-207B353C14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A4204FB8-B708-D4FF-C770-62C729146F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389336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96EA2-6791-8BA7-3E1D-8AA418416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2C2B42AB-3FC6-66F4-EDB9-3794F38C39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76266033-F159-99E4-AB2E-A64BA45BAE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271191F-9E85-0AC2-25F8-021F793E68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2248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72A8A-A84A-97A5-1457-BC14F74B5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E01C7A8D-4AD4-9718-24B4-E3DD7A672E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45B00884-682F-ABB0-4450-31B342A599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540CA2C-E628-470B-77EC-A64F9E7DE8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2742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F11D1-111C-2097-AF1B-AC0E25145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533E7C0D-B7FA-4003-29ED-9A68D1D38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1D2409FC-30BF-11D2-8F14-E878B41EDE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7DB7752-4697-5BFC-EE65-CBB78901BE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12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79702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DE61E-40DD-9FCB-7415-8004BAD09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14660F3A-AA3B-1B45-807B-E34E346A94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A2CDDDEC-3085-D7C1-3586-164751189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1BC49F77-D952-93CD-01F1-A7374ECB05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13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8637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0B703-6763-3A02-0CD1-2AA5E1B12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F4C337D0-D3BF-4189-B369-1E9D295871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14911D73-3315-29CE-AA78-CA06D88382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DDB81D25-FC8A-9EA8-7378-54154F5B79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14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39460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diaDNBGrijs2">
    <p:bg>
      <p:bgPr>
        <a:solidFill>
          <a:srgbClr val="B845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/>
          <p:cNvSpPr/>
          <p:nvPr userDrawn="1"/>
        </p:nvSpPr>
        <p:spPr bwMode="gray">
          <a:xfrm>
            <a:off x="316829" y="2202312"/>
            <a:ext cx="7912770" cy="2446339"/>
          </a:xfrm>
          <a:prstGeom prst="rect">
            <a:avLst/>
          </a:prstGeom>
          <a:solidFill>
            <a:srgbClr val="410099"/>
          </a:solidFill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201600" rIns="201600" rtlCol="0" anchor="ctr"/>
          <a:lstStyle/>
          <a:p>
            <a:pPr algn="ctr"/>
            <a:endParaRPr lang="nl-NL" sz="2400">
              <a:solidFill>
                <a:prstClr val="white"/>
              </a:solidFill>
            </a:endParaRPr>
          </a:p>
        </p:txBody>
      </p:sp>
      <p:pic>
        <p:nvPicPr>
          <p:cNvPr id="10" name="Picture 2" descr="R:\Projecten\000_TID_DNBPPT\van_tid\DNB_merkteken_pos_eurosysteemwit_rgb-groot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gray">
          <a:xfrm>
            <a:off x="308808" y="4765514"/>
            <a:ext cx="2438400" cy="781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itle 1"/>
          <p:cNvSpPr txBox="1">
            <a:spLocks/>
          </p:cNvSpPr>
          <p:nvPr userDrawn="1"/>
        </p:nvSpPr>
        <p:spPr bwMode="gray">
          <a:xfrm>
            <a:off x="323528" y="4149080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Vooruitzichten </a:t>
            </a:r>
            <a:endParaRPr lang="en-US" sz="2800"/>
          </a:p>
        </p:txBody>
      </p:sp>
      <p:sp>
        <p:nvSpPr>
          <p:cNvPr id="15" name="Title 1"/>
          <p:cNvSpPr txBox="1">
            <a:spLocks/>
          </p:cNvSpPr>
          <p:nvPr userDrawn="1"/>
        </p:nvSpPr>
        <p:spPr bwMode="gray">
          <a:xfrm>
            <a:off x="323528" y="3645024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Ontwikkelingen en</a:t>
            </a:r>
            <a:endParaRPr lang="en-US" sz="2800"/>
          </a:p>
        </p:txBody>
      </p:sp>
      <p:sp>
        <p:nvSpPr>
          <p:cNvPr id="16" name="Title 1"/>
          <p:cNvSpPr txBox="1">
            <a:spLocks/>
          </p:cNvSpPr>
          <p:nvPr userDrawn="1"/>
        </p:nvSpPr>
        <p:spPr bwMode="gray">
          <a:xfrm>
            <a:off x="323528" y="3136277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Economische </a:t>
            </a: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725265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diaDNBGrijs2">
    <p:bg>
      <p:bgPr>
        <a:solidFill>
          <a:srgbClr val="84CD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/>
          <p:cNvSpPr/>
          <p:nvPr userDrawn="1"/>
        </p:nvSpPr>
        <p:spPr bwMode="gray">
          <a:xfrm>
            <a:off x="712995" y="3751911"/>
            <a:ext cx="5383005" cy="1761921"/>
          </a:xfrm>
          <a:prstGeom prst="rect">
            <a:avLst/>
          </a:prstGeom>
          <a:solidFill>
            <a:srgbClr val="410099"/>
          </a:solidFill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201600" rIns="201600" rtlCol="0" anchor="ctr"/>
          <a:lstStyle/>
          <a:p>
            <a:pPr algn="ctr"/>
            <a:endParaRPr lang="nl-NL" sz="2400">
              <a:solidFill>
                <a:prstClr val="white"/>
              </a:solidFill>
            </a:endParaRPr>
          </a:p>
        </p:txBody>
      </p:sp>
      <p:pic>
        <p:nvPicPr>
          <p:cNvPr id="10" name="Picture 2" descr="R:\Projecten\000_TID_DNBPPT\van_tid\DNB_merkteken_pos_eurosysteemwit_rgb-groot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gray">
          <a:xfrm>
            <a:off x="712995" y="5611401"/>
            <a:ext cx="2438400" cy="781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itle 1"/>
          <p:cNvSpPr txBox="1">
            <a:spLocks/>
          </p:cNvSpPr>
          <p:nvPr userDrawn="1"/>
        </p:nvSpPr>
        <p:spPr bwMode="gray">
          <a:xfrm>
            <a:off x="645257" y="4952296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Vooruitzichten </a:t>
            </a:r>
            <a:endParaRPr lang="en-US" sz="2800"/>
          </a:p>
        </p:txBody>
      </p:sp>
      <p:sp>
        <p:nvSpPr>
          <p:cNvPr id="15" name="Title 1"/>
          <p:cNvSpPr txBox="1">
            <a:spLocks/>
          </p:cNvSpPr>
          <p:nvPr userDrawn="1"/>
        </p:nvSpPr>
        <p:spPr bwMode="gray">
          <a:xfrm>
            <a:off x="645256" y="4531027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Ontwikkelingen en</a:t>
            </a:r>
            <a:endParaRPr lang="en-US" sz="2800"/>
          </a:p>
        </p:txBody>
      </p:sp>
      <p:sp>
        <p:nvSpPr>
          <p:cNvPr id="16" name="Title 1"/>
          <p:cNvSpPr txBox="1">
            <a:spLocks/>
          </p:cNvSpPr>
          <p:nvPr userDrawn="1"/>
        </p:nvSpPr>
        <p:spPr bwMode="gray">
          <a:xfrm>
            <a:off x="645256" y="4124124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Economische </a:t>
            </a: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401840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18800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/>
              <a:t>&lt;d maand&gt; 2015</a:t>
            </a:r>
            <a:endParaRPr lang="nl-NL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18800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/>
              <a:t>kies Invoegen-&gt;'Koptekst en voettekst' voor &lt;auteur, functie&gt; en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18800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09227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18800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/>
              <a:t>&lt;d maand&gt; 2015</a:t>
            </a:r>
            <a:endParaRPr lang="nl-NL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18800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/>
              <a:t>kies Invoegen-&gt;'Koptekst en voettekst' voor &lt;auteur, functie&gt; en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18800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24766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R:\Projecten\000_TID_DNBPPT\van_tid\DNB_merkteken_pos_rgb-klein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561" y="6242400"/>
            <a:ext cx="1527175" cy="487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95200" y="399600"/>
            <a:ext cx="8568000" cy="67428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5200" y="1353600"/>
            <a:ext cx="8553600" cy="4608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9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21305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>
                <a:solidFill>
                  <a:prstClr val="black"/>
                </a:solidFill>
              </a:rPr>
              <a:t>&lt;d </a:t>
            </a:r>
            <a:r>
              <a:rPr lang="en-US" err="1">
                <a:solidFill>
                  <a:prstClr val="black"/>
                </a:solidFill>
              </a:rPr>
              <a:t>maand</a:t>
            </a:r>
            <a:r>
              <a:rPr lang="en-US">
                <a:solidFill>
                  <a:prstClr val="black"/>
                </a:solidFill>
              </a:rPr>
              <a:t>&gt; 2015</a:t>
            </a:r>
            <a:endParaRPr lang="nl-NL">
              <a:solidFill>
                <a:prstClr val="black"/>
              </a:solidFill>
            </a:endParaRPr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21612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>
                <a:solidFill>
                  <a:prstClr val="black"/>
                </a:solidFill>
              </a:rPr>
              <a:t>kies Invoegen-&gt;'Koptekst en voettekst' voor &lt;auteur, functie&gt; en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20525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>
                <a:solidFill>
                  <a:prstClr val="black"/>
                </a:solidFill>
              </a:rPr>
              <a:pPr/>
              <a:t>‹#›</a:t>
            </a:fld>
            <a:endParaRPr lang="nl-NL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419613-3326-3B0A-A276-3ECE2A30D205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8429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1000">
                <a:solidFill>
                  <a:srgbClr val="7FAA39">
                    <a:alpha val="50000"/>
                  </a:srgbClr>
                </a:solidFill>
                <a:latin typeface="Aptos" panose="020B0004020202020204" pitchFamily="34" charset="0"/>
              </a:rPr>
              <a:t>| DNB PUBLIC |</a:t>
            </a:r>
          </a:p>
        </p:txBody>
      </p:sp>
    </p:spTree>
    <p:extLst>
      <p:ext uri="{BB962C8B-B14F-4D97-AF65-F5344CB8AC3E}">
        <p14:creationId xmlns:p14="http://schemas.microsoft.com/office/powerpoint/2010/main" val="1457511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</p:sldLayoutIdLst>
  <p:hf hdr="0"/>
  <p:txStyles>
    <p:titleStyle>
      <a:lvl1pPr algn="l" defTabSz="914400" rtl="0" eaLnBrk="1" latinLnBrk="0" hangingPunct="1">
        <a:lnSpc>
          <a:spcPts val="3750"/>
        </a:lnSpc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2250"/>
        </a:lnSpc>
        <a:spcBef>
          <a:spcPts val="0"/>
        </a:spcBef>
        <a:buFont typeface="Arial" panose="020B0604020202020204" pitchFamily="34" charset="0"/>
        <a:buNone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ts val="1800"/>
        </a:lnSpc>
        <a:spcBef>
          <a:spcPts val="0"/>
        </a:spcBef>
        <a:buSzPct val="125000"/>
        <a:buFontTx/>
        <a:buNone/>
        <a:defRPr sz="185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R:\Projecten\000_TID_DNBPPT\van_tid\DNB_merkteken_pos_rgb-klein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561" y="6242400"/>
            <a:ext cx="1527175" cy="487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95200" y="399600"/>
            <a:ext cx="8568000" cy="67428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5200" y="1353600"/>
            <a:ext cx="8553600" cy="4608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9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21305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>
                <a:solidFill>
                  <a:prstClr val="black"/>
                </a:solidFill>
              </a:rPr>
              <a:t>&lt;d </a:t>
            </a:r>
            <a:r>
              <a:rPr lang="en-US" err="1">
                <a:solidFill>
                  <a:prstClr val="black"/>
                </a:solidFill>
              </a:rPr>
              <a:t>maand</a:t>
            </a:r>
            <a:r>
              <a:rPr lang="en-US">
                <a:solidFill>
                  <a:prstClr val="black"/>
                </a:solidFill>
              </a:rPr>
              <a:t>&gt; 2015</a:t>
            </a:r>
            <a:endParaRPr lang="nl-NL">
              <a:solidFill>
                <a:prstClr val="black"/>
              </a:solidFill>
            </a:endParaRPr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21612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>
                <a:solidFill>
                  <a:prstClr val="black"/>
                </a:solidFill>
              </a:rPr>
              <a:t>kies Invoegen-&gt;'Koptekst en voettekst' voor &lt;auteur, functie&gt; en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20525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>
                <a:solidFill>
                  <a:prstClr val="black"/>
                </a:solidFill>
              </a:rPr>
              <a:pPr/>
              <a:t>‹#›</a:t>
            </a:fld>
            <a:endParaRPr lang="nl-NL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FE1AA8-430C-925C-4B49-CA9E5538C465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8429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1000">
                <a:solidFill>
                  <a:srgbClr val="7FAA39">
                    <a:alpha val="50000"/>
                  </a:srgbClr>
                </a:solidFill>
                <a:latin typeface="Aptos" panose="020B0004020202020204" pitchFamily="34" charset="0"/>
              </a:rPr>
              <a:t>| DNB PUBLIC |</a:t>
            </a:r>
          </a:p>
        </p:txBody>
      </p:sp>
    </p:spTree>
    <p:extLst>
      <p:ext uri="{BB962C8B-B14F-4D97-AF65-F5344CB8AC3E}">
        <p14:creationId xmlns:p14="http://schemas.microsoft.com/office/powerpoint/2010/main" val="4132329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</p:sldLayoutIdLst>
  <p:hf hdr="0"/>
  <p:txStyles>
    <p:titleStyle>
      <a:lvl1pPr algn="l" defTabSz="914400" rtl="0" eaLnBrk="1" latinLnBrk="0" hangingPunct="1">
        <a:lnSpc>
          <a:spcPts val="3750"/>
        </a:lnSpc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2250"/>
        </a:lnSpc>
        <a:spcBef>
          <a:spcPts val="0"/>
        </a:spcBef>
        <a:buFont typeface="Arial" panose="020B0604020202020204" pitchFamily="34" charset="0"/>
        <a:buNone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ts val="1800"/>
        </a:lnSpc>
        <a:spcBef>
          <a:spcPts val="0"/>
        </a:spcBef>
        <a:buSzPct val="125000"/>
        <a:buFontTx/>
        <a:buNone/>
        <a:defRPr sz="185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slide" Target="slide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1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slide" Target="slide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slide" Target="slide4.xml"/><Relationship Id="rId4" Type="http://schemas.openxmlformats.org/officeDocument/2006/relationships/image" Target="../media/image13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jpe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23DEFEE-159F-2F13-C617-6B4633392BB4}"/>
              </a:ext>
            </a:extLst>
          </p:cNvPr>
          <p:cNvSpPr txBox="1">
            <a:spLocks/>
          </p:cNvSpPr>
          <p:nvPr/>
        </p:nvSpPr>
        <p:spPr>
          <a:xfrm>
            <a:off x="418880" y="807374"/>
            <a:ext cx="8469088" cy="567943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ts val="2250"/>
              </a:lnSpc>
              <a:spcBef>
                <a:spcPts val="0"/>
              </a:spcBef>
              <a:buFont typeface="Arial" panose="020B0604020202020204" pitchFamily="34" charset="0"/>
              <a:buNone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ts val="1800"/>
              </a:lnSpc>
              <a:spcBef>
                <a:spcPts val="0"/>
              </a:spcBef>
              <a:buSzPct val="125000"/>
              <a:buFontTx/>
              <a:buNone/>
              <a:defRPr sz="18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400" rtl="0" eaLnBrk="1" latinLnBrk="0" hangingPunct="1">
              <a:lnSpc>
                <a:spcPts val="2250"/>
              </a:lnSpc>
              <a:spcBef>
                <a:spcPts val="0"/>
              </a:spcBef>
              <a:buSzPct val="125000"/>
              <a:buFont typeface="Wingdings" panose="05000000000000000000" pitchFamily="2" charset="2"/>
              <a:buChar char="§"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914400" rtl="0" eaLnBrk="1" latinLnBrk="0" hangingPunct="1">
              <a:lnSpc>
                <a:spcPts val="2250"/>
              </a:lnSpc>
              <a:spcBef>
                <a:spcPts val="0"/>
              </a:spcBef>
              <a:buSzPct val="125000"/>
              <a:buFont typeface="Wingdings" panose="05000000000000000000" pitchFamily="2" charset="2"/>
              <a:buChar char="§"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975" algn="l" defTabSz="914400" rtl="0" eaLnBrk="1" latinLnBrk="0" hangingPunct="1">
              <a:lnSpc>
                <a:spcPts val="2250"/>
              </a:lnSpc>
              <a:spcBef>
                <a:spcPts val="0"/>
              </a:spcBef>
              <a:buSzPct val="125000"/>
              <a:buFont typeface="Wingdings" panose="05000000000000000000" pitchFamily="2" charset="2"/>
              <a:buChar char="§"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  <a:spcAft>
                <a:spcPts val="1200"/>
              </a:spcAft>
            </a:pPr>
            <a:endParaRPr lang="en-US" sz="34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sz="3400" noProof="1">
                <a:latin typeface="Verdana" panose="020B0604030504040204" pitchFamily="34" charset="0"/>
                <a:ea typeface="Verdana" panose="020B0604030504040204" pitchFamily="34" charset="0"/>
              </a:rPr>
              <a:t>AI and shock resilience: </a:t>
            </a: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sz="3400" noProof="1">
                <a:latin typeface="Verdana" panose="020B0604030504040204" pitchFamily="34" charset="0"/>
                <a:ea typeface="Verdana" panose="020B0604030504040204" pitchFamily="34" charset="0"/>
              </a:rPr>
              <a:t>Indications from euro area economies</a:t>
            </a:r>
            <a:endParaRPr lang="nl-NL" sz="3400" dirty="0"/>
          </a:p>
        </p:txBody>
      </p:sp>
    </p:spTree>
    <p:extLst>
      <p:ext uri="{BB962C8B-B14F-4D97-AF65-F5344CB8AC3E}">
        <p14:creationId xmlns:p14="http://schemas.microsoft.com/office/powerpoint/2010/main" val="2835017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Semiconductor super-</a:t>
            </a:r>
            <a:r>
              <a:rPr lang="nl-NL" sz="2400" dirty="0" err="1">
                <a:solidFill>
                  <a:schemeClr val="bg1"/>
                </a:solidFill>
              </a:rPr>
              <a:t>cycle</a:t>
            </a:r>
            <a:r>
              <a:rPr lang="nl-NL" sz="2400" dirty="0">
                <a:solidFill>
                  <a:schemeClr val="bg1"/>
                </a:solidFill>
              </a:rPr>
              <a:t> </a:t>
            </a:r>
            <a:r>
              <a:rPr lang="nl-NL" sz="2400" dirty="0" err="1">
                <a:solidFill>
                  <a:schemeClr val="bg1"/>
                </a:solidFill>
              </a:rPr>
              <a:t>seems</a:t>
            </a:r>
            <a:r>
              <a:rPr lang="nl-NL" sz="2400" dirty="0">
                <a:solidFill>
                  <a:schemeClr val="bg1"/>
                </a:solidFill>
              </a:rPr>
              <a:t> immune </a:t>
            </a:r>
            <a:r>
              <a:rPr lang="nl-NL" sz="2400" dirty="0" err="1">
                <a:solidFill>
                  <a:schemeClr val="bg1"/>
                </a:solidFill>
              </a:rPr>
              <a:t>to</a:t>
            </a:r>
            <a:r>
              <a:rPr lang="nl-NL" sz="2400" dirty="0">
                <a:solidFill>
                  <a:schemeClr val="bg1"/>
                </a:solidFill>
              </a:rPr>
              <a:t> shocks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5F77E79-9F6B-4517-B974-99DAACE11D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015" y="1111359"/>
            <a:ext cx="2962657" cy="4989922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Strong upward trend in semiconductor market not derailed by global shocks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Does this mean that economies more exposed to ICT-tech (AI) are also more resilient to shocks?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31B433-F3FC-898E-A2C4-1A7649456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3008" y="1522669"/>
            <a:ext cx="5650992" cy="3897624"/>
          </a:xfrm>
          <a:prstGeom prst="rect">
            <a:avLst/>
          </a:prstGeom>
        </p:spPr>
      </p:pic>
      <p:sp>
        <p:nvSpPr>
          <p:cNvPr id="8" name="Tekstvak 3">
            <a:extLst>
              <a:ext uri="{FF2B5EF4-FFF2-40B4-BE49-F238E27FC236}">
                <a16:creationId xmlns:a16="http://schemas.microsoft.com/office/drawing/2014/main" id="{545BE5F7-F057-18CF-DA77-201D8BAEDAF2}"/>
              </a:ext>
            </a:extLst>
          </p:cNvPr>
          <p:cNvSpPr txBox="1"/>
          <p:nvPr/>
        </p:nvSpPr>
        <p:spPr>
          <a:xfrm>
            <a:off x="3767327" y="5639616"/>
            <a:ext cx="53766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Semiconductor stock index (SOX) </a:t>
            </a:r>
            <a:r>
              <a:rPr lang="nl-NL" sz="1200" dirty="0" err="1">
                <a:solidFill>
                  <a:srgbClr val="002060"/>
                </a:solidFill>
              </a:rPr>
              <a:t>relative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to</a:t>
            </a:r>
            <a:r>
              <a:rPr lang="nl-NL" sz="1200" dirty="0">
                <a:solidFill>
                  <a:srgbClr val="002060"/>
                </a:solidFill>
              </a:rPr>
              <a:t> STOXX Europe 600.</a:t>
            </a:r>
          </a:p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Global </a:t>
            </a:r>
            <a:r>
              <a:rPr lang="nl-NL" sz="1200" dirty="0" err="1">
                <a:solidFill>
                  <a:srgbClr val="002060"/>
                </a:solidFill>
              </a:rPr>
              <a:t>uncertainty</a:t>
            </a:r>
            <a:r>
              <a:rPr lang="nl-NL" sz="1200" dirty="0">
                <a:solidFill>
                  <a:srgbClr val="002060"/>
                </a:solidFill>
              </a:rPr>
              <a:t> is princ </a:t>
            </a:r>
            <a:r>
              <a:rPr lang="nl-NL" sz="1200" dirty="0" err="1">
                <a:solidFill>
                  <a:srgbClr val="002060"/>
                </a:solidFill>
              </a:rPr>
              <a:t>comp</a:t>
            </a:r>
            <a:r>
              <a:rPr lang="nl-NL" sz="1200" dirty="0">
                <a:solidFill>
                  <a:srgbClr val="002060"/>
                </a:solidFill>
              </a:rPr>
              <a:t> of EPU, GPR, VIX (</a:t>
            </a:r>
            <a:r>
              <a:rPr lang="nl-NL" sz="1200" dirty="0" err="1">
                <a:solidFill>
                  <a:srgbClr val="002060"/>
                </a:solidFill>
              </a:rPr>
              <a:t>standardised</a:t>
            </a:r>
            <a:r>
              <a:rPr lang="nl-NL" sz="1200" dirty="0">
                <a:solidFill>
                  <a:srgbClr val="002060"/>
                </a:solidFill>
              </a:rPr>
              <a:t>).</a:t>
            </a:r>
          </a:p>
          <a:p>
            <a:pPr>
              <a:defRPr/>
            </a:pPr>
            <a:endParaRPr lang="nl-NL" sz="1200" dirty="0">
              <a:solidFill>
                <a:srgbClr val="002060"/>
              </a:solidFill>
              <a:hlinkClick r:id="rId4" action="ppaction://hlinksldjump"/>
            </a:endParaRPr>
          </a:p>
          <a:p>
            <a:pPr>
              <a:defRPr/>
            </a:pPr>
            <a:r>
              <a:rPr lang="nl-NL" sz="1200" dirty="0">
                <a:solidFill>
                  <a:srgbClr val="002060"/>
                </a:solidFill>
                <a:hlinkClick r:id="rId4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to</a:t>
            </a:r>
            <a:r>
              <a:rPr lang="nl-NL" sz="1200" dirty="0">
                <a:solidFill>
                  <a:srgbClr val="002060"/>
                </a:solidFill>
              </a:rPr>
              <a:t> short-term </a:t>
            </a:r>
            <a:r>
              <a:rPr lang="nl-NL" sz="1200" dirty="0" err="1">
                <a:solidFill>
                  <a:srgbClr val="002060"/>
                </a:solidFill>
              </a:rPr>
              <a:t>cycle</a:t>
            </a:r>
            <a:r>
              <a:rPr lang="nl-NL" sz="1200" dirty="0">
                <a:solidFill>
                  <a:srgbClr val="00206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032075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CE812-DB4E-6877-6B4B-63CFA22DC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BC7CDFAD-06A8-46EF-4776-25D11166D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Empirical approach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7415D86D-5542-3552-758F-1923FC3E3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653" y="803135"/>
            <a:ext cx="7781804" cy="5679439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nl-NL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Data for 10 euro area countries, 2011-2025</a:t>
            </a: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GDP growth surprises linked to variables for ICT/AI-related activity</a:t>
            </a: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Unconditional bivariate tests</a:t>
            </a: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Panel regressions (probit models)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802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AI-related exposure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F3D8D65-3E89-7468-E586-D814DD2BD1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652" y="803135"/>
            <a:ext cx="8440171" cy="567943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Structural channel </a:t>
            </a:r>
            <a:r>
              <a:rPr lang="en-US" sz="2000" noProof="1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→</a:t>
            </a: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 private investment</a:t>
            </a:r>
            <a:endParaRPr lang="nl-NL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ICT/AI-investment can improve shock resilience by enhancing firms’ flexibility, information processing and supply chain management </a:t>
            </a: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(Moujahid et al., 2025)</a:t>
            </a: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digital investment by corporations</a:t>
            </a: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equity investments in AI firms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Cyclical channel </a:t>
            </a:r>
            <a:r>
              <a:rPr lang="en-US" sz="2000" noProof="1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→</a:t>
            </a: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 international trade and stock market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Exposure to global semiconductor cycle comes with positive trade effects from AI-related global activity </a:t>
            </a: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(ECB, 2026)</a:t>
            </a:r>
            <a:endParaRPr lang="nl-NL" sz="18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exports of ICT/AI-related products</a:t>
            </a: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correlation national stock index with SOX index</a:t>
            </a:r>
            <a:endParaRPr lang="en-US" sz="23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1D067C04-83DA-B764-8F1B-3A65D2BB4049}"/>
              </a:ext>
            </a:extLst>
          </p:cNvPr>
          <p:cNvSpPr txBox="1"/>
          <p:nvPr/>
        </p:nvSpPr>
        <p:spPr>
          <a:xfrm>
            <a:off x="7461505" y="5747088"/>
            <a:ext cx="594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400" dirty="0">
                <a:solidFill>
                  <a:srgbClr val="002060"/>
                </a:solidFill>
                <a:hlinkClick r:id="rId3" action="ppaction://hlinksldjump"/>
              </a:rPr>
              <a:t>Link</a:t>
            </a:r>
            <a:endParaRPr lang="nl-NL" sz="1400" dirty="0">
              <a:solidFill>
                <a:srgbClr val="002060"/>
              </a:solidFill>
            </a:endParaRPr>
          </a:p>
        </p:txBody>
      </p:sp>
      <p:sp>
        <p:nvSpPr>
          <p:cNvPr id="5" name="Tekstvak 3">
            <a:extLst>
              <a:ext uri="{FF2B5EF4-FFF2-40B4-BE49-F238E27FC236}">
                <a16:creationId xmlns:a16="http://schemas.microsoft.com/office/drawing/2014/main" id="{CA3656D4-EE51-EF04-3E51-2AD8DB9C0964}"/>
              </a:ext>
            </a:extLst>
          </p:cNvPr>
          <p:cNvSpPr txBox="1"/>
          <p:nvPr/>
        </p:nvSpPr>
        <p:spPr>
          <a:xfrm>
            <a:off x="5358385" y="2992436"/>
            <a:ext cx="594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400" dirty="0">
                <a:solidFill>
                  <a:srgbClr val="002060"/>
                </a:solidFill>
                <a:hlinkClick r:id="rId4" action="ppaction://hlinksldjump"/>
              </a:rPr>
              <a:t>Link</a:t>
            </a:r>
            <a:endParaRPr lang="nl-NL" sz="14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86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A08D8-0F6C-FBDD-656B-B2A73E65B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7A485C-F246-D226-E4A1-7AA88455D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Shock </a:t>
            </a:r>
            <a:r>
              <a:rPr lang="nl-NL" sz="2400" dirty="0" err="1">
                <a:solidFill>
                  <a:schemeClr val="bg1"/>
                </a:solidFill>
              </a:rPr>
              <a:t>resilience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B7D4710-9ED0-97A7-CD0B-BD25DA4B7A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455" y="1321671"/>
            <a:ext cx="2962657" cy="4989922"/>
          </a:xfrm>
        </p:spPr>
        <p:txBody>
          <a:bodyPr>
            <a:normAutofit lnSpcReduction="10000"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Resilience </a:t>
            </a:r>
            <a:r>
              <a:rPr lang="en-US" sz="2000" noProof="1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→</a:t>
            </a: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 tendency of economy to bounce back from negative shocks </a:t>
            </a: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(Eichengreen et al., 2024) 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Proxied by positive GDP growth surprises </a:t>
            </a: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(based on EC bi-annual forecasts 2011-25, 10 EA countries)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233DCD29-1BC1-E6E9-61D7-A3B8C24AFEC7}"/>
              </a:ext>
            </a:extLst>
          </p:cNvPr>
          <p:cNvSpPr txBox="1"/>
          <p:nvPr/>
        </p:nvSpPr>
        <p:spPr>
          <a:xfrm>
            <a:off x="3982421" y="5677421"/>
            <a:ext cx="49421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noProof="1">
                <a:solidFill>
                  <a:srgbClr val="002060"/>
                </a:solidFill>
              </a:rPr>
              <a:t>Based on European Commission Spring and Autumn forecasts of GDP growth. Surprise = realised GDP growth minus forecast (all years in 2011-2025, 548 obs) and 2020, 2022, 2025 (shock years, 120 obs).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94A734-3F15-AF48-C076-C8D21D213F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6639" y="2122170"/>
            <a:ext cx="5112813" cy="3254502"/>
          </a:xfrm>
          <a:prstGeom prst="rect">
            <a:avLst/>
          </a:prstGeom>
        </p:spPr>
      </p:pic>
      <p:sp>
        <p:nvSpPr>
          <p:cNvPr id="5" name="Tekstvak 3">
            <a:extLst>
              <a:ext uri="{FF2B5EF4-FFF2-40B4-BE49-F238E27FC236}">
                <a16:creationId xmlns:a16="http://schemas.microsoft.com/office/drawing/2014/main" id="{D0123357-EEBB-CDB1-0C16-42033D94D66A}"/>
              </a:ext>
            </a:extLst>
          </p:cNvPr>
          <p:cNvSpPr txBox="1"/>
          <p:nvPr/>
        </p:nvSpPr>
        <p:spPr>
          <a:xfrm>
            <a:off x="3986782" y="1482867"/>
            <a:ext cx="5157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Positive growth surprises </a:t>
            </a:r>
            <a:r>
              <a:rPr lang="nl-NL" sz="1600" dirty="0">
                <a:solidFill>
                  <a:srgbClr val="002060"/>
                </a:solidFill>
              </a:rPr>
              <a:t>(% of EC forecasts)</a:t>
            </a:r>
          </a:p>
        </p:txBody>
      </p:sp>
    </p:spTree>
    <p:extLst>
      <p:ext uri="{BB962C8B-B14F-4D97-AF65-F5344CB8AC3E}">
        <p14:creationId xmlns:p14="http://schemas.microsoft.com/office/powerpoint/2010/main" val="41294207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2ECBB-8EBB-9B82-F87E-88F96C939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51448F-E6B0-C8D8-CC16-0AFD8961E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investment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13E110F-8AEE-A02C-2032-1F07DE944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3136" y="956753"/>
            <a:ext cx="3383281" cy="4989922"/>
          </a:xfrm>
        </p:spPr>
        <p:txBody>
          <a:bodyPr>
            <a:no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High ICT/AI-investm associated with more positive growth surprises in normal years than in shock years …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… advantage of digitalization washed out by common shock component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1800" dirty="0"/>
              <a:t>High </a:t>
            </a:r>
            <a:r>
              <a:rPr lang="nl-NL" sz="1800" dirty="0" err="1"/>
              <a:t>equity</a:t>
            </a:r>
            <a:r>
              <a:rPr lang="nl-NL" sz="1800" dirty="0"/>
              <a:t> AI </a:t>
            </a:r>
            <a:r>
              <a:rPr lang="nl-NL" sz="1800" dirty="0" err="1"/>
              <a:t>invest</a:t>
            </a:r>
            <a:r>
              <a:rPr lang="nl-NL" sz="1800" dirty="0"/>
              <a:t> </a:t>
            </a:r>
            <a:r>
              <a:rPr lang="en-US" sz="1800" dirty="0"/>
              <a:t>seem to be a relative disadvantage in stress periods (maybe creating higher sensitivity to shocks)</a:t>
            </a:r>
            <a:endParaRPr lang="nl-NL" sz="1800" dirty="0"/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873792AB-3A5F-9374-1FE8-71A49B10A05F}"/>
              </a:ext>
            </a:extLst>
          </p:cNvPr>
          <p:cNvSpPr txBox="1"/>
          <p:nvPr/>
        </p:nvSpPr>
        <p:spPr>
          <a:xfrm>
            <a:off x="4088753" y="5653088"/>
            <a:ext cx="484493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nl-NL" sz="1100" noProof="1">
                <a:solidFill>
                  <a:srgbClr val="002060"/>
                </a:solidFill>
              </a:rPr>
              <a:t>Lower vs higher than median ICT/AI-investment ratio (10 EA countries, 2011-25 (all years), 2020, 2022, 2025 (shock years). ***, **, * indicate 1%, 5%, 10% significance of difference between blue and grey dot in same period. +++, ++, + indicate 1%, 5%, 10% significance of difference between blue (grey) dots in all years vs shock years (two-proportion z-test)</a:t>
            </a:r>
          </a:p>
        </p:txBody>
      </p:sp>
      <p:sp>
        <p:nvSpPr>
          <p:cNvPr id="5" name="Tekstvak 3">
            <a:extLst>
              <a:ext uri="{FF2B5EF4-FFF2-40B4-BE49-F238E27FC236}">
                <a16:creationId xmlns:a16="http://schemas.microsoft.com/office/drawing/2014/main" id="{0EEE5C01-F407-B286-8291-7A84B3BBB14E}"/>
              </a:ext>
            </a:extLst>
          </p:cNvPr>
          <p:cNvSpPr txBox="1"/>
          <p:nvPr/>
        </p:nvSpPr>
        <p:spPr>
          <a:xfrm>
            <a:off x="4655684" y="664366"/>
            <a:ext cx="39853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Influence of AI-related investment on positive growth surprises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77F3FA9-013F-F0A8-95C8-DBD688C374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387268"/>
            <a:ext cx="4014216" cy="21171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A25CD59-D632-9630-3CAD-3BDC8155E5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2374" y="3504405"/>
            <a:ext cx="4088978" cy="2219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1015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24241-2444-F196-D04C-6270141B1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D1D165-50E0-8F1E-E2D5-7D57D4E92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</a:t>
            </a:r>
            <a:r>
              <a:rPr lang="nl-NL" sz="2400" dirty="0" err="1">
                <a:solidFill>
                  <a:schemeClr val="bg1"/>
                </a:solidFill>
              </a:rPr>
              <a:t>trade</a:t>
            </a:r>
            <a:r>
              <a:rPr lang="nl-NL" sz="2400" dirty="0">
                <a:solidFill>
                  <a:schemeClr val="bg1"/>
                </a:solidFill>
              </a:rPr>
              <a:t> and stock market exposure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F9708F7-32AE-5645-3159-CE1174AB0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19" y="1125724"/>
            <a:ext cx="3127249" cy="4989922"/>
          </a:xfrm>
        </p:spPr>
        <p:txBody>
          <a:bodyPr>
            <a:normAutofit fontScale="92500" lnSpcReduction="20000"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900" noProof="1">
                <a:latin typeface="Verdana" panose="020B0604030504040204" pitchFamily="34" charset="0"/>
                <a:ea typeface="Verdana" panose="020B0604030504040204" pitchFamily="34" charset="0"/>
              </a:rPr>
              <a:t>Countries with higher tech-exports benefit disproportionately during shocks…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900" noProof="1">
                <a:latin typeface="Verdana" panose="020B0604030504040204" pitchFamily="34" charset="0"/>
                <a:ea typeface="Verdana" panose="020B0604030504040204" pitchFamily="34" charset="0"/>
              </a:rPr>
              <a:t>…  suggesting ICT/AI global demand is countercyclical and/or accelerates in shock years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9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900" noProof="1">
                <a:latin typeface="Verdana" panose="020B0604030504040204" pitchFamily="34" charset="0"/>
                <a:ea typeface="Verdana" panose="020B0604030504040204" pitchFamily="34" charset="0"/>
              </a:rPr>
              <a:t>Stock market correlation with chip sector does not make a difference; common component dominates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8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AEE2C5DE-2B6A-1A21-C169-797AC72B8FC2}"/>
              </a:ext>
            </a:extLst>
          </p:cNvPr>
          <p:cNvSpPr txBox="1"/>
          <p:nvPr/>
        </p:nvSpPr>
        <p:spPr>
          <a:xfrm>
            <a:off x="4088753" y="5653088"/>
            <a:ext cx="484493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nl-NL" sz="1100" noProof="1">
                <a:solidFill>
                  <a:srgbClr val="002060"/>
                </a:solidFill>
              </a:rPr>
              <a:t>Lower vs higher than median ICT/AI-exposure (10 EA countries, 2011-25 (all years), 2020, 2022, 2025 (shock years). ***, **, * indicate 1%, 5%, 10% significance of difference between blue and grey dot in same period. +++, ++, + indicate 1%, 5%, 10% significance of difference between blue (grey) dots in all years vs shock years (two-proportion z-test).</a:t>
            </a:r>
          </a:p>
        </p:txBody>
      </p:sp>
      <p:sp>
        <p:nvSpPr>
          <p:cNvPr id="5" name="Tekstvak 3">
            <a:extLst>
              <a:ext uri="{FF2B5EF4-FFF2-40B4-BE49-F238E27FC236}">
                <a16:creationId xmlns:a16="http://schemas.microsoft.com/office/drawing/2014/main" id="{64CF75E5-0A93-A50A-135C-BD487E25C478}"/>
              </a:ext>
            </a:extLst>
          </p:cNvPr>
          <p:cNvSpPr txBox="1"/>
          <p:nvPr/>
        </p:nvSpPr>
        <p:spPr>
          <a:xfrm>
            <a:off x="4655684" y="664366"/>
            <a:ext cx="39853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Influence of AI-related trade and stock market exposure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3E89F4-0265-ABF8-064D-EE79C4DCAA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665" y="1292833"/>
            <a:ext cx="3985397" cy="21049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51404D6-F9AD-BB52-B168-06741BAA00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3397824"/>
            <a:ext cx="3959350" cy="2170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48463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05F1A-4F52-7C0A-8747-26D5AD944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279E6971-F8C1-CE73-F846-F4CD2F9BE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Probit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6B853D72-57E4-54DF-F916-E87E4C65C9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8056" y="862238"/>
                <a:ext cx="8505051" cy="567943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1. Average effect (</a:t>
                </a:r>
                <a14:m>
                  <m:oMath xmlns:m="http://schemas.openxmlformats.org/officeDocument/2006/math">
                    <m:r>
                      <a:rPr lang="en-US" sz="20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) of ICT/AI in all years</a:t>
                </a: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18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	 </a:t>
                </a:r>
                <a14:m>
                  <m:oMath xmlns:m="http://schemas.openxmlformats.org/officeDocument/2006/math"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𝑃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(</m:t>
                    </m:r>
                    <m:sSub>
                      <m:sSubPr>
                        <m:ctrlP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𝑌</m:t>
                        </m:r>
                      </m:e>
                      <m:sub>
                        <m: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  <m:r>
                      <a:rPr lang="en-US" sz="220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</m:t>
                    </m:r>
                    <m:r>
                      <a:rPr lang="el-GR" sz="220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(</m:t>
                    </m:r>
                    <m:r>
                      <a:rPr lang="en-US" sz="220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 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sSub>
                      <m:sSubPr>
                        <m:ctrlP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</m:oMath>
                </a14:m>
                <a:endParaRPr lang="en-US" sz="2200" noProof="1">
                  <a:solidFill>
                    <a:schemeClr val="tx1"/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endParaRPr lang="en-US" sz="1800" noProof="1"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18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2. </a:t>
                </a:r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Additional effect (</a:t>
                </a:r>
                <a14:m>
                  <m:oMath xmlns:m="http://schemas.openxmlformats.org/officeDocument/2006/math">
                    <m:r>
                      <a:rPr lang="en-US" sz="200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) of ICT/AI in shock years</a:t>
                </a: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18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	 </a:t>
                </a:r>
                <a14:m>
                  <m:oMath xmlns:m="http://schemas.openxmlformats.org/officeDocument/2006/math"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𝑃</m:t>
                    </m:r>
                    <m:r>
                      <a:rPr lang="en-US" sz="2200" b="0" i="0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(</m:t>
                    </m:r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𝑌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</m:t>
                    </m:r>
                    <m:r>
                      <a:rPr lang="el-GR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(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000" noProof="1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sSub>
                      <m:sSubPr>
                        <m:ctrlP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𝐷</m:t>
                        </m:r>
                      </m:e>
                      <m:sub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0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</m:oMath>
                </a14:m>
                <a:endParaRPr lang="en-US" sz="2000" noProof="1"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endParaRPr lang="en-US" sz="2000" noProof="1"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3. Additional effect (</a:t>
                </a:r>
                <a14:m>
                  <m:oMath xmlns:m="http://schemas.openxmlformats.org/officeDocument/2006/math">
                    <m:r>
                      <a:rPr lang="en-US" sz="2000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𝛾</m:t>
                    </m:r>
                  </m:oMath>
                </a14:m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) of high ICT/AI in shock years</a:t>
                </a: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	</a:t>
                </a:r>
                <a:r>
                  <a:rPr lang="en-US" sz="22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𝑃</m:t>
                        </m:r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(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𝑌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</m:t>
                    </m:r>
                    <m:r>
                      <a:rPr lang="el-GR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sSubSup>
                          <m:sSubSupPr>
                            <m:ctrlP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</m:ctrlPr>
                          </m:sSubSupPr>
                          <m:e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𝑖</m:t>
                            </m:r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,</m:t>
                            </m:r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ℎ𝑖𝑔ℎ</m:t>
                            </m:r>
                          </m:sup>
                        </m:sSubSup>
                      </m:e>
                      <m:sub>
                        <m:r>
                          <a:rPr lang="en-US" sz="220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Sup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  <m:sup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ℎ𝑖𝑔ℎ</m:t>
                        </m:r>
                      </m:sup>
                    </m:sSubSup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𝐷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</m:oMath>
                </a14:m>
                <a:endParaRPr lang="en-US" sz="2200" noProof="1">
                  <a:solidFill>
                    <a:schemeClr val="tx1"/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endParaRPr lang="en-US" sz="2200" noProof="1">
                  <a:solidFill>
                    <a:schemeClr val="tx1"/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1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𝑌</m:t>
                        </m:r>
                      </m:e>
                      <m:sub>
                        <m: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18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=1 </m:t>
                    </m:r>
                    <m:r>
                      <a:rPr lang="en-US" sz="1800" b="0" i="0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</m:t>
                    </m:r>
                  </m:oMath>
                </a14:m>
                <a:r>
                  <a:rPr lang="nl-NL" sz="1800" dirty="0">
                    <a:solidFill>
                      <a:schemeClr val="tx1"/>
                    </a:solidFill>
                  </a:rPr>
                  <a:t>if </a:t>
                </a:r>
                <a:r>
                  <a:rPr lang="nl-NL" sz="1800" dirty="0" err="1">
                    <a:solidFill>
                      <a:schemeClr val="tx1"/>
                    </a:solidFill>
                  </a:rPr>
                  <a:t>growth</a:t>
                </a:r>
                <a:r>
                  <a:rPr lang="nl-NL" sz="1800" dirty="0">
                    <a:solidFill>
                      <a:schemeClr val="tx1"/>
                    </a:solidFill>
                  </a:rPr>
                  <a:t> surprise &gt; 0 (</a:t>
                </a:r>
                <a:r>
                  <a:rPr lang="nl-NL" sz="1800" dirty="0" err="1">
                    <a:solidFill>
                      <a:schemeClr val="tx1"/>
                    </a:solidFill>
                  </a:rPr>
                  <a:t>otherwise</a:t>
                </a:r>
                <a:r>
                  <a:rPr lang="nl-NL" sz="1800" dirty="0">
                    <a:solidFill>
                      <a:schemeClr val="tx1"/>
                    </a:solidFill>
                  </a:rPr>
                  <a:t> 0);</a:t>
                </a:r>
                <a14:m>
                  <m:oMath xmlns:m="http://schemas.openxmlformats.org/officeDocument/2006/math">
                    <m:r>
                      <a:rPr lang="en-US" sz="2000" b="0" i="0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l-GR" sz="20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nl-NL" sz="1800" dirty="0"/>
                  <a:t> is standard </a:t>
                </a:r>
                <a:r>
                  <a:rPr lang="nl-NL" sz="1800" dirty="0" err="1"/>
                  <a:t>normal</a:t>
                </a:r>
                <a:r>
                  <a:rPr lang="nl-NL" sz="1800" dirty="0"/>
                  <a:t> CDF</a:t>
                </a:r>
              </a:p>
              <a:p>
                <a:pPr>
                  <a:lnSpc>
                    <a:spcPct val="120000"/>
                  </a:lnSpc>
                  <a:spcAft>
                    <a:spcPts val="1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nl-NL" sz="1800" dirty="0">
                    <a:solidFill>
                      <a:schemeClr val="tx1"/>
                    </a:solidFill>
                  </a:rPr>
                  <a:t> is ICT/AI-</a:t>
                </a:r>
                <a:r>
                  <a:rPr lang="nl-NL" sz="1800" dirty="0" err="1">
                    <a:solidFill>
                      <a:schemeClr val="tx1"/>
                    </a:solidFill>
                  </a:rPr>
                  <a:t>related</a:t>
                </a:r>
                <a:r>
                  <a:rPr lang="nl-NL" sz="1800" dirty="0">
                    <a:solidFill>
                      <a:schemeClr val="tx1"/>
                    </a:solidFill>
                  </a:rPr>
                  <a:t> </a:t>
                </a:r>
                <a:r>
                  <a:rPr lang="nl-NL" sz="1800" dirty="0" err="1">
                    <a:solidFill>
                      <a:schemeClr val="tx1"/>
                    </a:solidFill>
                  </a:rPr>
                  <a:t>variable</a:t>
                </a:r>
                <a:r>
                  <a:rPr lang="nl-NL" sz="1800" dirty="0">
                    <a:solidFill>
                      <a:schemeClr val="tx1"/>
                    </a:solidFill>
                  </a:rPr>
                  <a:t>.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Sup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  <m:sup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ℎ𝑖𝑔ℎ</m:t>
                        </m:r>
                      </m:sup>
                    </m:sSubSup>
                    <m:r>
                      <a:rPr lang="en-US" sz="18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</m:t>
                    </m:r>
                  </m:oMath>
                </a14:m>
                <a:r>
                  <a:rPr lang="en-US" sz="1800" noProof="1"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nl-NL" sz="1800" dirty="0"/>
                  <a:t>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0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&gt;</m:t>
                    </m:r>
                    <m:r>
                      <m:rPr>
                        <m:sty m:val="p"/>
                      </m:rPr>
                      <a:rPr lang="en-US" sz="2000" b="0" i="0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median</m:t>
                    </m:r>
                    <m:d>
                      <m:dPr>
                        <m:ctrlPr>
                          <a:rPr lang="en-US" sz="20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dPr>
                      <m:e>
                        <m:r>
                          <a:rPr lang="en-US" sz="20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</m:d>
                    <m:r>
                      <a:rPr lang="en-US" sz="20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sz="2000" b="0" i="0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otherwise</m:t>
                    </m:r>
                    <m:r>
                      <a:rPr lang="en-US" sz="20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0</m:t>
                    </m:r>
                  </m:oMath>
                </a14:m>
                <a:r>
                  <a:rPr lang="nl-NL" sz="2000" dirty="0"/>
                  <a:t> </a:t>
                </a:r>
              </a:p>
              <a:p>
                <a:pPr>
                  <a:lnSpc>
                    <a:spcPct val="120000"/>
                  </a:lnSpc>
                  <a:spcAft>
                    <a:spcPts val="1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𝐷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18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</m:t>
                    </m:r>
                  </m:oMath>
                </a14:m>
                <a:r>
                  <a:rPr lang="nl-NL" sz="1800" dirty="0">
                    <a:solidFill>
                      <a:schemeClr val="tx1"/>
                    </a:solidFill>
                  </a:rPr>
                  <a:t>is dummy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𝐷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18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=1 </m:t>
                    </m:r>
                  </m:oMath>
                </a14:m>
                <a:r>
                  <a:rPr lang="nl-NL" sz="1800" dirty="0"/>
                  <a:t>for shock </a:t>
                </a:r>
                <a:r>
                  <a:rPr lang="nl-NL" sz="1800" dirty="0" err="1"/>
                  <a:t>years</a:t>
                </a:r>
                <a:r>
                  <a:rPr lang="nl-NL" sz="1800" dirty="0"/>
                  <a:t>, </a:t>
                </a:r>
                <a:r>
                  <a:rPr lang="nl-NL" sz="1800" dirty="0" err="1"/>
                  <a:t>otherwise</a:t>
                </a:r>
                <a:r>
                  <a:rPr lang="nl-NL" sz="1800" dirty="0"/>
                  <a:t> 0)</a:t>
                </a:r>
                <a:endParaRPr lang="nl-NL" sz="1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6B853D72-57E4-54DF-F916-E87E4C65C9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8056" y="862238"/>
                <a:ext cx="8505051" cy="5679439"/>
              </a:xfrm>
              <a:blipFill>
                <a:blip r:embed="rId3"/>
                <a:stretch>
                  <a:fillRect l="-1864" t="-96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5665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027D3-935D-C730-7AF0-AF109ECE8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784B30AC-5ECB-6948-E309-003937424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D7DFCD1-CA74-2C76-7A49-94B41E557F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720" y="1072550"/>
            <a:ext cx="8396454" cy="5679439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ICT/AI investment and AI-related stock market exposure raise probability of positive growth surprises in normal years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ICT/AI-related trade exposure has an additional effect on positive growth surprises in shock years (confirming unconditional tests)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6B8E7D-29E9-A720-3479-9CC57D8735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7" y="2807209"/>
            <a:ext cx="8774267" cy="2586798"/>
          </a:xfrm>
          <a:prstGeom prst="rect">
            <a:avLst/>
          </a:prstGeom>
        </p:spPr>
      </p:pic>
      <p:sp>
        <p:nvSpPr>
          <p:cNvPr id="6" name="Tekstvak 3">
            <a:extLst>
              <a:ext uri="{FF2B5EF4-FFF2-40B4-BE49-F238E27FC236}">
                <a16:creationId xmlns:a16="http://schemas.microsoft.com/office/drawing/2014/main" id="{4ED6076C-5ED2-F560-9ECC-68A359BFC0CA}"/>
              </a:ext>
            </a:extLst>
          </p:cNvPr>
          <p:cNvSpPr txBox="1"/>
          <p:nvPr/>
        </p:nvSpPr>
        <p:spPr>
          <a:xfrm>
            <a:off x="63547" y="5500152"/>
            <a:ext cx="874882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nl-NL" sz="1100" noProof="1">
                <a:solidFill>
                  <a:srgbClr val="002060"/>
                </a:solidFill>
              </a:rPr>
              <a:t>***, **, * indicate 1%, 5%, 10% significance. Analytic-Hessian standard errors. </a:t>
            </a:r>
            <a:r>
              <a:rPr lang="en-US" sz="1100" noProof="1">
                <a:solidFill>
                  <a:srgbClr val="002060"/>
                </a:solidFill>
              </a:rPr>
              <a:t>Explanatory variables are standardised (z-score), except for dummy variable.</a:t>
            </a:r>
            <a:endParaRPr lang="nl-NL" sz="1100" noProof="1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91460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CD0D6-1CFA-E426-08B0-AF5055AC2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2EDEA4FF-77B4-1210-0800-2B8BF9AA0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Conclusion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FBED4CC-73CB-5E21-890E-866BC0B3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720" y="1072550"/>
            <a:ext cx="8396454" cy="5679439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..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76620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71139-22FF-EBBF-773A-91572EAD0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98F2D218-3382-A4F9-611C-8C2FC2F044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Background slides</a:t>
            </a:r>
          </a:p>
        </p:txBody>
      </p:sp>
    </p:spTree>
    <p:extLst>
      <p:ext uri="{BB962C8B-B14F-4D97-AF65-F5344CB8AC3E}">
        <p14:creationId xmlns:p14="http://schemas.microsoft.com/office/powerpoint/2010/main" val="36663425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3FEDE-A68E-263C-78AD-8A94B89C1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3DE4CC-1235-6A5B-5226-EACB34CDA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Wild swings in semiconductor short-term </a:t>
            </a:r>
            <a:r>
              <a:rPr lang="nl-NL" sz="2400" dirty="0" err="1">
                <a:solidFill>
                  <a:schemeClr val="bg1"/>
                </a:solidFill>
              </a:rPr>
              <a:t>cycle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E8422D5-2452-DB5E-9929-FF6B42FB6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303" y="935391"/>
            <a:ext cx="2962657" cy="4989922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Short-term semiconductor cycle more volatile than traditional stocks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F8831F86-71DE-C3FE-B109-F7E9B5952F04}"/>
              </a:ext>
            </a:extLst>
          </p:cNvPr>
          <p:cNvSpPr txBox="1"/>
          <p:nvPr/>
        </p:nvSpPr>
        <p:spPr>
          <a:xfrm>
            <a:off x="3790386" y="5833124"/>
            <a:ext cx="52073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log return of STOXX Europe 600 and Semiconductor stock index (SOX). </a:t>
            </a:r>
            <a:r>
              <a:rPr lang="nl-NL" sz="1200" dirty="0">
                <a:solidFill>
                  <a:srgbClr val="002060"/>
                </a:solidFill>
                <a:hlinkClick r:id="rId3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back.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A85948-69E3-BFEE-81F1-A1C9C4ED33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9" y="1533014"/>
            <a:ext cx="5458968" cy="3514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6962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E651E-039A-5D85-5C26-C3731B5E6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3D671E-1B58-DEFA-8900-436B363D6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investment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21C63CC4-9F1C-6D6D-9FEF-9D04021E36EE}"/>
              </a:ext>
            </a:extLst>
          </p:cNvPr>
          <p:cNvSpPr txBox="1"/>
          <p:nvPr/>
        </p:nvSpPr>
        <p:spPr>
          <a:xfrm>
            <a:off x="4820687" y="5371457"/>
            <a:ext cx="40873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Number of </a:t>
            </a:r>
            <a:r>
              <a:rPr lang="nl-NL" sz="1200" dirty="0" err="1">
                <a:solidFill>
                  <a:srgbClr val="002060"/>
                </a:solidFill>
              </a:rPr>
              <a:t>incoming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equity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investments</a:t>
            </a:r>
            <a:r>
              <a:rPr lang="nl-NL" sz="1200" dirty="0">
                <a:solidFill>
                  <a:srgbClr val="002060"/>
                </a:solidFill>
              </a:rPr>
              <a:t> in AI fields, </a:t>
            </a:r>
            <a:r>
              <a:rPr lang="nl-NL" sz="1200" dirty="0" err="1">
                <a:solidFill>
                  <a:srgbClr val="002060"/>
                </a:solidFill>
              </a:rPr>
              <a:t>scaled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by</a:t>
            </a:r>
            <a:r>
              <a:rPr lang="nl-NL" sz="1200" dirty="0">
                <a:solidFill>
                  <a:srgbClr val="002060"/>
                </a:solidFill>
              </a:rPr>
              <a:t> GDP. </a:t>
            </a: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data 2015-2025 (Source: </a:t>
            </a:r>
            <a:r>
              <a:rPr lang="en-US" sz="1200" dirty="0">
                <a:solidFill>
                  <a:srgbClr val="002060"/>
                </a:solidFill>
              </a:rPr>
              <a:t>ETO's CAT (Country Activity Tracker)</a:t>
            </a:r>
            <a:r>
              <a:rPr lang="nl-NL" sz="1200" dirty="0">
                <a:solidFill>
                  <a:srgbClr val="002060"/>
                </a:solidFill>
              </a:rPr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0D67D2D-8767-2D3D-DB1A-994B398470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1999" y="1728216"/>
            <a:ext cx="4335697" cy="320313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1BFB74-B0F9-69A1-8D0B-9ADBEF25B1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0" y="1668620"/>
            <a:ext cx="4404742" cy="3372459"/>
          </a:xfrm>
          <a:prstGeom prst="rect">
            <a:avLst/>
          </a:prstGeom>
        </p:spPr>
      </p:pic>
      <p:sp>
        <p:nvSpPr>
          <p:cNvPr id="11" name="Tekstvak 3">
            <a:extLst>
              <a:ext uri="{FF2B5EF4-FFF2-40B4-BE49-F238E27FC236}">
                <a16:creationId xmlns:a16="http://schemas.microsoft.com/office/drawing/2014/main" id="{7D1FCEE6-8AAC-959D-A8E8-B4CF4C9F0122}"/>
              </a:ext>
            </a:extLst>
          </p:cNvPr>
          <p:cNvSpPr txBox="1"/>
          <p:nvPr/>
        </p:nvSpPr>
        <p:spPr>
          <a:xfrm>
            <a:off x="235946" y="5371457"/>
            <a:ext cx="408736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Share of ICT/Ai-</a:t>
            </a:r>
            <a:r>
              <a:rPr lang="nl-NL" sz="1200" dirty="0" err="1">
                <a:solidFill>
                  <a:srgbClr val="002060"/>
                </a:solidFill>
              </a:rPr>
              <a:t>related</a:t>
            </a:r>
            <a:r>
              <a:rPr lang="nl-NL" sz="1200" dirty="0">
                <a:solidFill>
                  <a:srgbClr val="002060"/>
                </a:solidFill>
              </a:rPr>
              <a:t> investment in </a:t>
            </a:r>
            <a:r>
              <a:rPr lang="nl-NL" sz="1200" dirty="0" err="1">
                <a:solidFill>
                  <a:srgbClr val="002060"/>
                </a:solidFill>
              </a:rPr>
              <a:t>total</a:t>
            </a:r>
            <a:r>
              <a:rPr lang="nl-NL" sz="1200" dirty="0">
                <a:solidFill>
                  <a:srgbClr val="002060"/>
                </a:solidFill>
              </a:rPr>
              <a:t> GFCF</a:t>
            </a:r>
          </a:p>
          <a:p>
            <a:pPr>
              <a:defRPr/>
            </a:pP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data 2000-2024. Product </a:t>
            </a:r>
            <a:r>
              <a:rPr lang="nl-NL" sz="1200" dirty="0" err="1">
                <a:solidFill>
                  <a:srgbClr val="002060"/>
                </a:solidFill>
              </a:rPr>
              <a:t>groups</a:t>
            </a:r>
            <a:r>
              <a:rPr lang="nl-NL" sz="1200" dirty="0">
                <a:solidFill>
                  <a:srgbClr val="002060"/>
                </a:solidFill>
              </a:rPr>
              <a:t>: </a:t>
            </a:r>
            <a:r>
              <a:rPr lang="pt-BR" sz="1200" dirty="0">
                <a:solidFill>
                  <a:srgbClr val="002060"/>
                </a:solidFill>
              </a:rPr>
              <a:t>N1132G,</a:t>
            </a:r>
          </a:p>
          <a:p>
            <a:pPr>
              <a:defRPr/>
            </a:pPr>
            <a:r>
              <a:rPr lang="pt-BR" sz="1200" dirty="0">
                <a:solidFill>
                  <a:srgbClr val="002060"/>
                </a:solidFill>
              </a:rPr>
              <a:t>N1173G, N112G_secJ, N117G_secJ, N1173G_secJ (source: Eurostat).</a:t>
            </a:r>
          </a:p>
          <a:p>
            <a:pPr>
              <a:defRPr/>
            </a:pPr>
            <a:endParaRPr lang="nl-NL" sz="1200" dirty="0">
              <a:solidFill>
                <a:srgbClr val="002060"/>
              </a:solidFill>
            </a:endParaRPr>
          </a:p>
        </p:txBody>
      </p:sp>
      <p:sp>
        <p:nvSpPr>
          <p:cNvPr id="13" name="Tekstvak 3">
            <a:extLst>
              <a:ext uri="{FF2B5EF4-FFF2-40B4-BE49-F238E27FC236}">
                <a16:creationId xmlns:a16="http://schemas.microsoft.com/office/drawing/2014/main" id="{338A2D59-53C8-50EE-C6F5-E44B1EC58C7B}"/>
              </a:ext>
            </a:extLst>
          </p:cNvPr>
          <p:cNvSpPr txBox="1"/>
          <p:nvPr/>
        </p:nvSpPr>
        <p:spPr>
          <a:xfrm>
            <a:off x="7713162" y="6354330"/>
            <a:ext cx="1030301" cy="2770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  <a:hlinkClick r:id="rId5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back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80A3C609-6383-27DE-510C-C64F4B0DBC92}"/>
              </a:ext>
            </a:extLst>
          </p:cNvPr>
          <p:cNvSpPr txBox="1"/>
          <p:nvPr/>
        </p:nvSpPr>
        <p:spPr>
          <a:xfrm>
            <a:off x="5181412" y="975170"/>
            <a:ext cx="37266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Number of equity invetsments in AI fields</a:t>
            </a:r>
            <a:endParaRPr lang="nl-NL" sz="1600" dirty="0">
              <a:solidFill>
                <a:srgbClr val="002060"/>
              </a:solidFill>
            </a:endParaRPr>
          </a:p>
        </p:txBody>
      </p:sp>
      <p:sp>
        <p:nvSpPr>
          <p:cNvPr id="6" name="Tekstvak 3">
            <a:extLst>
              <a:ext uri="{FF2B5EF4-FFF2-40B4-BE49-F238E27FC236}">
                <a16:creationId xmlns:a16="http://schemas.microsoft.com/office/drawing/2014/main" id="{0AC6B175-D1D2-F0DB-D461-D0CAED9EE46F}"/>
              </a:ext>
            </a:extLst>
          </p:cNvPr>
          <p:cNvSpPr txBox="1"/>
          <p:nvPr/>
        </p:nvSpPr>
        <p:spPr>
          <a:xfrm>
            <a:off x="596671" y="1098280"/>
            <a:ext cx="37266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ICT/AI investment ratio</a:t>
            </a:r>
            <a:endParaRPr lang="nl-NL" sz="16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833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C947-4B1F-5814-B5F0-19183D09F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C9CA68-4F8B-00E1-9EA9-77192F3ED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</a:t>
            </a:r>
            <a:r>
              <a:rPr lang="nl-NL" sz="2400" dirty="0" err="1">
                <a:solidFill>
                  <a:schemeClr val="bg1"/>
                </a:solidFill>
              </a:rPr>
              <a:t>trade</a:t>
            </a:r>
            <a:r>
              <a:rPr lang="nl-NL" sz="2400" dirty="0">
                <a:solidFill>
                  <a:schemeClr val="bg1"/>
                </a:solidFill>
              </a:rPr>
              <a:t> and stock market exposure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0677632A-56D3-3DDB-C434-EB0FC24E2732}"/>
              </a:ext>
            </a:extLst>
          </p:cNvPr>
          <p:cNvSpPr txBox="1"/>
          <p:nvPr/>
        </p:nvSpPr>
        <p:spPr>
          <a:xfrm>
            <a:off x="4902230" y="5051417"/>
            <a:ext cx="40873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Rolling </a:t>
            </a:r>
            <a:r>
              <a:rPr lang="nl-NL" sz="1200" dirty="0" err="1">
                <a:solidFill>
                  <a:srgbClr val="002060"/>
                </a:solidFill>
              </a:rPr>
              <a:t>correlation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between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national</a:t>
            </a:r>
            <a:r>
              <a:rPr lang="nl-NL" sz="1200" dirty="0">
                <a:solidFill>
                  <a:srgbClr val="002060"/>
                </a:solidFill>
              </a:rPr>
              <a:t> stock index and SOX index (8 </a:t>
            </a:r>
            <a:r>
              <a:rPr lang="nl-NL" sz="1200" dirty="0" err="1">
                <a:solidFill>
                  <a:srgbClr val="002060"/>
                </a:solidFill>
              </a:rPr>
              <a:t>quarters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window</a:t>
            </a:r>
            <a:r>
              <a:rPr lang="nl-NL" sz="1200" dirty="0">
                <a:solidFill>
                  <a:srgbClr val="002060"/>
                </a:solidFill>
              </a:rPr>
              <a:t>). </a:t>
            </a:r>
            <a:r>
              <a:rPr lang="nl-NL" sz="1200" dirty="0" err="1">
                <a:solidFill>
                  <a:srgbClr val="002060"/>
                </a:solidFill>
              </a:rPr>
              <a:t>Quarterly</a:t>
            </a:r>
            <a:r>
              <a:rPr lang="nl-NL" sz="1200" dirty="0">
                <a:solidFill>
                  <a:srgbClr val="002060"/>
                </a:solidFill>
              </a:rPr>
              <a:t> data 2000Q1-2026Q2 (Source: Yahoo Finance)</a:t>
            </a:r>
          </a:p>
        </p:txBody>
      </p:sp>
      <p:sp>
        <p:nvSpPr>
          <p:cNvPr id="11" name="Tekstvak 3">
            <a:extLst>
              <a:ext uri="{FF2B5EF4-FFF2-40B4-BE49-F238E27FC236}">
                <a16:creationId xmlns:a16="http://schemas.microsoft.com/office/drawing/2014/main" id="{D6974398-2614-1310-0782-A3E80B13A2FD}"/>
              </a:ext>
            </a:extLst>
          </p:cNvPr>
          <p:cNvSpPr txBox="1"/>
          <p:nvPr/>
        </p:nvSpPr>
        <p:spPr>
          <a:xfrm>
            <a:off x="207037" y="5051417"/>
            <a:ext cx="40873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Share of ICT/Ai-</a:t>
            </a:r>
            <a:r>
              <a:rPr lang="nl-NL" sz="1200" dirty="0" err="1">
                <a:solidFill>
                  <a:srgbClr val="002060"/>
                </a:solidFill>
              </a:rPr>
              <a:t>related</a:t>
            </a:r>
            <a:r>
              <a:rPr lang="nl-NL" sz="1200" dirty="0">
                <a:solidFill>
                  <a:srgbClr val="002060"/>
                </a:solidFill>
              </a:rPr>
              <a:t> exports in </a:t>
            </a:r>
            <a:r>
              <a:rPr lang="nl-NL" sz="1200" dirty="0" err="1">
                <a:solidFill>
                  <a:srgbClr val="002060"/>
                </a:solidFill>
              </a:rPr>
              <a:t>total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goods</a:t>
            </a:r>
            <a:r>
              <a:rPr lang="nl-NL" sz="1200" dirty="0">
                <a:solidFill>
                  <a:srgbClr val="002060"/>
                </a:solidFill>
              </a:rPr>
              <a:t> exports, </a:t>
            </a: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data 2000-2024.</a:t>
            </a:r>
          </a:p>
          <a:p>
            <a:pPr>
              <a:defRPr/>
            </a:pPr>
            <a:r>
              <a:rPr lang="en-US" sz="1200" dirty="0">
                <a:solidFill>
                  <a:srgbClr val="002060"/>
                </a:solidFill>
              </a:rPr>
              <a:t>Products groups: HS 8471.50, HS 8471.80, HS 8473.30, HS 8486.10, HS 8486.20, HS 8486.30, HS 8486.40, HS 8486.90 </a:t>
            </a:r>
            <a:r>
              <a:rPr lang="pt-BR" sz="1200" dirty="0">
                <a:solidFill>
                  <a:srgbClr val="002060"/>
                </a:solidFill>
              </a:rPr>
              <a:t>(source: OECD).</a:t>
            </a:r>
            <a:endParaRPr lang="en-US" sz="1200" dirty="0">
              <a:solidFill>
                <a:srgbClr val="002060"/>
              </a:solidFill>
            </a:endParaRPr>
          </a:p>
          <a:p>
            <a:pPr>
              <a:defRPr/>
            </a:pPr>
            <a:endParaRPr lang="nl-NL" sz="1200" dirty="0">
              <a:solidFill>
                <a:srgbClr val="002060"/>
              </a:solidFill>
            </a:endParaRPr>
          </a:p>
        </p:txBody>
      </p:sp>
      <p:sp>
        <p:nvSpPr>
          <p:cNvPr id="13" name="Tekstvak 3">
            <a:extLst>
              <a:ext uri="{FF2B5EF4-FFF2-40B4-BE49-F238E27FC236}">
                <a16:creationId xmlns:a16="http://schemas.microsoft.com/office/drawing/2014/main" id="{4329BB17-F16F-495E-1F2E-C473B8ADC642}"/>
              </a:ext>
            </a:extLst>
          </p:cNvPr>
          <p:cNvSpPr txBox="1"/>
          <p:nvPr/>
        </p:nvSpPr>
        <p:spPr>
          <a:xfrm>
            <a:off x="7713162" y="6354330"/>
            <a:ext cx="1030301" cy="2770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  <a:hlinkClick r:id="rId3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back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B511F9-EA27-E187-9227-1EF502D068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037" y="1737360"/>
            <a:ext cx="4227362" cy="302676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752BB6B-84D3-1A02-4BE3-8EAA21B123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2230" y="1737360"/>
            <a:ext cx="3949219" cy="3200400"/>
          </a:xfrm>
          <a:prstGeom prst="rect">
            <a:avLst/>
          </a:prstGeom>
        </p:spPr>
      </p:pic>
      <p:sp>
        <p:nvSpPr>
          <p:cNvPr id="6" name="Tekstvak 3">
            <a:extLst>
              <a:ext uri="{FF2B5EF4-FFF2-40B4-BE49-F238E27FC236}">
                <a16:creationId xmlns:a16="http://schemas.microsoft.com/office/drawing/2014/main" id="{42ACDE40-4CF9-25D5-B152-CDE514C54D15}"/>
              </a:ext>
            </a:extLst>
          </p:cNvPr>
          <p:cNvSpPr txBox="1"/>
          <p:nvPr/>
        </p:nvSpPr>
        <p:spPr>
          <a:xfrm>
            <a:off x="5013517" y="921978"/>
            <a:ext cx="37266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Correlation national stock index and SOX index</a:t>
            </a:r>
            <a:endParaRPr lang="nl-NL" sz="1600" dirty="0">
              <a:solidFill>
                <a:srgbClr val="002060"/>
              </a:solidFill>
            </a:endParaRPr>
          </a:p>
        </p:txBody>
      </p:sp>
      <p:sp>
        <p:nvSpPr>
          <p:cNvPr id="12" name="Tekstvak 3">
            <a:extLst>
              <a:ext uri="{FF2B5EF4-FFF2-40B4-BE49-F238E27FC236}">
                <a16:creationId xmlns:a16="http://schemas.microsoft.com/office/drawing/2014/main" id="{37AFEB65-C677-E635-F153-64D4EC70C109}"/>
              </a:ext>
            </a:extLst>
          </p:cNvPr>
          <p:cNvSpPr txBox="1"/>
          <p:nvPr/>
        </p:nvSpPr>
        <p:spPr>
          <a:xfrm>
            <a:off x="567762" y="978295"/>
            <a:ext cx="37266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ICT/AI-related export share</a:t>
            </a:r>
            <a:endParaRPr lang="nl-NL" sz="16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743824"/>
      </p:ext>
    </p:extLst>
  </p:cSld>
  <p:clrMapOvr>
    <a:masterClrMapping/>
  </p:clrMapOvr>
</p:sld>
</file>

<file path=ppt/theme/theme1.xml><?xml version="1.0" encoding="utf-8"?>
<a:theme xmlns:a="http://schemas.openxmlformats.org/drawingml/2006/main" name="1_LichteAchtergrond4x3">
  <a:themeElements>
    <a:clrScheme name="DNB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FB5E4"/>
      </a:accent1>
      <a:accent2>
        <a:srgbClr val="162257"/>
      </a:accent2>
      <a:accent3>
        <a:srgbClr val="B8450E"/>
      </a:accent3>
      <a:accent4>
        <a:srgbClr val="9B9000"/>
      </a:accent4>
      <a:accent5>
        <a:srgbClr val="D7CCAF"/>
      </a:accent5>
      <a:accent6>
        <a:srgbClr val="003E3B"/>
      </a:accent6>
      <a:hlink>
        <a:srgbClr val="162257"/>
      </a:hlink>
      <a:folHlink>
        <a:srgbClr val="422335"/>
      </a:folHlink>
    </a:clrScheme>
    <a:fontScheme name="DNB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_v1.0.5.potx" id="{B270FB89-5B9F-428A-BCB9-6C207FB2C8FE}" vid="{AFFF9D4B-64E8-4DB5-B4AD-056B69DF5234}"/>
    </a:ext>
  </a:extLst>
</a:theme>
</file>

<file path=ppt/theme/theme2.xml><?xml version="1.0" encoding="utf-8"?>
<a:theme xmlns:a="http://schemas.openxmlformats.org/drawingml/2006/main" name="3_LichteAchtergrond4x3">
  <a:themeElements>
    <a:clrScheme name="DNB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FB5E4"/>
      </a:accent1>
      <a:accent2>
        <a:srgbClr val="162257"/>
      </a:accent2>
      <a:accent3>
        <a:srgbClr val="B8450E"/>
      </a:accent3>
      <a:accent4>
        <a:srgbClr val="9B9000"/>
      </a:accent4>
      <a:accent5>
        <a:srgbClr val="D7CCAF"/>
      </a:accent5>
      <a:accent6>
        <a:srgbClr val="003E3B"/>
      </a:accent6>
      <a:hlink>
        <a:srgbClr val="162257"/>
      </a:hlink>
      <a:folHlink>
        <a:srgbClr val="422335"/>
      </a:folHlink>
    </a:clrScheme>
    <a:fontScheme name="DNB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_v1.0.5.potx" id="{B270FB89-5B9F-428A-BCB9-6C207FB2C8FE}" vid="{AFFF9D4B-64E8-4DB5-B4AD-056B69DF5234}"/>
    </a:ext>
  </a:extLst>
</a:theme>
</file>

<file path=ppt/theme/theme3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nto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1ddf9560-f40a-4faa-b693-65e98d55b544}" enabled="1" method="Privileged" siteId="{9ecbd628-0072-405d-8567-32c6750b0d3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LichteAchtergrond4x3</Template>
  <TotalTime>1658</TotalTime>
  <Words>984</Words>
  <Application>Microsoft Office PowerPoint</Application>
  <PresentationFormat>On-screen Show (4:3)</PresentationFormat>
  <Paragraphs>102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Aptos</vt:lpstr>
      <vt:lpstr>Arial</vt:lpstr>
      <vt:lpstr>Calibri</vt:lpstr>
      <vt:lpstr>Cambria Math</vt:lpstr>
      <vt:lpstr>Verdana</vt:lpstr>
      <vt:lpstr>Wingdings</vt:lpstr>
      <vt:lpstr>1_LichteAchtergrond4x3</vt:lpstr>
      <vt:lpstr>3_LichteAchtergrond4x3</vt:lpstr>
      <vt:lpstr>PowerPoint Presentation</vt:lpstr>
      <vt:lpstr>Semiconductor super-cycle seems immune to shocks</vt:lpstr>
      <vt:lpstr>Empirical approach</vt:lpstr>
      <vt:lpstr>AI-related exposure</vt:lpstr>
      <vt:lpstr>Shock resilience</vt:lpstr>
      <vt:lpstr>AI-related investment</vt:lpstr>
      <vt:lpstr>AI-related trade and stock market exposure</vt:lpstr>
      <vt:lpstr>Probit models</vt:lpstr>
      <vt:lpstr>Results</vt:lpstr>
      <vt:lpstr>Conclusion</vt:lpstr>
      <vt:lpstr>Background slides</vt:lpstr>
      <vt:lpstr>Wild swings in semiconductor short-term cycle</vt:lpstr>
      <vt:lpstr>AI-related investment</vt:lpstr>
      <vt:lpstr>AI-related trade and stock market exposure</vt:lpstr>
    </vt:vector>
  </TitlesOfParts>
  <Company>De Nederlandsche Bank N.V.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Jan Willem van den End (EBO_CMA)</dc:creator>
  <dc:description/>
  <cp:lastModifiedBy>Jan Willem van den End (EBO_CMA)</cp:lastModifiedBy>
  <cp:revision>17</cp:revision>
  <cp:lastPrinted>2021-12-14T08:32:52Z</cp:lastPrinted>
  <dcterms:created xsi:type="dcterms:W3CDTF">2026-09-18T13:31:25Z</dcterms:created>
  <dcterms:modified xsi:type="dcterms:W3CDTF">2026-09-18T19:12:07Z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LichteAchtergrond4x3:5\1_LichteAchtergrond4x3:5\3_LichteAchtergrond4x3:5</vt:lpwstr>
  </property>
  <property fmtid="{D5CDD505-2E9C-101B-9397-08002B2CF9AE}" pid="3" name="ClassificationContentMarkingHeaderText">
    <vt:lpwstr>| DNB PUBLIC |</vt:lpwstr>
  </property>
</Properties>
</file>