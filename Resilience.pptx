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8" r:id="rId1"/>
    <p:sldMasterId id="2147483708" r:id="rId2"/>
  </p:sldMasterIdLst>
  <p:notesMasterIdLst>
    <p:notesMasterId r:id="rId18"/>
  </p:notesMasterIdLst>
  <p:handoutMasterIdLst>
    <p:handoutMasterId r:id="rId19"/>
  </p:handoutMasterIdLst>
  <p:sldIdLst>
    <p:sldId id="781" r:id="rId3"/>
    <p:sldId id="768" r:id="rId4"/>
    <p:sldId id="795" r:id="rId5"/>
    <p:sldId id="657" r:id="rId6"/>
    <p:sldId id="786" r:id="rId7"/>
    <p:sldId id="784" r:id="rId8"/>
    <p:sldId id="792" r:id="rId9"/>
    <p:sldId id="793" r:id="rId10"/>
    <p:sldId id="796" r:id="rId11"/>
    <p:sldId id="790" r:id="rId12"/>
    <p:sldId id="783" r:id="rId13"/>
    <p:sldId id="782" r:id="rId14"/>
    <p:sldId id="791" r:id="rId15"/>
    <p:sldId id="794" r:id="rId16"/>
    <p:sldId id="797" r:id="rId17"/>
  </p:sldIdLst>
  <p:sldSz cx="9144000" cy="6858000" type="screen4x3"/>
  <p:notesSz cx="6805613" cy="99441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9AA52A-C8DC-0079-4B3D-3D94CB4CC93F}" name="Sleijpen, O.C.H.M. (Olaf) (DIR_DIR)" initials="SO((" userId="S::o.c.h.m.sleijpen@dnb.nl::e1834a21-b3b8-47a2-be81-be8d1b72480a" providerId="AD"/>
  <p188:author id="{114EDE45-E8DB-37B7-C237-E6B69FEBD181}" name="Hebbink, G.E. (Gerbert) (EBO_CMA)" initials="HG((" userId="S::g.e.hebbink@dnb.nl::444fd58c-4ff3-4106-ad46-ede14c697b3e" providerId="AD"/>
  <p188:author id="{19AFD3AA-EF12-0A5E-B173-A3D533F398FE}" name="Robert-Paul Berben (EBO_ECMO)" initials="RB" userId="S::r.p.berben@dnb.nl::e0d9533d-c10d-4fed-b4b8-e1abed61a76a" providerId="AD"/>
  <p188:author id="{B57F0CF1-687C-DE38-9287-2219F7DAA597}" name="Henneman, M.L. (Maria) (COM_COM)" initials="HM((" userId="S::M.L.Henneman@dnb.nl::93a05259-aa37-4f46-ab68-ed256dca0c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0099"/>
    <a:srgbClr val="9B9000"/>
    <a:srgbClr val="002060"/>
    <a:srgbClr val="211261"/>
    <a:srgbClr val="2B323C"/>
    <a:srgbClr val="0000FF"/>
    <a:srgbClr val="7F7F7F"/>
    <a:srgbClr val="162257"/>
    <a:srgbClr val="44287F"/>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B43BEF-9B9B-431D-9308-0B2B126B7992}" v="90" dt="2026-09-23T12:20:25.834"/>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ijl, gemiddeld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Stijl, gemiddeld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Stijl, gemiddeld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ijl, gemiddeld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1180" y="5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26" Type="http://schemas.microsoft.com/office/2018/10/relationships/authors" Target="authors.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 Willem van den End (EBO_CMA)" userId="32ade95a-e024-4672-952f-5ed8641a9e00" providerId="ADAL" clId="{3BBBE02E-ACD4-4586-9407-5E79BF620DF1}"/>
    <pc:docChg chg="undo redo custSel addSld modSld">
      <pc:chgData name="Jan Willem van den End (EBO_CMA)" userId="32ade95a-e024-4672-952f-5ed8641a9e00" providerId="ADAL" clId="{3BBBE02E-ACD4-4586-9407-5E79BF620DF1}" dt="2026-09-23T12:20:25.834" v="4079" actId="20577"/>
      <pc:docMkLst>
        <pc:docMk/>
      </pc:docMkLst>
      <pc:sldChg chg="modSp mod">
        <pc:chgData name="Jan Willem van den End (EBO_CMA)" userId="32ade95a-e024-4672-952f-5ed8641a9e00" providerId="ADAL" clId="{3BBBE02E-ACD4-4586-9407-5E79BF620DF1}" dt="2026-09-19T07:52:20.074" v="1794" actId="1076"/>
        <pc:sldMkLst>
          <pc:docMk/>
          <pc:sldMk cId="3588697" sldId="657"/>
        </pc:sldMkLst>
        <pc:spChg chg="mod">
          <ac:chgData name="Jan Willem van den End (EBO_CMA)" userId="32ade95a-e024-4672-952f-5ed8641a9e00" providerId="ADAL" clId="{3BBBE02E-ACD4-4586-9407-5E79BF620DF1}" dt="2026-09-19T07:52:20.074" v="1794" actId="1076"/>
          <ac:spMkLst>
            <pc:docMk/>
            <pc:sldMk cId="3588697" sldId="657"/>
            <ac:spMk id="5" creationId="{CA3656D4-EE51-EF04-3E51-2AD8DB9C0964}"/>
          </ac:spMkLst>
        </pc:spChg>
      </pc:sldChg>
      <pc:sldChg chg="modSp mod">
        <pc:chgData name="Jan Willem van den End (EBO_CMA)" userId="32ade95a-e024-4672-952f-5ed8641a9e00" providerId="ADAL" clId="{3BBBE02E-ACD4-4586-9407-5E79BF620DF1}" dt="2026-09-20T19:40:41.054" v="2411" actId="20577"/>
        <pc:sldMkLst>
          <pc:docMk/>
          <pc:sldMk cId="1203207517" sldId="768"/>
        </pc:sldMkLst>
        <pc:spChg chg="mod">
          <ac:chgData name="Jan Willem van den End (EBO_CMA)" userId="32ade95a-e024-4672-952f-5ed8641a9e00" providerId="ADAL" clId="{3BBBE02E-ACD4-4586-9407-5E79BF620DF1}" dt="2026-09-20T19:40:41.054" v="2411" actId="20577"/>
          <ac:spMkLst>
            <pc:docMk/>
            <pc:sldMk cId="1203207517" sldId="768"/>
            <ac:spMk id="8" creationId="{545BE5F7-F057-18CF-DA77-201D8BAEDAF2}"/>
          </ac:spMkLst>
        </pc:spChg>
      </pc:sldChg>
      <pc:sldChg chg="addSp delSp modSp mod">
        <pc:chgData name="Jan Willem van den End (EBO_CMA)" userId="32ade95a-e024-4672-952f-5ed8641a9e00" providerId="ADAL" clId="{3BBBE02E-ACD4-4586-9407-5E79BF620DF1}" dt="2026-09-23T09:47:54.527" v="3772" actId="1035"/>
        <pc:sldMkLst>
          <pc:docMk/>
          <pc:sldMk cId="2428101549" sldId="784"/>
        </pc:sldMkLst>
        <pc:spChg chg="mod">
          <ac:chgData name="Jan Willem van den End (EBO_CMA)" userId="32ade95a-e024-4672-952f-5ed8641a9e00" providerId="ADAL" clId="{3BBBE02E-ACD4-4586-9407-5E79BF620DF1}" dt="2026-09-23T09:47:31.463" v="3757" actId="20577"/>
          <ac:spMkLst>
            <pc:docMk/>
            <pc:sldMk cId="2428101549" sldId="784"/>
            <ac:spMk id="6" creationId="{613E110F-8AEE-A02C-2032-1F07DE944DEB}"/>
          </ac:spMkLst>
        </pc:spChg>
        <pc:picChg chg="mod">
          <ac:chgData name="Jan Willem van den End (EBO_CMA)" userId="32ade95a-e024-4672-952f-5ed8641a9e00" providerId="ADAL" clId="{3BBBE02E-ACD4-4586-9407-5E79BF620DF1}" dt="2026-09-23T09:47:46.869" v="3758" actId="14100"/>
          <ac:picMkLst>
            <pc:docMk/>
            <pc:sldMk cId="2428101549" sldId="784"/>
            <ac:picMk id="3" creationId="{3AEC0293-BD5F-607E-F810-8030B0619792}"/>
          </ac:picMkLst>
        </pc:picChg>
        <pc:picChg chg="del mod">
          <ac:chgData name="Jan Willem van den End (EBO_CMA)" userId="32ade95a-e024-4672-952f-5ed8641a9e00" providerId="ADAL" clId="{3BBBE02E-ACD4-4586-9407-5E79BF620DF1}" dt="2026-09-23T09:45:48.661" v="3726" actId="478"/>
          <ac:picMkLst>
            <pc:docMk/>
            <pc:sldMk cId="2428101549" sldId="784"/>
            <ac:picMk id="4" creationId="{6ECE1DC5-FB80-BD91-88E9-814F7F9FA66B}"/>
          </ac:picMkLst>
        </pc:picChg>
        <pc:picChg chg="mod">
          <ac:chgData name="Jan Willem van den End (EBO_CMA)" userId="32ade95a-e024-4672-952f-5ed8641a9e00" providerId="ADAL" clId="{3BBBE02E-ACD4-4586-9407-5E79BF620DF1}" dt="2026-09-23T09:47:54.527" v="3772" actId="1035"/>
          <ac:picMkLst>
            <pc:docMk/>
            <pc:sldMk cId="2428101549" sldId="784"/>
            <ac:picMk id="7" creationId="{339ECCAE-ABF5-C0A3-D3B2-D90FA8CF9B40}"/>
          </ac:picMkLst>
        </pc:picChg>
        <pc:picChg chg="add del mod">
          <ac:chgData name="Jan Willem van den End (EBO_CMA)" userId="32ade95a-e024-4672-952f-5ed8641a9e00" providerId="ADAL" clId="{3BBBE02E-ACD4-4586-9407-5E79BF620DF1}" dt="2026-09-23T09:46:14.259" v="3731" actId="478"/>
          <ac:picMkLst>
            <pc:docMk/>
            <pc:sldMk cId="2428101549" sldId="784"/>
            <ac:picMk id="11" creationId="{7A25CD59-D632-9630-3CAD-3BDC8155E548}"/>
          </ac:picMkLst>
        </pc:picChg>
      </pc:sldChg>
      <pc:sldChg chg="modSp mod">
        <pc:chgData name="Jan Willem van den End (EBO_CMA)" userId="32ade95a-e024-4672-952f-5ed8641a9e00" providerId="ADAL" clId="{3BBBE02E-ACD4-4586-9407-5E79BF620DF1}" dt="2026-09-19T07:22:24.819" v="1551" actId="20577"/>
        <pc:sldMkLst>
          <pc:docMk/>
          <pc:sldMk cId="4129420739" sldId="786"/>
        </pc:sldMkLst>
        <pc:spChg chg="mod">
          <ac:chgData name="Jan Willem van den End (EBO_CMA)" userId="32ade95a-e024-4672-952f-5ed8641a9e00" providerId="ADAL" clId="{3BBBE02E-ACD4-4586-9407-5E79BF620DF1}" dt="2026-09-19T07:22:24.819" v="1551" actId="20577"/>
          <ac:spMkLst>
            <pc:docMk/>
            <pc:sldMk cId="4129420739" sldId="786"/>
            <ac:spMk id="8" creationId="{233DCD29-1BC1-E6E9-61D7-A3B8C24AFEC7}"/>
          </ac:spMkLst>
        </pc:spChg>
      </pc:sldChg>
      <pc:sldChg chg="modSp mod">
        <pc:chgData name="Jan Willem van den End (EBO_CMA)" userId="32ade95a-e024-4672-952f-5ed8641a9e00" providerId="ADAL" clId="{3BBBE02E-ACD4-4586-9407-5E79BF620DF1}" dt="2026-09-20T19:43:08.706" v="2453" actId="6549"/>
        <pc:sldMkLst>
          <pc:docMk/>
          <pc:sldMk cId="3777662078" sldId="790"/>
        </pc:sldMkLst>
        <pc:spChg chg="mod">
          <ac:chgData name="Jan Willem van den End (EBO_CMA)" userId="32ade95a-e024-4672-952f-5ed8641a9e00" providerId="ADAL" clId="{3BBBE02E-ACD4-4586-9407-5E79BF620DF1}" dt="2026-09-20T19:43:08.706" v="2453" actId="6549"/>
          <ac:spMkLst>
            <pc:docMk/>
            <pc:sldMk cId="3777662078" sldId="790"/>
            <ac:spMk id="2" creationId="{EFBED4CC-73CB-5E21-890E-866BC0B3643A}"/>
          </ac:spMkLst>
        </pc:spChg>
        <pc:spChg chg="mod">
          <ac:chgData name="Jan Willem van den End (EBO_CMA)" userId="32ade95a-e024-4672-952f-5ed8641a9e00" providerId="ADAL" clId="{3BBBE02E-ACD4-4586-9407-5E79BF620DF1}" dt="2026-09-18T19:27:10.448" v="1158" actId="20577"/>
          <ac:spMkLst>
            <pc:docMk/>
            <pc:sldMk cId="3777662078" sldId="790"/>
            <ac:spMk id="9" creationId="{2EDEA4FF-77B4-1210-0800-2B8BF9AA0C33}"/>
          </ac:spMkLst>
        </pc:spChg>
      </pc:sldChg>
      <pc:sldChg chg="delSp modSp mod">
        <pc:chgData name="Jan Willem van den End (EBO_CMA)" userId="32ade95a-e024-4672-952f-5ed8641a9e00" providerId="ADAL" clId="{3BBBE02E-ACD4-4586-9407-5E79BF620DF1}" dt="2026-09-23T10:25:55.343" v="4048" actId="6549"/>
        <pc:sldMkLst>
          <pc:docMk/>
          <pc:sldMk cId="374833015" sldId="791"/>
        </pc:sldMkLst>
        <pc:spChg chg="mod">
          <ac:chgData name="Jan Willem van den End (EBO_CMA)" userId="32ade95a-e024-4672-952f-5ed8641a9e00" providerId="ADAL" clId="{3BBBE02E-ACD4-4586-9407-5E79BF620DF1}" dt="2026-09-20T19:32:00.290" v="2064" actId="1076"/>
          <ac:spMkLst>
            <pc:docMk/>
            <pc:sldMk cId="374833015" sldId="791"/>
            <ac:spMk id="8" creationId="{21C63CC4-9F1C-6D6D-9FEF-9D04021E36EE}"/>
          </ac:spMkLst>
        </pc:spChg>
        <pc:spChg chg="mod">
          <ac:chgData name="Jan Willem van den End (EBO_CMA)" userId="32ade95a-e024-4672-952f-5ed8641a9e00" providerId="ADAL" clId="{3BBBE02E-ACD4-4586-9407-5E79BF620DF1}" dt="2026-09-23T10:25:55.343" v="4048" actId="6549"/>
          <ac:spMkLst>
            <pc:docMk/>
            <pc:sldMk cId="374833015" sldId="791"/>
            <ac:spMk id="11" creationId="{7D1FCEE6-8AAC-959D-A8E8-B4CF4C9F0122}"/>
          </ac:spMkLst>
        </pc:spChg>
        <pc:picChg chg="mod">
          <ac:chgData name="Jan Willem van den End (EBO_CMA)" userId="32ade95a-e024-4672-952f-5ed8641a9e00" providerId="ADAL" clId="{3BBBE02E-ACD4-4586-9407-5E79BF620DF1}" dt="2026-09-23T10:25:19.998" v="4015" actId="1076"/>
          <ac:picMkLst>
            <pc:docMk/>
            <pc:sldMk cId="374833015" sldId="791"/>
            <ac:picMk id="3" creationId="{8A7EFEE7-907A-EF9C-42CF-70E7257DAC35}"/>
          </ac:picMkLst>
        </pc:picChg>
        <pc:picChg chg="del mod">
          <ac:chgData name="Jan Willem van den End (EBO_CMA)" userId="32ade95a-e024-4672-952f-5ed8641a9e00" providerId="ADAL" clId="{3BBBE02E-ACD4-4586-9407-5E79BF620DF1}" dt="2026-09-23T10:25:00.997" v="4009" actId="478"/>
          <ac:picMkLst>
            <pc:docMk/>
            <pc:sldMk cId="374833015" sldId="791"/>
            <ac:picMk id="9" creationId="{9A1BFB74-B0F9-69A1-8D0B-9ADBEF25B14A}"/>
          </ac:picMkLst>
        </pc:picChg>
      </pc:sldChg>
      <pc:sldChg chg="addSp delSp modSp mod">
        <pc:chgData name="Jan Willem van den End (EBO_CMA)" userId="32ade95a-e024-4672-952f-5ed8641a9e00" providerId="ADAL" clId="{3BBBE02E-ACD4-4586-9407-5E79BF620DF1}" dt="2026-09-23T09:52:20.284" v="3869" actId="6549"/>
        <pc:sldMkLst>
          <pc:docMk/>
          <pc:sldMk cId="2304846322" sldId="792"/>
        </pc:sldMkLst>
        <pc:spChg chg="mod">
          <ac:chgData name="Jan Willem van den End (EBO_CMA)" userId="32ade95a-e024-4672-952f-5ed8641a9e00" providerId="ADAL" clId="{3BBBE02E-ACD4-4586-9407-5E79BF620DF1}" dt="2026-09-23T09:52:20.284" v="3869" actId="6549"/>
          <ac:spMkLst>
            <pc:docMk/>
            <pc:sldMk cId="2304846322" sldId="792"/>
            <ac:spMk id="6" creationId="{CF9708F7-32AE-5645-3159-CE1174AB0729}"/>
          </ac:spMkLst>
        </pc:spChg>
        <pc:picChg chg="mod">
          <ac:chgData name="Jan Willem van den End (EBO_CMA)" userId="32ade95a-e024-4672-952f-5ed8641a9e00" providerId="ADAL" clId="{3BBBE02E-ACD4-4586-9407-5E79BF620DF1}" dt="2026-09-23T09:49:41.879" v="3789" actId="1038"/>
          <ac:picMkLst>
            <pc:docMk/>
            <pc:sldMk cId="2304846322" sldId="792"/>
            <ac:picMk id="3" creationId="{FD8FEF3A-B9D3-C258-3FD3-115594E60806}"/>
          </ac:picMkLst>
        </pc:picChg>
        <pc:picChg chg="del">
          <ac:chgData name="Jan Willem van den End (EBO_CMA)" userId="32ade95a-e024-4672-952f-5ed8641a9e00" providerId="ADAL" clId="{3BBBE02E-ACD4-4586-9407-5E79BF620DF1}" dt="2026-09-23T09:49:01.275" v="3777" actId="478"/>
          <ac:picMkLst>
            <pc:docMk/>
            <pc:sldMk cId="2304846322" sldId="792"/>
            <ac:picMk id="4" creationId="{551404D6-F9AD-BB52-B168-06741BAA0097}"/>
          </ac:picMkLst>
        </pc:picChg>
        <pc:picChg chg="del mod">
          <ac:chgData name="Jan Willem van den End (EBO_CMA)" userId="32ade95a-e024-4672-952f-5ed8641a9e00" providerId="ADAL" clId="{3BBBE02E-ACD4-4586-9407-5E79BF620DF1}" dt="2026-09-23T09:48:45.969" v="3773" actId="478"/>
          <ac:picMkLst>
            <pc:docMk/>
            <pc:sldMk cId="2304846322" sldId="792"/>
            <ac:picMk id="7" creationId="{5A97EF09-CBBC-6BFB-7A2B-C80CB9B80409}"/>
          </ac:picMkLst>
        </pc:picChg>
        <pc:picChg chg="mod">
          <ac:chgData name="Jan Willem van den End (EBO_CMA)" userId="32ade95a-e024-4672-952f-5ed8641a9e00" providerId="ADAL" clId="{3BBBE02E-ACD4-4586-9407-5E79BF620DF1}" dt="2026-09-23T09:49:48.959" v="3790" actId="14100"/>
          <ac:picMkLst>
            <pc:docMk/>
            <pc:sldMk cId="2304846322" sldId="792"/>
            <ac:picMk id="9" creationId="{53094AB5-29A5-390F-D793-10B141A69812}"/>
          </ac:picMkLst>
        </pc:picChg>
      </pc:sldChg>
      <pc:sldChg chg="modSp mod modNotesTx">
        <pc:chgData name="Jan Willem van den End (EBO_CMA)" userId="32ade95a-e024-4672-952f-5ed8641a9e00" providerId="ADAL" clId="{3BBBE02E-ACD4-4586-9407-5E79BF620DF1}" dt="2026-09-23T12:20:25.834" v="4079" actId="20577"/>
        <pc:sldMkLst>
          <pc:docMk/>
          <pc:sldMk cId="515665883" sldId="793"/>
        </pc:sldMkLst>
        <pc:spChg chg="mod">
          <ac:chgData name="Jan Willem van den End (EBO_CMA)" userId="32ade95a-e024-4672-952f-5ed8641a9e00" providerId="ADAL" clId="{3BBBE02E-ACD4-4586-9407-5E79BF620DF1}" dt="2026-09-23T12:20:25.834" v="4079" actId="20577"/>
          <ac:spMkLst>
            <pc:docMk/>
            <pc:sldMk cId="515665883" sldId="793"/>
            <ac:spMk id="2" creationId="{6B853D72-57E4-54DF-F916-E87E4C65C99E}"/>
          </ac:spMkLst>
        </pc:spChg>
      </pc:sldChg>
      <pc:sldChg chg="delSp modSp mod">
        <pc:chgData name="Jan Willem van den End (EBO_CMA)" userId="32ade95a-e024-4672-952f-5ed8641a9e00" providerId="ADAL" clId="{3BBBE02E-ACD4-4586-9407-5E79BF620DF1}" dt="2026-09-23T10:17:02.645" v="3986" actId="1076"/>
        <pc:sldMkLst>
          <pc:docMk/>
          <pc:sldMk cId="240743824" sldId="794"/>
        </pc:sldMkLst>
        <pc:spChg chg="mod">
          <ac:chgData name="Jan Willem van den End (EBO_CMA)" userId="32ade95a-e024-4672-952f-5ed8641a9e00" providerId="ADAL" clId="{3BBBE02E-ACD4-4586-9407-5E79BF620DF1}" dt="2026-09-23T10:17:02.645" v="3986" actId="1076"/>
          <ac:spMkLst>
            <pc:docMk/>
            <pc:sldMk cId="240743824" sldId="794"/>
            <ac:spMk id="11" creationId="{D6974398-2614-1310-0782-A3E80B13A2FD}"/>
          </ac:spMkLst>
        </pc:spChg>
        <pc:picChg chg="del mod">
          <ac:chgData name="Jan Willem van den End (EBO_CMA)" userId="32ade95a-e024-4672-952f-5ed8641a9e00" providerId="ADAL" clId="{3BBBE02E-ACD4-4586-9407-5E79BF620DF1}" dt="2026-09-23T10:16:17.670" v="3969" actId="478"/>
          <ac:picMkLst>
            <pc:docMk/>
            <pc:sldMk cId="240743824" sldId="794"/>
            <ac:picMk id="3" creationId="{A9B511F9-EA27-E187-9227-1EF502D06828}"/>
          </ac:picMkLst>
        </pc:picChg>
        <pc:picChg chg="mod">
          <ac:chgData name="Jan Willem van den End (EBO_CMA)" userId="32ade95a-e024-4672-952f-5ed8641a9e00" providerId="ADAL" clId="{3BBBE02E-ACD4-4586-9407-5E79BF620DF1}" dt="2026-09-20T19:31:44.104" v="2061" actId="1076"/>
          <ac:picMkLst>
            <pc:docMk/>
            <pc:sldMk cId="240743824" sldId="794"/>
            <ac:picMk id="4" creationId="{D752BB6B-84D3-1A02-4BE3-8EAA21B12319}"/>
          </ac:picMkLst>
        </pc:picChg>
        <pc:picChg chg="mod">
          <ac:chgData name="Jan Willem van den End (EBO_CMA)" userId="32ade95a-e024-4672-952f-5ed8641a9e00" providerId="ADAL" clId="{3BBBE02E-ACD4-4586-9407-5E79BF620DF1}" dt="2026-09-23T10:16:30.622" v="3973" actId="1076"/>
          <ac:picMkLst>
            <pc:docMk/>
            <pc:sldMk cId="240743824" sldId="794"/>
            <ac:picMk id="5" creationId="{7596D83C-A172-D741-78FB-EBEC12FF1632}"/>
          </ac:picMkLst>
        </pc:picChg>
      </pc:sldChg>
      <pc:sldChg chg="modSp mod">
        <pc:chgData name="Jan Willem van den End (EBO_CMA)" userId="32ade95a-e024-4672-952f-5ed8641a9e00" providerId="ADAL" clId="{3BBBE02E-ACD4-4586-9407-5E79BF620DF1}" dt="2026-09-22T06:51:42.256" v="2752" actId="20577"/>
        <pc:sldMkLst>
          <pc:docMk/>
          <pc:sldMk cId="165802264" sldId="795"/>
        </pc:sldMkLst>
        <pc:spChg chg="mod">
          <ac:chgData name="Jan Willem van den End (EBO_CMA)" userId="32ade95a-e024-4672-952f-5ed8641a9e00" providerId="ADAL" clId="{3BBBE02E-ACD4-4586-9407-5E79BF620DF1}" dt="2026-09-22T06:51:42.256" v="2752" actId="20577"/>
          <ac:spMkLst>
            <pc:docMk/>
            <pc:sldMk cId="165802264" sldId="795"/>
            <ac:spMk id="2" creationId="{7415D86D-5542-3552-758F-1923FC3E3C99}"/>
          </ac:spMkLst>
        </pc:spChg>
      </pc:sldChg>
      <pc:sldChg chg="addSp delSp modSp mod">
        <pc:chgData name="Jan Willem van den End (EBO_CMA)" userId="32ade95a-e024-4672-952f-5ed8641a9e00" providerId="ADAL" clId="{3BBBE02E-ACD4-4586-9407-5E79BF620DF1}" dt="2026-09-23T09:55:54.127" v="3964" actId="20577"/>
        <pc:sldMkLst>
          <pc:docMk/>
          <pc:sldMk cId="909146083" sldId="796"/>
        </pc:sldMkLst>
        <pc:spChg chg="mod">
          <ac:chgData name="Jan Willem van den End (EBO_CMA)" userId="32ade95a-e024-4672-952f-5ed8641a9e00" providerId="ADAL" clId="{3BBBE02E-ACD4-4586-9407-5E79BF620DF1}" dt="2026-09-23T09:40:37.381" v="3725" actId="1076"/>
          <ac:spMkLst>
            <pc:docMk/>
            <pc:sldMk cId="909146083" sldId="796"/>
            <ac:spMk id="2" creationId="{9D7DFCD1-CA74-2C76-7A49-94B41E557F74}"/>
          </ac:spMkLst>
        </pc:spChg>
        <pc:spChg chg="add mod">
          <ac:chgData name="Jan Willem van den End (EBO_CMA)" userId="32ade95a-e024-4672-952f-5ed8641a9e00" providerId="ADAL" clId="{3BBBE02E-ACD4-4586-9407-5E79BF620DF1}" dt="2026-09-23T09:55:54.127" v="3964" actId="20577"/>
          <ac:spMkLst>
            <pc:docMk/>
            <pc:sldMk cId="909146083" sldId="796"/>
            <ac:spMk id="6" creationId="{4ED6076C-5ED2-F560-9ECC-68A359BFC0CA}"/>
          </ac:spMkLst>
        </pc:spChg>
        <pc:spChg chg="add del mod">
          <ac:chgData name="Jan Willem van den End (EBO_CMA)" userId="32ade95a-e024-4672-952f-5ed8641a9e00" providerId="ADAL" clId="{3BBBE02E-ACD4-4586-9407-5E79BF620DF1}" dt="2026-09-23T09:37:31.990" v="3628" actId="21"/>
          <ac:spMkLst>
            <pc:docMk/>
            <pc:sldMk cId="909146083" sldId="796"/>
            <ac:spMk id="7" creationId="{475F513A-C52D-7D55-1C0D-2A6BC3630CED}"/>
          </ac:spMkLst>
        </pc:spChg>
        <pc:spChg chg="add del mod">
          <ac:chgData name="Jan Willem van den End (EBO_CMA)" userId="32ade95a-e024-4672-952f-5ed8641a9e00" providerId="ADAL" clId="{3BBBE02E-ACD4-4586-9407-5E79BF620DF1}" dt="2026-09-23T09:53:48.056" v="3871" actId="478"/>
          <ac:spMkLst>
            <pc:docMk/>
            <pc:sldMk cId="909146083" sldId="796"/>
            <ac:spMk id="8" creationId="{82858DA4-8DA2-B74F-6A14-AA63B019E87D}"/>
          </ac:spMkLst>
        </pc:spChg>
        <pc:picChg chg="del mod">
          <ac:chgData name="Jan Willem van den End (EBO_CMA)" userId="32ade95a-e024-4672-952f-5ed8641a9e00" providerId="ADAL" clId="{3BBBE02E-ACD4-4586-9407-5E79BF620DF1}" dt="2026-09-23T09:37:00.284" v="3624" actId="478"/>
          <ac:picMkLst>
            <pc:docMk/>
            <pc:sldMk cId="909146083" sldId="796"/>
            <ac:picMk id="3" creationId="{A69985F4-E5BB-D076-899F-DF9BEDA0FAA6}"/>
          </ac:picMkLst>
        </pc:picChg>
        <pc:picChg chg="del mod">
          <ac:chgData name="Jan Willem van den End (EBO_CMA)" userId="32ade95a-e024-4672-952f-5ed8641a9e00" providerId="ADAL" clId="{3BBBE02E-ACD4-4586-9407-5E79BF620DF1}" dt="2026-09-23T09:53:44.862" v="3870" actId="478"/>
          <ac:picMkLst>
            <pc:docMk/>
            <pc:sldMk cId="909146083" sldId="796"/>
            <ac:picMk id="4" creationId="{77BBDB3E-D62F-2AA7-F4F9-963882708640}"/>
          </ac:picMkLst>
        </pc:picChg>
        <pc:picChg chg="mod">
          <ac:chgData name="Jan Willem van den End (EBO_CMA)" userId="32ade95a-e024-4672-952f-5ed8641a9e00" providerId="ADAL" clId="{3BBBE02E-ACD4-4586-9407-5E79BF620DF1}" dt="2026-09-23T09:54:04.654" v="3873" actId="1076"/>
          <ac:picMkLst>
            <pc:docMk/>
            <pc:sldMk cId="909146083" sldId="796"/>
            <ac:picMk id="10" creationId="{C9A895D5-4DBA-4775-3A49-739C761362E5}"/>
          </ac:picMkLst>
        </pc:picChg>
      </pc:sldChg>
      <pc:sldChg chg="modSp add mod">
        <pc:chgData name="Jan Willem van den End (EBO_CMA)" userId="32ade95a-e024-4672-952f-5ed8641a9e00" providerId="ADAL" clId="{3BBBE02E-ACD4-4586-9407-5E79BF620DF1}" dt="2026-09-23T09:57:05.545" v="3968" actId="14100"/>
        <pc:sldMkLst>
          <pc:docMk/>
          <pc:sldMk cId="341592472" sldId="797"/>
        </pc:sldMkLst>
        <pc:spChg chg="mod">
          <ac:chgData name="Jan Willem van den End (EBO_CMA)" userId="32ade95a-e024-4672-952f-5ed8641a9e00" providerId="ADAL" clId="{3BBBE02E-ACD4-4586-9407-5E79BF620DF1}" dt="2026-09-23T09:57:05.545" v="3968" actId="14100"/>
          <ac:spMkLst>
            <pc:docMk/>
            <pc:sldMk cId="341592472" sldId="797"/>
            <ac:spMk id="2" creationId="{69505807-7DB6-66DD-D0C3-991E02849C08}"/>
          </ac:spMkLst>
        </pc:spChg>
        <pc:spChg chg="mod">
          <ac:chgData name="Jan Willem van den End (EBO_CMA)" userId="32ade95a-e024-4672-952f-5ed8641a9e00" providerId="ADAL" clId="{3BBBE02E-ACD4-4586-9407-5E79BF620DF1}" dt="2026-09-23T09:32:59.846" v="3495" actId="6549"/>
          <ac:spMkLst>
            <pc:docMk/>
            <pc:sldMk cId="341592472" sldId="797"/>
            <ac:spMk id="9" creationId="{03204D0B-CF7E-0BFC-4F0F-962010862E03}"/>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575" cy="4968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54450" y="0"/>
            <a:ext cx="2949575" cy="496888"/>
          </a:xfrm>
          <a:prstGeom prst="rect">
            <a:avLst/>
          </a:prstGeom>
        </p:spPr>
        <p:txBody>
          <a:bodyPr vert="horz" lIns="91440" tIns="45720" rIns="91440" bIns="45720" rtlCol="0"/>
          <a:lstStyle>
            <a:lvl1pPr algn="r">
              <a:defRPr sz="1200"/>
            </a:lvl1pPr>
          </a:lstStyle>
          <a:p>
            <a:fld id="{C26BBE9F-2231-4498-A3E5-DFB02EDDD594}" type="datetimeFigureOut">
              <a:rPr lang="nl-NL" smtClean="0"/>
              <a:t>23-9-2026</a:t>
            </a:fld>
            <a:endParaRPr lang="nl-NL"/>
          </a:p>
        </p:txBody>
      </p:sp>
      <p:sp>
        <p:nvSpPr>
          <p:cNvPr id="4" name="Tijdelijke aanduiding voor voettekst 3"/>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54450" y="9445625"/>
            <a:ext cx="2949575" cy="496888"/>
          </a:xfrm>
          <a:prstGeom prst="rect">
            <a:avLst/>
          </a:prstGeom>
        </p:spPr>
        <p:txBody>
          <a:bodyPr vert="horz" lIns="91440" tIns="45720" rIns="91440" bIns="45720" rtlCol="0" anchor="b"/>
          <a:lstStyle>
            <a:lvl1pPr algn="r">
              <a:defRPr sz="1200"/>
            </a:lvl1pPr>
          </a:lstStyle>
          <a:p>
            <a:fld id="{956F0578-CC77-4CC6-8BD4-1C24732170C0}" type="slidenum">
              <a:rPr lang="nl-NL" smtClean="0"/>
              <a:t>‹#›</a:t>
            </a:fld>
            <a:endParaRPr lang="nl-NL"/>
          </a:p>
        </p:txBody>
      </p:sp>
    </p:spTree>
    <p:extLst>
      <p:ext uri="{BB962C8B-B14F-4D97-AF65-F5344CB8AC3E}">
        <p14:creationId xmlns:p14="http://schemas.microsoft.com/office/powerpoint/2010/main" val="7621691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099" cy="498932"/>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54939" y="0"/>
            <a:ext cx="2949099" cy="498932"/>
          </a:xfrm>
          <a:prstGeom prst="rect">
            <a:avLst/>
          </a:prstGeom>
        </p:spPr>
        <p:txBody>
          <a:bodyPr vert="horz" lIns="91440" tIns="45720" rIns="91440" bIns="45720" rtlCol="0"/>
          <a:lstStyle>
            <a:lvl1pPr algn="r">
              <a:defRPr sz="1200"/>
            </a:lvl1pPr>
          </a:lstStyle>
          <a:p>
            <a:fld id="{900D5B51-A3C5-4FC7-8A0D-54EFEFAFACD3}" type="datetimeFigureOut">
              <a:rPr lang="nl-NL" smtClean="0"/>
              <a:t>23-9-2026</a:t>
            </a:fld>
            <a:endParaRPr lang="nl-NL"/>
          </a:p>
        </p:txBody>
      </p:sp>
      <p:sp>
        <p:nvSpPr>
          <p:cNvPr id="4" name="Tijdelijke aanduiding voor dia-afbeelding 3"/>
          <p:cNvSpPr>
            <a:spLocks noGrp="1" noRot="1" noChangeAspect="1"/>
          </p:cNvSpPr>
          <p:nvPr>
            <p:ph type="sldImg" idx="2"/>
          </p:nvPr>
        </p:nvSpPr>
        <p:spPr>
          <a:xfrm>
            <a:off x="1166813" y="1243013"/>
            <a:ext cx="4471987" cy="3355975"/>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0562" y="4785598"/>
            <a:ext cx="5444490" cy="3915489"/>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9445170"/>
            <a:ext cx="2949099" cy="498931"/>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54939" y="9445170"/>
            <a:ext cx="2949099" cy="498931"/>
          </a:xfrm>
          <a:prstGeom prst="rect">
            <a:avLst/>
          </a:prstGeom>
        </p:spPr>
        <p:txBody>
          <a:bodyPr vert="horz" lIns="91440" tIns="45720" rIns="91440" bIns="45720" rtlCol="0" anchor="b"/>
          <a:lstStyle>
            <a:lvl1pPr algn="r">
              <a:defRPr sz="1200"/>
            </a:lvl1pPr>
          </a:lstStyle>
          <a:p>
            <a:fld id="{F9513F78-5509-4637-B397-C3DEABA56153}" type="slidenum">
              <a:rPr lang="nl-NL" smtClean="0"/>
              <a:t>‹#›</a:t>
            </a:fld>
            <a:endParaRPr lang="nl-NL"/>
          </a:p>
        </p:txBody>
      </p:sp>
    </p:spTree>
    <p:extLst>
      <p:ext uri="{BB962C8B-B14F-4D97-AF65-F5344CB8AC3E}">
        <p14:creationId xmlns:p14="http://schemas.microsoft.com/office/powerpoint/2010/main" val="4138850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endParaRPr lang="nl-NL"/>
          </a:p>
        </p:txBody>
      </p:sp>
      <p:sp>
        <p:nvSpPr>
          <p:cNvPr id="4" name="Tijdelijke aanduiding voor dianummer 3"/>
          <p:cNvSpPr>
            <a:spLocks noGrp="1"/>
          </p:cNvSpPr>
          <p:nvPr>
            <p:ph type="sldNum" sz="quarter" idx="5"/>
          </p:nvPr>
        </p:nvSpPr>
        <p:spPr/>
        <p:txBody>
          <a:bodyPr/>
          <a:lstStyle/>
          <a:p>
            <a:fld id="{F9513F78-5509-4637-B397-C3DEABA56153}" type="slidenum">
              <a:rPr lang="nl-NL" smtClean="0"/>
              <a:t>1</a:t>
            </a:fld>
            <a:endParaRPr lang="nl-NL"/>
          </a:p>
        </p:txBody>
      </p:sp>
    </p:spTree>
    <p:extLst>
      <p:ext uri="{BB962C8B-B14F-4D97-AF65-F5344CB8AC3E}">
        <p14:creationId xmlns:p14="http://schemas.microsoft.com/office/powerpoint/2010/main" val="29554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0" indent="0">
              <a:buFontTx/>
              <a:buNone/>
            </a:pPr>
            <a:endParaRPr lang="nl-NL" i="0" baseline="0"/>
          </a:p>
        </p:txBody>
      </p:sp>
      <p:sp>
        <p:nvSpPr>
          <p:cNvPr id="4" name="Tijdelijke aanduiding voor dianummer 3"/>
          <p:cNvSpPr>
            <a:spLocks noGrp="1"/>
          </p:cNvSpPr>
          <p:nvPr>
            <p:ph type="sldNum" sz="quarter" idx="10"/>
          </p:nvPr>
        </p:nvSpPr>
        <p:spPr/>
        <p:txBody>
          <a:bodyPr/>
          <a:lstStyle/>
          <a:p>
            <a:fld id="{F9513F78-5509-4637-B397-C3DEABA56153}" type="slidenum">
              <a:rPr lang="nl-NL" smtClean="0">
                <a:solidFill>
                  <a:prstClr val="black"/>
                </a:solidFill>
              </a:rPr>
              <a:pPr/>
              <a:t>2</a:t>
            </a:fld>
            <a:endParaRPr lang="nl-NL">
              <a:solidFill>
                <a:prstClr val="black"/>
              </a:solidFill>
            </a:endParaRPr>
          </a:p>
        </p:txBody>
      </p:sp>
    </p:spTree>
    <p:extLst>
      <p:ext uri="{BB962C8B-B14F-4D97-AF65-F5344CB8AC3E}">
        <p14:creationId xmlns:p14="http://schemas.microsoft.com/office/powerpoint/2010/main" val="184829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A921-151D-0DF3-6FAB-E2178B70AC37}"/>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8D2CC52-7055-C4F5-9776-623326025D1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349AC74-CDDA-DD36-1991-DAE35EA6E60B}"/>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ACE3154-DBE9-5AA3-E1EA-0FF8C608470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6092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171450" indent="-171450">
              <a:buFontTx/>
              <a:buChar char="-"/>
            </a:pPr>
            <a:endParaRPr lang="nl-NL"/>
          </a:p>
        </p:txBody>
      </p:sp>
      <p:sp>
        <p:nvSpPr>
          <p:cNvPr id="4" name="Tijdelijke aanduiding voor dianumm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73659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2F355-1972-2393-BE86-3ED62A5F296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949E41C-3A1B-7506-9467-350925154D7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E40117-2FC2-AD64-7A69-257DCDF9CD57}"/>
              </a:ext>
            </a:extLst>
          </p:cNvPr>
          <p:cNvSpPr>
            <a:spLocks noGrp="1"/>
          </p:cNvSpPr>
          <p:nvPr>
            <p:ph type="sldNum" sz="quarter" idx="10"/>
          </p:nvPr>
        </p:nvSpPr>
        <p:spPr/>
        <p:txBody>
          <a:bodyPr/>
          <a:lstStyle/>
          <a:p>
            <a:fld id="{F9513F78-5509-4637-B397-C3DEABA56153}" type="slidenum">
              <a:rPr lang="nl-NL" smtClean="0">
                <a:solidFill>
                  <a:prstClr val="black"/>
                </a:solidFill>
              </a:rPr>
              <a:pPr/>
              <a:t>5</a:t>
            </a:fld>
            <a:endParaRPr lang="nl-NL">
              <a:solidFill>
                <a:prstClr val="black"/>
              </a:solidFill>
            </a:endParaRPr>
          </a:p>
        </p:txBody>
      </p:sp>
    </p:spTree>
    <p:extLst>
      <p:ext uri="{BB962C8B-B14F-4D97-AF65-F5344CB8AC3E}">
        <p14:creationId xmlns:p14="http://schemas.microsoft.com/office/powerpoint/2010/main" val="35814445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1EF1A-2BFE-FC73-A652-E93653709E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8E45FAF-A103-FAAB-7970-46F9F5DD781A}"/>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DCB2AF-C97E-CB13-E1A4-6EFAD032174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BB08B61-6468-52E0-E472-F09207F523A7}"/>
              </a:ext>
            </a:extLst>
          </p:cNvPr>
          <p:cNvSpPr>
            <a:spLocks noGrp="1"/>
          </p:cNvSpPr>
          <p:nvPr>
            <p:ph type="sldNum" sz="quarter" idx="10"/>
          </p:nvPr>
        </p:nvSpPr>
        <p:spPr/>
        <p:txBody>
          <a:bodyPr/>
          <a:lstStyle/>
          <a:p>
            <a:fld id="{F9513F78-5509-4637-B397-C3DEABA56153}" type="slidenum">
              <a:rPr lang="nl-NL" smtClean="0">
                <a:solidFill>
                  <a:prstClr val="black"/>
                </a:solidFill>
              </a:rPr>
              <a:pPr/>
              <a:t>6</a:t>
            </a:fld>
            <a:endParaRPr lang="nl-NL">
              <a:solidFill>
                <a:prstClr val="black"/>
              </a:solidFill>
            </a:endParaRPr>
          </a:p>
        </p:txBody>
      </p:sp>
    </p:spTree>
    <p:extLst>
      <p:ext uri="{BB962C8B-B14F-4D97-AF65-F5344CB8AC3E}">
        <p14:creationId xmlns:p14="http://schemas.microsoft.com/office/powerpoint/2010/main" val="1947068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48E58-CB75-905B-068E-CDD7A9D2A0B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687A6651-9D8C-041E-6221-CB4A80DAA58D}"/>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F634D1AC-E4B8-E07C-05B4-D7A415247C1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3026BB5A-DB7F-2C88-876D-A4F0BE83B448}"/>
              </a:ext>
            </a:extLst>
          </p:cNvPr>
          <p:cNvSpPr>
            <a:spLocks noGrp="1"/>
          </p:cNvSpPr>
          <p:nvPr>
            <p:ph type="sldNum" sz="quarter" idx="10"/>
          </p:nvPr>
        </p:nvSpPr>
        <p:spPr/>
        <p:txBody>
          <a:bodyPr/>
          <a:lstStyle/>
          <a:p>
            <a:fld id="{F9513F78-5509-4637-B397-C3DEABA56153}" type="slidenum">
              <a:rPr lang="nl-NL" smtClean="0">
                <a:solidFill>
                  <a:prstClr val="black"/>
                </a:solidFill>
              </a:rPr>
              <a:pPr/>
              <a:t>7</a:t>
            </a:fld>
            <a:endParaRPr lang="nl-NL">
              <a:solidFill>
                <a:prstClr val="black"/>
              </a:solidFill>
            </a:endParaRPr>
          </a:p>
        </p:txBody>
      </p:sp>
    </p:spTree>
    <p:extLst>
      <p:ext uri="{BB962C8B-B14F-4D97-AF65-F5344CB8AC3E}">
        <p14:creationId xmlns:p14="http://schemas.microsoft.com/office/powerpoint/2010/main" val="3621924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0BC5-06E4-392E-9044-211CD5CF8EC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3A3BA49-0B7A-D781-55F9-636B649C7531}"/>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F9248E1-2394-BB6E-ACF7-C8BB520C4467}"/>
              </a:ext>
            </a:extLst>
          </p:cNvPr>
          <p:cNvSpPr>
            <a:spLocks noGrp="1"/>
          </p:cNvSpPr>
          <p:nvPr>
            <p:ph type="body" idx="1"/>
          </p:nvPr>
        </p:nvSpPr>
        <p:spPr/>
        <p:txBody>
          <a:bodyPr/>
          <a:lstStyle/>
          <a:p>
            <a:pPr marL="171450" indent="-171450">
              <a:buFontTx/>
              <a:buChar char="-"/>
            </a:pPr>
            <a:r>
              <a:rPr lang="nl-NL" dirty="0" err="1"/>
              <a:t>Each</a:t>
            </a:r>
            <a:r>
              <a:rPr lang="nl-NL" dirty="0"/>
              <a:t> </a:t>
            </a:r>
            <a:r>
              <a:rPr lang="nl-NL" dirty="0" err="1"/>
              <a:t>year</a:t>
            </a:r>
            <a:r>
              <a:rPr lang="nl-NL" dirty="0"/>
              <a:t> the </a:t>
            </a:r>
            <a:r>
              <a:rPr lang="nl-NL" dirty="0" err="1"/>
              <a:t>median</a:t>
            </a:r>
            <a:r>
              <a:rPr lang="nl-NL" dirty="0"/>
              <a:t> </a:t>
            </a:r>
            <a:r>
              <a:rPr lang="nl-NL" dirty="0" err="1"/>
              <a:t>threshold</a:t>
            </a:r>
            <a:r>
              <a:rPr lang="nl-NL" dirty="0"/>
              <a:t> </a:t>
            </a:r>
            <a:r>
              <a:rPr lang="nl-NL" dirty="0" err="1"/>
              <a:t>for</a:t>
            </a:r>
            <a:r>
              <a:rPr lang="nl-NL" dirty="0"/>
              <a:t> </a:t>
            </a:r>
            <a:r>
              <a:rPr lang="nl-NL" dirty="0" err="1"/>
              <a:t>Above</a:t>
            </a:r>
            <a:r>
              <a:rPr lang="nl-NL" dirty="0"/>
              <a:t> </a:t>
            </a:r>
            <a:r>
              <a:rPr lang="nl-NL" dirty="0" err="1"/>
              <a:t>vs</a:t>
            </a:r>
            <a:r>
              <a:rPr lang="nl-NL" dirty="0"/>
              <a:t> Below changes, </a:t>
            </a:r>
            <a:r>
              <a:rPr lang="nl-NL" dirty="0" err="1"/>
              <a:t>so</a:t>
            </a:r>
            <a:r>
              <a:rPr lang="nl-NL" dirty="0"/>
              <a:t>: </a:t>
            </a:r>
            <a:r>
              <a:rPr lang="nl-NL" dirty="0" err="1"/>
              <a:t>each</a:t>
            </a:r>
            <a:r>
              <a:rPr lang="nl-NL" dirty="0"/>
              <a:t> </a:t>
            </a:r>
            <a:r>
              <a:rPr lang="nl-NL" dirty="0" err="1"/>
              <a:t>year</a:t>
            </a:r>
            <a:r>
              <a:rPr lang="nl-NL" dirty="0"/>
              <a:t> the </a:t>
            </a:r>
            <a:r>
              <a:rPr lang="nl-NL" dirty="0" err="1"/>
              <a:t>Above</a:t>
            </a:r>
            <a:r>
              <a:rPr lang="nl-NL" dirty="0"/>
              <a:t> and Below </a:t>
            </a:r>
            <a:r>
              <a:rPr lang="nl-NL" dirty="0" err="1"/>
              <a:t>groups</a:t>
            </a:r>
            <a:r>
              <a:rPr lang="nl-NL" dirty="0"/>
              <a:t> of </a:t>
            </a:r>
            <a:r>
              <a:rPr lang="nl-NL" dirty="0" err="1"/>
              <a:t>countries</a:t>
            </a:r>
            <a:r>
              <a:rPr lang="nl-NL" dirty="0"/>
              <a:t> </a:t>
            </a:r>
            <a:r>
              <a:rPr lang="nl-NL" dirty="0" err="1"/>
              <a:t>differ</a:t>
            </a:r>
            <a:r>
              <a:rPr lang="nl-NL"/>
              <a:t>.</a:t>
            </a:r>
            <a:endParaRPr lang="nl-NL" dirty="0"/>
          </a:p>
        </p:txBody>
      </p:sp>
      <p:sp>
        <p:nvSpPr>
          <p:cNvPr id="4" name="Tijdelijke aanduiding voor dianummer 3">
            <a:extLst>
              <a:ext uri="{FF2B5EF4-FFF2-40B4-BE49-F238E27FC236}">
                <a16:creationId xmlns:a16="http://schemas.microsoft.com/office/drawing/2014/main" id="{33D28C7A-35E3-D7B6-1A04-5292B9F6D93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7956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F143D-9E44-94EC-AB52-06F1DEC0DF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8347234-BA72-C5A5-000F-B7C8EE2A67A9}"/>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7B9C725-AD21-6CD5-3DA4-207B353C143D}"/>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A4204FB8-B708-D4FF-C770-62C729146F7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89336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96EA2-6791-8BA7-3E1D-8AA41841624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C2B42AB-3FC6-66F4-EDB9-3794F38C39E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6266033-F159-99E4-AB2E-A64BA45BAE07}"/>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271191F-9E85-0AC2-25F8-021F793E688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248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2A8A-A84A-97A5-1457-BC14F74B5259}"/>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01C7A8D-4AD4-9718-24B4-E3DD7A672EF5}"/>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45B00884-682F-ABB0-4450-31B342A5997F}"/>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540CA2C-E628-470B-77EC-A64F9E7DE842}"/>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62742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F11D1-111C-2097-AF1B-AC0E2514559C}"/>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33E7C0D-B7FA-4003-29ED-9A68D1D3864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D2409FC-30BF-11D2-8F14-E878B41EDE0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DB7752-4697-5BFC-EE65-CBB78901BE3F}"/>
              </a:ext>
            </a:extLst>
          </p:cNvPr>
          <p:cNvSpPr>
            <a:spLocks noGrp="1"/>
          </p:cNvSpPr>
          <p:nvPr>
            <p:ph type="sldNum" sz="quarter" idx="10"/>
          </p:nvPr>
        </p:nvSpPr>
        <p:spPr/>
        <p:txBody>
          <a:bodyPr/>
          <a:lstStyle/>
          <a:p>
            <a:fld id="{F9513F78-5509-4637-B397-C3DEABA56153}" type="slidenum">
              <a:rPr lang="nl-NL" smtClean="0">
                <a:solidFill>
                  <a:prstClr val="black"/>
                </a:solidFill>
              </a:rPr>
              <a:pPr/>
              <a:t>12</a:t>
            </a:fld>
            <a:endParaRPr lang="nl-NL">
              <a:solidFill>
                <a:prstClr val="black"/>
              </a:solidFill>
            </a:endParaRPr>
          </a:p>
        </p:txBody>
      </p:sp>
    </p:spTree>
    <p:extLst>
      <p:ext uri="{BB962C8B-B14F-4D97-AF65-F5344CB8AC3E}">
        <p14:creationId xmlns:p14="http://schemas.microsoft.com/office/powerpoint/2010/main" val="787970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DE61E-40DD-9FCB-7415-8004BAD0958A}"/>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14660F3A-AA3B-1B45-807B-E34E346A9402}"/>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2CDDDEC-3085-D7C1-3586-164751189CA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1BC49F77-D952-93CD-01F1-A7374ECB05C7}"/>
              </a:ext>
            </a:extLst>
          </p:cNvPr>
          <p:cNvSpPr>
            <a:spLocks noGrp="1"/>
          </p:cNvSpPr>
          <p:nvPr>
            <p:ph type="sldNum" sz="quarter" idx="10"/>
          </p:nvPr>
        </p:nvSpPr>
        <p:spPr/>
        <p:txBody>
          <a:bodyPr/>
          <a:lstStyle/>
          <a:p>
            <a:fld id="{F9513F78-5509-4637-B397-C3DEABA56153}" type="slidenum">
              <a:rPr lang="nl-NL" smtClean="0">
                <a:solidFill>
                  <a:prstClr val="black"/>
                </a:solidFill>
              </a:rPr>
              <a:pPr/>
              <a:t>13</a:t>
            </a:fld>
            <a:endParaRPr lang="nl-NL">
              <a:solidFill>
                <a:prstClr val="black"/>
              </a:solidFill>
            </a:endParaRPr>
          </a:p>
        </p:txBody>
      </p:sp>
    </p:spTree>
    <p:extLst>
      <p:ext uri="{BB962C8B-B14F-4D97-AF65-F5344CB8AC3E}">
        <p14:creationId xmlns:p14="http://schemas.microsoft.com/office/powerpoint/2010/main" val="16498637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0B703-6763-3A02-0CD1-2AA5E1B12EC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F4C337D0-D3BF-4189-B369-1E9D295871F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4911D73-3315-29CE-AA78-CA06D883825A}"/>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DDB81D25-FC8A-9EA8-7378-54154F5B79F8}"/>
              </a:ext>
            </a:extLst>
          </p:cNvPr>
          <p:cNvSpPr>
            <a:spLocks noGrp="1"/>
          </p:cNvSpPr>
          <p:nvPr>
            <p:ph type="sldNum" sz="quarter" idx="10"/>
          </p:nvPr>
        </p:nvSpPr>
        <p:spPr/>
        <p:txBody>
          <a:bodyPr/>
          <a:lstStyle/>
          <a:p>
            <a:fld id="{F9513F78-5509-4637-B397-C3DEABA56153}" type="slidenum">
              <a:rPr lang="nl-NL" smtClean="0">
                <a:solidFill>
                  <a:prstClr val="black"/>
                </a:solidFill>
              </a:rPr>
              <a:pPr/>
              <a:t>14</a:t>
            </a:fld>
            <a:endParaRPr lang="nl-NL">
              <a:solidFill>
                <a:prstClr val="black"/>
              </a:solidFill>
            </a:endParaRPr>
          </a:p>
        </p:txBody>
      </p:sp>
    </p:spTree>
    <p:extLst>
      <p:ext uri="{BB962C8B-B14F-4D97-AF65-F5344CB8AC3E}">
        <p14:creationId xmlns:p14="http://schemas.microsoft.com/office/powerpoint/2010/main" val="34939460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36740-ACF0-1F8D-EFE0-B2B9B646E6D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4242CD5-8079-4695-C2BE-761D6D79ACD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953C6CF-2BBF-0983-ABCB-AAD49ED7E863}"/>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2CF62F4D-F0F1-75BD-73A5-CA318506320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062185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B8450E"/>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316829" y="2202312"/>
            <a:ext cx="7912770" cy="2446339"/>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308808" y="4765514"/>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323528" y="4149080"/>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323528" y="36450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323528" y="313627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3725265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84CDC7"/>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712995" y="3751911"/>
            <a:ext cx="5383005" cy="1761921"/>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712995" y="5611401"/>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645257" y="4952296"/>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645256" y="453102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645256" y="41241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4018404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el en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de stijl te bewerken</a:t>
            </a:r>
            <a:endParaRPr lang="en-US"/>
          </a:p>
        </p:txBody>
      </p:sp>
      <p:sp>
        <p:nvSpPr>
          <p:cNvPr id="3" name="Content Placeholder 2"/>
          <p:cNvSpPr>
            <a:spLocks noGrp="1"/>
          </p:cNvSpPr>
          <p:nvPr>
            <p:ph idx="1"/>
          </p:nvPr>
        </p:nvSpPr>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8"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9"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1809227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
        <p:nvSpPr>
          <p:cNvPr id="5"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6"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7"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39247660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0F419613-3326-3B0A-A276-3ECE2A30D20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1457511077"/>
      </p:ext>
    </p:extLst>
  </p:cSld>
  <p:clrMap bg1="lt1" tx1="dk1" bg2="lt2" tx2="dk2" accent1="accent1" accent2="accent2" accent3="accent3" accent4="accent4" accent5="accent5" accent6="accent6" hlink="hlink" folHlink="folHlink"/>
  <p:sldLayoutIdLst>
    <p:sldLayoutId id="2147483689" r:id="rId1"/>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48FE1AA8-430C-925C-4B49-CA9E5538C46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4132329856"/>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slide" Target="slide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slide" Target="slide14.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slide" Target="slide13.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image" Target="../media/image13.jpeg"/><Relationship Id="rId4" Type="http://schemas.openxmlformats.org/officeDocument/2006/relationships/slide" Target="slide4.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15.jpeg"/><Relationship Id="rId4" Type="http://schemas.openxmlformats.org/officeDocument/2006/relationships/image" Target="../media/image14.jpe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23DEFEE-159F-2F13-C617-6B4633392BB4}"/>
              </a:ext>
            </a:extLst>
          </p:cNvPr>
          <p:cNvSpPr txBox="1">
            <a:spLocks/>
          </p:cNvSpPr>
          <p:nvPr/>
        </p:nvSpPr>
        <p:spPr>
          <a:xfrm>
            <a:off x="418880" y="807374"/>
            <a:ext cx="8469088" cy="5679439"/>
          </a:xfrm>
          <a:prstGeom prst="rect">
            <a:avLst/>
          </a:prstGeom>
        </p:spPr>
        <p:txBody>
          <a:bodyPr>
            <a:normAutofit/>
          </a:bodyPr>
          <a:lst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20000"/>
              </a:lnSpc>
              <a:spcAft>
                <a:spcPts val="1200"/>
              </a:spcAft>
            </a:pPr>
            <a:endParaRPr lang="en-US" sz="3400" noProof="1">
              <a:latin typeface="Verdana" panose="020B0604030504040204" pitchFamily="34" charset="0"/>
              <a:ea typeface="Verdana" panose="020B0604030504040204" pitchFamily="34" charset="0"/>
            </a:endParaRPr>
          </a:p>
          <a:p>
            <a:pPr algn="ctr">
              <a:lnSpc>
                <a:spcPct val="120000"/>
              </a:lnSpc>
              <a:spcAft>
                <a:spcPts val="1200"/>
              </a:spcAft>
            </a:pPr>
            <a:r>
              <a:rPr lang="en-US" sz="3400" noProof="1">
                <a:latin typeface="Verdana" panose="020B0604030504040204" pitchFamily="34" charset="0"/>
                <a:ea typeface="Verdana" panose="020B0604030504040204" pitchFamily="34" charset="0"/>
              </a:rPr>
              <a:t>AI and shock resilience: </a:t>
            </a:r>
          </a:p>
          <a:p>
            <a:pPr algn="ctr">
              <a:lnSpc>
                <a:spcPct val="120000"/>
              </a:lnSpc>
              <a:spcAft>
                <a:spcPts val="1200"/>
              </a:spcAft>
            </a:pPr>
            <a:r>
              <a:rPr lang="en-US" sz="3400" noProof="1">
                <a:latin typeface="Verdana" panose="020B0604030504040204" pitchFamily="34" charset="0"/>
                <a:ea typeface="Verdana" panose="020B0604030504040204" pitchFamily="34" charset="0"/>
              </a:rPr>
              <a:t>Indications from euro area economies</a:t>
            </a:r>
            <a:endParaRPr lang="nl-NL" sz="3400" dirty="0"/>
          </a:p>
        </p:txBody>
      </p:sp>
    </p:spTree>
    <p:extLst>
      <p:ext uri="{BB962C8B-B14F-4D97-AF65-F5344CB8AC3E}">
        <p14:creationId xmlns:p14="http://schemas.microsoft.com/office/powerpoint/2010/main" val="2835017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Semiconductor super-</a:t>
            </a:r>
            <a:r>
              <a:rPr lang="nl-NL" sz="2400" dirty="0" err="1">
                <a:solidFill>
                  <a:schemeClr val="bg1"/>
                </a:solidFill>
              </a:rPr>
              <a:t>cycle</a:t>
            </a:r>
            <a:r>
              <a:rPr lang="nl-NL" sz="2400" dirty="0">
                <a:solidFill>
                  <a:schemeClr val="bg1"/>
                </a:solidFill>
              </a:rPr>
              <a:t> </a:t>
            </a:r>
            <a:r>
              <a:rPr lang="nl-NL" sz="2400" dirty="0" err="1">
                <a:solidFill>
                  <a:schemeClr val="bg1"/>
                </a:solidFill>
              </a:rPr>
              <a:t>seems</a:t>
            </a:r>
            <a:r>
              <a:rPr lang="nl-NL" sz="2400" dirty="0">
                <a:solidFill>
                  <a:schemeClr val="bg1"/>
                </a:solidFill>
              </a:rPr>
              <a:t> immune </a:t>
            </a:r>
            <a:r>
              <a:rPr lang="nl-NL" sz="2400" dirty="0" err="1">
                <a:solidFill>
                  <a:schemeClr val="bg1"/>
                </a:solidFill>
              </a:rPr>
              <a:t>to</a:t>
            </a:r>
            <a:r>
              <a:rPr lang="nl-NL" sz="2400" dirty="0">
                <a:solidFill>
                  <a:schemeClr val="bg1"/>
                </a:solidFill>
              </a:rPr>
              <a:t> shocks</a:t>
            </a:r>
            <a:endParaRPr lang="nl-NL" sz="2400" dirty="0">
              <a:solidFill>
                <a:srgbClr val="FF0000"/>
              </a:solidFill>
            </a:endParaRPr>
          </a:p>
        </p:txBody>
      </p:sp>
      <p:sp>
        <p:nvSpPr>
          <p:cNvPr id="6" name="Content Placeholder 2">
            <a:extLst>
              <a:ext uri="{FF2B5EF4-FFF2-40B4-BE49-F238E27FC236}">
                <a16:creationId xmlns:a16="http://schemas.microsoft.com/office/drawing/2014/main" id="{E5F77E79-9F6B-4517-B974-99DAACE11DF6}"/>
              </a:ext>
            </a:extLst>
          </p:cNvPr>
          <p:cNvSpPr>
            <a:spLocks noGrp="1"/>
          </p:cNvSpPr>
          <p:nvPr>
            <p:ph idx="1"/>
          </p:nvPr>
        </p:nvSpPr>
        <p:spPr>
          <a:xfrm>
            <a:off x="128015" y="1111359"/>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Strong upward trend in semiconductor market not derailed by global shocks</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Does this mean that economies more exposed to ICT-tech (AI) are also more resilient to shocks?</a:t>
            </a:r>
          </a:p>
          <a:p>
            <a:pPr>
              <a:lnSpc>
                <a:spcPct val="120000"/>
              </a:lnSpc>
              <a:spcAft>
                <a:spcPts val="1200"/>
              </a:spcAft>
            </a:pPr>
            <a:endParaRPr lang="nl-NL" sz="1600" dirty="0">
              <a:solidFill>
                <a:schemeClr val="accent1">
                  <a:lumMod val="50000"/>
                </a:schemeClr>
              </a:solidFill>
            </a:endParaRPr>
          </a:p>
        </p:txBody>
      </p:sp>
      <p:pic>
        <p:nvPicPr>
          <p:cNvPr id="5" name="Picture 4">
            <a:extLst>
              <a:ext uri="{FF2B5EF4-FFF2-40B4-BE49-F238E27FC236}">
                <a16:creationId xmlns:a16="http://schemas.microsoft.com/office/drawing/2014/main" id="{8C31B433-F3FC-898E-A2C4-1A7649456F35}"/>
              </a:ext>
            </a:extLst>
          </p:cNvPr>
          <p:cNvPicPr>
            <a:picLocks noChangeAspect="1"/>
          </p:cNvPicPr>
          <p:nvPr/>
        </p:nvPicPr>
        <p:blipFill>
          <a:blip r:embed="rId3"/>
          <a:stretch>
            <a:fillRect/>
          </a:stretch>
        </p:blipFill>
        <p:spPr>
          <a:xfrm>
            <a:off x="3493008" y="1522669"/>
            <a:ext cx="5650992" cy="3897624"/>
          </a:xfrm>
          <a:prstGeom prst="rect">
            <a:avLst/>
          </a:prstGeom>
        </p:spPr>
      </p:pic>
      <p:sp>
        <p:nvSpPr>
          <p:cNvPr id="8" name="Tekstvak 3">
            <a:extLst>
              <a:ext uri="{FF2B5EF4-FFF2-40B4-BE49-F238E27FC236}">
                <a16:creationId xmlns:a16="http://schemas.microsoft.com/office/drawing/2014/main" id="{545BE5F7-F057-18CF-DA77-201D8BAEDAF2}"/>
              </a:ext>
            </a:extLst>
          </p:cNvPr>
          <p:cNvSpPr txBox="1"/>
          <p:nvPr/>
        </p:nvSpPr>
        <p:spPr>
          <a:xfrm>
            <a:off x="3767327" y="5639616"/>
            <a:ext cx="5376673" cy="830997"/>
          </a:xfrm>
          <a:prstGeom prst="rect">
            <a:avLst/>
          </a:prstGeom>
          <a:noFill/>
        </p:spPr>
        <p:txBody>
          <a:bodyPr wrap="square" rtlCol="0">
            <a:spAutoFit/>
          </a:bodyPr>
          <a:lstStyle/>
          <a:p>
            <a:pPr>
              <a:defRPr/>
            </a:pPr>
            <a:r>
              <a:rPr lang="nl-NL" sz="1200" dirty="0">
                <a:solidFill>
                  <a:srgbClr val="002060"/>
                </a:solidFill>
              </a:rPr>
              <a:t>Semiconductor stock index (SOX) </a:t>
            </a:r>
            <a:r>
              <a:rPr lang="nl-NL" sz="1200" dirty="0" err="1">
                <a:solidFill>
                  <a:srgbClr val="002060"/>
                </a:solidFill>
              </a:rPr>
              <a:t>relative</a:t>
            </a:r>
            <a:r>
              <a:rPr lang="nl-NL" sz="1200" dirty="0">
                <a:solidFill>
                  <a:srgbClr val="002060"/>
                </a:solidFill>
              </a:rPr>
              <a:t> </a:t>
            </a:r>
            <a:r>
              <a:rPr lang="nl-NL" sz="1200" dirty="0" err="1">
                <a:solidFill>
                  <a:srgbClr val="002060"/>
                </a:solidFill>
              </a:rPr>
              <a:t>to</a:t>
            </a:r>
            <a:r>
              <a:rPr lang="nl-NL" sz="1200" dirty="0">
                <a:solidFill>
                  <a:srgbClr val="002060"/>
                </a:solidFill>
              </a:rPr>
              <a:t> STOXX Europe 600.</a:t>
            </a:r>
          </a:p>
          <a:p>
            <a:pPr>
              <a:defRPr/>
            </a:pPr>
            <a:r>
              <a:rPr lang="nl-NL" sz="1200" dirty="0">
                <a:solidFill>
                  <a:srgbClr val="002060"/>
                </a:solidFill>
              </a:rPr>
              <a:t>Global </a:t>
            </a:r>
            <a:r>
              <a:rPr lang="nl-NL" sz="1200" dirty="0" err="1">
                <a:solidFill>
                  <a:srgbClr val="002060"/>
                </a:solidFill>
              </a:rPr>
              <a:t>uncertainty</a:t>
            </a:r>
            <a:r>
              <a:rPr lang="nl-NL" sz="1200" dirty="0">
                <a:solidFill>
                  <a:srgbClr val="002060"/>
                </a:solidFill>
              </a:rPr>
              <a:t> is princ </a:t>
            </a:r>
            <a:r>
              <a:rPr lang="nl-NL" sz="1200" dirty="0" err="1">
                <a:solidFill>
                  <a:srgbClr val="002060"/>
                </a:solidFill>
              </a:rPr>
              <a:t>comp</a:t>
            </a:r>
            <a:r>
              <a:rPr lang="nl-NL" sz="1200" dirty="0">
                <a:solidFill>
                  <a:srgbClr val="002060"/>
                </a:solidFill>
              </a:rPr>
              <a:t> of EPU, GPR, VIX (</a:t>
            </a:r>
            <a:r>
              <a:rPr lang="nl-NL" sz="1200" dirty="0" err="1">
                <a:solidFill>
                  <a:srgbClr val="002060"/>
                </a:solidFill>
              </a:rPr>
              <a:t>standardised</a:t>
            </a:r>
            <a:r>
              <a:rPr lang="nl-NL" sz="1200" dirty="0">
                <a:solidFill>
                  <a:srgbClr val="002060"/>
                </a:solidFill>
              </a:rPr>
              <a:t>).</a:t>
            </a:r>
          </a:p>
          <a:p>
            <a:pPr>
              <a:defRPr/>
            </a:pPr>
            <a:endParaRPr lang="nl-NL" sz="1200" dirty="0">
              <a:solidFill>
                <a:srgbClr val="002060"/>
              </a:solidFill>
              <a:hlinkClick r:id="rId4" action="ppaction://hlinksldjump"/>
            </a:endParaRPr>
          </a:p>
          <a:p>
            <a:pPr>
              <a:defRPr/>
            </a:pPr>
            <a:r>
              <a:rPr lang="nl-NL" sz="1200" dirty="0">
                <a:solidFill>
                  <a:srgbClr val="002060"/>
                </a:solidFill>
                <a:hlinkClick r:id="rId4" action="ppaction://hlinksldjump"/>
              </a:rPr>
              <a:t>Link</a:t>
            </a:r>
            <a:r>
              <a:rPr lang="nl-NL" sz="1200" dirty="0">
                <a:solidFill>
                  <a:srgbClr val="002060"/>
                </a:solidFill>
              </a:rPr>
              <a:t> </a:t>
            </a:r>
            <a:r>
              <a:rPr lang="nl-NL" sz="1200" dirty="0" err="1">
                <a:solidFill>
                  <a:srgbClr val="002060"/>
                </a:solidFill>
              </a:rPr>
              <a:t>to</a:t>
            </a:r>
            <a:r>
              <a:rPr lang="nl-NL" sz="1200" dirty="0">
                <a:solidFill>
                  <a:srgbClr val="002060"/>
                </a:solidFill>
              </a:rPr>
              <a:t> short-term </a:t>
            </a:r>
            <a:r>
              <a:rPr lang="nl-NL" sz="1200" dirty="0" err="1">
                <a:solidFill>
                  <a:srgbClr val="002060"/>
                </a:solidFill>
              </a:rPr>
              <a:t>cycle</a:t>
            </a:r>
            <a:endParaRPr lang="nl-NL" sz="1200" dirty="0">
              <a:solidFill>
                <a:srgbClr val="002060"/>
              </a:solidFill>
            </a:endParaRPr>
          </a:p>
        </p:txBody>
      </p:sp>
    </p:spTree>
    <p:extLst>
      <p:ext uri="{BB962C8B-B14F-4D97-AF65-F5344CB8AC3E}">
        <p14:creationId xmlns:p14="http://schemas.microsoft.com/office/powerpoint/2010/main" val="1203207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CE812-DB4E-6877-6B4B-63CFA22DC17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C7CDFAD-06A8-46EF-4776-25D11166D76F}"/>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Empirical approach</a:t>
            </a:r>
          </a:p>
        </p:txBody>
      </p:sp>
      <p:sp>
        <p:nvSpPr>
          <p:cNvPr id="2" name="Content Placeholder 2">
            <a:extLst>
              <a:ext uri="{FF2B5EF4-FFF2-40B4-BE49-F238E27FC236}">
                <a16:creationId xmlns:a16="http://schemas.microsoft.com/office/drawing/2014/main" id="{7415D86D-5542-3552-758F-1923FC3E3C99}"/>
              </a:ext>
            </a:extLst>
          </p:cNvPr>
          <p:cNvSpPr>
            <a:spLocks noGrp="1"/>
          </p:cNvSpPr>
          <p:nvPr>
            <p:ph idx="1"/>
          </p:nvPr>
        </p:nvSpPr>
        <p:spPr>
          <a:xfrm>
            <a:off x="438653" y="803135"/>
            <a:ext cx="7781804"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GDP growth surprises linked to ICT/AI-related activity</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Data for 10 euro area countries, 2011-2025</a:t>
            </a:r>
          </a:p>
          <a:p>
            <a:pPr marL="342900" indent="-34290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Eur Com bi-annual forecast vintages</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Unconditional bivariate tests</a:t>
            </a: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probit regressions</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165802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1"/>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AI-related exposure</a:t>
            </a:r>
          </a:p>
        </p:txBody>
      </p:sp>
      <p:sp>
        <p:nvSpPr>
          <p:cNvPr id="2" name="Content Placeholder 2">
            <a:extLst>
              <a:ext uri="{FF2B5EF4-FFF2-40B4-BE49-F238E27FC236}">
                <a16:creationId xmlns:a16="http://schemas.microsoft.com/office/drawing/2014/main" id="{8F3D8D65-3E89-7468-E586-D814DD2BD102}"/>
              </a:ext>
            </a:extLst>
          </p:cNvPr>
          <p:cNvSpPr>
            <a:spLocks noGrp="1"/>
          </p:cNvSpPr>
          <p:nvPr>
            <p:ph idx="1"/>
          </p:nvPr>
        </p:nvSpPr>
        <p:spPr>
          <a:xfrm>
            <a:off x="438652" y="803135"/>
            <a:ext cx="8440171" cy="5679439"/>
          </a:xfrm>
        </p:spPr>
        <p:txBody>
          <a:bodyPr>
            <a:normAutofit/>
          </a:bodyPr>
          <a:lstStyle/>
          <a:p>
            <a:pPr>
              <a:lnSpc>
                <a:spcPct val="120000"/>
              </a:lnSpc>
              <a:spcAft>
                <a:spcPts val="1200"/>
              </a:spcAft>
            </a:pPr>
            <a:r>
              <a:rPr lang="en-US" sz="2000" noProof="1">
                <a:latin typeface="Verdana" panose="020B0604030504040204" pitchFamily="34" charset="0"/>
                <a:ea typeface="Verdana" panose="020B0604030504040204" pitchFamily="34" charset="0"/>
              </a:rPr>
              <a:t>Structural channel </a:t>
            </a:r>
            <a:r>
              <a:rPr lang="en-US" sz="2000" noProof="1">
                <a:latin typeface="Arial" panose="020B0604020202020204" pitchFamily="34" charset="0"/>
                <a:ea typeface="Verdana" panose="020B0604030504040204" pitchFamily="34" charset="0"/>
                <a:cs typeface="Arial" panose="020B0604020202020204" pitchFamily="34" charset="0"/>
              </a:rPr>
              <a:t>→</a:t>
            </a:r>
            <a:r>
              <a:rPr lang="en-US" sz="2000" noProof="1">
                <a:latin typeface="Verdana" panose="020B0604030504040204" pitchFamily="34" charset="0"/>
                <a:ea typeface="Verdana" panose="020B0604030504040204" pitchFamily="34" charset="0"/>
              </a:rPr>
              <a:t> private investment</a:t>
            </a:r>
            <a:endParaRPr lang="nl-NL"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ICT/AI-investment can improve shock resilience by enhancing firms’ flexibility, information processing and supply chain management </a:t>
            </a:r>
            <a:r>
              <a:rPr lang="en-US" sz="1800" noProof="1">
                <a:latin typeface="Verdana" panose="020B0604030504040204" pitchFamily="34" charset="0"/>
                <a:ea typeface="Verdana" panose="020B0604030504040204" pitchFamily="34" charset="0"/>
              </a:rPr>
              <a:t>(Moujahid et al., 2025)</a:t>
            </a:r>
          </a:p>
          <a:p>
            <a:pPr marL="645750" lvl="3" indent="-285750">
              <a:lnSpc>
                <a:spcPct val="120000"/>
              </a:lnSpc>
              <a:spcAft>
                <a:spcPts val="3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digital investment by corporations</a:t>
            </a:r>
          </a:p>
          <a:p>
            <a:pPr marL="645750" lvl="3" indent="-285750">
              <a:lnSpc>
                <a:spcPct val="120000"/>
              </a:lnSpc>
              <a:spcAft>
                <a:spcPts val="3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equity investments in AI firms</a:t>
            </a: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nl-NL" sz="2000" noProof="1">
                <a:latin typeface="Verdana" panose="020B0604030504040204" pitchFamily="34" charset="0"/>
                <a:ea typeface="Verdana" panose="020B0604030504040204" pitchFamily="34" charset="0"/>
              </a:rPr>
              <a:t>Cyclical channel </a:t>
            </a:r>
            <a:r>
              <a:rPr lang="en-US" sz="2000" noProof="1">
                <a:latin typeface="Arial" panose="020B0604020202020204" pitchFamily="34" charset="0"/>
                <a:ea typeface="Verdana" panose="020B0604030504040204" pitchFamily="34" charset="0"/>
                <a:cs typeface="Arial" panose="020B0604020202020204" pitchFamily="34" charset="0"/>
              </a:rPr>
              <a:t>→</a:t>
            </a:r>
            <a:r>
              <a:rPr lang="nl-NL" sz="2000" noProof="1">
                <a:latin typeface="Verdana" panose="020B0604030504040204" pitchFamily="34" charset="0"/>
                <a:ea typeface="Verdana" panose="020B0604030504040204" pitchFamily="34" charset="0"/>
              </a:rPr>
              <a:t> international trade and stock market</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Exposure to global semiconductor cycle comes with positive trade effects from AI-related global activity </a:t>
            </a:r>
            <a:r>
              <a:rPr lang="en-US" sz="1800" noProof="1">
                <a:latin typeface="Verdana" panose="020B0604030504040204" pitchFamily="34" charset="0"/>
                <a:ea typeface="Verdana" panose="020B0604030504040204" pitchFamily="34" charset="0"/>
              </a:rPr>
              <a:t>(ECB, 2026)</a:t>
            </a:r>
            <a:endParaRPr lang="nl-NL" sz="1800" noProof="1">
              <a:latin typeface="Verdana" panose="020B0604030504040204" pitchFamily="34" charset="0"/>
              <a:ea typeface="Verdana" panose="020B0604030504040204" pitchFamily="34" charset="0"/>
            </a:endParaRPr>
          </a:p>
          <a:p>
            <a:pPr marL="645750" lvl="3" indent="-285750">
              <a:lnSpc>
                <a:spcPct val="120000"/>
              </a:lnSpc>
              <a:spcAft>
                <a:spcPts val="3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exports of ICT/AI-related products</a:t>
            </a:r>
          </a:p>
          <a:p>
            <a:pPr marL="645750" lvl="3" indent="-285750">
              <a:lnSpc>
                <a:spcPct val="120000"/>
              </a:lnSpc>
              <a:spcAft>
                <a:spcPts val="3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correlation national stock index with SOX index</a:t>
            </a:r>
            <a:endParaRPr lang="en-US" sz="2300" noProof="1">
              <a:latin typeface="Verdana" panose="020B0604030504040204" pitchFamily="34" charset="0"/>
              <a:ea typeface="Verdana" panose="020B0604030504040204" pitchFamily="34" charset="0"/>
            </a:endParaRPr>
          </a:p>
          <a:p>
            <a:pPr>
              <a:lnSpc>
                <a:spcPct val="120000"/>
              </a:lnSpc>
              <a:spcAft>
                <a:spcPts val="1200"/>
              </a:spcAft>
            </a:pPr>
            <a:endParaRPr lang="nl-NL" sz="1600" dirty="0">
              <a:solidFill>
                <a:schemeClr val="accent1">
                  <a:lumMod val="50000"/>
                </a:schemeClr>
              </a:solidFill>
            </a:endParaRPr>
          </a:p>
        </p:txBody>
      </p:sp>
      <p:sp>
        <p:nvSpPr>
          <p:cNvPr id="4" name="Tekstvak 3">
            <a:extLst>
              <a:ext uri="{FF2B5EF4-FFF2-40B4-BE49-F238E27FC236}">
                <a16:creationId xmlns:a16="http://schemas.microsoft.com/office/drawing/2014/main" id="{1D067C04-83DA-B764-8F1B-3A65D2BB4049}"/>
              </a:ext>
            </a:extLst>
          </p:cNvPr>
          <p:cNvSpPr txBox="1"/>
          <p:nvPr/>
        </p:nvSpPr>
        <p:spPr>
          <a:xfrm>
            <a:off x="7461505" y="5747088"/>
            <a:ext cx="594360" cy="307777"/>
          </a:xfrm>
          <a:prstGeom prst="rect">
            <a:avLst/>
          </a:prstGeom>
          <a:noFill/>
        </p:spPr>
        <p:txBody>
          <a:bodyPr wrap="square" rtlCol="0">
            <a:spAutoFit/>
          </a:bodyPr>
          <a:lstStyle/>
          <a:p>
            <a:pPr>
              <a:defRPr/>
            </a:pPr>
            <a:r>
              <a:rPr lang="nl-NL" sz="1400" dirty="0">
                <a:solidFill>
                  <a:srgbClr val="002060"/>
                </a:solidFill>
                <a:hlinkClick r:id="rId3" action="ppaction://hlinksldjump"/>
              </a:rPr>
              <a:t>Link</a:t>
            </a:r>
            <a:endParaRPr lang="nl-NL" sz="1400" dirty="0">
              <a:solidFill>
                <a:srgbClr val="002060"/>
              </a:solidFill>
            </a:endParaRPr>
          </a:p>
        </p:txBody>
      </p:sp>
      <p:sp>
        <p:nvSpPr>
          <p:cNvPr id="5" name="Tekstvak 3">
            <a:extLst>
              <a:ext uri="{FF2B5EF4-FFF2-40B4-BE49-F238E27FC236}">
                <a16:creationId xmlns:a16="http://schemas.microsoft.com/office/drawing/2014/main" id="{CA3656D4-EE51-EF04-3E51-2AD8DB9C0964}"/>
              </a:ext>
            </a:extLst>
          </p:cNvPr>
          <p:cNvSpPr txBox="1"/>
          <p:nvPr/>
        </p:nvSpPr>
        <p:spPr>
          <a:xfrm>
            <a:off x="7342633" y="3047300"/>
            <a:ext cx="594360" cy="307777"/>
          </a:xfrm>
          <a:prstGeom prst="rect">
            <a:avLst/>
          </a:prstGeom>
          <a:noFill/>
        </p:spPr>
        <p:txBody>
          <a:bodyPr wrap="square" rtlCol="0">
            <a:spAutoFit/>
          </a:bodyPr>
          <a:lstStyle/>
          <a:p>
            <a:pPr>
              <a:defRPr/>
            </a:pPr>
            <a:r>
              <a:rPr lang="nl-NL" sz="1400" dirty="0">
                <a:solidFill>
                  <a:srgbClr val="002060"/>
                </a:solidFill>
                <a:hlinkClick r:id="rId4" action="ppaction://hlinksldjump"/>
              </a:rPr>
              <a:t>Link</a:t>
            </a:r>
            <a:endParaRPr lang="nl-NL" sz="1400" dirty="0">
              <a:solidFill>
                <a:srgbClr val="002060"/>
              </a:solidFill>
            </a:endParaRPr>
          </a:p>
        </p:txBody>
      </p:sp>
    </p:spTree>
    <p:extLst>
      <p:ext uri="{BB962C8B-B14F-4D97-AF65-F5344CB8AC3E}">
        <p14:creationId xmlns:p14="http://schemas.microsoft.com/office/powerpoint/2010/main" val="35886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A08D8-0F6C-FBDD-656B-B2A73E65BF5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7A485C-F246-D226-E4A1-7AA88455D07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Shock </a:t>
            </a:r>
            <a:r>
              <a:rPr lang="nl-NL" sz="2400" dirty="0" err="1">
                <a:solidFill>
                  <a:schemeClr val="bg1"/>
                </a:solidFill>
              </a:rPr>
              <a:t>resilience</a:t>
            </a:r>
            <a:endParaRPr lang="nl-NL" sz="2400" dirty="0">
              <a:solidFill>
                <a:srgbClr val="FF0000"/>
              </a:solidFill>
            </a:endParaRPr>
          </a:p>
        </p:txBody>
      </p:sp>
      <p:sp>
        <p:nvSpPr>
          <p:cNvPr id="6" name="Content Placeholder 2">
            <a:extLst>
              <a:ext uri="{FF2B5EF4-FFF2-40B4-BE49-F238E27FC236}">
                <a16:creationId xmlns:a16="http://schemas.microsoft.com/office/drawing/2014/main" id="{4B7D4710-9ED0-97A7-CD0B-BD25DA4B7AA9}"/>
              </a:ext>
            </a:extLst>
          </p:cNvPr>
          <p:cNvSpPr>
            <a:spLocks noGrp="1"/>
          </p:cNvSpPr>
          <p:nvPr>
            <p:ph idx="1"/>
          </p:nvPr>
        </p:nvSpPr>
        <p:spPr>
          <a:xfrm>
            <a:off x="219455" y="1321671"/>
            <a:ext cx="2962657" cy="4989922"/>
          </a:xfrm>
        </p:spPr>
        <p:txBody>
          <a:bodyPr>
            <a:normAutofit lnSpcReduction="10000"/>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Resilience </a:t>
            </a:r>
            <a:r>
              <a:rPr lang="en-US" sz="2000" noProof="1">
                <a:latin typeface="Arial" panose="020B0604020202020204" pitchFamily="34" charset="0"/>
                <a:ea typeface="Verdana" panose="020B0604030504040204" pitchFamily="34" charset="0"/>
                <a:cs typeface="Arial" panose="020B0604020202020204" pitchFamily="34" charset="0"/>
              </a:rPr>
              <a:t>→</a:t>
            </a:r>
            <a:r>
              <a:rPr lang="en-US" sz="2000" noProof="1">
                <a:latin typeface="Verdana" panose="020B0604030504040204" pitchFamily="34" charset="0"/>
                <a:ea typeface="Verdana" panose="020B0604030504040204" pitchFamily="34" charset="0"/>
              </a:rPr>
              <a:t> tendency of economy to bounce back from negative shocks </a:t>
            </a:r>
            <a:r>
              <a:rPr lang="en-US" sz="1800" noProof="1">
                <a:latin typeface="Verdana" panose="020B0604030504040204" pitchFamily="34" charset="0"/>
                <a:ea typeface="Verdana" panose="020B0604030504040204" pitchFamily="34" charset="0"/>
              </a:rPr>
              <a:t>(Eichengreen et al., 2024) </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Proxied by positive GDP growth surprises </a:t>
            </a:r>
            <a:r>
              <a:rPr lang="en-US" sz="1800" noProof="1">
                <a:latin typeface="Verdana" panose="020B0604030504040204" pitchFamily="34" charset="0"/>
                <a:ea typeface="Verdana" panose="020B0604030504040204" pitchFamily="34" charset="0"/>
              </a:rPr>
              <a:t>(based on EC bi-annual forecasts 2011-25, 10 EA countries)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233DCD29-1BC1-E6E9-61D7-A3B8C24AFEC7}"/>
              </a:ext>
            </a:extLst>
          </p:cNvPr>
          <p:cNvSpPr txBox="1"/>
          <p:nvPr/>
        </p:nvSpPr>
        <p:spPr>
          <a:xfrm>
            <a:off x="3982421" y="5677421"/>
            <a:ext cx="4942124" cy="830997"/>
          </a:xfrm>
          <a:prstGeom prst="rect">
            <a:avLst/>
          </a:prstGeom>
          <a:noFill/>
        </p:spPr>
        <p:txBody>
          <a:bodyPr wrap="square" rtlCol="0">
            <a:spAutoFit/>
          </a:bodyPr>
          <a:lstStyle/>
          <a:p>
            <a:pPr>
              <a:defRPr/>
            </a:pPr>
            <a:r>
              <a:rPr lang="nl-NL" sz="1200" noProof="1">
                <a:solidFill>
                  <a:srgbClr val="002060"/>
                </a:solidFill>
              </a:rPr>
              <a:t>Based on European Commission Spring and Autumn forecasts of GDP growth. Surprise = realised GDP growth minus forecast (all years 2011-2025, 548 obs and shock years 2020, 2022, 2025, 120 obs).</a:t>
            </a:r>
          </a:p>
        </p:txBody>
      </p:sp>
      <p:pic>
        <p:nvPicPr>
          <p:cNvPr id="3" name="Picture 2">
            <a:extLst>
              <a:ext uri="{FF2B5EF4-FFF2-40B4-BE49-F238E27FC236}">
                <a16:creationId xmlns:a16="http://schemas.microsoft.com/office/drawing/2014/main" id="{1294A734-3F15-AF48-C076-C8D21D213F67}"/>
              </a:ext>
            </a:extLst>
          </p:cNvPr>
          <p:cNvPicPr>
            <a:picLocks noChangeAspect="1"/>
          </p:cNvPicPr>
          <p:nvPr/>
        </p:nvPicPr>
        <p:blipFill>
          <a:blip r:embed="rId3"/>
          <a:stretch>
            <a:fillRect/>
          </a:stretch>
        </p:blipFill>
        <p:spPr>
          <a:xfrm>
            <a:off x="3596639" y="2122170"/>
            <a:ext cx="5112813" cy="3254502"/>
          </a:xfrm>
          <a:prstGeom prst="rect">
            <a:avLst/>
          </a:prstGeom>
        </p:spPr>
      </p:pic>
      <p:sp>
        <p:nvSpPr>
          <p:cNvPr id="5" name="Tekstvak 3">
            <a:extLst>
              <a:ext uri="{FF2B5EF4-FFF2-40B4-BE49-F238E27FC236}">
                <a16:creationId xmlns:a16="http://schemas.microsoft.com/office/drawing/2014/main" id="{D0123357-EEBB-CDB1-0C16-42033D94D66A}"/>
              </a:ext>
            </a:extLst>
          </p:cNvPr>
          <p:cNvSpPr txBox="1"/>
          <p:nvPr/>
        </p:nvSpPr>
        <p:spPr>
          <a:xfrm>
            <a:off x="3986782" y="1482867"/>
            <a:ext cx="5157218" cy="338554"/>
          </a:xfrm>
          <a:prstGeom prst="rect">
            <a:avLst/>
          </a:prstGeom>
          <a:noFill/>
        </p:spPr>
        <p:txBody>
          <a:bodyPr wrap="square" rtlCol="0">
            <a:spAutoFit/>
          </a:bodyPr>
          <a:lstStyle/>
          <a:p>
            <a:pPr>
              <a:defRPr/>
            </a:pPr>
            <a:r>
              <a:rPr lang="nl-NL" sz="1600" noProof="1">
                <a:solidFill>
                  <a:srgbClr val="002060"/>
                </a:solidFill>
              </a:rPr>
              <a:t>Positive growth surprises </a:t>
            </a:r>
            <a:r>
              <a:rPr lang="nl-NL" sz="1600" dirty="0">
                <a:solidFill>
                  <a:srgbClr val="002060"/>
                </a:solidFill>
              </a:rPr>
              <a:t>(% of EC forecasts)</a:t>
            </a:r>
          </a:p>
        </p:txBody>
      </p:sp>
    </p:spTree>
    <p:extLst>
      <p:ext uri="{BB962C8B-B14F-4D97-AF65-F5344CB8AC3E}">
        <p14:creationId xmlns:p14="http://schemas.microsoft.com/office/powerpoint/2010/main" val="4129420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2ECBB-8EBB-9B82-F87E-88F96C93955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51448F-E6B0-C8D8-CC16-0AFD8961EF7F}"/>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6" name="Content Placeholder 2">
            <a:extLst>
              <a:ext uri="{FF2B5EF4-FFF2-40B4-BE49-F238E27FC236}">
                <a16:creationId xmlns:a16="http://schemas.microsoft.com/office/drawing/2014/main" id="{613E110F-8AEE-A02C-2032-1F07DE944DEB}"/>
              </a:ext>
            </a:extLst>
          </p:cNvPr>
          <p:cNvSpPr>
            <a:spLocks noGrp="1"/>
          </p:cNvSpPr>
          <p:nvPr>
            <p:ph idx="1"/>
          </p:nvPr>
        </p:nvSpPr>
        <p:spPr>
          <a:xfrm>
            <a:off x="358001" y="1098631"/>
            <a:ext cx="3153296" cy="4989922"/>
          </a:xfrm>
        </p:spPr>
        <p:txBody>
          <a:bodyPr>
            <a:no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High ICT/AI-investm associated with more positive growth surprises …</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 advantage similar in shock years</a:t>
            </a:r>
          </a:p>
          <a:p>
            <a:pPr marL="285750" indent="-285750">
              <a:lnSpc>
                <a:spcPct val="120000"/>
              </a:lnSpc>
              <a:spcAft>
                <a:spcPts val="1200"/>
              </a:spcAft>
              <a:buFont typeface="Arial" panose="020B0604020202020204" pitchFamily="34" charset="0"/>
              <a:buChar char="•"/>
            </a:pPr>
            <a:endParaRPr lang="en-US" sz="18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nl-NL" sz="1800" dirty="0"/>
              <a:t>High </a:t>
            </a:r>
            <a:r>
              <a:rPr lang="nl-NL" sz="1800" dirty="0" err="1"/>
              <a:t>equity</a:t>
            </a:r>
            <a:r>
              <a:rPr lang="nl-NL" sz="1800" dirty="0"/>
              <a:t> AI </a:t>
            </a:r>
            <a:r>
              <a:rPr lang="nl-NL" sz="1800" dirty="0" err="1"/>
              <a:t>invest</a:t>
            </a:r>
            <a:r>
              <a:rPr lang="nl-NL" sz="1800" dirty="0"/>
              <a:t> </a:t>
            </a:r>
            <a:r>
              <a:rPr lang="en-US" sz="1800" dirty="0"/>
              <a:t>seem to be a relative disadvantage in shock years (higher sensitivity to shocks)</a:t>
            </a:r>
            <a:endParaRPr lang="nl-NL" sz="1800" dirty="0"/>
          </a:p>
        </p:txBody>
      </p:sp>
      <p:sp>
        <p:nvSpPr>
          <p:cNvPr id="8" name="Tekstvak 3">
            <a:extLst>
              <a:ext uri="{FF2B5EF4-FFF2-40B4-BE49-F238E27FC236}">
                <a16:creationId xmlns:a16="http://schemas.microsoft.com/office/drawing/2014/main" id="{873792AB-3A5F-9374-1FE8-71A49B10A05F}"/>
              </a:ext>
            </a:extLst>
          </p:cNvPr>
          <p:cNvSpPr txBox="1"/>
          <p:nvPr/>
        </p:nvSpPr>
        <p:spPr>
          <a:xfrm>
            <a:off x="4088753" y="5653088"/>
            <a:ext cx="4844935" cy="1107996"/>
          </a:xfrm>
          <a:prstGeom prst="rect">
            <a:avLst/>
          </a:prstGeom>
          <a:noFill/>
        </p:spPr>
        <p:txBody>
          <a:bodyPr wrap="square" rtlCol="0">
            <a:spAutoFit/>
          </a:bodyPr>
          <a:lstStyle/>
          <a:p>
            <a:pPr algn="just">
              <a:defRPr/>
            </a:pPr>
            <a:r>
              <a:rPr lang="nl-NL" sz="1100" noProof="1">
                <a:solidFill>
                  <a:srgbClr val="002060"/>
                </a:solidFill>
              </a:rPr>
              <a:t>Lower vs higher than median ICT/AI-investment ratio (10 EA countries, 2011-25 (all years), 2020, 2022, 2025 (shock years). ***, **, * indicate 1%, 5%, 10% significance of difference between blue and grey dot in same period. +++, ++, + indicate 1%, 5%, 10% significance of difference between blue (grey) dots in all years vs shock years (two-proportion z-test)</a:t>
            </a:r>
          </a:p>
        </p:txBody>
      </p:sp>
      <p:sp>
        <p:nvSpPr>
          <p:cNvPr id="5" name="Tekstvak 3">
            <a:extLst>
              <a:ext uri="{FF2B5EF4-FFF2-40B4-BE49-F238E27FC236}">
                <a16:creationId xmlns:a16="http://schemas.microsoft.com/office/drawing/2014/main" id="{0EEE5C01-F407-B286-8291-7A84B3BBB14E}"/>
              </a:ext>
            </a:extLst>
          </p:cNvPr>
          <p:cNvSpPr txBox="1"/>
          <p:nvPr/>
        </p:nvSpPr>
        <p:spPr>
          <a:xfrm>
            <a:off x="4655684" y="664366"/>
            <a:ext cx="3985397" cy="584775"/>
          </a:xfrm>
          <a:prstGeom prst="rect">
            <a:avLst/>
          </a:prstGeom>
          <a:noFill/>
        </p:spPr>
        <p:txBody>
          <a:bodyPr wrap="square" rtlCol="0">
            <a:spAutoFit/>
          </a:bodyPr>
          <a:lstStyle/>
          <a:p>
            <a:pPr>
              <a:defRPr/>
            </a:pPr>
            <a:r>
              <a:rPr lang="nl-NL" sz="1600" noProof="1">
                <a:solidFill>
                  <a:srgbClr val="002060"/>
                </a:solidFill>
              </a:rPr>
              <a:t>Influence of AI-related investment on positive growth surprises</a:t>
            </a:r>
          </a:p>
        </p:txBody>
      </p:sp>
      <p:pic>
        <p:nvPicPr>
          <p:cNvPr id="3" name="Picture 2">
            <a:extLst>
              <a:ext uri="{FF2B5EF4-FFF2-40B4-BE49-F238E27FC236}">
                <a16:creationId xmlns:a16="http://schemas.microsoft.com/office/drawing/2014/main" id="{3AEC0293-BD5F-607E-F810-8030B0619792}"/>
              </a:ext>
            </a:extLst>
          </p:cNvPr>
          <p:cNvPicPr>
            <a:picLocks noChangeAspect="1"/>
          </p:cNvPicPr>
          <p:nvPr/>
        </p:nvPicPr>
        <p:blipFill>
          <a:blip r:embed="rId3"/>
          <a:stretch>
            <a:fillRect/>
          </a:stretch>
        </p:blipFill>
        <p:spPr>
          <a:xfrm>
            <a:off x="4643818" y="1250167"/>
            <a:ext cx="3962400" cy="2079135"/>
          </a:xfrm>
          <a:prstGeom prst="rect">
            <a:avLst/>
          </a:prstGeom>
        </p:spPr>
      </p:pic>
      <p:pic>
        <p:nvPicPr>
          <p:cNvPr id="7" name="Picture 6">
            <a:extLst>
              <a:ext uri="{FF2B5EF4-FFF2-40B4-BE49-F238E27FC236}">
                <a16:creationId xmlns:a16="http://schemas.microsoft.com/office/drawing/2014/main" id="{339ECCAE-ABF5-C0A3-D3B2-D90FA8CF9B40}"/>
              </a:ext>
            </a:extLst>
          </p:cNvPr>
          <p:cNvPicPr>
            <a:picLocks noChangeAspect="1"/>
          </p:cNvPicPr>
          <p:nvPr/>
        </p:nvPicPr>
        <p:blipFill>
          <a:blip r:embed="rId4"/>
          <a:stretch>
            <a:fillRect/>
          </a:stretch>
        </p:blipFill>
        <p:spPr>
          <a:xfrm>
            <a:off x="4655684" y="3393570"/>
            <a:ext cx="3962400" cy="2079135"/>
          </a:xfrm>
          <a:prstGeom prst="rect">
            <a:avLst/>
          </a:prstGeom>
        </p:spPr>
      </p:pic>
    </p:spTree>
    <p:extLst>
      <p:ext uri="{BB962C8B-B14F-4D97-AF65-F5344CB8AC3E}">
        <p14:creationId xmlns:p14="http://schemas.microsoft.com/office/powerpoint/2010/main" val="2428101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24241-2444-F196-D04C-6270141B1B7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0D1D165-50E0-8F1E-E2D5-7D57D4E9228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6" name="Content Placeholder 2">
            <a:extLst>
              <a:ext uri="{FF2B5EF4-FFF2-40B4-BE49-F238E27FC236}">
                <a16:creationId xmlns:a16="http://schemas.microsoft.com/office/drawing/2014/main" id="{CF9708F7-32AE-5645-3159-CE1174AB0729}"/>
              </a:ext>
            </a:extLst>
          </p:cNvPr>
          <p:cNvSpPr>
            <a:spLocks noGrp="1"/>
          </p:cNvSpPr>
          <p:nvPr>
            <p:ph idx="1"/>
          </p:nvPr>
        </p:nvSpPr>
        <p:spPr>
          <a:xfrm>
            <a:off x="502919" y="956753"/>
            <a:ext cx="3127249" cy="5174492"/>
          </a:xfrm>
        </p:spPr>
        <p:txBody>
          <a:bodyPr>
            <a:normAutofit fontScale="92500" lnSpcReduction="10000"/>
          </a:bodyPr>
          <a:lstStyle/>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More positive growth surprises in shock years for countries with higher tech-exports …</a:t>
            </a: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suggesting ICT/AI global demand is countercyclical and/or accelerates in shock years …</a:t>
            </a:r>
          </a:p>
          <a:p>
            <a:pPr marL="285750" indent="-285750">
              <a:lnSpc>
                <a:spcPct val="120000"/>
              </a:lnSpc>
              <a:spcAft>
                <a:spcPts val="1200"/>
              </a:spcAft>
              <a:buFont typeface="Arial" panose="020B0604020202020204" pitchFamily="34" charset="0"/>
              <a:buChar char="•"/>
            </a:pPr>
            <a:endParaRPr lang="en-US" sz="19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which is not the case for stock market exposure. Common component may dominate</a:t>
            </a:r>
          </a:p>
          <a:p>
            <a:pPr>
              <a:lnSpc>
                <a:spcPct val="120000"/>
              </a:lnSpc>
              <a:spcAft>
                <a:spcPts val="1200"/>
              </a:spcAft>
            </a:pPr>
            <a:endParaRPr lang="nl-NL" sz="1800" dirty="0">
              <a:solidFill>
                <a:schemeClr val="accent1">
                  <a:lumMod val="50000"/>
                </a:schemeClr>
              </a:solidFill>
            </a:endParaRPr>
          </a:p>
        </p:txBody>
      </p:sp>
      <p:sp>
        <p:nvSpPr>
          <p:cNvPr id="8" name="Tekstvak 3">
            <a:extLst>
              <a:ext uri="{FF2B5EF4-FFF2-40B4-BE49-F238E27FC236}">
                <a16:creationId xmlns:a16="http://schemas.microsoft.com/office/drawing/2014/main" id="{AEE2C5DE-2B6A-1A21-C169-797AC72B8FC2}"/>
              </a:ext>
            </a:extLst>
          </p:cNvPr>
          <p:cNvSpPr txBox="1"/>
          <p:nvPr/>
        </p:nvSpPr>
        <p:spPr>
          <a:xfrm>
            <a:off x="4088753" y="5653088"/>
            <a:ext cx="4844935" cy="1107996"/>
          </a:xfrm>
          <a:prstGeom prst="rect">
            <a:avLst/>
          </a:prstGeom>
          <a:noFill/>
        </p:spPr>
        <p:txBody>
          <a:bodyPr wrap="square" rtlCol="0">
            <a:spAutoFit/>
          </a:bodyPr>
          <a:lstStyle/>
          <a:p>
            <a:pPr algn="just">
              <a:defRPr/>
            </a:pPr>
            <a:r>
              <a:rPr lang="nl-NL" sz="1100" noProof="1">
                <a:solidFill>
                  <a:srgbClr val="002060"/>
                </a:solidFill>
              </a:rPr>
              <a:t>Lower vs higher than median ICT/AI-exposure (10 EA countries, 2011-25 (all years), 2020, 2022, 2025 (shock years). ***, **, * indicate 1%, 5%, 10% significance of difference between blue and grey dot in same period. +++, ++, + indicate 1%, 5%, 10% significance of difference between blue (grey) dots in all years vs shock years (two-proportion z-test).</a:t>
            </a:r>
          </a:p>
        </p:txBody>
      </p:sp>
      <p:sp>
        <p:nvSpPr>
          <p:cNvPr id="5" name="Tekstvak 3">
            <a:extLst>
              <a:ext uri="{FF2B5EF4-FFF2-40B4-BE49-F238E27FC236}">
                <a16:creationId xmlns:a16="http://schemas.microsoft.com/office/drawing/2014/main" id="{64CF75E5-0A93-A50A-135C-BD487E25C478}"/>
              </a:ext>
            </a:extLst>
          </p:cNvPr>
          <p:cNvSpPr txBox="1"/>
          <p:nvPr/>
        </p:nvSpPr>
        <p:spPr>
          <a:xfrm>
            <a:off x="4655684" y="664366"/>
            <a:ext cx="3985397" cy="584775"/>
          </a:xfrm>
          <a:prstGeom prst="rect">
            <a:avLst/>
          </a:prstGeom>
          <a:noFill/>
        </p:spPr>
        <p:txBody>
          <a:bodyPr wrap="square" rtlCol="0">
            <a:spAutoFit/>
          </a:bodyPr>
          <a:lstStyle/>
          <a:p>
            <a:pPr>
              <a:defRPr/>
            </a:pPr>
            <a:r>
              <a:rPr lang="nl-NL" sz="1600" noProof="1">
                <a:solidFill>
                  <a:srgbClr val="002060"/>
                </a:solidFill>
              </a:rPr>
              <a:t>Influence of AI-related trade and stock market exposure</a:t>
            </a:r>
          </a:p>
        </p:txBody>
      </p:sp>
      <p:pic>
        <p:nvPicPr>
          <p:cNvPr id="3" name="Picture 2">
            <a:extLst>
              <a:ext uri="{FF2B5EF4-FFF2-40B4-BE49-F238E27FC236}">
                <a16:creationId xmlns:a16="http://schemas.microsoft.com/office/drawing/2014/main" id="{FD8FEF3A-B9D3-C258-3FD3-115594E60806}"/>
              </a:ext>
            </a:extLst>
          </p:cNvPr>
          <p:cNvPicPr>
            <a:picLocks noChangeAspect="1"/>
          </p:cNvPicPr>
          <p:nvPr/>
        </p:nvPicPr>
        <p:blipFill>
          <a:blip r:embed="rId3"/>
          <a:stretch>
            <a:fillRect/>
          </a:stretch>
        </p:blipFill>
        <p:spPr>
          <a:xfrm>
            <a:off x="4561469" y="1249141"/>
            <a:ext cx="3962400" cy="2170453"/>
          </a:xfrm>
          <a:prstGeom prst="rect">
            <a:avLst/>
          </a:prstGeom>
        </p:spPr>
      </p:pic>
      <p:pic>
        <p:nvPicPr>
          <p:cNvPr id="9" name="Picture 8">
            <a:extLst>
              <a:ext uri="{FF2B5EF4-FFF2-40B4-BE49-F238E27FC236}">
                <a16:creationId xmlns:a16="http://schemas.microsoft.com/office/drawing/2014/main" id="{53094AB5-29A5-390F-D793-10B141A69812}"/>
              </a:ext>
            </a:extLst>
          </p:cNvPr>
          <p:cNvPicPr>
            <a:picLocks noChangeAspect="1"/>
          </p:cNvPicPr>
          <p:nvPr/>
        </p:nvPicPr>
        <p:blipFill>
          <a:blip r:embed="rId4"/>
          <a:stretch>
            <a:fillRect/>
          </a:stretch>
        </p:blipFill>
        <p:spPr>
          <a:xfrm>
            <a:off x="4572000" y="3429000"/>
            <a:ext cx="3962400" cy="2103119"/>
          </a:xfrm>
          <a:prstGeom prst="rect">
            <a:avLst/>
          </a:prstGeom>
        </p:spPr>
      </p:pic>
    </p:spTree>
    <p:extLst>
      <p:ext uri="{BB962C8B-B14F-4D97-AF65-F5344CB8AC3E}">
        <p14:creationId xmlns:p14="http://schemas.microsoft.com/office/powerpoint/2010/main" val="23048463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05F1A-4F52-7C0A-8747-26D5AD94412E}"/>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79E6971-F8C1-CE73-F846-F4CD2F9BE48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Probit models</a:t>
            </a:r>
          </a:p>
        </p:txBody>
      </p:sp>
      <mc:AlternateContent xmlns:mc="http://schemas.openxmlformats.org/markup-compatibility/2006">
        <mc:Choice xmlns:a14="http://schemas.microsoft.com/office/drawing/2010/main" Requires="a14">
          <p:sp>
            <p:nvSpPr>
              <p:cNvPr id="2" name="Content Placeholder 2">
                <a:extLst>
                  <a:ext uri="{FF2B5EF4-FFF2-40B4-BE49-F238E27FC236}">
                    <a16:creationId xmlns:a16="http://schemas.microsoft.com/office/drawing/2014/main" id="{6B853D72-57E4-54DF-F916-E87E4C65C99E}"/>
                  </a:ext>
                </a:extLst>
              </p:cNvPr>
              <p:cNvSpPr>
                <a:spLocks noGrp="1"/>
              </p:cNvSpPr>
              <p:nvPr>
                <p:ph idx="1"/>
              </p:nvPr>
            </p:nvSpPr>
            <p:spPr>
              <a:xfrm>
                <a:off x="429768" y="825662"/>
                <a:ext cx="8505051" cy="5679439"/>
              </a:xfrm>
            </p:spPr>
            <p:txBody>
              <a:bodyPr>
                <a:normAutofit/>
              </a:bodyPr>
              <a:lstStyle/>
              <a:p>
                <a:pPr>
                  <a:lnSpc>
                    <a:spcPct val="120000"/>
                  </a:lnSpc>
                  <a:spcAft>
                    <a:spcPts val="300"/>
                  </a:spcAft>
                </a:pPr>
                <a:r>
                  <a:rPr lang="en-US" sz="2000" noProof="1">
                    <a:latin typeface="Verdana" panose="020B0604030504040204" pitchFamily="34" charset="0"/>
                    <a:ea typeface="Verdana" panose="020B0604030504040204" pitchFamily="34" charset="0"/>
                  </a:rPr>
                  <a:t>1. Average effect (</a:t>
                </a:r>
                <a14:m>
                  <m:oMath xmlns:m="http://schemas.openxmlformats.org/officeDocument/2006/math">
                    <m:r>
                      <a:rPr lang="en-US" sz="2000" i="1" noProof="1">
                        <a:latin typeface="Cambria Math" panose="02040503050406030204" pitchFamily="18" charset="0"/>
                        <a:ea typeface="Cambria Math" panose="02040503050406030204" pitchFamily="18" charset="0"/>
                      </a:rPr>
                      <m:t>𝛽</m:t>
                    </m:r>
                  </m:oMath>
                </a14:m>
                <a:r>
                  <a:rPr lang="en-US" sz="2000" noProof="1">
                    <a:latin typeface="Verdana" panose="020B0604030504040204" pitchFamily="34" charset="0"/>
                    <a:ea typeface="Verdana" panose="020B0604030504040204" pitchFamily="34" charset="0"/>
                  </a:rPr>
                  <a:t>) of ICT/AI in all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solidFill>
                          <a:schemeClr val="tx1"/>
                        </a:solidFill>
                        <a:latin typeface="Cambria Math" panose="02040503050406030204" pitchFamily="18" charset="0"/>
                        <a:ea typeface="Verdana" panose="020B0604030504040204" pitchFamily="34" charset="0"/>
                      </a:rPr>
                      <m:t>𝑃</m:t>
                    </m:r>
                    <m:r>
                      <a:rPr lang="en-US" sz="2200" b="0" i="1" noProof="1" smtClean="0">
                        <a:solidFill>
                          <a:schemeClr val="tx1"/>
                        </a:solidFill>
                        <a:latin typeface="Cambria Math" panose="02040503050406030204" pitchFamily="18" charset="0"/>
                        <a:ea typeface="Verdana" panose="020B0604030504040204" pitchFamily="34" charset="0"/>
                      </a:rPr>
                      <m:t>(</m:t>
                    </m:r>
                    <m:sSub>
                      <m:sSubPr>
                        <m:ctrlPr>
                          <a:rPr lang="en-US" sz="2200" b="0" i="1" noProof="1" smtClean="0">
                            <a:solidFill>
                              <a:schemeClr val="tx1"/>
                            </a:solidFill>
                            <a:latin typeface="Cambria Math" panose="02040503050406030204" pitchFamily="18" charset="0"/>
                            <a:ea typeface="Verdana" panose="020B0604030504040204" pitchFamily="34" charset="0"/>
                          </a:rPr>
                        </m:ctrlPr>
                      </m:sSubPr>
                      <m:e>
                        <m:r>
                          <a:rPr lang="en-US" sz="2200" b="0" i="1" noProof="1" smtClean="0">
                            <a:solidFill>
                              <a:schemeClr val="tx1"/>
                            </a:solidFill>
                            <a:latin typeface="Cambria Math" panose="02040503050406030204" pitchFamily="18" charset="0"/>
                            <a:ea typeface="Verdana" panose="020B0604030504040204" pitchFamily="34" charset="0"/>
                          </a:rPr>
                          <m:t>𝑌</m:t>
                        </m:r>
                      </m:e>
                      <m:sub>
                        <m:r>
                          <a:rPr lang="en-US" sz="2200" b="0" i="1" noProof="1" smtClean="0">
                            <a:solidFill>
                              <a:schemeClr val="tx1"/>
                            </a:solidFill>
                            <a:latin typeface="Cambria Math" panose="02040503050406030204" pitchFamily="18" charset="0"/>
                            <a:ea typeface="Verdana" panose="020B0604030504040204" pitchFamily="34" charset="0"/>
                          </a:rPr>
                          <m:t>𝑖</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b="0" i="1" noProof="1" smtClean="0">
                            <a:solidFill>
                              <a:schemeClr val="tx1"/>
                            </a:solidFill>
                            <a:latin typeface="Cambria Math" panose="02040503050406030204" pitchFamily="18" charset="0"/>
                            <a:ea typeface="Verdana" panose="020B0604030504040204" pitchFamily="34" charset="0"/>
                          </a:rPr>
                          <m:t>𝑡</m:t>
                        </m:r>
                      </m:sub>
                    </m:sSub>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Verdana" panose="020B0604030504040204" pitchFamily="34" charset="0"/>
                      </a:rPr>
                      <m:t>=</m:t>
                    </m:r>
                    <m:r>
                      <a:rPr lang="el-GR" sz="2200" i="1" noProof="1" smtClean="0">
                        <a:solidFill>
                          <a:schemeClr val="tx1"/>
                        </a:solidFill>
                        <a:latin typeface="Cambria Math" panose="02040503050406030204" pitchFamily="18" charset="0"/>
                        <a:ea typeface="Cambria Math" panose="02040503050406030204" pitchFamily="18" charset="0"/>
                      </a:rPr>
                      <m:t>𝜃</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Cambria Math" panose="02040503050406030204" pitchFamily="18" charset="0"/>
                      </a:rPr>
                      <m:t>𝛼</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𝜇</m:t>
                        </m:r>
                      </m:e>
                      <m:sub>
                        <m:r>
                          <a:rPr lang="en-US" sz="2200" b="0" i="1" noProof="1" smtClean="0">
                            <a:latin typeface="Cambria Math" panose="02040503050406030204" pitchFamily="18" charset="0"/>
                            <a:ea typeface="Verdana" panose="020B0604030504040204" pitchFamily="34" charset="0"/>
                          </a:rPr>
                          <m:t>𝑖</m:t>
                        </m:r>
                      </m:sub>
                    </m:sSub>
                    <m:r>
                      <a:rPr lang="en-US" sz="2200" b="0" i="1" noProof="1" smtClean="0">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Cambria Math" panose="02040503050406030204" pitchFamily="18" charset="0"/>
                      </a:rPr>
                      <m:t>𝛽</m:t>
                    </m:r>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smtClean="0">
                        <a:latin typeface="Cambria Math" panose="02040503050406030204" pitchFamily="18" charset="0"/>
                        <a:ea typeface="Verdana" panose="020B0604030504040204" pitchFamily="34" charset="0"/>
                      </a:rPr>
                      <m:t>+</m:t>
                    </m:r>
                    <m:r>
                      <a:rPr lang="en-US" sz="2200" i="1" noProof="1" smtClean="0">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1800" noProof="1">
                  <a:latin typeface="Verdana" panose="020B0604030504040204" pitchFamily="34" charset="0"/>
                  <a:ea typeface="Verdana" panose="020B0604030504040204" pitchFamily="34" charset="0"/>
                </a:endParaRPr>
              </a:p>
              <a:p>
                <a:pPr>
                  <a:lnSpc>
                    <a:spcPct val="120000"/>
                  </a:lnSpc>
                  <a:spcAft>
                    <a:spcPts val="300"/>
                  </a:spcAft>
                </a:pPr>
                <a:r>
                  <a:rPr lang="en-US" sz="1800" noProof="1">
                    <a:latin typeface="Verdana" panose="020B0604030504040204" pitchFamily="34" charset="0"/>
                    <a:ea typeface="Verdana" panose="020B0604030504040204" pitchFamily="34" charset="0"/>
                  </a:rPr>
                  <a:t>2. </a:t>
                </a:r>
                <a:r>
                  <a:rPr lang="en-US" sz="2000" noProof="1">
                    <a:latin typeface="Verdana" panose="020B0604030504040204" pitchFamily="34" charset="0"/>
                    <a:ea typeface="Verdana" panose="020B0604030504040204" pitchFamily="34" charset="0"/>
                  </a:rPr>
                  <a:t>Additional effect (</a:t>
                </a:r>
                <a14:m>
                  <m:oMath xmlns:m="http://schemas.openxmlformats.org/officeDocument/2006/math">
                    <m:r>
                      <a:rPr lang="en-US" sz="2000" i="1" noProof="1" smtClean="0">
                        <a:latin typeface="Cambria Math" panose="02040503050406030204" pitchFamily="18" charset="0"/>
                        <a:ea typeface="Cambria Math" panose="02040503050406030204" pitchFamily="18" charset="0"/>
                      </a:rPr>
                      <m:t>𝛾</m:t>
                    </m:r>
                  </m:oMath>
                </a14:m>
                <a:r>
                  <a:rPr lang="en-US" sz="2000" noProof="1">
                    <a:latin typeface="Verdana" panose="020B0604030504040204" pitchFamily="34" charset="0"/>
                    <a:ea typeface="Verdana" panose="020B0604030504040204" pitchFamily="34" charset="0"/>
                  </a:rPr>
                  <a:t>) of ICT/AI in shock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latin typeface="Cambria Math" panose="02040503050406030204" pitchFamily="18" charset="0"/>
                        <a:ea typeface="Verdana" panose="020B0604030504040204" pitchFamily="34" charset="0"/>
                      </a:rPr>
                      <m:t>𝑃</m:t>
                    </m:r>
                    <m:r>
                      <a:rPr lang="en-US" sz="2200" b="0" i="0" noProof="1" smtClean="0">
                        <a:latin typeface="Cambria Math" panose="02040503050406030204" pitchFamily="18" charset="0"/>
                        <a:ea typeface="Verdana" panose="020B0604030504040204" pitchFamily="34" charset="0"/>
                      </a:rPr>
                      <m:t>(</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𝛼</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a:latin typeface="Cambria Math" panose="02040503050406030204" pitchFamily="18" charset="0"/>
                        <a:ea typeface="Verdana" panose="020B0604030504040204" pitchFamily="34" charset="0"/>
                      </a:rPr>
                      <m:t>+</m:t>
                    </m:r>
                  </m:oMath>
                </a14:m>
                <a:r>
                  <a:rPr lang="en-US" sz="2000" noProof="1">
                    <a:ea typeface="Cambria Math" panose="02040503050406030204" pitchFamily="18" charset="0"/>
                  </a:rPr>
                  <a:t> </a:t>
                </a:r>
                <a14:m>
                  <m:oMath xmlns:m="http://schemas.openxmlformats.org/officeDocument/2006/math">
                    <m:r>
                      <a:rPr lang="en-US" sz="2000" i="1" noProof="1">
                        <a:latin typeface="Cambria Math" panose="02040503050406030204" pitchFamily="18" charset="0"/>
                        <a:ea typeface="Cambria Math" panose="02040503050406030204" pitchFamily="18" charset="0"/>
                      </a:rPr>
                      <m:t>𝛾</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𝑋</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𝐷</m:t>
                        </m:r>
                      </m:e>
                      <m:sub>
                        <m:r>
                          <a:rPr lang="en-US" sz="2000" i="1" noProof="1">
                            <a:latin typeface="Cambria Math" panose="02040503050406030204" pitchFamily="18" charset="0"/>
                            <a:ea typeface="Verdana" panose="020B0604030504040204" pitchFamily="34" charset="0"/>
                          </a:rPr>
                          <m:t>𝑡</m:t>
                        </m:r>
                      </m:sub>
                    </m:sSub>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Cambria Math" panose="02040503050406030204" pitchFamily="18" charset="0"/>
                      </a:rPr>
                      <m:t>𝜑</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𝑍</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r>
                      <a:rPr lang="en-US" sz="2000" i="1" noProof="1">
                        <a:latin typeface="Cambria Math" panose="02040503050406030204" pitchFamily="18" charset="0"/>
                        <a:ea typeface="Verdana" panose="020B0604030504040204" pitchFamily="34" charset="0"/>
                      </a:rPr>
                      <m:t>)</m:t>
                    </m:r>
                  </m:oMath>
                </a14:m>
                <a:endParaRPr lang="en-US" sz="2000" noProof="1">
                  <a:ea typeface="Verdana" panose="020B0604030504040204" pitchFamily="34" charset="0"/>
                </a:endParaRPr>
              </a:p>
              <a:p>
                <a:pPr>
                  <a:lnSpc>
                    <a:spcPct val="120000"/>
                  </a:lnSpc>
                  <a:spcAft>
                    <a:spcPts val="300"/>
                  </a:spcAft>
                </a:pPr>
                <a:endParaRPr lang="en-US" sz="2000" noProof="1">
                  <a:latin typeface="Verdana" panose="020B0604030504040204" pitchFamily="34" charset="0"/>
                  <a:ea typeface="Verdana" panose="020B0604030504040204" pitchFamily="34" charset="0"/>
                </a:endParaRPr>
              </a:p>
              <a:p>
                <a:pPr>
                  <a:lnSpc>
                    <a:spcPct val="120000"/>
                  </a:lnSpc>
                  <a:spcAft>
                    <a:spcPts val="300"/>
                  </a:spcAft>
                </a:pPr>
                <a:r>
                  <a:rPr lang="en-US" sz="2000" noProof="1">
                    <a:latin typeface="Verdana" panose="020B0604030504040204" pitchFamily="34" charset="0"/>
                    <a:ea typeface="Verdana" panose="020B0604030504040204" pitchFamily="34" charset="0"/>
                  </a:rPr>
                  <a:t>3. Additional effect (</a:t>
                </a:r>
                <a14:m>
                  <m:oMath xmlns:m="http://schemas.openxmlformats.org/officeDocument/2006/math">
                    <m:r>
                      <a:rPr lang="en-US" sz="2000" noProof="1">
                        <a:latin typeface="Cambria Math" panose="02040503050406030204" pitchFamily="18" charset="0"/>
                        <a:ea typeface="Verdana" panose="020B0604030504040204" pitchFamily="34" charset="0"/>
                      </a:rPr>
                      <m:t>𝛾</m:t>
                    </m:r>
                  </m:oMath>
                </a14:m>
                <a:r>
                  <a:rPr lang="en-US" sz="2000" noProof="1">
                    <a:latin typeface="Verdana" panose="020B0604030504040204" pitchFamily="34" charset="0"/>
                    <a:ea typeface="Verdana" panose="020B0604030504040204" pitchFamily="34" charset="0"/>
                  </a:rPr>
                  <a:t>) of high ICT/AI in shock years</a:t>
                </a:r>
              </a:p>
              <a:p>
                <a:pPr>
                  <a:lnSpc>
                    <a:spcPct val="120000"/>
                  </a:lnSpc>
                  <a:spcAft>
                    <a:spcPts val="300"/>
                  </a:spcAft>
                </a:pPr>
                <a:r>
                  <a:rPr lang="en-US" sz="2000" noProof="1">
                    <a:latin typeface="Verdana" panose="020B0604030504040204" pitchFamily="34" charset="0"/>
                    <a:ea typeface="Verdana" panose="020B0604030504040204" pitchFamily="34" charset="0"/>
                  </a:rPr>
                  <a:t>	</a:t>
                </a:r>
                <a:r>
                  <a:rPr lang="en-US" sz="2200" noProof="1">
                    <a:latin typeface="Verdana" panose="020B0604030504040204" pitchFamily="34" charset="0"/>
                    <a:ea typeface="Verdana" panose="020B0604030504040204" pitchFamily="34" charset="0"/>
                  </a:rPr>
                  <a:t> </a:t>
                </a:r>
                <a14:m>
                  <m:oMath xmlns:m="http://schemas.openxmlformats.org/officeDocument/2006/math">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𝑃</m:t>
                        </m:r>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Cambria Math" panose="02040503050406030204" pitchFamily="18" charset="0"/>
                      </a:rPr>
                      <m:t>(</m:t>
                    </m:r>
                    <m:r>
                      <a:rPr lang="en-US" sz="2200" i="1" noProof="1">
                        <a:latin typeface="Cambria Math" panose="02040503050406030204" pitchFamily="18" charset="0"/>
                        <a:ea typeface="Cambria Math" panose="02040503050406030204" pitchFamily="18" charset="0"/>
                      </a:rPr>
                      <m:t>𝛼</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sSubSup>
                          <m:sSubSupPr>
                            <m:ctrlPr>
                              <a:rPr lang="en-US" sz="2200" b="0" i="1" noProof="1" smtClean="0">
                                <a:latin typeface="Cambria Math" panose="02040503050406030204" pitchFamily="18" charset="0"/>
                                <a:ea typeface="Verdana" panose="020B0604030504040204" pitchFamily="34" charset="0"/>
                              </a:rPr>
                            </m:ctrlPr>
                          </m:sSubSupPr>
                          <m:e>
                            <m:r>
                              <a:rPr lang="en-US" sz="2200" b="0" i="1" noProof="1" smtClean="0">
                                <a:latin typeface="Cambria Math" panose="02040503050406030204" pitchFamily="18" charset="0"/>
                                <a:ea typeface="Verdana" panose="020B0604030504040204" pitchFamily="34" charset="0"/>
                              </a:rPr>
                              <m:t>𝑋</m:t>
                            </m:r>
                          </m:e>
                          <m:sub>
                            <m:r>
                              <a:rPr lang="en-US" sz="2200" b="0" i="1" noProof="1" smtClean="0">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b="0" i="1" noProof="1" smtClean="0">
                                <a:latin typeface="Cambria Math" panose="02040503050406030204" pitchFamily="18" charset="0"/>
                                <a:ea typeface="Verdana" panose="020B0604030504040204" pitchFamily="34" charset="0"/>
                              </a:rPr>
                              <m:t>ℎ𝑖𝑔ℎ</m:t>
                            </m:r>
                          </m:sup>
                        </m:sSubSup>
                      </m:e>
                      <m:sub>
                        <m:r>
                          <a:rPr lang="en-US" sz="220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𝛾</m:t>
                    </m:r>
                    <m:r>
                      <a:rPr lang="en-US" sz="2200" i="1" noProof="1">
                        <a:latin typeface="Cambria Math" panose="02040503050406030204" pitchFamily="18" charset="0"/>
                        <a:ea typeface="Cambria Math" panose="02040503050406030204" pitchFamily="18" charset="0"/>
                      </a:rPr>
                      <m:t> </m:t>
                    </m:r>
                    <m:sSubSup>
                      <m:sSubSupPr>
                        <m:ctrlPr>
                          <a:rPr lang="en-US" sz="2200" i="1" noProof="1">
                            <a:latin typeface="Cambria Math" panose="02040503050406030204" pitchFamily="18" charset="0"/>
                            <a:ea typeface="Verdana" panose="020B0604030504040204" pitchFamily="34" charset="0"/>
                          </a:rPr>
                        </m:ctrlPr>
                      </m:sSubSupPr>
                      <m:e>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i="1" noProof="1">
                            <a:latin typeface="Cambria Math" panose="02040503050406030204" pitchFamily="18" charset="0"/>
                            <a:ea typeface="Verdana" panose="020B0604030504040204" pitchFamily="34" charset="0"/>
                          </a:rPr>
                          <m:t>ℎ𝑖𝑔ℎ</m:t>
                        </m:r>
                      </m:sup>
                    </m:sSubSup>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𝐷</m:t>
                        </m:r>
                      </m:e>
                      <m:sub>
                        <m:r>
                          <a:rPr lang="en-US" sz="2200" i="1" noProof="1">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US" sz="1900" i="1" noProof="1">
                            <a:solidFill>
                              <a:schemeClr val="tx1"/>
                            </a:solidFill>
                            <a:latin typeface="Cambria Math" panose="02040503050406030204" pitchFamily="18" charset="0"/>
                            <a:ea typeface="Verdana" panose="020B0604030504040204" pitchFamily="34" charset="0"/>
                          </a:rPr>
                        </m:ctrlPr>
                      </m:sSubPr>
                      <m:e>
                        <m:r>
                          <a:rPr lang="en-US" sz="1900" i="1" noProof="1">
                            <a:solidFill>
                              <a:schemeClr val="tx1"/>
                            </a:solidFill>
                            <a:latin typeface="Cambria Math" panose="02040503050406030204" pitchFamily="18" charset="0"/>
                            <a:ea typeface="Verdana" panose="020B0604030504040204" pitchFamily="34" charset="0"/>
                          </a:rPr>
                          <m:t>𝑌</m:t>
                        </m:r>
                      </m:e>
                      <m:sub>
                        <m:r>
                          <a:rPr lang="en-US" sz="1900" i="1" noProof="1">
                            <a:solidFill>
                              <a:schemeClr val="tx1"/>
                            </a:solidFill>
                            <a:latin typeface="Cambria Math" panose="02040503050406030204" pitchFamily="18" charset="0"/>
                            <a:ea typeface="Verdana" panose="020B0604030504040204" pitchFamily="34" charset="0"/>
                          </a:rPr>
                          <m:t>𝑖</m:t>
                        </m:r>
                        <m:r>
                          <a:rPr lang="en-US" sz="1900" i="1" noProof="1">
                            <a:solidFill>
                              <a:schemeClr val="tx1"/>
                            </a:solidFill>
                            <a:latin typeface="Cambria Math" panose="02040503050406030204" pitchFamily="18" charset="0"/>
                            <a:ea typeface="Verdana" panose="020B0604030504040204" pitchFamily="34" charset="0"/>
                          </a:rPr>
                          <m:t>,</m:t>
                        </m:r>
                        <m:r>
                          <a:rPr lang="en-US" sz="1900" i="1" noProof="1">
                            <a:solidFill>
                              <a:schemeClr val="tx1"/>
                            </a:solidFill>
                            <a:latin typeface="Cambria Math" panose="02040503050406030204" pitchFamily="18" charset="0"/>
                            <a:ea typeface="Verdana" panose="020B0604030504040204" pitchFamily="34" charset="0"/>
                          </a:rPr>
                          <m:t>𝑡</m:t>
                        </m:r>
                      </m:sub>
                    </m:sSub>
                    <m:r>
                      <a:rPr lang="en-US" sz="1900" b="0" i="1" noProof="1" smtClean="0">
                        <a:solidFill>
                          <a:schemeClr val="tx1"/>
                        </a:solidFill>
                        <a:latin typeface="Cambria Math" panose="02040503050406030204" pitchFamily="18" charset="0"/>
                        <a:ea typeface="Verdana" panose="020B0604030504040204" pitchFamily="34" charset="0"/>
                      </a:rPr>
                      <m:t>=1 </m:t>
                    </m:r>
                    <m:r>
                      <a:rPr lang="en-US" sz="1900" b="0" i="0" noProof="1" smtClean="0">
                        <a:solidFill>
                          <a:schemeClr val="tx1"/>
                        </a:solidFill>
                        <a:latin typeface="Cambria Math" panose="02040503050406030204" pitchFamily="18" charset="0"/>
                        <a:ea typeface="Verdana" panose="020B0604030504040204" pitchFamily="34" charset="0"/>
                      </a:rPr>
                      <m:t> </m:t>
                    </m:r>
                  </m:oMath>
                </a14:m>
                <a:r>
                  <a:rPr lang="nl-NL" sz="1800" dirty="0">
                    <a:solidFill>
                      <a:schemeClr val="tx1"/>
                    </a:solidFill>
                  </a:rPr>
                  <a:t>if </a:t>
                </a:r>
                <a:r>
                  <a:rPr lang="nl-NL" sz="1800" dirty="0" err="1">
                    <a:solidFill>
                      <a:schemeClr val="tx1"/>
                    </a:solidFill>
                  </a:rPr>
                  <a:t>growth</a:t>
                </a:r>
                <a:r>
                  <a:rPr lang="nl-NL" sz="1800" dirty="0">
                    <a:solidFill>
                      <a:schemeClr val="tx1"/>
                    </a:solidFill>
                  </a:rPr>
                  <a:t> surprise &gt; 0 (</a:t>
                </a:r>
                <a:r>
                  <a:rPr lang="nl-NL" sz="1800" dirty="0" err="1">
                    <a:solidFill>
                      <a:schemeClr val="tx1"/>
                    </a:solidFill>
                  </a:rPr>
                  <a:t>otherwise</a:t>
                </a:r>
                <a:r>
                  <a:rPr lang="nl-NL" sz="1800" dirty="0">
                    <a:solidFill>
                      <a:schemeClr val="tx1"/>
                    </a:solidFill>
                  </a:rPr>
                  <a:t> 0);</a:t>
                </a:r>
                <a14:m>
                  <m:oMath xmlns:m="http://schemas.openxmlformats.org/officeDocument/2006/math">
                    <m:r>
                      <a:rPr lang="en-US" sz="2000" b="0" i="0" noProof="1" smtClean="0">
                        <a:latin typeface="Cambria Math" panose="02040503050406030204" pitchFamily="18" charset="0"/>
                        <a:ea typeface="Cambria Math" panose="02040503050406030204" pitchFamily="18" charset="0"/>
                      </a:rPr>
                      <m:t> </m:t>
                    </m:r>
                    <m:r>
                      <a:rPr lang="el-GR" sz="2000" i="1" noProof="1">
                        <a:latin typeface="Cambria Math" panose="02040503050406030204" pitchFamily="18" charset="0"/>
                        <a:ea typeface="Cambria Math" panose="02040503050406030204" pitchFamily="18" charset="0"/>
                      </a:rPr>
                      <m:t>𝜃</m:t>
                    </m:r>
                  </m:oMath>
                </a14:m>
                <a:r>
                  <a:rPr lang="nl-NL" sz="1800" dirty="0"/>
                  <a:t> is standard </a:t>
                </a:r>
                <a:r>
                  <a:rPr lang="nl-NL" sz="1800" dirty="0" err="1"/>
                  <a:t>normal</a:t>
                </a:r>
                <a:r>
                  <a:rPr lang="nl-NL" sz="1800" dirty="0"/>
                  <a:t> CDF</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 is ICT/AI-</a:t>
                </a:r>
                <a:r>
                  <a:rPr lang="nl-NL" sz="1800" dirty="0" err="1">
                    <a:solidFill>
                      <a:schemeClr val="tx1"/>
                    </a:solidFill>
                  </a:rPr>
                  <a:t>related</a:t>
                </a:r>
                <a:r>
                  <a:rPr lang="nl-NL" sz="1800" dirty="0">
                    <a:solidFill>
                      <a:schemeClr val="tx1"/>
                    </a:solidFill>
                  </a:rPr>
                  <a:t> </a:t>
                </a:r>
                <a:r>
                  <a:rPr lang="nl-NL" sz="1800" dirty="0" err="1">
                    <a:solidFill>
                      <a:schemeClr val="tx1"/>
                    </a:solidFill>
                  </a:rPr>
                  <a:t>variable</a:t>
                </a:r>
                <a:r>
                  <a:rPr lang="nl-NL" sz="1800" dirty="0">
                    <a:solidFill>
                      <a:schemeClr val="tx1"/>
                    </a:solidFill>
                  </a:rPr>
                  <a:t>. </a:t>
                </a:r>
                <a14:m>
                  <m:oMath xmlns:m="http://schemas.openxmlformats.org/officeDocument/2006/math">
                    <m:sSubSup>
                      <m:sSubSupPr>
                        <m:ctrlPr>
                          <a:rPr lang="en-US" sz="1900" i="1" noProof="1">
                            <a:latin typeface="Cambria Math" panose="02040503050406030204" pitchFamily="18" charset="0"/>
                            <a:ea typeface="Verdana" panose="020B0604030504040204" pitchFamily="34" charset="0"/>
                          </a:rPr>
                        </m:ctrlPr>
                      </m:sSubSup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up>
                        <m:r>
                          <a:rPr lang="en-US" sz="1900" i="1" noProof="1">
                            <a:latin typeface="Cambria Math" panose="02040503050406030204" pitchFamily="18" charset="0"/>
                            <a:ea typeface="Verdana" panose="020B0604030504040204" pitchFamily="34" charset="0"/>
                          </a:rPr>
                          <m:t>ℎ𝑖𝑔ℎ</m:t>
                        </m:r>
                      </m:sup>
                    </m:sSubSup>
                    <m:r>
                      <a:rPr lang="en-US" sz="1900" b="0" i="1" noProof="1" smtClean="0">
                        <a:latin typeface="Cambria Math" panose="02040503050406030204" pitchFamily="18" charset="0"/>
                        <a:ea typeface="Verdana" panose="020B0604030504040204" pitchFamily="34" charset="0"/>
                      </a:rPr>
                      <m:t>=</m:t>
                    </m:r>
                  </m:oMath>
                </a14:m>
                <a:r>
                  <a:rPr lang="en-US" sz="1900" noProof="1">
                    <a:ea typeface="Verdana" panose="020B0604030504040204" pitchFamily="34" charset="0"/>
                  </a:rPr>
                  <a:t>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t> if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&gt;</m:t>
                    </m:r>
                    <m:r>
                      <m:rPr>
                        <m:sty m:val="p"/>
                      </m:rPr>
                      <a:rPr lang="en-US" sz="1900" b="0" i="0" noProof="1" smtClean="0">
                        <a:latin typeface="Cambria Math" panose="02040503050406030204" pitchFamily="18" charset="0"/>
                        <a:ea typeface="Verdana" panose="020B0604030504040204" pitchFamily="34" charset="0"/>
                      </a:rPr>
                      <m:t>median</m:t>
                    </m:r>
                    <m:d>
                      <m:dPr>
                        <m:ctrlPr>
                          <a:rPr lang="en-US" sz="1900" b="0" i="1" noProof="1" smtClean="0">
                            <a:latin typeface="Cambria Math" panose="02040503050406030204" pitchFamily="18" charset="0"/>
                            <a:ea typeface="Verdana" panose="020B0604030504040204" pitchFamily="34" charset="0"/>
                          </a:rPr>
                        </m:ctrlPr>
                      </m:dPr>
                      <m:e>
                        <m:r>
                          <a:rPr lang="en-US" sz="1900" b="0" i="1" noProof="1" smtClean="0">
                            <a:latin typeface="Cambria Math" panose="02040503050406030204" pitchFamily="18" charset="0"/>
                            <a:ea typeface="Verdana" panose="020B0604030504040204" pitchFamily="34" charset="0"/>
                          </a:rPr>
                          <m:t>𝑋</m:t>
                        </m:r>
                      </m:e>
                    </m:d>
                    <m:r>
                      <a:rPr lang="en-US" sz="1900" b="0" i="1" noProof="1" smtClean="0">
                        <a:latin typeface="Cambria Math" panose="02040503050406030204" pitchFamily="18" charset="0"/>
                        <a:ea typeface="Verdana" panose="020B0604030504040204" pitchFamily="34" charset="0"/>
                      </a:rPr>
                      <m:t>, </m:t>
                    </m:r>
                    <m:r>
                      <m:rPr>
                        <m:sty m:val="p"/>
                      </m:rPr>
                      <a:rPr lang="en-US" sz="1900" b="0" i="0" noProof="1" smtClean="0">
                        <a:latin typeface="Cambria Math" panose="02040503050406030204" pitchFamily="18" charset="0"/>
                        <a:ea typeface="Verdana" panose="020B0604030504040204" pitchFamily="34" charset="0"/>
                      </a:rPr>
                      <m:t>otherwise</m:t>
                    </m:r>
                    <m:r>
                      <a:rPr lang="en-US" sz="1900" b="0" i="1" noProof="1" smtClean="0">
                        <a:latin typeface="Cambria Math" panose="02040503050406030204" pitchFamily="18" charset="0"/>
                        <a:ea typeface="Verdana" panose="020B0604030504040204" pitchFamily="34" charset="0"/>
                      </a:rPr>
                      <m:t> 0</m:t>
                    </m:r>
                  </m:oMath>
                </a14:m>
                <a:r>
                  <a:rPr lang="nl-NL" sz="2000" dirty="0"/>
                  <a:t> </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 </m:t>
                    </m:r>
                  </m:oMath>
                </a14:m>
                <a:r>
                  <a:rPr lang="nl-NL" sz="1800" dirty="0">
                    <a:solidFill>
                      <a:schemeClr val="tx1"/>
                    </a:solidFill>
                  </a:rPr>
                  <a:t>is dummy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=1 </m:t>
                    </m:r>
                  </m:oMath>
                </a14:m>
                <a:r>
                  <a:rPr lang="nl-NL" sz="1800" dirty="0"/>
                  <a:t>for shock </a:t>
                </a:r>
                <a:r>
                  <a:rPr lang="nl-NL" sz="1800" dirty="0" err="1"/>
                  <a:t>years</a:t>
                </a:r>
                <a:r>
                  <a:rPr lang="nl-NL" sz="1800" dirty="0"/>
                  <a:t>, </a:t>
                </a:r>
                <a:r>
                  <a:rPr lang="nl-NL" sz="1800" dirty="0" err="1"/>
                  <a:t>otherwise</a:t>
                </a:r>
                <a:r>
                  <a:rPr lang="nl-NL" sz="1800" dirty="0"/>
                  <a:t> 0);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 </m:t>
                        </m:r>
                        <m:r>
                          <a:rPr lang="en-US" sz="1900" i="1" noProof="1">
                            <a:latin typeface="Cambria Math" panose="02040503050406030204" pitchFamily="18" charset="0"/>
                            <a:ea typeface="Verdana" panose="020B0604030504040204" pitchFamily="34" charset="0"/>
                          </a:rPr>
                          <m:t>𝑍</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control variables</a:t>
                </a:r>
              </a:p>
            </p:txBody>
          </p:sp>
        </mc:Choice>
        <mc:Fallback>
          <p:sp>
            <p:nvSpPr>
              <p:cNvPr id="2" name="Content Placeholder 2">
                <a:extLst>
                  <a:ext uri="{FF2B5EF4-FFF2-40B4-BE49-F238E27FC236}">
                    <a16:creationId xmlns:a16="http://schemas.microsoft.com/office/drawing/2014/main" id="{6B853D72-57E4-54DF-F916-E87E4C65C99E}"/>
                  </a:ext>
                </a:extLst>
              </p:cNvPr>
              <p:cNvSpPr>
                <a:spLocks noGrp="1" noRot="1" noChangeAspect="1" noMove="1" noResize="1" noEditPoints="1" noAdjustHandles="1" noChangeArrowheads="1" noChangeShapeType="1" noTextEdit="1"/>
              </p:cNvSpPr>
              <p:nvPr>
                <p:ph idx="1"/>
              </p:nvPr>
            </p:nvSpPr>
            <p:spPr>
              <a:xfrm>
                <a:off x="429768" y="825662"/>
                <a:ext cx="8505051" cy="5679439"/>
              </a:xfrm>
              <a:blipFill>
                <a:blip r:embed="rId3"/>
                <a:stretch>
                  <a:fillRect l="-1864" t="-966"/>
                </a:stretch>
              </a:blipFill>
            </p:spPr>
            <p:txBody>
              <a:bodyPr/>
              <a:lstStyle/>
              <a:p>
                <a:r>
                  <a:rPr lang="en-GB">
                    <a:noFill/>
                  </a:rPr>
                  <a:t> </a:t>
                </a:r>
              </a:p>
            </p:txBody>
          </p:sp>
        </mc:Fallback>
      </mc:AlternateContent>
    </p:spTree>
    <p:extLst>
      <p:ext uri="{BB962C8B-B14F-4D97-AF65-F5344CB8AC3E}">
        <p14:creationId xmlns:p14="http://schemas.microsoft.com/office/powerpoint/2010/main" val="5156658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027D3-935D-C730-7AF0-AF109ECE8EC5}"/>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784B30AC-5ECB-6948-E309-0039374246EA}"/>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a:t>
            </a:r>
          </a:p>
        </p:txBody>
      </p:sp>
      <p:sp>
        <p:nvSpPr>
          <p:cNvPr id="2" name="Content Placeholder 2">
            <a:extLst>
              <a:ext uri="{FF2B5EF4-FFF2-40B4-BE49-F238E27FC236}">
                <a16:creationId xmlns:a16="http://schemas.microsoft.com/office/drawing/2014/main" id="{9D7DFCD1-CA74-2C76-7A49-94B41E557F74}"/>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p:sp>
        <p:nvSpPr>
          <p:cNvPr id="6" name="Tekstvak 3">
            <a:extLst>
              <a:ext uri="{FF2B5EF4-FFF2-40B4-BE49-F238E27FC236}">
                <a16:creationId xmlns:a16="http://schemas.microsoft.com/office/drawing/2014/main" id="{4ED6076C-5ED2-F560-9ECC-68A359BFC0CA}"/>
              </a:ext>
            </a:extLst>
          </p:cNvPr>
          <p:cNvSpPr txBox="1"/>
          <p:nvPr/>
        </p:nvSpPr>
        <p:spPr>
          <a:xfrm>
            <a:off x="163552" y="5061145"/>
            <a:ext cx="8748822" cy="1107996"/>
          </a:xfrm>
          <a:prstGeom prst="rect">
            <a:avLst/>
          </a:prstGeom>
          <a:noFill/>
        </p:spPr>
        <p:txBody>
          <a:bodyPr wrap="square" rtlCol="0">
            <a:spAutoFit/>
          </a:bodyPr>
          <a:lstStyle/>
          <a:p>
            <a:pPr algn="just">
              <a:defRPr/>
            </a:pPr>
            <a:r>
              <a:rPr lang="nl-NL" sz="1100" noProof="1">
                <a:solidFill>
                  <a:srgbClr val="002060"/>
                </a:solidFill>
              </a:rPr>
              <a:t>***,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r>
              <a:rPr lang="en-US" sz="1100" i="1" noProof="1">
                <a:solidFill>
                  <a:srgbClr val="002060"/>
                </a:solidFill>
              </a:rPr>
              <a:t>X</a:t>
            </a:r>
            <a:r>
              <a:rPr lang="en-US" sz="1100" noProof="1">
                <a:solidFill>
                  <a:srgbClr val="002060"/>
                </a:solidFill>
              </a:rPr>
              <a:t>. As control variable, state aid as ratio of GDP is included (contemporaneous value of state aid and one period lagged GDP).</a:t>
            </a:r>
            <a:endParaRPr lang="nl-NL" sz="1100" noProof="1">
              <a:solidFill>
                <a:srgbClr val="002060"/>
              </a:solidFill>
            </a:endParaRPr>
          </a:p>
        </p:txBody>
      </p:sp>
      <p:pic>
        <p:nvPicPr>
          <p:cNvPr id="10" name="Picture 9">
            <a:extLst>
              <a:ext uri="{FF2B5EF4-FFF2-40B4-BE49-F238E27FC236}">
                <a16:creationId xmlns:a16="http://schemas.microsoft.com/office/drawing/2014/main" id="{C9A895D5-4DBA-4775-3A49-739C761362E5}"/>
              </a:ext>
            </a:extLst>
          </p:cNvPr>
          <p:cNvPicPr>
            <a:picLocks noChangeAspect="1"/>
          </p:cNvPicPr>
          <p:nvPr/>
        </p:nvPicPr>
        <p:blipFill>
          <a:blip r:embed="rId3"/>
          <a:stretch>
            <a:fillRect/>
          </a:stretch>
        </p:blipFill>
        <p:spPr>
          <a:xfrm>
            <a:off x="281720" y="2617342"/>
            <a:ext cx="8630654" cy="2302129"/>
          </a:xfrm>
          <a:prstGeom prst="rect">
            <a:avLst/>
          </a:prstGeom>
        </p:spPr>
      </p:pic>
    </p:spTree>
    <p:extLst>
      <p:ext uri="{BB962C8B-B14F-4D97-AF65-F5344CB8AC3E}">
        <p14:creationId xmlns:p14="http://schemas.microsoft.com/office/powerpoint/2010/main" val="909146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CD0D6-1CFA-E426-08B0-AF5055AC2BF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EDEA4FF-77B4-1210-0800-2B8BF9AA0C3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Conclusions</a:t>
            </a:r>
          </a:p>
        </p:txBody>
      </p:sp>
      <p:sp>
        <p:nvSpPr>
          <p:cNvPr id="2" name="Content Placeholder 2">
            <a:extLst>
              <a:ext uri="{FF2B5EF4-FFF2-40B4-BE49-F238E27FC236}">
                <a16:creationId xmlns:a16="http://schemas.microsoft.com/office/drawing/2014/main" id="{EFBED4CC-73CB-5E21-890E-866BC0B3643A}"/>
              </a:ext>
            </a:extLst>
          </p:cNvPr>
          <p:cNvSpPr>
            <a:spLocks noGrp="1"/>
          </p:cNvSpPr>
          <p:nvPr>
            <p:ph idx="1"/>
          </p:nvPr>
        </p:nvSpPr>
        <p:spPr>
          <a:xfrm>
            <a:off x="281720" y="1072550"/>
            <a:ext cx="8396454" cy="5679439"/>
          </a:xfrm>
        </p:spPr>
        <p:txBody>
          <a:bodyPr>
            <a:normAutofit/>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Positive growth surprises more common in shock years than in normal years, pointing to larger than expected resilience</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ICT/AI-related investment matters, but mainly in normal times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Financial AI-exposure does not play this role and even seems to be a relative disadvantage during shocks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Trade exposure has been a resilience channel in shock years (AI-stock market correlation has not) …</a:t>
            </a:r>
          </a:p>
          <a:p>
            <a:pPr>
              <a:lnSpc>
                <a:spcPct val="120000"/>
              </a:lnSpc>
              <a:spcAft>
                <a:spcPts val="1200"/>
              </a:spcAft>
            </a:pPr>
            <a:r>
              <a:rPr lang="en-US" sz="2000" noProof="1">
                <a:latin typeface="Verdana" panose="020B0604030504040204" pitchFamily="34" charset="0"/>
                <a:ea typeface="Verdana" panose="020B0604030504040204" pitchFamily="34" charset="0"/>
              </a:rPr>
              <a:t>	… but </a:t>
            </a:r>
            <a:r>
              <a:rPr lang="en-US" sz="2000" noProof="1">
                <a:latin typeface="Verdana" panose="020B0604030504040204" pitchFamily="34" charset="0"/>
                <a:ea typeface="Verdana" panose="020B0604030504040204" pitchFamily="34" charset="0"/>
                <a:cs typeface="Arial" panose="020B0604020202020204" pitchFamily="34" charset="0"/>
              </a:rPr>
              <a:t>if a future shock would originate from the AI sector 	itself, high-tech trade exposure could turn from an 	advantage into a vulnerability</a:t>
            </a: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a:lnSpc>
                <a:spcPct val="120000"/>
              </a:lnSpc>
              <a:spcAft>
                <a:spcPts val="1200"/>
              </a:spcAft>
            </a:pPr>
            <a:endParaRPr lang="nl-NL" sz="1600" dirty="0">
              <a:solidFill>
                <a:schemeClr val="accent1">
                  <a:lumMod val="50000"/>
                </a:schemeClr>
              </a:solidFill>
            </a:endParaRPr>
          </a:p>
        </p:txBody>
      </p:sp>
    </p:spTree>
    <p:extLst>
      <p:ext uri="{BB962C8B-B14F-4D97-AF65-F5344CB8AC3E}">
        <p14:creationId xmlns:p14="http://schemas.microsoft.com/office/powerpoint/2010/main" val="37776620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71139-22FF-EBBF-773A-91572EAD08B7}"/>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98F2D218-3382-A4F9-611C-8C2FC2F0440C}"/>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Background slides</a:t>
            </a:r>
          </a:p>
        </p:txBody>
      </p:sp>
    </p:spTree>
    <p:extLst>
      <p:ext uri="{BB962C8B-B14F-4D97-AF65-F5344CB8AC3E}">
        <p14:creationId xmlns:p14="http://schemas.microsoft.com/office/powerpoint/2010/main" val="3666342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3FEDE-A68E-263C-78AD-8A94B89C1D6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3DE4CC-1235-6A5B-5226-EACB34CDA045}"/>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Wild swings in semiconductor short-term </a:t>
            </a:r>
            <a:r>
              <a:rPr lang="nl-NL" sz="2400" dirty="0" err="1">
                <a:solidFill>
                  <a:schemeClr val="bg1"/>
                </a:solidFill>
              </a:rPr>
              <a:t>cycle</a:t>
            </a:r>
            <a:endParaRPr lang="nl-NL" sz="2400" dirty="0">
              <a:solidFill>
                <a:srgbClr val="FF0000"/>
              </a:solidFill>
            </a:endParaRPr>
          </a:p>
        </p:txBody>
      </p:sp>
      <p:sp>
        <p:nvSpPr>
          <p:cNvPr id="6" name="Content Placeholder 2">
            <a:extLst>
              <a:ext uri="{FF2B5EF4-FFF2-40B4-BE49-F238E27FC236}">
                <a16:creationId xmlns:a16="http://schemas.microsoft.com/office/drawing/2014/main" id="{1E8422D5-2452-DB5E-9929-FF6B42FB6722}"/>
              </a:ext>
            </a:extLst>
          </p:cNvPr>
          <p:cNvSpPr>
            <a:spLocks noGrp="1"/>
          </p:cNvSpPr>
          <p:nvPr>
            <p:ph idx="1"/>
          </p:nvPr>
        </p:nvSpPr>
        <p:spPr>
          <a:xfrm>
            <a:off x="146303" y="935391"/>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solidFill>
                  <a:schemeClr val="accent1">
                    <a:lumMod val="50000"/>
                  </a:schemeClr>
                </a:solidFill>
                <a:latin typeface="Verdana" panose="020B0604030504040204" pitchFamily="34" charset="0"/>
                <a:ea typeface="Verdana" panose="020B0604030504040204" pitchFamily="34" charset="0"/>
              </a:rPr>
              <a:t>Short-term semiconductor cycle more volatile than traditional stocks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F8831F86-71DE-C3FE-B109-F7E9B5952F04}"/>
              </a:ext>
            </a:extLst>
          </p:cNvPr>
          <p:cNvSpPr txBox="1"/>
          <p:nvPr/>
        </p:nvSpPr>
        <p:spPr>
          <a:xfrm>
            <a:off x="3790386" y="5833124"/>
            <a:ext cx="5207311" cy="461665"/>
          </a:xfrm>
          <a:prstGeom prst="rect">
            <a:avLst/>
          </a:prstGeom>
          <a:noFill/>
        </p:spPr>
        <p:txBody>
          <a:bodyPr wrap="square" rtlCol="0">
            <a:spAutoFit/>
          </a:bodyPr>
          <a:lstStyle/>
          <a:p>
            <a:pPr>
              <a:defRPr/>
            </a:pPr>
            <a:r>
              <a:rPr lang="nl-NL" sz="1200" dirty="0" err="1">
                <a:solidFill>
                  <a:srgbClr val="002060"/>
                </a:solidFill>
              </a:rPr>
              <a:t>Annual</a:t>
            </a:r>
            <a:r>
              <a:rPr lang="nl-NL" sz="1200" dirty="0">
                <a:solidFill>
                  <a:srgbClr val="002060"/>
                </a:solidFill>
              </a:rPr>
              <a:t> log return of STOXX Europe 600 and Semiconductor stock index (SOX). </a:t>
            </a:r>
            <a:r>
              <a:rPr lang="nl-NL" sz="1200" dirty="0">
                <a:solidFill>
                  <a:srgbClr val="002060"/>
                </a:solidFill>
                <a:hlinkClick r:id="rId3" action="ppaction://hlinksldjump"/>
              </a:rPr>
              <a:t>Link</a:t>
            </a:r>
            <a:r>
              <a:rPr lang="nl-NL" sz="1200" dirty="0">
                <a:solidFill>
                  <a:srgbClr val="002060"/>
                </a:solidFill>
              </a:rPr>
              <a:t> back.</a:t>
            </a:r>
          </a:p>
        </p:txBody>
      </p:sp>
      <p:pic>
        <p:nvPicPr>
          <p:cNvPr id="3" name="Picture 2">
            <a:extLst>
              <a:ext uri="{FF2B5EF4-FFF2-40B4-BE49-F238E27FC236}">
                <a16:creationId xmlns:a16="http://schemas.microsoft.com/office/drawing/2014/main" id="{91A85948-69E3-BFEE-81F1-A1C9C4ED33BD}"/>
              </a:ext>
            </a:extLst>
          </p:cNvPr>
          <p:cNvPicPr>
            <a:picLocks noChangeAspect="1"/>
          </p:cNvPicPr>
          <p:nvPr/>
        </p:nvPicPr>
        <p:blipFill>
          <a:blip r:embed="rId4"/>
          <a:stretch>
            <a:fillRect/>
          </a:stretch>
        </p:blipFill>
        <p:spPr>
          <a:xfrm>
            <a:off x="3538729" y="1533014"/>
            <a:ext cx="5458968" cy="3514473"/>
          </a:xfrm>
          <a:prstGeom prst="rect">
            <a:avLst/>
          </a:prstGeom>
        </p:spPr>
      </p:pic>
    </p:spTree>
    <p:extLst>
      <p:ext uri="{BB962C8B-B14F-4D97-AF65-F5344CB8AC3E}">
        <p14:creationId xmlns:p14="http://schemas.microsoft.com/office/powerpoint/2010/main" val="14736962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651E-039A-5D85-5C26-C3731B5E62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3D671E-1B58-DEFA-8900-436B363D6930}"/>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8" name="Tekstvak 3">
            <a:extLst>
              <a:ext uri="{FF2B5EF4-FFF2-40B4-BE49-F238E27FC236}">
                <a16:creationId xmlns:a16="http://schemas.microsoft.com/office/drawing/2014/main" id="{21C63CC4-9F1C-6D6D-9FEF-9D04021E36EE}"/>
              </a:ext>
            </a:extLst>
          </p:cNvPr>
          <p:cNvSpPr txBox="1"/>
          <p:nvPr/>
        </p:nvSpPr>
        <p:spPr>
          <a:xfrm>
            <a:off x="4820687" y="5251888"/>
            <a:ext cx="4087369" cy="646331"/>
          </a:xfrm>
          <a:prstGeom prst="rect">
            <a:avLst/>
          </a:prstGeom>
          <a:noFill/>
        </p:spPr>
        <p:txBody>
          <a:bodyPr wrap="square" rtlCol="0">
            <a:spAutoFit/>
          </a:bodyPr>
          <a:lstStyle/>
          <a:p>
            <a:pPr>
              <a:defRPr/>
            </a:pPr>
            <a:r>
              <a:rPr lang="nl-NL" sz="1200" dirty="0">
                <a:solidFill>
                  <a:srgbClr val="002060"/>
                </a:solidFill>
              </a:rPr>
              <a:t>Number of </a:t>
            </a:r>
            <a:r>
              <a:rPr lang="nl-NL" sz="1200" dirty="0" err="1">
                <a:solidFill>
                  <a:srgbClr val="002060"/>
                </a:solidFill>
              </a:rPr>
              <a:t>incoming</a:t>
            </a:r>
            <a:r>
              <a:rPr lang="nl-NL" sz="1200" dirty="0">
                <a:solidFill>
                  <a:srgbClr val="002060"/>
                </a:solidFill>
              </a:rPr>
              <a:t> </a:t>
            </a:r>
            <a:r>
              <a:rPr lang="nl-NL" sz="1200" dirty="0" err="1">
                <a:solidFill>
                  <a:srgbClr val="002060"/>
                </a:solidFill>
              </a:rPr>
              <a:t>equity</a:t>
            </a:r>
            <a:r>
              <a:rPr lang="nl-NL" sz="1200" dirty="0">
                <a:solidFill>
                  <a:srgbClr val="002060"/>
                </a:solidFill>
              </a:rPr>
              <a:t> </a:t>
            </a:r>
            <a:r>
              <a:rPr lang="nl-NL" sz="1200" dirty="0" err="1">
                <a:solidFill>
                  <a:srgbClr val="002060"/>
                </a:solidFill>
              </a:rPr>
              <a:t>investments</a:t>
            </a:r>
            <a:r>
              <a:rPr lang="nl-NL" sz="1200" dirty="0">
                <a:solidFill>
                  <a:srgbClr val="002060"/>
                </a:solidFill>
              </a:rPr>
              <a:t> in AI fields, </a:t>
            </a:r>
            <a:r>
              <a:rPr lang="nl-NL" sz="1200" dirty="0" err="1">
                <a:solidFill>
                  <a:srgbClr val="002060"/>
                </a:solidFill>
              </a:rPr>
              <a:t>scaled</a:t>
            </a:r>
            <a:r>
              <a:rPr lang="nl-NL" sz="1200" dirty="0">
                <a:solidFill>
                  <a:srgbClr val="002060"/>
                </a:solidFill>
              </a:rPr>
              <a:t> </a:t>
            </a:r>
            <a:r>
              <a:rPr lang="nl-NL" sz="1200" dirty="0" err="1">
                <a:solidFill>
                  <a:srgbClr val="002060"/>
                </a:solidFill>
              </a:rPr>
              <a:t>by</a:t>
            </a:r>
            <a:r>
              <a:rPr lang="nl-NL" sz="1200" dirty="0">
                <a:solidFill>
                  <a:srgbClr val="002060"/>
                </a:solidFill>
              </a:rPr>
              <a:t> GDP. </a:t>
            </a:r>
            <a:r>
              <a:rPr lang="nl-NL" sz="1200" dirty="0" err="1">
                <a:solidFill>
                  <a:srgbClr val="002060"/>
                </a:solidFill>
              </a:rPr>
              <a:t>Annual</a:t>
            </a:r>
            <a:r>
              <a:rPr lang="nl-NL" sz="1200" dirty="0">
                <a:solidFill>
                  <a:srgbClr val="002060"/>
                </a:solidFill>
              </a:rPr>
              <a:t> data 2015-2025 (Source: </a:t>
            </a:r>
            <a:r>
              <a:rPr lang="en-US" sz="1200" dirty="0">
                <a:solidFill>
                  <a:srgbClr val="002060"/>
                </a:solidFill>
              </a:rPr>
              <a:t>ETO's CAT (Country Activity Tracker)</a:t>
            </a:r>
            <a:r>
              <a:rPr lang="nl-NL" sz="1200" dirty="0">
                <a:solidFill>
                  <a:srgbClr val="002060"/>
                </a:solidFill>
              </a:rPr>
              <a:t>.</a:t>
            </a:r>
          </a:p>
        </p:txBody>
      </p:sp>
      <p:pic>
        <p:nvPicPr>
          <p:cNvPr id="7" name="Picture 6">
            <a:extLst>
              <a:ext uri="{FF2B5EF4-FFF2-40B4-BE49-F238E27FC236}">
                <a16:creationId xmlns:a16="http://schemas.microsoft.com/office/drawing/2014/main" id="{00D67D2D-8767-2D3D-DB1A-994B39847091}"/>
              </a:ext>
            </a:extLst>
          </p:cNvPr>
          <p:cNvPicPr>
            <a:picLocks noChangeAspect="1"/>
          </p:cNvPicPr>
          <p:nvPr/>
        </p:nvPicPr>
        <p:blipFill>
          <a:blip r:embed="rId3"/>
          <a:stretch>
            <a:fillRect/>
          </a:stretch>
        </p:blipFill>
        <p:spPr>
          <a:xfrm>
            <a:off x="4661999" y="1728216"/>
            <a:ext cx="4335697" cy="3203135"/>
          </a:xfrm>
          <a:prstGeom prst="rect">
            <a:avLst/>
          </a:prstGeom>
        </p:spPr>
      </p:pic>
      <p:sp>
        <p:nvSpPr>
          <p:cNvPr id="11" name="Tekstvak 3">
            <a:extLst>
              <a:ext uri="{FF2B5EF4-FFF2-40B4-BE49-F238E27FC236}">
                <a16:creationId xmlns:a16="http://schemas.microsoft.com/office/drawing/2014/main" id="{7D1FCEE6-8AAC-959D-A8E8-B4CF4C9F0122}"/>
              </a:ext>
            </a:extLst>
          </p:cNvPr>
          <p:cNvSpPr txBox="1"/>
          <p:nvPr/>
        </p:nvSpPr>
        <p:spPr>
          <a:xfrm>
            <a:off x="304990" y="5053409"/>
            <a:ext cx="4087369" cy="1200329"/>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investment in </a:t>
            </a:r>
            <a:r>
              <a:rPr lang="nl-NL" sz="1200" dirty="0" err="1">
                <a:solidFill>
                  <a:srgbClr val="002060"/>
                </a:solidFill>
              </a:rPr>
              <a:t>total</a:t>
            </a:r>
            <a:r>
              <a:rPr lang="nl-NL" sz="1200" dirty="0">
                <a:solidFill>
                  <a:srgbClr val="002060"/>
                </a:solidFill>
              </a:rPr>
              <a:t> GFCF</a:t>
            </a:r>
          </a:p>
          <a:p>
            <a:pPr>
              <a:defRPr/>
            </a:pPr>
            <a:r>
              <a:rPr lang="nl-NL" sz="1200" dirty="0" err="1">
                <a:solidFill>
                  <a:srgbClr val="002060"/>
                </a:solidFill>
              </a:rPr>
              <a:t>Annual</a:t>
            </a:r>
            <a:r>
              <a:rPr lang="nl-NL" sz="1200" dirty="0">
                <a:solidFill>
                  <a:srgbClr val="002060"/>
                </a:solidFill>
              </a:rPr>
              <a:t> data 2000-2025 (</a:t>
            </a:r>
            <a:r>
              <a:rPr lang="nl-NL" sz="1200" dirty="0" err="1">
                <a:solidFill>
                  <a:srgbClr val="002060"/>
                </a:solidFill>
              </a:rPr>
              <a:t>for</a:t>
            </a:r>
            <a:r>
              <a:rPr lang="nl-NL" sz="1200" dirty="0">
                <a:solidFill>
                  <a:srgbClr val="002060"/>
                </a:solidFill>
              </a:rPr>
              <a:t> </a:t>
            </a:r>
            <a:r>
              <a:rPr lang="nl-NL" sz="1200" dirty="0" err="1">
                <a:solidFill>
                  <a:srgbClr val="002060"/>
                </a:solidFill>
              </a:rPr>
              <a:t>countries</a:t>
            </a:r>
            <a:r>
              <a:rPr lang="nl-NL" sz="1200" dirty="0">
                <a:solidFill>
                  <a:srgbClr val="002060"/>
                </a:solidFill>
              </a:rPr>
              <a:t> of </a:t>
            </a:r>
            <a:r>
              <a:rPr lang="nl-NL" sz="1200" dirty="0" err="1">
                <a:solidFill>
                  <a:srgbClr val="002060"/>
                </a:solidFill>
              </a:rPr>
              <a:t>which</a:t>
            </a:r>
            <a:r>
              <a:rPr lang="nl-NL" sz="1200" dirty="0">
                <a:solidFill>
                  <a:srgbClr val="002060"/>
                </a:solidFill>
              </a:rPr>
              <a:t> 2025 data is </a:t>
            </a:r>
            <a:r>
              <a:rPr lang="nl-NL" sz="1200" dirty="0" err="1">
                <a:solidFill>
                  <a:srgbClr val="002060"/>
                </a:solidFill>
              </a:rPr>
              <a:t>not</a:t>
            </a:r>
            <a:r>
              <a:rPr lang="nl-NL" sz="1200" dirty="0">
                <a:solidFill>
                  <a:srgbClr val="002060"/>
                </a:solidFill>
              </a:rPr>
              <a:t> </a:t>
            </a:r>
            <a:r>
              <a:rPr lang="nl-NL" sz="1200" dirty="0" err="1">
                <a:solidFill>
                  <a:srgbClr val="002060"/>
                </a:solidFill>
              </a:rPr>
              <a:t>available</a:t>
            </a:r>
            <a:r>
              <a:rPr lang="nl-NL" sz="1200" dirty="0">
                <a:solidFill>
                  <a:srgbClr val="002060"/>
                </a:solidFill>
              </a:rPr>
              <a:t> </a:t>
            </a:r>
            <a:r>
              <a:rPr lang="nl-NL" sz="1200" dirty="0" err="1">
                <a:solidFill>
                  <a:srgbClr val="002060"/>
                </a:solidFill>
              </a:rPr>
              <a:t>yet</a:t>
            </a:r>
            <a:r>
              <a:rPr lang="nl-NL" sz="1200" dirty="0">
                <a:solidFill>
                  <a:srgbClr val="002060"/>
                </a:solidFill>
              </a:rPr>
              <a:t>; 2024 data is </a:t>
            </a:r>
            <a:r>
              <a:rPr lang="nl-NL" sz="1200" dirty="0" err="1">
                <a:solidFill>
                  <a:srgbClr val="002060"/>
                </a:solidFill>
              </a:rPr>
              <a:t>used</a:t>
            </a:r>
            <a:r>
              <a:rPr lang="nl-NL" sz="1200" dirty="0">
                <a:solidFill>
                  <a:srgbClr val="002060"/>
                </a:solidFill>
              </a:rPr>
              <a:t>). Product </a:t>
            </a:r>
            <a:r>
              <a:rPr lang="nl-NL" sz="1200" dirty="0" err="1">
                <a:solidFill>
                  <a:srgbClr val="002060"/>
                </a:solidFill>
              </a:rPr>
              <a:t>groups</a:t>
            </a:r>
            <a:r>
              <a:rPr lang="nl-NL" sz="1200" dirty="0">
                <a:solidFill>
                  <a:srgbClr val="002060"/>
                </a:solidFill>
              </a:rPr>
              <a:t>: </a:t>
            </a:r>
            <a:r>
              <a:rPr lang="pt-BR" sz="1200" dirty="0">
                <a:solidFill>
                  <a:srgbClr val="002060"/>
                </a:solidFill>
              </a:rPr>
              <a:t>N1132G, N1173G, N112G_secJ, N117G_secJ, N1173G_secJ (source: Eurostat).</a:t>
            </a: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338A2D59-53C8-50EE-C6F5-E44B1EC58C7B}"/>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4" action="ppaction://hlinksldjump"/>
              </a:rPr>
              <a:t>Link</a:t>
            </a:r>
            <a:r>
              <a:rPr lang="nl-NL" sz="1200" dirty="0">
                <a:solidFill>
                  <a:srgbClr val="002060"/>
                </a:solidFill>
              </a:rPr>
              <a:t> back</a:t>
            </a:r>
          </a:p>
        </p:txBody>
      </p:sp>
      <p:sp>
        <p:nvSpPr>
          <p:cNvPr id="4" name="Tekstvak 3">
            <a:extLst>
              <a:ext uri="{FF2B5EF4-FFF2-40B4-BE49-F238E27FC236}">
                <a16:creationId xmlns:a16="http://schemas.microsoft.com/office/drawing/2014/main" id="{80A3C609-6383-27DE-510C-C64F4B0DBC92}"/>
              </a:ext>
            </a:extLst>
          </p:cNvPr>
          <p:cNvSpPr txBox="1"/>
          <p:nvPr/>
        </p:nvSpPr>
        <p:spPr>
          <a:xfrm>
            <a:off x="5181412" y="975170"/>
            <a:ext cx="3726644" cy="584775"/>
          </a:xfrm>
          <a:prstGeom prst="rect">
            <a:avLst/>
          </a:prstGeom>
          <a:noFill/>
        </p:spPr>
        <p:txBody>
          <a:bodyPr wrap="square" rtlCol="0">
            <a:spAutoFit/>
          </a:bodyPr>
          <a:lstStyle/>
          <a:p>
            <a:pPr>
              <a:defRPr/>
            </a:pPr>
            <a:r>
              <a:rPr lang="nl-NL" sz="1600" noProof="1">
                <a:solidFill>
                  <a:srgbClr val="002060"/>
                </a:solidFill>
              </a:rPr>
              <a:t>Number of equity invetsments in AI fields</a:t>
            </a:r>
            <a:endParaRPr lang="nl-NL" sz="1600" dirty="0">
              <a:solidFill>
                <a:srgbClr val="002060"/>
              </a:solidFill>
            </a:endParaRPr>
          </a:p>
        </p:txBody>
      </p:sp>
      <p:sp>
        <p:nvSpPr>
          <p:cNvPr id="6" name="Tekstvak 3">
            <a:extLst>
              <a:ext uri="{FF2B5EF4-FFF2-40B4-BE49-F238E27FC236}">
                <a16:creationId xmlns:a16="http://schemas.microsoft.com/office/drawing/2014/main" id="{0AC6B175-D1D2-F0DB-D461-D0CAED9EE46F}"/>
              </a:ext>
            </a:extLst>
          </p:cNvPr>
          <p:cNvSpPr txBox="1"/>
          <p:nvPr/>
        </p:nvSpPr>
        <p:spPr>
          <a:xfrm>
            <a:off x="596671" y="1098280"/>
            <a:ext cx="3726644" cy="338554"/>
          </a:xfrm>
          <a:prstGeom prst="rect">
            <a:avLst/>
          </a:prstGeom>
          <a:noFill/>
        </p:spPr>
        <p:txBody>
          <a:bodyPr wrap="square" rtlCol="0">
            <a:spAutoFit/>
          </a:bodyPr>
          <a:lstStyle/>
          <a:p>
            <a:pPr>
              <a:defRPr/>
            </a:pPr>
            <a:r>
              <a:rPr lang="nl-NL" sz="1600" noProof="1">
                <a:solidFill>
                  <a:srgbClr val="002060"/>
                </a:solidFill>
              </a:rPr>
              <a:t>ICT/AI investment ratio</a:t>
            </a:r>
            <a:endParaRPr lang="nl-NL" sz="1600" dirty="0">
              <a:solidFill>
                <a:srgbClr val="002060"/>
              </a:solidFill>
            </a:endParaRPr>
          </a:p>
        </p:txBody>
      </p:sp>
      <p:pic>
        <p:nvPicPr>
          <p:cNvPr id="3" name="Picture 2">
            <a:extLst>
              <a:ext uri="{FF2B5EF4-FFF2-40B4-BE49-F238E27FC236}">
                <a16:creationId xmlns:a16="http://schemas.microsoft.com/office/drawing/2014/main" id="{8A7EFEE7-907A-EF9C-42CF-70E7257DAC35}"/>
              </a:ext>
            </a:extLst>
          </p:cNvPr>
          <p:cNvPicPr>
            <a:picLocks noChangeAspect="1"/>
          </p:cNvPicPr>
          <p:nvPr/>
        </p:nvPicPr>
        <p:blipFill>
          <a:blip r:embed="rId5"/>
          <a:stretch>
            <a:fillRect/>
          </a:stretch>
        </p:blipFill>
        <p:spPr>
          <a:xfrm>
            <a:off x="146304" y="1728216"/>
            <a:ext cx="4048523" cy="3063240"/>
          </a:xfrm>
          <a:prstGeom prst="rect">
            <a:avLst/>
          </a:prstGeom>
        </p:spPr>
      </p:pic>
    </p:spTree>
    <p:extLst>
      <p:ext uri="{BB962C8B-B14F-4D97-AF65-F5344CB8AC3E}">
        <p14:creationId xmlns:p14="http://schemas.microsoft.com/office/powerpoint/2010/main" val="374833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6C947-4B1F-5814-B5F0-19183D09F00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C9CA68-4F8B-00E1-9EA9-77192F3EDB84}"/>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8" name="Tekstvak 3">
            <a:extLst>
              <a:ext uri="{FF2B5EF4-FFF2-40B4-BE49-F238E27FC236}">
                <a16:creationId xmlns:a16="http://schemas.microsoft.com/office/drawing/2014/main" id="{0677632A-56D3-3DDB-C434-EB0FC24E2732}"/>
              </a:ext>
            </a:extLst>
          </p:cNvPr>
          <p:cNvSpPr txBox="1"/>
          <p:nvPr/>
        </p:nvSpPr>
        <p:spPr>
          <a:xfrm>
            <a:off x="4902230" y="5051417"/>
            <a:ext cx="4087369" cy="646331"/>
          </a:xfrm>
          <a:prstGeom prst="rect">
            <a:avLst/>
          </a:prstGeom>
          <a:noFill/>
        </p:spPr>
        <p:txBody>
          <a:bodyPr wrap="square" rtlCol="0">
            <a:spAutoFit/>
          </a:bodyPr>
          <a:lstStyle/>
          <a:p>
            <a:pPr>
              <a:defRPr/>
            </a:pPr>
            <a:r>
              <a:rPr lang="nl-NL" sz="1200" dirty="0">
                <a:solidFill>
                  <a:srgbClr val="002060"/>
                </a:solidFill>
              </a:rPr>
              <a:t>Rolling </a:t>
            </a:r>
            <a:r>
              <a:rPr lang="nl-NL" sz="1200" dirty="0" err="1">
                <a:solidFill>
                  <a:srgbClr val="002060"/>
                </a:solidFill>
              </a:rPr>
              <a:t>correlation</a:t>
            </a:r>
            <a:r>
              <a:rPr lang="nl-NL" sz="1200" dirty="0">
                <a:solidFill>
                  <a:srgbClr val="002060"/>
                </a:solidFill>
              </a:rPr>
              <a:t> </a:t>
            </a:r>
            <a:r>
              <a:rPr lang="nl-NL" sz="1200" dirty="0" err="1">
                <a:solidFill>
                  <a:srgbClr val="002060"/>
                </a:solidFill>
              </a:rPr>
              <a:t>between</a:t>
            </a:r>
            <a:r>
              <a:rPr lang="nl-NL" sz="1200" dirty="0">
                <a:solidFill>
                  <a:srgbClr val="002060"/>
                </a:solidFill>
              </a:rPr>
              <a:t> </a:t>
            </a:r>
            <a:r>
              <a:rPr lang="nl-NL" sz="1200" dirty="0" err="1">
                <a:solidFill>
                  <a:srgbClr val="002060"/>
                </a:solidFill>
              </a:rPr>
              <a:t>national</a:t>
            </a:r>
            <a:r>
              <a:rPr lang="nl-NL" sz="1200" dirty="0">
                <a:solidFill>
                  <a:srgbClr val="002060"/>
                </a:solidFill>
              </a:rPr>
              <a:t> stock index and SOX index (8 </a:t>
            </a:r>
            <a:r>
              <a:rPr lang="nl-NL" sz="1200" dirty="0" err="1">
                <a:solidFill>
                  <a:srgbClr val="002060"/>
                </a:solidFill>
              </a:rPr>
              <a:t>quarters</a:t>
            </a:r>
            <a:r>
              <a:rPr lang="nl-NL" sz="1200" dirty="0">
                <a:solidFill>
                  <a:srgbClr val="002060"/>
                </a:solidFill>
              </a:rPr>
              <a:t> </a:t>
            </a:r>
            <a:r>
              <a:rPr lang="nl-NL" sz="1200" dirty="0" err="1">
                <a:solidFill>
                  <a:srgbClr val="002060"/>
                </a:solidFill>
              </a:rPr>
              <a:t>window</a:t>
            </a:r>
            <a:r>
              <a:rPr lang="nl-NL" sz="1200" dirty="0">
                <a:solidFill>
                  <a:srgbClr val="002060"/>
                </a:solidFill>
              </a:rPr>
              <a:t>). </a:t>
            </a:r>
            <a:r>
              <a:rPr lang="nl-NL" sz="1200" dirty="0" err="1">
                <a:solidFill>
                  <a:srgbClr val="002060"/>
                </a:solidFill>
              </a:rPr>
              <a:t>Quarterly</a:t>
            </a:r>
            <a:r>
              <a:rPr lang="nl-NL" sz="1200" dirty="0">
                <a:solidFill>
                  <a:srgbClr val="002060"/>
                </a:solidFill>
              </a:rPr>
              <a:t> data 2000Q1-2026Q2 (Source: Yahoo Finance)</a:t>
            </a:r>
          </a:p>
        </p:txBody>
      </p:sp>
      <p:sp>
        <p:nvSpPr>
          <p:cNvPr id="11" name="Tekstvak 3">
            <a:extLst>
              <a:ext uri="{FF2B5EF4-FFF2-40B4-BE49-F238E27FC236}">
                <a16:creationId xmlns:a16="http://schemas.microsoft.com/office/drawing/2014/main" id="{D6974398-2614-1310-0782-A3E80B13A2FD}"/>
              </a:ext>
            </a:extLst>
          </p:cNvPr>
          <p:cNvSpPr txBox="1"/>
          <p:nvPr/>
        </p:nvSpPr>
        <p:spPr>
          <a:xfrm>
            <a:off x="207037" y="4774417"/>
            <a:ext cx="4087369" cy="1200329"/>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exports in </a:t>
            </a:r>
            <a:r>
              <a:rPr lang="nl-NL" sz="1200" dirty="0" err="1">
                <a:solidFill>
                  <a:srgbClr val="002060"/>
                </a:solidFill>
              </a:rPr>
              <a:t>total</a:t>
            </a:r>
            <a:r>
              <a:rPr lang="nl-NL" sz="1200" dirty="0">
                <a:solidFill>
                  <a:srgbClr val="002060"/>
                </a:solidFill>
              </a:rPr>
              <a:t> </a:t>
            </a:r>
            <a:r>
              <a:rPr lang="nl-NL" sz="1200" dirty="0" err="1">
                <a:solidFill>
                  <a:srgbClr val="002060"/>
                </a:solidFill>
              </a:rPr>
              <a:t>goods</a:t>
            </a:r>
            <a:r>
              <a:rPr lang="nl-NL" sz="1200" dirty="0">
                <a:solidFill>
                  <a:srgbClr val="002060"/>
                </a:solidFill>
              </a:rPr>
              <a:t> exports, </a:t>
            </a:r>
            <a:r>
              <a:rPr lang="nl-NL" sz="1200" dirty="0" err="1">
                <a:solidFill>
                  <a:srgbClr val="002060"/>
                </a:solidFill>
              </a:rPr>
              <a:t>Annual</a:t>
            </a:r>
            <a:r>
              <a:rPr lang="nl-NL" sz="1200" dirty="0">
                <a:solidFill>
                  <a:srgbClr val="002060"/>
                </a:solidFill>
              </a:rPr>
              <a:t> data 2000-2025. </a:t>
            </a:r>
            <a:r>
              <a:rPr lang="en-US" sz="1200" dirty="0">
                <a:solidFill>
                  <a:srgbClr val="002060"/>
                </a:solidFill>
              </a:rPr>
              <a:t>Products groups: HS 8471.50, HS 8471.80, HS 8473.30, HS 8486.10, HS 8486.20, HS 8486.30, HS 8486.40, HS 8486.90 </a:t>
            </a:r>
            <a:r>
              <a:rPr lang="pt-BR" sz="1200" dirty="0">
                <a:solidFill>
                  <a:srgbClr val="002060"/>
                </a:solidFill>
              </a:rPr>
              <a:t>(source: OECD).</a:t>
            </a:r>
            <a:endParaRPr lang="en-US" sz="1200" dirty="0">
              <a:solidFill>
                <a:srgbClr val="002060"/>
              </a:solidFill>
            </a:endParaRP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4329BB17-F16F-495E-1F2E-C473B8ADC642}"/>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3" action="ppaction://hlinksldjump"/>
              </a:rPr>
              <a:t>Link</a:t>
            </a:r>
            <a:r>
              <a:rPr lang="nl-NL" sz="1200" dirty="0">
                <a:solidFill>
                  <a:srgbClr val="002060"/>
                </a:solidFill>
              </a:rPr>
              <a:t> back</a:t>
            </a:r>
          </a:p>
        </p:txBody>
      </p:sp>
      <p:pic>
        <p:nvPicPr>
          <p:cNvPr id="4" name="Picture 3">
            <a:extLst>
              <a:ext uri="{FF2B5EF4-FFF2-40B4-BE49-F238E27FC236}">
                <a16:creationId xmlns:a16="http://schemas.microsoft.com/office/drawing/2014/main" id="{D752BB6B-84D3-1A02-4BE3-8EAA21B12319}"/>
              </a:ext>
            </a:extLst>
          </p:cNvPr>
          <p:cNvPicPr>
            <a:picLocks noChangeAspect="1"/>
          </p:cNvPicPr>
          <p:nvPr/>
        </p:nvPicPr>
        <p:blipFill>
          <a:blip r:embed="rId4"/>
          <a:stretch>
            <a:fillRect/>
          </a:stretch>
        </p:blipFill>
        <p:spPr>
          <a:xfrm>
            <a:off x="4902229" y="1522726"/>
            <a:ext cx="3949219" cy="3200400"/>
          </a:xfrm>
          <a:prstGeom prst="rect">
            <a:avLst/>
          </a:prstGeom>
        </p:spPr>
      </p:pic>
      <p:sp>
        <p:nvSpPr>
          <p:cNvPr id="6" name="Tekstvak 3">
            <a:extLst>
              <a:ext uri="{FF2B5EF4-FFF2-40B4-BE49-F238E27FC236}">
                <a16:creationId xmlns:a16="http://schemas.microsoft.com/office/drawing/2014/main" id="{42ACDE40-4CF9-25D5-B152-CDE514C54D15}"/>
              </a:ext>
            </a:extLst>
          </p:cNvPr>
          <p:cNvSpPr txBox="1"/>
          <p:nvPr/>
        </p:nvSpPr>
        <p:spPr>
          <a:xfrm>
            <a:off x="5013517" y="921978"/>
            <a:ext cx="3726644" cy="584775"/>
          </a:xfrm>
          <a:prstGeom prst="rect">
            <a:avLst/>
          </a:prstGeom>
          <a:noFill/>
        </p:spPr>
        <p:txBody>
          <a:bodyPr wrap="square" rtlCol="0">
            <a:spAutoFit/>
          </a:bodyPr>
          <a:lstStyle/>
          <a:p>
            <a:pPr>
              <a:defRPr/>
            </a:pPr>
            <a:r>
              <a:rPr lang="nl-NL" sz="1600" noProof="1">
                <a:solidFill>
                  <a:srgbClr val="002060"/>
                </a:solidFill>
              </a:rPr>
              <a:t>Correlation national stock index and SOX index</a:t>
            </a:r>
            <a:endParaRPr lang="nl-NL" sz="1600" dirty="0">
              <a:solidFill>
                <a:srgbClr val="002060"/>
              </a:solidFill>
            </a:endParaRPr>
          </a:p>
        </p:txBody>
      </p:sp>
      <p:sp>
        <p:nvSpPr>
          <p:cNvPr id="12" name="Tekstvak 3">
            <a:extLst>
              <a:ext uri="{FF2B5EF4-FFF2-40B4-BE49-F238E27FC236}">
                <a16:creationId xmlns:a16="http://schemas.microsoft.com/office/drawing/2014/main" id="{37AFEB65-C677-E635-F153-64D4EC70C109}"/>
              </a:ext>
            </a:extLst>
          </p:cNvPr>
          <p:cNvSpPr txBox="1"/>
          <p:nvPr/>
        </p:nvSpPr>
        <p:spPr>
          <a:xfrm>
            <a:off x="567762" y="978295"/>
            <a:ext cx="3726644" cy="338554"/>
          </a:xfrm>
          <a:prstGeom prst="rect">
            <a:avLst/>
          </a:prstGeom>
          <a:noFill/>
        </p:spPr>
        <p:txBody>
          <a:bodyPr wrap="square" rtlCol="0">
            <a:spAutoFit/>
          </a:bodyPr>
          <a:lstStyle/>
          <a:p>
            <a:pPr>
              <a:defRPr/>
            </a:pPr>
            <a:r>
              <a:rPr lang="nl-NL" sz="1600" noProof="1">
                <a:solidFill>
                  <a:srgbClr val="002060"/>
                </a:solidFill>
              </a:rPr>
              <a:t>ICT/AI-related export share</a:t>
            </a:r>
            <a:endParaRPr lang="nl-NL" sz="1600" dirty="0">
              <a:solidFill>
                <a:srgbClr val="002060"/>
              </a:solidFill>
            </a:endParaRPr>
          </a:p>
        </p:txBody>
      </p:sp>
      <p:pic>
        <p:nvPicPr>
          <p:cNvPr id="5" name="Picture 4">
            <a:extLst>
              <a:ext uri="{FF2B5EF4-FFF2-40B4-BE49-F238E27FC236}">
                <a16:creationId xmlns:a16="http://schemas.microsoft.com/office/drawing/2014/main" id="{7596D83C-A172-D741-78FB-EBEC12FF1632}"/>
              </a:ext>
            </a:extLst>
          </p:cNvPr>
          <p:cNvPicPr>
            <a:picLocks noChangeAspect="1"/>
          </p:cNvPicPr>
          <p:nvPr/>
        </p:nvPicPr>
        <p:blipFill>
          <a:blip r:embed="rId5"/>
          <a:stretch>
            <a:fillRect/>
          </a:stretch>
        </p:blipFill>
        <p:spPr>
          <a:xfrm>
            <a:off x="111598" y="1698111"/>
            <a:ext cx="4460402" cy="2849630"/>
          </a:xfrm>
          <a:prstGeom prst="rect">
            <a:avLst/>
          </a:prstGeom>
        </p:spPr>
      </p:pic>
    </p:spTree>
    <p:extLst>
      <p:ext uri="{BB962C8B-B14F-4D97-AF65-F5344CB8AC3E}">
        <p14:creationId xmlns:p14="http://schemas.microsoft.com/office/powerpoint/2010/main" val="2407438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E4E-62EE-0BE5-AD2F-11094599F35C}"/>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03204D0B-CF7E-0BFC-4F0F-962010862E0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Robustness tests</a:t>
            </a:r>
          </a:p>
        </p:txBody>
      </p:sp>
      <p:sp>
        <p:nvSpPr>
          <p:cNvPr id="2" name="Content Placeholder 2">
            <a:extLst>
              <a:ext uri="{FF2B5EF4-FFF2-40B4-BE49-F238E27FC236}">
                <a16:creationId xmlns:a16="http://schemas.microsoft.com/office/drawing/2014/main" id="{69505807-7DB6-66DD-D0C3-991E02849C08}"/>
              </a:ext>
            </a:extLst>
          </p:cNvPr>
          <p:cNvSpPr>
            <a:spLocks noGrp="1"/>
          </p:cNvSpPr>
          <p:nvPr>
            <p:ph idx="1"/>
          </p:nvPr>
        </p:nvSpPr>
        <p:spPr>
          <a:xfrm>
            <a:off x="438652" y="803135"/>
            <a:ext cx="8129275"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logit regressions </a:t>
            </a:r>
            <a:r>
              <a:rPr lang="nl-NL" sz="2000" noProof="1">
                <a:latin typeface="Arial" panose="020B0604020202020204" pitchFamily="34" charset="0"/>
                <a:ea typeface="Verdana" panose="020B0604030504040204" pitchFamily="34" charset="0"/>
                <a:cs typeface="Arial" panose="020B0604020202020204" pitchFamily="34" charset="0"/>
              </a:rPr>
              <a:t>→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Trade data from Eurostat CPA instead of OECD HS → similar results</a:t>
            </a:r>
            <a:endParaRPr lang="nl-NL"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341592472"/>
      </p:ext>
    </p:extLst>
  </p:cSld>
  <p:clrMapOvr>
    <a:masterClrMapping/>
  </p:clrMapOvr>
</p:sld>
</file>

<file path=ppt/theme/theme1.xml><?xml version="1.0" encoding="utf-8"?>
<a:theme xmlns:a="http://schemas.openxmlformats.org/drawingml/2006/main" name="1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2.xml><?xml version="1.0" encoding="utf-8"?>
<a:theme xmlns:a="http://schemas.openxmlformats.org/drawingml/2006/main" name="3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1ddf9560-f40a-4faa-b693-65e98d55b544}" enabled="1" method="Privileged" siteId="{9ecbd628-0072-405d-8567-32c6750b0d3e}" removed="0"/>
</clbl:labelList>
</file>

<file path=docProps/app.xml><?xml version="1.0" encoding="utf-8"?>
<Properties xmlns="http://schemas.openxmlformats.org/officeDocument/2006/extended-properties" xmlns:vt="http://schemas.openxmlformats.org/officeDocument/2006/docPropsVTypes">
  <Template>LichteAchtergrond4x3</Template>
  <TotalTime>1849</TotalTime>
  <Words>1208</Words>
  <Application>Microsoft Office PowerPoint</Application>
  <PresentationFormat>On-screen Show (4:3)</PresentationFormat>
  <Paragraphs>117</Paragraphs>
  <Slides>15</Slides>
  <Notes>15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15</vt:i4>
      </vt:variant>
    </vt:vector>
  </HeadingPairs>
  <TitlesOfParts>
    <vt:vector size="23" baseType="lpstr">
      <vt:lpstr>Aptos</vt:lpstr>
      <vt:lpstr>Arial</vt:lpstr>
      <vt:lpstr>Calibri</vt:lpstr>
      <vt:lpstr>Cambria Math</vt:lpstr>
      <vt:lpstr>Verdana</vt:lpstr>
      <vt:lpstr>Wingdings</vt:lpstr>
      <vt:lpstr>1_LichteAchtergrond4x3</vt:lpstr>
      <vt:lpstr>3_LichteAchtergrond4x3</vt:lpstr>
      <vt:lpstr>PowerPoint Presentation</vt:lpstr>
      <vt:lpstr>Semiconductor super-cycle seems immune to shocks</vt:lpstr>
      <vt:lpstr>Empirical approach</vt:lpstr>
      <vt:lpstr>AI-related exposure</vt:lpstr>
      <vt:lpstr>Shock resilience</vt:lpstr>
      <vt:lpstr>AI-related investment</vt:lpstr>
      <vt:lpstr>AI-related trade and stock market exposure</vt:lpstr>
      <vt:lpstr>Probit models</vt:lpstr>
      <vt:lpstr>Results</vt:lpstr>
      <vt:lpstr>Conclusions</vt:lpstr>
      <vt:lpstr>Background slides</vt:lpstr>
      <vt:lpstr>Wild swings in semiconductor short-term cycle</vt:lpstr>
      <vt:lpstr>AI-related investment</vt:lpstr>
      <vt:lpstr>AI-related trade and stock market exposure</vt:lpstr>
      <vt:lpstr>Robustness tests</vt:lpstr>
    </vt:vector>
  </TitlesOfParts>
  <Company>De Nederlandsche Bank N.V.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Jan Willem van den End (EBO_CMA)</dc:creator>
  <dc:description/>
  <cp:lastModifiedBy>Jan Willem van den End (EBO_CMA)</cp:lastModifiedBy>
  <cp:revision>17</cp:revision>
  <cp:lastPrinted>2021-12-14T08:32:52Z</cp:lastPrinted>
  <dcterms:created xsi:type="dcterms:W3CDTF">2026-09-18T13:31:25Z</dcterms:created>
  <dcterms:modified xsi:type="dcterms:W3CDTF">2026-09-23T12:20:35Z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LichteAchtergrond4x3:5\1_LichteAchtergrond4x3:5\3_LichteAchtergrond4x3:5</vt:lpwstr>
  </property>
  <property fmtid="{D5CDD505-2E9C-101B-9397-08002B2CF9AE}" pid="3" name="ClassificationContentMarkingHeaderText">
    <vt:lpwstr>| DNB PUBLIC |</vt:lpwstr>
  </property>
</Properties>
</file>