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8" r:id="rId1"/>
    <p:sldMasterId id="2147483708" r:id="rId2"/>
  </p:sldMasterIdLst>
  <p:notesMasterIdLst>
    <p:notesMasterId r:id="rId20"/>
  </p:notesMasterIdLst>
  <p:handoutMasterIdLst>
    <p:handoutMasterId r:id="rId21"/>
  </p:handoutMasterIdLst>
  <p:sldIdLst>
    <p:sldId id="781" r:id="rId3"/>
    <p:sldId id="768" r:id="rId4"/>
    <p:sldId id="795" r:id="rId5"/>
    <p:sldId id="657" r:id="rId6"/>
    <p:sldId id="786" r:id="rId7"/>
    <p:sldId id="784" r:id="rId8"/>
    <p:sldId id="792" r:id="rId9"/>
    <p:sldId id="793" r:id="rId10"/>
    <p:sldId id="796" r:id="rId11"/>
    <p:sldId id="798" r:id="rId12"/>
    <p:sldId id="799" r:id="rId13"/>
    <p:sldId id="790" r:id="rId14"/>
    <p:sldId id="783" r:id="rId15"/>
    <p:sldId id="782" r:id="rId16"/>
    <p:sldId id="791" r:id="rId17"/>
    <p:sldId id="794" r:id="rId18"/>
    <p:sldId id="797" r:id="rId19"/>
  </p:sldIdLst>
  <p:sldSz cx="9144000" cy="6858000" type="screen4x3"/>
  <p:notesSz cx="6805613" cy="99441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9AA52A-C8DC-0079-4B3D-3D94CB4CC93F}" name="Sleijpen, O.C.H.M. (Olaf) (DIR_DIR)" initials="SO((" userId="S::o.c.h.m.sleijpen@dnb.nl::e1834a21-b3b8-47a2-be81-be8d1b72480a" providerId="AD"/>
  <p188:author id="{114EDE45-E8DB-37B7-C237-E6B69FEBD181}" name="Hebbink, G.E. (Gerbert) (EBO_CMA)" initials="HG((" userId="S::g.e.hebbink@dnb.nl::444fd58c-4ff3-4106-ad46-ede14c697b3e" providerId="AD"/>
  <p188:author id="{19AFD3AA-EF12-0A5E-B173-A3D533F398FE}" name="Robert-Paul Berben (EBO_ECMO)" initials="RB" userId="S::r.p.berben@dnb.nl::e0d9533d-c10d-4fed-b4b8-e1abed61a76a" providerId="AD"/>
  <p188:author id="{B57F0CF1-687C-DE38-9287-2219F7DAA597}" name="Henneman, M.L. (Maria) (COM_COM)" initials="HM((" userId="S::M.L.Henneman@dnb.nl::93a05259-aa37-4f46-ab68-ed256dca0c3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0099"/>
    <a:srgbClr val="9B9000"/>
    <a:srgbClr val="002060"/>
    <a:srgbClr val="211261"/>
    <a:srgbClr val="2B323C"/>
    <a:srgbClr val="0000FF"/>
    <a:srgbClr val="7F7F7F"/>
    <a:srgbClr val="162257"/>
    <a:srgbClr val="44287F"/>
    <a:srgbClr val="9B9B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B43BEF-9B9B-431D-9308-0B2B126B7992}" v="691" dt="2026-10-10T15:12:41.481"/>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ijl, gemiddeld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ijl, gemiddeld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ijl, gemiddeld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80" y="32"/>
      </p:cViewPr>
      <p:guideLst>
        <p:guide orient="horz" pos="2160"/>
        <p:guide pos="2880"/>
      </p:guideLst>
    </p:cSldViewPr>
  </p:slideViewPr>
  <p:notesTextViewPr>
    <p:cViewPr>
      <p:scale>
        <a:sx n="1" d="1"/>
        <a:sy n="1" d="1"/>
      </p:scale>
      <p:origin x="0" y="0"/>
    </p:cViewPr>
  </p:notesTextViewPr>
  <p:notesViewPr>
    <p:cSldViewPr snapToGrid="0">
      <p:cViewPr>
        <p:scale>
          <a:sx n="90" d="100"/>
          <a:sy n="90" d="100"/>
        </p:scale>
        <p:origin x="1868" y="-23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 Willem van den End (EBO_CMA)" userId="32ade95a-e024-4672-952f-5ed8641a9e00" providerId="ADAL" clId="{3BBBE02E-ACD4-4586-9407-5E79BF620DF1}"/>
    <pc:docChg chg="undo redo custSel addSld modSld sldOrd">
      <pc:chgData name="Jan Willem van den End (EBO_CMA)" userId="32ade95a-e024-4672-952f-5ed8641a9e00" providerId="ADAL" clId="{3BBBE02E-ACD4-4586-9407-5E79BF620DF1}" dt="2026-10-10T15:12:41.481" v="10488" actId="6549"/>
      <pc:docMkLst>
        <pc:docMk/>
      </pc:docMkLst>
      <pc:sldChg chg="delSp modSp mod modNotes modNotesTx">
        <pc:chgData name="Jan Willem van den End (EBO_CMA)" userId="32ade95a-e024-4672-952f-5ed8641a9e00" providerId="ADAL" clId="{3BBBE02E-ACD4-4586-9407-5E79BF620DF1}" dt="2026-10-05T18:17:21.030" v="8587" actId="255"/>
        <pc:sldMkLst>
          <pc:docMk/>
          <pc:sldMk cId="3588697" sldId="657"/>
        </pc:sldMkLst>
        <pc:spChg chg="mod">
          <ac:chgData name="Jan Willem van den End (EBO_CMA)" userId="32ade95a-e024-4672-952f-5ed8641a9e00" providerId="ADAL" clId="{3BBBE02E-ACD4-4586-9407-5E79BF620DF1}" dt="2026-09-29T19:17:20.417" v="5882" actId="1076"/>
          <ac:spMkLst>
            <pc:docMk/>
            <pc:sldMk cId="3588697" sldId="657"/>
            <ac:spMk id="2" creationId="{8F3D8D65-3E89-7468-E586-D814DD2BD102}"/>
          </ac:spMkLst>
        </pc:spChg>
      </pc:sldChg>
      <pc:sldChg chg="modSp mod">
        <pc:chgData name="Jan Willem van den End (EBO_CMA)" userId="32ade95a-e024-4672-952f-5ed8641a9e00" providerId="ADAL" clId="{3BBBE02E-ACD4-4586-9407-5E79BF620DF1}" dt="2026-09-25T10:45:34.501" v="5500" actId="20577"/>
        <pc:sldMkLst>
          <pc:docMk/>
          <pc:sldMk cId="1203207517" sldId="768"/>
        </pc:sldMkLst>
        <pc:spChg chg="mod">
          <ac:chgData name="Jan Willem van den End (EBO_CMA)" userId="32ade95a-e024-4672-952f-5ed8641a9e00" providerId="ADAL" clId="{3BBBE02E-ACD4-4586-9407-5E79BF620DF1}" dt="2026-09-25T10:45:34.501" v="5500" actId="20577"/>
          <ac:spMkLst>
            <pc:docMk/>
            <pc:sldMk cId="1203207517" sldId="768"/>
            <ac:spMk id="8" creationId="{545BE5F7-F057-18CF-DA77-201D8BAEDAF2}"/>
          </ac:spMkLst>
        </pc:spChg>
      </pc:sldChg>
      <pc:sldChg chg="modNotesTx">
        <pc:chgData name="Jan Willem van den End (EBO_CMA)" userId="32ade95a-e024-4672-952f-5ed8641a9e00" providerId="ADAL" clId="{3BBBE02E-ACD4-4586-9407-5E79BF620DF1}" dt="2026-10-06T07:05:40.929" v="8819" actId="20577"/>
        <pc:sldMkLst>
          <pc:docMk/>
          <pc:sldMk cId="2835017235" sldId="781"/>
        </pc:sldMkLst>
      </pc:sldChg>
      <pc:sldChg chg="modSp mod">
        <pc:chgData name="Jan Willem van den End (EBO_CMA)" userId="32ade95a-e024-4672-952f-5ed8641a9e00" providerId="ADAL" clId="{3BBBE02E-ACD4-4586-9407-5E79BF620DF1}" dt="2026-09-24T09:53:12.219" v="4093"/>
        <pc:sldMkLst>
          <pc:docMk/>
          <pc:sldMk cId="1473696260" sldId="782"/>
        </pc:sldMkLst>
        <pc:spChg chg="mod">
          <ac:chgData name="Jan Willem van den End (EBO_CMA)" userId="32ade95a-e024-4672-952f-5ed8641a9e00" providerId="ADAL" clId="{3BBBE02E-ACD4-4586-9407-5E79BF620DF1}" dt="2026-09-24T09:53:12.219" v="4093"/>
          <ac:spMkLst>
            <pc:docMk/>
            <pc:sldMk cId="1473696260" sldId="782"/>
            <ac:spMk id="8" creationId="{F8831F86-71DE-C3FE-B109-F7E9B5952F04}"/>
          </ac:spMkLst>
        </pc:spChg>
      </pc:sldChg>
      <pc:sldChg chg="addSp delSp modSp mod">
        <pc:chgData name="Jan Willem van den End (EBO_CMA)" userId="32ade95a-e024-4672-952f-5ed8641a9e00" providerId="ADAL" clId="{3BBBE02E-ACD4-4586-9407-5E79BF620DF1}" dt="2026-09-29T19:08:51.624" v="5708" actId="1076"/>
        <pc:sldMkLst>
          <pc:docMk/>
          <pc:sldMk cId="2428101549" sldId="784"/>
        </pc:sldMkLst>
        <pc:spChg chg="mod">
          <ac:chgData name="Jan Willem van den End (EBO_CMA)" userId="32ade95a-e024-4672-952f-5ed8641a9e00" providerId="ADAL" clId="{3BBBE02E-ACD4-4586-9407-5E79BF620DF1}" dt="2026-09-25T10:05:05.902" v="5061" actId="1035"/>
          <ac:spMkLst>
            <pc:docMk/>
            <pc:sldMk cId="2428101549" sldId="784"/>
            <ac:spMk id="5" creationId="{0EEE5C01-F407-B286-8291-7A84B3BBB14E}"/>
          </ac:spMkLst>
        </pc:spChg>
        <pc:spChg chg="mod">
          <ac:chgData name="Jan Willem van den End (EBO_CMA)" userId="32ade95a-e024-4672-952f-5ed8641a9e00" providerId="ADAL" clId="{3BBBE02E-ACD4-4586-9407-5E79BF620DF1}" dt="2026-09-25T10:09:42.045" v="5079" actId="20577"/>
          <ac:spMkLst>
            <pc:docMk/>
            <pc:sldMk cId="2428101549" sldId="784"/>
            <ac:spMk id="6" creationId="{613E110F-8AEE-A02C-2032-1F07DE944DEB}"/>
          </ac:spMkLst>
        </pc:spChg>
        <pc:spChg chg="add mod">
          <ac:chgData name="Jan Willem van den End (EBO_CMA)" userId="32ade95a-e024-4672-952f-5ed8641a9e00" providerId="ADAL" clId="{3BBBE02E-ACD4-4586-9407-5E79BF620DF1}" dt="2026-09-25T11:36:40.711" v="5518" actId="20577"/>
          <ac:spMkLst>
            <pc:docMk/>
            <pc:sldMk cId="2428101549" sldId="784"/>
            <ac:spMk id="13" creationId="{C8DC46B8-5E08-30F3-1EE3-CB90635026CE}"/>
          </ac:spMkLst>
        </pc:spChg>
        <pc:picChg chg="mod">
          <ac:chgData name="Jan Willem van den End (EBO_CMA)" userId="32ade95a-e024-4672-952f-5ed8641a9e00" providerId="ADAL" clId="{3BBBE02E-ACD4-4586-9407-5E79BF620DF1}" dt="2026-09-29T19:08:49.382" v="5707" actId="14100"/>
          <ac:picMkLst>
            <pc:docMk/>
            <pc:sldMk cId="2428101549" sldId="784"/>
            <ac:picMk id="3" creationId="{B68D3A0C-D014-485F-5A02-9F50BA67BD89}"/>
          </ac:picMkLst>
        </pc:picChg>
        <pc:picChg chg="mod">
          <ac:chgData name="Jan Willem van den End (EBO_CMA)" userId="32ade95a-e024-4672-952f-5ed8641a9e00" providerId="ADAL" clId="{3BBBE02E-ACD4-4586-9407-5E79BF620DF1}" dt="2026-09-29T19:08:51.624" v="5708" actId="1076"/>
          <ac:picMkLst>
            <pc:docMk/>
            <pc:sldMk cId="2428101549" sldId="784"/>
            <ac:picMk id="4" creationId="{AFFB3634-5B82-136E-F947-D33F3E34AD6C}"/>
          </ac:picMkLst>
        </pc:picChg>
      </pc:sldChg>
      <pc:sldChg chg="modSp mod modNotes modNotesTx">
        <pc:chgData name="Jan Willem van den End (EBO_CMA)" userId="32ade95a-e024-4672-952f-5ed8641a9e00" providerId="ADAL" clId="{3BBBE02E-ACD4-4586-9407-5E79BF620DF1}" dt="2026-10-06T07:27:52.456" v="8906" actId="6549"/>
        <pc:sldMkLst>
          <pc:docMk/>
          <pc:sldMk cId="4129420739" sldId="786"/>
        </pc:sldMkLst>
        <pc:spChg chg="mod">
          <ac:chgData name="Jan Willem van den End (EBO_CMA)" userId="32ade95a-e024-4672-952f-5ed8641a9e00" providerId="ADAL" clId="{3BBBE02E-ACD4-4586-9407-5E79BF620DF1}" dt="2026-10-05T06:43:41.240" v="6163" actId="20577"/>
          <ac:spMkLst>
            <pc:docMk/>
            <pc:sldMk cId="4129420739" sldId="786"/>
            <ac:spMk id="8" creationId="{233DCD29-1BC1-E6E9-61D7-A3B8C24AFEC7}"/>
          </ac:spMkLst>
        </pc:spChg>
      </pc:sldChg>
      <pc:sldChg chg="modSp mod">
        <pc:chgData name="Jan Willem van den End (EBO_CMA)" userId="32ade95a-e024-4672-952f-5ed8641a9e00" providerId="ADAL" clId="{3BBBE02E-ACD4-4586-9407-5E79BF620DF1}" dt="2026-09-29T19:14:24.559" v="5805" actId="20577"/>
        <pc:sldMkLst>
          <pc:docMk/>
          <pc:sldMk cId="3777662078" sldId="790"/>
        </pc:sldMkLst>
        <pc:spChg chg="mod">
          <ac:chgData name="Jan Willem van den End (EBO_CMA)" userId="32ade95a-e024-4672-952f-5ed8641a9e00" providerId="ADAL" clId="{3BBBE02E-ACD4-4586-9407-5E79BF620DF1}" dt="2026-09-29T19:14:24.559" v="5805" actId="20577"/>
          <ac:spMkLst>
            <pc:docMk/>
            <pc:sldMk cId="3777662078" sldId="790"/>
            <ac:spMk id="2" creationId="{EFBED4CC-73CB-5E21-890E-866BC0B3643A}"/>
          </ac:spMkLst>
        </pc:spChg>
        <pc:spChg chg="mod">
          <ac:chgData name="Jan Willem van den End (EBO_CMA)" userId="32ade95a-e024-4672-952f-5ed8641a9e00" providerId="ADAL" clId="{3BBBE02E-ACD4-4586-9407-5E79BF620DF1}" dt="2026-09-18T19:27:10.448" v="1158" actId="20577"/>
          <ac:spMkLst>
            <pc:docMk/>
            <pc:sldMk cId="3777662078" sldId="790"/>
            <ac:spMk id="9" creationId="{2EDEA4FF-77B4-1210-0800-2B8BF9AA0C33}"/>
          </ac:spMkLst>
        </pc:spChg>
      </pc:sldChg>
      <pc:sldChg chg="delSp modSp mod">
        <pc:chgData name="Jan Willem van den End (EBO_CMA)" userId="32ade95a-e024-4672-952f-5ed8641a9e00" providerId="ADAL" clId="{3BBBE02E-ACD4-4586-9407-5E79BF620DF1}" dt="2026-09-29T19:15:17.932" v="5809" actId="6549"/>
        <pc:sldMkLst>
          <pc:docMk/>
          <pc:sldMk cId="374833015" sldId="791"/>
        </pc:sldMkLst>
        <pc:spChg chg="mod">
          <ac:chgData name="Jan Willem van den End (EBO_CMA)" userId="32ade95a-e024-4672-952f-5ed8641a9e00" providerId="ADAL" clId="{3BBBE02E-ACD4-4586-9407-5E79BF620DF1}" dt="2026-09-25T10:43:33.513" v="5406" actId="20577"/>
          <ac:spMkLst>
            <pc:docMk/>
            <pc:sldMk cId="374833015" sldId="791"/>
            <ac:spMk id="4" creationId="{80A3C609-6383-27DE-510C-C64F4B0DBC92}"/>
          </ac:spMkLst>
        </pc:spChg>
        <pc:spChg chg="mod">
          <ac:chgData name="Jan Willem van den End (EBO_CMA)" userId="32ade95a-e024-4672-952f-5ed8641a9e00" providerId="ADAL" clId="{3BBBE02E-ACD4-4586-9407-5E79BF620DF1}" dt="2026-09-29T19:15:17.932" v="5809" actId="6549"/>
          <ac:spMkLst>
            <pc:docMk/>
            <pc:sldMk cId="374833015" sldId="791"/>
            <ac:spMk id="8" creationId="{21C63CC4-9F1C-6D6D-9FEF-9D04021E36EE}"/>
          </ac:spMkLst>
        </pc:spChg>
        <pc:spChg chg="mod">
          <ac:chgData name="Jan Willem van den End (EBO_CMA)" userId="32ade95a-e024-4672-952f-5ed8641a9e00" providerId="ADAL" clId="{3BBBE02E-ACD4-4586-9407-5E79BF620DF1}" dt="2026-09-23T10:25:55.343" v="4048" actId="6549"/>
          <ac:spMkLst>
            <pc:docMk/>
            <pc:sldMk cId="374833015" sldId="791"/>
            <ac:spMk id="11" creationId="{7D1FCEE6-8AAC-959D-A8E8-B4CF4C9F0122}"/>
          </ac:spMkLst>
        </pc:spChg>
        <pc:picChg chg="mod">
          <ac:chgData name="Jan Willem van den End (EBO_CMA)" userId="32ade95a-e024-4672-952f-5ed8641a9e00" providerId="ADAL" clId="{3BBBE02E-ACD4-4586-9407-5E79BF620DF1}" dt="2026-09-23T10:25:19.998" v="4015" actId="1076"/>
          <ac:picMkLst>
            <pc:docMk/>
            <pc:sldMk cId="374833015" sldId="791"/>
            <ac:picMk id="3" creationId="{8A7EFEE7-907A-EF9C-42CF-70E7257DAC35}"/>
          </ac:picMkLst>
        </pc:picChg>
      </pc:sldChg>
      <pc:sldChg chg="addSp delSp modSp mod ord">
        <pc:chgData name="Jan Willem van den End (EBO_CMA)" userId="32ade95a-e024-4672-952f-5ed8641a9e00" providerId="ADAL" clId="{3BBBE02E-ACD4-4586-9407-5E79BF620DF1}" dt="2026-10-05T18:13:52.126" v="8506"/>
        <pc:sldMkLst>
          <pc:docMk/>
          <pc:sldMk cId="2304846322" sldId="792"/>
        </pc:sldMkLst>
        <pc:spChg chg="mod">
          <ac:chgData name="Jan Willem van den End (EBO_CMA)" userId="32ade95a-e024-4672-952f-5ed8641a9e00" providerId="ADAL" clId="{3BBBE02E-ACD4-4586-9407-5E79BF620DF1}" dt="2026-09-25T10:04:33.062" v="5051" actId="1038"/>
          <ac:spMkLst>
            <pc:docMk/>
            <pc:sldMk cId="2304846322" sldId="792"/>
            <ac:spMk id="5" creationId="{64CF75E5-0A93-A50A-135C-BD487E25C478}"/>
          </ac:spMkLst>
        </pc:spChg>
        <pc:spChg chg="mod">
          <ac:chgData name="Jan Willem van den End (EBO_CMA)" userId="32ade95a-e024-4672-952f-5ed8641a9e00" providerId="ADAL" clId="{3BBBE02E-ACD4-4586-9407-5E79BF620DF1}" dt="2026-09-29T19:10:03.460" v="5714" actId="20577"/>
          <ac:spMkLst>
            <pc:docMk/>
            <pc:sldMk cId="2304846322" sldId="792"/>
            <ac:spMk id="6" creationId="{CF9708F7-32AE-5645-3159-CE1174AB0729}"/>
          </ac:spMkLst>
        </pc:spChg>
        <pc:spChg chg="mod">
          <ac:chgData name="Jan Willem van den End (EBO_CMA)" userId="32ade95a-e024-4672-952f-5ed8641a9e00" providerId="ADAL" clId="{3BBBE02E-ACD4-4586-9407-5E79BF620DF1}" dt="2026-09-25T11:36:54.569" v="5519"/>
          <ac:spMkLst>
            <pc:docMk/>
            <pc:sldMk cId="2304846322" sldId="792"/>
            <ac:spMk id="8" creationId="{AEE2C5DE-2B6A-1A21-C169-797AC72B8FC2}"/>
          </ac:spMkLst>
        </pc:spChg>
        <pc:picChg chg="mod">
          <ac:chgData name="Jan Willem van den End (EBO_CMA)" userId="32ade95a-e024-4672-952f-5ed8641a9e00" providerId="ADAL" clId="{3BBBE02E-ACD4-4586-9407-5E79BF620DF1}" dt="2026-09-29T19:10:39.056" v="5719" actId="14100"/>
          <ac:picMkLst>
            <pc:docMk/>
            <pc:sldMk cId="2304846322" sldId="792"/>
            <ac:picMk id="3" creationId="{E4247869-22B3-74B1-C2DC-BC2BF3DF0889}"/>
          </ac:picMkLst>
        </pc:picChg>
        <pc:picChg chg="mod">
          <ac:chgData name="Jan Willem van den End (EBO_CMA)" userId="32ade95a-e024-4672-952f-5ed8641a9e00" providerId="ADAL" clId="{3BBBE02E-ACD4-4586-9407-5E79BF620DF1}" dt="2026-09-29T19:11:01.220" v="5723" actId="1076"/>
          <ac:picMkLst>
            <pc:docMk/>
            <pc:sldMk cId="2304846322" sldId="792"/>
            <ac:picMk id="4" creationId="{0231C4B6-AE28-A975-F5EB-43D3FA1E2ADA}"/>
          </ac:picMkLst>
        </pc:picChg>
      </pc:sldChg>
      <pc:sldChg chg="modSp mod modNotes modNotesTx">
        <pc:chgData name="Jan Willem van den End (EBO_CMA)" userId="32ade95a-e024-4672-952f-5ed8641a9e00" providerId="ADAL" clId="{3BBBE02E-ACD4-4586-9407-5E79BF620DF1}" dt="2026-10-10T15:07:42.912" v="10466" actId="20577"/>
        <pc:sldMkLst>
          <pc:docMk/>
          <pc:sldMk cId="515665883" sldId="793"/>
        </pc:sldMkLst>
        <pc:spChg chg="mod">
          <ac:chgData name="Jan Willem van den End (EBO_CMA)" userId="32ade95a-e024-4672-952f-5ed8641a9e00" providerId="ADAL" clId="{3BBBE02E-ACD4-4586-9407-5E79BF620DF1}" dt="2026-10-10T11:23:49.385" v="9818"/>
          <ac:spMkLst>
            <pc:docMk/>
            <pc:sldMk cId="515665883" sldId="793"/>
            <ac:spMk id="2" creationId="{6B853D72-57E4-54DF-F916-E87E4C65C99E}"/>
          </ac:spMkLst>
        </pc:spChg>
        <pc:spChg chg="mod">
          <ac:chgData name="Jan Willem van den End (EBO_CMA)" userId="32ade95a-e024-4672-952f-5ed8641a9e00" providerId="ADAL" clId="{3BBBE02E-ACD4-4586-9407-5E79BF620DF1}" dt="2026-10-10T15:07:42.912" v="10466" actId="20577"/>
          <ac:spMkLst>
            <pc:docMk/>
            <pc:sldMk cId="515665883" sldId="793"/>
            <ac:spMk id="9" creationId="{279E6971-F8C1-CE73-F846-F4CD2F9BE489}"/>
          </ac:spMkLst>
        </pc:spChg>
      </pc:sldChg>
      <pc:sldChg chg="delSp modSp mod modNotesTx">
        <pc:chgData name="Jan Willem van den End (EBO_CMA)" userId="32ade95a-e024-4672-952f-5ed8641a9e00" providerId="ADAL" clId="{3BBBE02E-ACD4-4586-9407-5E79BF620DF1}" dt="2026-09-29T19:15:39.472" v="5810" actId="20577"/>
        <pc:sldMkLst>
          <pc:docMk/>
          <pc:sldMk cId="240743824" sldId="794"/>
        </pc:sldMkLst>
        <pc:spChg chg="mod">
          <ac:chgData name="Jan Willem van den End (EBO_CMA)" userId="32ade95a-e024-4672-952f-5ed8641a9e00" providerId="ADAL" clId="{3BBBE02E-ACD4-4586-9407-5E79BF620DF1}" dt="2026-09-29T19:15:39.472" v="5810" actId="20577"/>
          <ac:spMkLst>
            <pc:docMk/>
            <pc:sldMk cId="240743824" sldId="794"/>
            <ac:spMk id="8" creationId="{0677632A-56D3-3DDB-C434-EB0FC24E2732}"/>
          </ac:spMkLst>
        </pc:spChg>
        <pc:spChg chg="mod">
          <ac:chgData name="Jan Willem van den End (EBO_CMA)" userId="32ade95a-e024-4672-952f-5ed8641a9e00" providerId="ADAL" clId="{3BBBE02E-ACD4-4586-9407-5E79BF620DF1}" dt="2026-09-25T09:33:54.734" v="4688" actId="20577"/>
          <ac:spMkLst>
            <pc:docMk/>
            <pc:sldMk cId="240743824" sldId="794"/>
            <ac:spMk id="11" creationId="{D6974398-2614-1310-0782-A3E80B13A2FD}"/>
          </ac:spMkLst>
        </pc:spChg>
        <pc:picChg chg="mod">
          <ac:chgData name="Jan Willem van den End (EBO_CMA)" userId="32ade95a-e024-4672-952f-5ed8641a9e00" providerId="ADAL" clId="{3BBBE02E-ACD4-4586-9407-5E79BF620DF1}" dt="2026-09-20T19:31:44.104" v="2061" actId="1076"/>
          <ac:picMkLst>
            <pc:docMk/>
            <pc:sldMk cId="240743824" sldId="794"/>
            <ac:picMk id="4" creationId="{D752BB6B-84D3-1A02-4BE3-8EAA21B12319}"/>
          </ac:picMkLst>
        </pc:picChg>
        <pc:picChg chg="mod">
          <ac:chgData name="Jan Willem van den End (EBO_CMA)" userId="32ade95a-e024-4672-952f-5ed8641a9e00" providerId="ADAL" clId="{3BBBE02E-ACD4-4586-9407-5E79BF620DF1}" dt="2026-09-23T10:16:30.622" v="3973" actId="1076"/>
          <ac:picMkLst>
            <pc:docMk/>
            <pc:sldMk cId="240743824" sldId="794"/>
            <ac:picMk id="5" creationId="{7596D83C-A172-D741-78FB-EBEC12FF1632}"/>
          </ac:picMkLst>
        </pc:picChg>
      </pc:sldChg>
      <pc:sldChg chg="modSp mod">
        <pc:chgData name="Jan Willem van den End (EBO_CMA)" userId="32ade95a-e024-4672-952f-5ed8641a9e00" providerId="ADAL" clId="{3BBBE02E-ACD4-4586-9407-5E79BF620DF1}" dt="2026-10-10T09:53:52.912" v="9780" actId="20577"/>
        <pc:sldMkLst>
          <pc:docMk/>
          <pc:sldMk cId="165802264" sldId="795"/>
        </pc:sldMkLst>
        <pc:spChg chg="mod">
          <ac:chgData name="Jan Willem van den End (EBO_CMA)" userId="32ade95a-e024-4672-952f-5ed8641a9e00" providerId="ADAL" clId="{3BBBE02E-ACD4-4586-9407-5E79BF620DF1}" dt="2026-10-10T09:53:52.912" v="9780" actId="20577"/>
          <ac:spMkLst>
            <pc:docMk/>
            <pc:sldMk cId="165802264" sldId="795"/>
            <ac:spMk id="2" creationId="{7415D86D-5542-3552-758F-1923FC3E3C99}"/>
          </ac:spMkLst>
        </pc:spChg>
      </pc:sldChg>
      <pc:sldChg chg="addSp delSp modSp mod">
        <pc:chgData name="Jan Willem van den End (EBO_CMA)" userId="32ade95a-e024-4672-952f-5ed8641a9e00" providerId="ADAL" clId="{3BBBE02E-ACD4-4586-9407-5E79BF620DF1}" dt="2026-10-10T08:37:15.146" v="9089" actId="1036"/>
        <pc:sldMkLst>
          <pc:docMk/>
          <pc:sldMk cId="909146083" sldId="796"/>
        </pc:sldMkLst>
        <pc:spChg chg="mod">
          <ac:chgData name="Jan Willem van den End (EBO_CMA)" userId="32ade95a-e024-4672-952f-5ed8641a9e00" providerId="ADAL" clId="{3BBBE02E-ACD4-4586-9407-5E79BF620DF1}" dt="2026-09-23T09:40:37.381" v="3725" actId="1076"/>
          <ac:spMkLst>
            <pc:docMk/>
            <pc:sldMk cId="909146083" sldId="796"/>
            <ac:spMk id="2" creationId="{9D7DFCD1-CA74-2C76-7A49-94B41E557F74}"/>
          </ac:spMkLst>
        </pc:spChg>
        <pc:spChg chg="add mod">
          <ac:chgData name="Jan Willem van den End (EBO_CMA)" userId="32ade95a-e024-4672-952f-5ed8641a9e00" providerId="ADAL" clId="{3BBBE02E-ACD4-4586-9407-5E79BF620DF1}" dt="2026-10-10T08:35:18.609" v="9075" actId="20577"/>
          <ac:spMkLst>
            <pc:docMk/>
            <pc:sldMk cId="909146083" sldId="796"/>
            <ac:spMk id="6" creationId="{4ED6076C-5ED2-F560-9ECC-68A359BFC0CA}"/>
          </ac:spMkLst>
        </pc:spChg>
        <pc:spChg chg="mod">
          <ac:chgData name="Jan Willem van den End (EBO_CMA)" userId="32ade95a-e024-4672-952f-5ed8641a9e00" providerId="ADAL" clId="{3BBBE02E-ACD4-4586-9407-5E79BF620DF1}" dt="2026-10-10T08:34:09.979" v="9069" actId="20577"/>
          <ac:spMkLst>
            <pc:docMk/>
            <pc:sldMk cId="909146083" sldId="796"/>
            <ac:spMk id="9" creationId="{784B30AC-5ECB-6948-E309-0039374246EA}"/>
          </ac:spMkLst>
        </pc:spChg>
        <pc:picChg chg="del mod">
          <ac:chgData name="Jan Willem van den End (EBO_CMA)" userId="32ade95a-e024-4672-952f-5ed8641a9e00" providerId="ADAL" clId="{3BBBE02E-ACD4-4586-9407-5E79BF620DF1}" dt="2026-10-10T08:31:52.584" v="8972" actId="478"/>
          <ac:picMkLst>
            <pc:docMk/>
            <pc:sldMk cId="909146083" sldId="796"/>
            <ac:picMk id="3" creationId="{55B13636-9215-8A37-3974-917B9B355D12}"/>
          </ac:picMkLst>
        </pc:picChg>
        <pc:picChg chg="mod">
          <ac:chgData name="Jan Willem van den End (EBO_CMA)" userId="32ade95a-e024-4672-952f-5ed8641a9e00" providerId="ADAL" clId="{3BBBE02E-ACD4-4586-9407-5E79BF620DF1}" dt="2026-10-10T08:37:15.146" v="9089" actId="1036"/>
          <ac:picMkLst>
            <pc:docMk/>
            <pc:sldMk cId="909146083" sldId="796"/>
            <ac:picMk id="4" creationId="{CC406C6F-97A4-2854-9FCD-FD08F187902C}"/>
          </ac:picMkLst>
        </pc:picChg>
        <pc:picChg chg="mod">
          <ac:chgData name="Jan Willem van den End (EBO_CMA)" userId="32ade95a-e024-4672-952f-5ed8641a9e00" providerId="ADAL" clId="{3BBBE02E-ACD4-4586-9407-5E79BF620DF1}" dt="2026-10-10T08:37:15.146" v="9089" actId="1036"/>
          <ac:picMkLst>
            <pc:docMk/>
            <pc:sldMk cId="909146083" sldId="796"/>
            <ac:picMk id="5" creationId="{E062AC67-D726-4D45-300A-EB28E70BA46D}"/>
          </ac:picMkLst>
        </pc:picChg>
      </pc:sldChg>
      <pc:sldChg chg="modSp add mod modNotesTx">
        <pc:chgData name="Jan Willem van den End (EBO_CMA)" userId="32ade95a-e024-4672-952f-5ed8641a9e00" providerId="ADAL" clId="{3BBBE02E-ACD4-4586-9407-5E79BF620DF1}" dt="2026-10-10T08:37:42.051" v="9131" actId="6549"/>
        <pc:sldMkLst>
          <pc:docMk/>
          <pc:sldMk cId="341592472" sldId="797"/>
        </pc:sldMkLst>
        <pc:spChg chg="mod">
          <ac:chgData name="Jan Willem van den End (EBO_CMA)" userId="32ade95a-e024-4672-952f-5ed8641a9e00" providerId="ADAL" clId="{3BBBE02E-ACD4-4586-9407-5E79BF620DF1}" dt="2026-10-10T08:37:42.051" v="9131" actId="6549"/>
          <ac:spMkLst>
            <pc:docMk/>
            <pc:sldMk cId="341592472" sldId="797"/>
            <ac:spMk id="2" creationId="{69505807-7DB6-66DD-D0C3-991E02849C08}"/>
          </ac:spMkLst>
        </pc:spChg>
        <pc:spChg chg="mod">
          <ac:chgData name="Jan Willem van den End (EBO_CMA)" userId="32ade95a-e024-4672-952f-5ed8641a9e00" providerId="ADAL" clId="{3BBBE02E-ACD4-4586-9407-5E79BF620DF1}" dt="2026-09-23T09:32:59.846" v="3495" actId="6549"/>
          <ac:spMkLst>
            <pc:docMk/>
            <pc:sldMk cId="341592472" sldId="797"/>
            <ac:spMk id="9" creationId="{03204D0B-CF7E-0BFC-4F0F-962010862E03}"/>
          </ac:spMkLst>
        </pc:spChg>
      </pc:sldChg>
      <pc:sldChg chg="modSp add mod modNotesTx">
        <pc:chgData name="Jan Willem van den End (EBO_CMA)" userId="32ade95a-e024-4672-952f-5ed8641a9e00" providerId="ADAL" clId="{3BBBE02E-ACD4-4586-9407-5E79BF620DF1}" dt="2026-10-10T15:12:41.481" v="10488" actId="6549"/>
        <pc:sldMkLst>
          <pc:docMk/>
          <pc:sldMk cId="3745319895" sldId="798"/>
        </pc:sldMkLst>
        <pc:spChg chg="mod">
          <ac:chgData name="Jan Willem van den End (EBO_CMA)" userId="32ade95a-e024-4672-952f-5ed8641a9e00" providerId="ADAL" clId="{3BBBE02E-ACD4-4586-9407-5E79BF620DF1}" dt="2026-10-10T15:12:41.481" v="10488" actId="6549"/>
          <ac:spMkLst>
            <pc:docMk/>
            <pc:sldMk cId="3745319895" sldId="798"/>
            <ac:spMk id="2" creationId="{4E2FFC46-D6F5-41BF-DECB-9FA98C0F56DD}"/>
          </ac:spMkLst>
        </pc:spChg>
        <pc:spChg chg="mod">
          <ac:chgData name="Jan Willem van den End (EBO_CMA)" userId="32ade95a-e024-4672-952f-5ed8641a9e00" providerId="ADAL" clId="{3BBBE02E-ACD4-4586-9407-5E79BF620DF1}" dt="2026-10-10T13:04:02.055" v="10289" actId="20577"/>
          <ac:spMkLst>
            <pc:docMk/>
            <pc:sldMk cId="3745319895" sldId="798"/>
            <ac:spMk id="9" creationId="{B1A8A21F-73A6-21A9-7607-658345AEC559}"/>
          </ac:spMkLst>
        </pc:spChg>
      </pc:sldChg>
      <pc:sldChg chg="delSp modSp add mod">
        <pc:chgData name="Jan Willem van den End (EBO_CMA)" userId="32ade95a-e024-4672-952f-5ed8641a9e00" providerId="ADAL" clId="{3BBBE02E-ACD4-4586-9407-5E79BF620DF1}" dt="2026-10-10T09:53:09.812" v="9754" actId="20577"/>
        <pc:sldMkLst>
          <pc:docMk/>
          <pc:sldMk cId="2790278619" sldId="799"/>
        </pc:sldMkLst>
        <pc:spChg chg="mod">
          <ac:chgData name="Jan Willem van den End (EBO_CMA)" userId="32ade95a-e024-4672-952f-5ed8641a9e00" providerId="ADAL" clId="{3BBBE02E-ACD4-4586-9407-5E79BF620DF1}" dt="2026-10-10T09:53:09.812" v="9754" actId="20577"/>
          <ac:spMkLst>
            <pc:docMk/>
            <pc:sldMk cId="2790278619" sldId="799"/>
            <ac:spMk id="9" creationId="{E303A361-90E1-35B2-AE64-2B40EE87BE60}"/>
          </ac:spMkLst>
        </pc:spChg>
        <pc:picChg chg="mod">
          <ac:chgData name="Jan Willem van den End (EBO_CMA)" userId="32ade95a-e024-4672-952f-5ed8641a9e00" providerId="ADAL" clId="{3BBBE02E-ACD4-4586-9407-5E79BF620DF1}" dt="2026-10-10T09:51:28.557" v="9718" actId="1035"/>
          <ac:picMkLst>
            <pc:docMk/>
            <pc:sldMk cId="2790278619" sldId="799"/>
            <ac:picMk id="3" creationId="{BA1AEE6B-C3CF-FAEB-FF58-BBA90707E8D1}"/>
          </ac:picMkLst>
        </pc:picChg>
        <pc:picChg chg="del">
          <ac:chgData name="Jan Willem van den End (EBO_CMA)" userId="32ade95a-e024-4672-952f-5ed8641a9e00" providerId="ADAL" clId="{3BBBE02E-ACD4-4586-9407-5E79BF620DF1}" dt="2026-10-10T08:56:53.227" v="9243" actId="478"/>
          <ac:picMkLst>
            <pc:docMk/>
            <pc:sldMk cId="2790278619" sldId="799"/>
            <ac:picMk id="4" creationId="{38FE1EB0-0B67-BA03-98DA-03667A2455DC}"/>
          </ac:picMkLst>
        </pc:picChg>
        <pc:picChg chg="mod">
          <ac:chgData name="Jan Willem van den End (EBO_CMA)" userId="32ade95a-e024-4672-952f-5ed8641a9e00" providerId="ADAL" clId="{3BBBE02E-ACD4-4586-9407-5E79BF620DF1}" dt="2026-10-10T09:51:18.722" v="9717" actId="1076"/>
          <ac:picMkLst>
            <pc:docMk/>
            <pc:sldMk cId="2790278619" sldId="799"/>
            <ac:picMk id="5" creationId="{1934FC63-0880-B9C7-3990-4C41059B0EE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9575" cy="4968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sz="quarter" idx="1"/>
          </p:nvPr>
        </p:nvSpPr>
        <p:spPr>
          <a:xfrm>
            <a:off x="3854450" y="0"/>
            <a:ext cx="2949575" cy="496888"/>
          </a:xfrm>
          <a:prstGeom prst="rect">
            <a:avLst/>
          </a:prstGeom>
        </p:spPr>
        <p:txBody>
          <a:bodyPr vert="horz" lIns="91440" tIns="45720" rIns="91440" bIns="45720" rtlCol="0"/>
          <a:lstStyle>
            <a:lvl1pPr algn="r">
              <a:defRPr sz="1200"/>
            </a:lvl1pPr>
          </a:lstStyle>
          <a:p>
            <a:fld id="{C26BBE9F-2231-4498-A3E5-DFB02EDDD594}" type="datetimeFigureOut">
              <a:rPr lang="nl-NL" smtClean="0"/>
              <a:t>10-10-2026</a:t>
            </a:fld>
            <a:endParaRPr lang="nl-NL"/>
          </a:p>
        </p:txBody>
      </p:sp>
      <p:sp>
        <p:nvSpPr>
          <p:cNvPr id="4" name="Tijdelijke aanduiding voor voettekst 3"/>
          <p:cNvSpPr>
            <a:spLocks noGrp="1"/>
          </p:cNvSpPr>
          <p:nvPr>
            <p:ph type="ftr" sz="quarter" idx="2"/>
          </p:nvPr>
        </p:nvSpPr>
        <p:spPr>
          <a:xfrm>
            <a:off x="0" y="9445625"/>
            <a:ext cx="2949575" cy="496888"/>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p:cNvSpPr>
            <a:spLocks noGrp="1"/>
          </p:cNvSpPr>
          <p:nvPr>
            <p:ph type="sldNum" sz="quarter" idx="3"/>
          </p:nvPr>
        </p:nvSpPr>
        <p:spPr>
          <a:xfrm>
            <a:off x="3854450" y="9445625"/>
            <a:ext cx="2949575" cy="496888"/>
          </a:xfrm>
          <a:prstGeom prst="rect">
            <a:avLst/>
          </a:prstGeom>
        </p:spPr>
        <p:txBody>
          <a:bodyPr vert="horz" lIns="91440" tIns="45720" rIns="91440" bIns="45720" rtlCol="0" anchor="b"/>
          <a:lstStyle>
            <a:lvl1pPr algn="r">
              <a:defRPr sz="1200"/>
            </a:lvl1pPr>
          </a:lstStyle>
          <a:p>
            <a:fld id="{956F0578-CC77-4CC6-8BD4-1C24732170C0}" type="slidenum">
              <a:rPr lang="nl-NL" smtClean="0"/>
              <a:t>‹#›</a:t>
            </a:fld>
            <a:endParaRPr lang="nl-NL"/>
          </a:p>
        </p:txBody>
      </p:sp>
    </p:spTree>
    <p:extLst>
      <p:ext uri="{BB962C8B-B14F-4D97-AF65-F5344CB8AC3E}">
        <p14:creationId xmlns:p14="http://schemas.microsoft.com/office/powerpoint/2010/main" val="7621691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9099" cy="498932"/>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54939" y="0"/>
            <a:ext cx="2949099" cy="498932"/>
          </a:xfrm>
          <a:prstGeom prst="rect">
            <a:avLst/>
          </a:prstGeom>
        </p:spPr>
        <p:txBody>
          <a:bodyPr vert="horz" lIns="91440" tIns="45720" rIns="91440" bIns="45720" rtlCol="0"/>
          <a:lstStyle>
            <a:lvl1pPr algn="r">
              <a:defRPr sz="1200"/>
            </a:lvl1pPr>
          </a:lstStyle>
          <a:p>
            <a:fld id="{900D5B51-A3C5-4FC7-8A0D-54EFEFAFACD3}" type="datetimeFigureOut">
              <a:rPr lang="nl-NL" smtClean="0"/>
              <a:t>10-10-2026</a:t>
            </a:fld>
            <a:endParaRPr lang="nl-NL"/>
          </a:p>
        </p:txBody>
      </p:sp>
      <p:sp>
        <p:nvSpPr>
          <p:cNvPr id="4" name="Tijdelijke aanduiding voor dia-afbeelding 3"/>
          <p:cNvSpPr>
            <a:spLocks noGrp="1" noRot="1" noChangeAspect="1"/>
          </p:cNvSpPr>
          <p:nvPr>
            <p:ph type="sldImg" idx="2"/>
          </p:nvPr>
        </p:nvSpPr>
        <p:spPr>
          <a:xfrm>
            <a:off x="1166813" y="1243013"/>
            <a:ext cx="4471987" cy="3355975"/>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0562" y="4785598"/>
            <a:ext cx="5444490" cy="3915489"/>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9445170"/>
            <a:ext cx="2949099" cy="498931"/>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54939" y="9445170"/>
            <a:ext cx="2949099" cy="498931"/>
          </a:xfrm>
          <a:prstGeom prst="rect">
            <a:avLst/>
          </a:prstGeom>
        </p:spPr>
        <p:txBody>
          <a:bodyPr vert="horz" lIns="91440" tIns="45720" rIns="91440" bIns="45720" rtlCol="0" anchor="b"/>
          <a:lstStyle>
            <a:lvl1pPr algn="r">
              <a:defRPr sz="1200"/>
            </a:lvl1pPr>
          </a:lstStyle>
          <a:p>
            <a:fld id="{F9513F78-5509-4637-B397-C3DEABA56153}" type="slidenum">
              <a:rPr lang="nl-NL" smtClean="0"/>
              <a:t>‹#›</a:t>
            </a:fld>
            <a:endParaRPr lang="nl-NL"/>
          </a:p>
        </p:txBody>
      </p:sp>
    </p:spTree>
    <p:extLst>
      <p:ext uri="{BB962C8B-B14F-4D97-AF65-F5344CB8AC3E}">
        <p14:creationId xmlns:p14="http://schemas.microsoft.com/office/powerpoint/2010/main" val="413885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en-US"/>
          </a:p>
        </p:txBody>
      </p:sp>
      <p:sp>
        <p:nvSpPr>
          <p:cNvPr id="3" name="Tijdelijke aanduiding voor notities 2"/>
          <p:cNvSpPr>
            <a:spLocks noGrp="1"/>
          </p:cNvSpPr>
          <p:nvPr>
            <p:ph type="body" idx="1"/>
          </p:nvPr>
        </p:nvSpPr>
        <p:spPr/>
        <p:txBody>
          <a:bodyPr/>
          <a:lstStyle/>
          <a:p>
            <a:r>
              <a:rPr lang="nl-NL" dirty="0"/>
              <a:t>Commentaar</a:t>
            </a:r>
            <a:r>
              <a:rPr lang="nl-NL"/>
              <a:t>: Berben, Bun, Mink</a:t>
            </a:r>
          </a:p>
        </p:txBody>
      </p:sp>
      <p:sp>
        <p:nvSpPr>
          <p:cNvPr id="4" name="Tijdelijke aanduiding voor dianummer 3"/>
          <p:cNvSpPr>
            <a:spLocks noGrp="1"/>
          </p:cNvSpPr>
          <p:nvPr>
            <p:ph type="sldNum" sz="quarter" idx="5"/>
          </p:nvPr>
        </p:nvSpPr>
        <p:spPr/>
        <p:txBody>
          <a:bodyPr/>
          <a:lstStyle/>
          <a:p>
            <a:fld id="{F9513F78-5509-4637-B397-C3DEABA56153}" type="slidenum">
              <a:rPr lang="nl-NL" smtClean="0"/>
              <a:t>1</a:t>
            </a:fld>
            <a:endParaRPr lang="nl-NL"/>
          </a:p>
        </p:txBody>
      </p:sp>
    </p:spTree>
    <p:extLst>
      <p:ext uri="{BB962C8B-B14F-4D97-AF65-F5344CB8AC3E}">
        <p14:creationId xmlns:p14="http://schemas.microsoft.com/office/powerpoint/2010/main" val="29554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en-US"/>
          </a:p>
        </p:txBody>
      </p:sp>
      <p:sp>
        <p:nvSpPr>
          <p:cNvPr id="3" name="Tijdelijke aanduiding voor notities 2"/>
          <p:cNvSpPr>
            <a:spLocks noGrp="1"/>
          </p:cNvSpPr>
          <p:nvPr>
            <p:ph type="body" idx="1"/>
          </p:nvPr>
        </p:nvSpPr>
        <p:spPr/>
        <p:txBody>
          <a:bodyPr/>
          <a:lstStyle/>
          <a:p>
            <a:pPr marL="0" indent="0">
              <a:buFontTx/>
              <a:buNone/>
            </a:pPr>
            <a:endParaRPr lang="nl-NL" i="0" baseline="0"/>
          </a:p>
        </p:txBody>
      </p:sp>
      <p:sp>
        <p:nvSpPr>
          <p:cNvPr id="4" name="Tijdelijke aanduiding voor dianummer 3"/>
          <p:cNvSpPr>
            <a:spLocks noGrp="1"/>
          </p:cNvSpPr>
          <p:nvPr>
            <p:ph type="sldNum" sz="quarter" idx="10"/>
          </p:nvPr>
        </p:nvSpPr>
        <p:spPr/>
        <p:txBody>
          <a:bodyPr/>
          <a:lstStyle/>
          <a:p>
            <a:fld id="{F9513F78-5509-4637-B397-C3DEABA56153}" type="slidenum">
              <a:rPr lang="nl-NL" smtClean="0">
                <a:solidFill>
                  <a:prstClr val="black"/>
                </a:solidFill>
              </a:rPr>
              <a:pPr/>
              <a:t>2</a:t>
            </a:fld>
            <a:endParaRPr lang="nl-NL">
              <a:solidFill>
                <a:prstClr val="black"/>
              </a:solidFill>
            </a:endParaRPr>
          </a:p>
        </p:txBody>
      </p:sp>
    </p:spTree>
    <p:extLst>
      <p:ext uri="{BB962C8B-B14F-4D97-AF65-F5344CB8AC3E}">
        <p14:creationId xmlns:p14="http://schemas.microsoft.com/office/powerpoint/2010/main" val="1848293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6A921-151D-0DF3-6FAB-E2178B70AC3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8D2CC52-7055-C4F5-9776-623326025D10}"/>
              </a:ext>
            </a:extLst>
          </p:cNvPr>
          <p:cNvSpPr>
            <a:spLocks noGrp="1" noRot="1" noChangeAspect="1"/>
          </p:cNvSpPr>
          <p:nvPr>
            <p:ph type="sldImg"/>
          </p:nvPr>
        </p:nvSpPr>
        <p:spPr/>
        <p:txBody>
          <a:bodyPr/>
          <a:lstStyle/>
          <a:p>
            <a:endParaRPr lang="en-US"/>
          </a:p>
        </p:txBody>
      </p:sp>
      <p:sp>
        <p:nvSpPr>
          <p:cNvPr id="3" name="Tijdelijke aanduiding voor notities 2">
            <a:extLst>
              <a:ext uri="{FF2B5EF4-FFF2-40B4-BE49-F238E27FC236}">
                <a16:creationId xmlns:a16="http://schemas.microsoft.com/office/drawing/2014/main" id="{8349AC74-CDDA-DD36-1991-DAE35EA6E60B}"/>
              </a:ext>
            </a:extLst>
          </p:cNvPr>
          <p:cNvSpPr>
            <a:spLocks noGrp="1"/>
          </p:cNvSpPr>
          <p:nvPr>
            <p:ph type="body" idx="1"/>
          </p:nvPr>
        </p:nvSpPr>
        <p:spPr/>
        <p:txBody>
          <a:bodyPr/>
          <a:lstStyle/>
          <a:p>
            <a:pPr marL="171450" indent="-171450">
              <a:buFontTx/>
              <a:buChar char="-"/>
            </a:pPr>
            <a:endParaRPr lang="nl-NL"/>
          </a:p>
        </p:txBody>
      </p:sp>
      <p:sp>
        <p:nvSpPr>
          <p:cNvPr id="4" name="Tijdelijke aanduiding voor dianummer 3">
            <a:extLst>
              <a:ext uri="{FF2B5EF4-FFF2-40B4-BE49-F238E27FC236}">
                <a16:creationId xmlns:a16="http://schemas.microsoft.com/office/drawing/2014/main" id="{9ACE3154-DBE9-5AA3-E1EA-0FF8C608470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513F78-5509-4637-B397-C3DEABA56153}"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609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en-US"/>
          </a:p>
        </p:txBody>
      </p:sp>
      <p:sp>
        <p:nvSpPr>
          <p:cNvPr id="3" name="Tijdelijke aanduiding voor notities 2"/>
          <p:cNvSpPr>
            <a:spLocks noGrp="1"/>
          </p:cNvSpPr>
          <p:nvPr>
            <p:ph type="body" idx="1"/>
          </p:nvPr>
        </p:nvSpPr>
        <p:spPr/>
        <p:txBody>
          <a:bodyPr/>
          <a:lstStyle/>
          <a:p>
            <a:pPr marL="171450" indent="-171450">
              <a:buFontTx/>
              <a:buChar char="-"/>
            </a:pPr>
            <a:r>
              <a:rPr lang="nl-NL" sz="1400" dirty="0"/>
              <a:t>The variables </a:t>
            </a:r>
            <a:r>
              <a:rPr lang="nl-NL" sz="1400" dirty="0" err="1"/>
              <a:t>for</a:t>
            </a:r>
            <a:r>
              <a:rPr lang="nl-NL" sz="1400" dirty="0"/>
              <a:t> the investment </a:t>
            </a:r>
            <a:r>
              <a:rPr lang="nl-NL" sz="1400" dirty="0" err="1"/>
              <a:t>channel</a:t>
            </a:r>
            <a:r>
              <a:rPr lang="nl-NL" sz="1400" dirty="0"/>
              <a:t> are </a:t>
            </a:r>
            <a:r>
              <a:rPr lang="nl-NL" sz="1400" dirty="0" err="1"/>
              <a:t>proxies</a:t>
            </a:r>
            <a:r>
              <a:rPr lang="nl-NL" sz="1400" dirty="0"/>
              <a:t> </a:t>
            </a:r>
            <a:r>
              <a:rPr lang="nl-NL" sz="1400" dirty="0" err="1"/>
              <a:t>for</a:t>
            </a:r>
            <a:r>
              <a:rPr lang="nl-NL" sz="1400" dirty="0"/>
              <a:t> the </a:t>
            </a:r>
            <a:r>
              <a:rPr lang="nl-NL" sz="1400" dirty="0" err="1"/>
              <a:t>use</a:t>
            </a:r>
            <a:r>
              <a:rPr lang="nl-NL" sz="1400" dirty="0"/>
              <a:t> and the </a:t>
            </a:r>
            <a:r>
              <a:rPr lang="nl-NL" sz="1400" dirty="0" err="1"/>
              <a:t>extent</a:t>
            </a:r>
            <a:r>
              <a:rPr lang="nl-NL" sz="1400" dirty="0"/>
              <a:t> of </a:t>
            </a:r>
            <a:r>
              <a:rPr lang="nl-NL" sz="1400" dirty="0" err="1"/>
              <a:t>which</a:t>
            </a:r>
            <a:r>
              <a:rPr lang="nl-NL" sz="1400" dirty="0"/>
              <a:t> AI/ICT is </a:t>
            </a:r>
            <a:r>
              <a:rPr lang="nl-NL" sz="1400" dirty="0" err="1"/>
              <a:t>applied</a:t>
            </a:r>
            <a:r>
              <a:rPr lang="nl-NL" sz="1400" dirty="0"/>
              <a:t> </a:t>
            </a:r>
            <a:r>
              <a:rPr lang="nl-NL" sz="1400" dirty="0" err="1"/>
              <a:t>by</a:t>
            </a:r>
            <a:r>
              <a:rPr lang="nl-NL" sz="1400" dirty="0"/>
              <a:t> companies. </a:t>
            </a:r>
          </a:p>
        </p:txBody>
      </p:sp>
      <p:sp>
        <p:nvSpPr>
          <p:cNvPr id="4" name="Tijdelijke aanduiding voor dianumm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513F78-5509-4637-B397-C3DEABA56153}"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3659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2F355-1972-2393-BE86-3ED62A5F296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949E41C-3A1B-7506-9467-350925154D7F}"/>
              </a:ext>
            </a:extLst>
          </p:cNvPr>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Tijdelijke aanduiding voor notities 2">
                <a:extLst>
                  <a:ext uri="{FF2B5EF4-FFF2-40B4-BE49-F238E27FC236}">
                    <a16:creationId xmlns:a16="http://schemas.microsoft.com/office/drawing/2014/main" id="{A6DA90D2-1A07-3CDD-DC37-B10D687FEBF4}"/>
                  </a:ext>
                </a:extLst>
              </p:cNvPr>
              <p:cNvSpPr>
                <a:spLocks noGrp="1"/>
              </p:cNvSpPr>
              <p:nvPr>
                <p:ph type="body" idx="1"/>
              </p:nvPr>
            </p:nvSpPr>
            <p:spPr>
              <a:xfrm>
                <a:off x="474921" y="4785598"/>
                <a:ext cx="5897525" cy="48475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By pooling the GDP growth realizations in year t &amp;  t+1 and Spring &amp;  Autumn forecasts, you</a:t>
                </a:r>
                <a:r>
                  <a:rPr lang="en-NL" sz="1400" b="0" i="0" kern="1200" dirty="0">
                    <a:solidFill>
                      <a:schemeClr val="tx1"/>
                    </a:solidFill>
                    <a:effectLst/>
                    <a:latin typeface="+mn-lt"/>
                    <a:ea typeface="+mn-ea"/>
                    <a:cs typeface="+mn-cs"/>
                  </a:rPr>
                  <a:t> increases sample size and treats all forecasts as observations on the same forecasting problem.</a:t>
                </a:r>
                <a:r>
                  <a:rPr lang="en-US" sz="14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However, </a:t>
                </a:r>
                <a:r>
                  <a:rPr lang="en-NL" sz="1400" b="0" i="0" kern="1200" dirty="0">
                    <a:solidFill>
                      <a:schemeClr val="tx1"/>
                    </a:solidFill>
                    <a:effectLst/>
                    <a:latin typeface="+mn-lt"/>
                    <a:ea typeface="+mn-ea"/>
                    <a:cs typeface="+mn-cs"/>
                  </a:rPr>
                  <a:t>surprise</a:t>
                </a:r>
                <a:r>
                  <a:rPr lang="en-US" sz="1400" b="0" i="0" kern="1200" dirty="0">
                    <a:solidFill>
                      <a:schemeClr val="tx1"/>
                    </a:solidFill>
                    <a:effectLst/>
                    <a:latin typeface="+mn-lt"/>
                    <a:ea typeface="+mn-ea"/>
                    <a:cs typeface="+mn-cs"/>
                  </a:rPr>
                  <a:t>s based on </a:t>
                </a:r>
                <a:r>
                  <a:rPr lang="en-NL" sz="1400" b="0" i="0" kern="1200" dirty="0">
                    <a:solidFill>
                      <a:schemeClr val="tx1"/>
                    </a:solidFill>
                    <a:effectLst/>
                    <a:latin typeface="+mn-lt"/>
                    <a:ea typeface="+mn-ea"/>
                    <a:cs typeface="+mn-cs"/>
                  </a:rPr>
                  <a:t>Autumn</a:t>
                </a:r>
                <a:r>
                  <a:rPr lang="en-US" sz="1400" b="0" i="0" kern="1200" dirty="0">
                    <a:solidFill>
                      <a:schemeClr val="tx1"/>
                    </a:solidFill>
                    <a:effectLst/>
                    <a:latin typeface="+mn-lt"/>
                    <a:ea typeface="+mn-ea"/>
                    <a:cs typeface="+mn-cs"/>
                  </a:rPr>
                  <a:t> &amp; Spring</a:t>
                </a:r>
                <a:r>
                  <a:rPr lang="en-US" sz="1400" b="0" i="0" kern="1200" baseline="0" dirty="0">
                    <a:solidFill>
                      <a:schemeClr val="tx1"/>
                    </a:solidFill>
                    <a:effectLst/>
                    <a:latin typeface="+mn-lt"/>
                    <a:ea typeface="+mn-ea"/>
                    <a:cs typeface="+mn-cs"/>
                  </a:rPr>
                  <a:t> </a:t>
                </a:r>
                <a:r>
                  <a:rPr lang="en-NL" sz="1400" b="0" i="0" kern="1200" dirty="0">
                    <a:solidFill>
                      <a:schemeClr val="tx1"/>
                    </a:solidFill>
                    <a:effectLst/>
                    <a:latin typeface="+mn-lt"/>
                    <a:ea typeface="+mn-ea"/>
                    <a:cs typeface="+mn-cs"/>
                  </a:rPr>
                  <a:t>forecast </a:t>
                </a:r>
                <a:r>
                  <a:rPr lang="en-US" sz="1400" b="0" i="0" kern="1200" dirty="0">
                    <a:solidFill>
                      <a:schemeClr val="tx1"/>
                    </a:solidFill>
                    <a:effectLst/>
                    <a:latin typeface="+mn-lt"/>
                    <a:ea typeface="+mn-ea"/>
                    <a:cs typeface="+mn-cs"/>
                  </a:rPr>
                  <a:t>and t </a:t>
                </a:r>
                <a:r>
                  <a:rPr lang="en-US" sz="1400" dirty="0"/>
                  <a:t>&amp; </a:t>
                </a:r>
                <a:r>
                  <a:rPr lang="en-US" sz="1400" b="0" i="0" kern="1200" dirty="0">
                    <a:solidFill>
                      <a:schemeClr val="tx1"/>
                    </a:solidFill>
                    <a:effectLst/>
                    <a:latin typeface="+mn-lt"/>
                    <a:ea typeface="+mn-ea"/>
                    <a:cs typeface="+mn-cs"/>
                  </a:rPr>
                  <a:t> t+1 are </a:t>
                </a:r>
                <a:r>
                  <a:rPr lang="en-NL" sz="1400" b="0" i="0" kern="1200" dirty="0">
                    <a:solidFill>
                      <a:schemeClr val="tx1"/>
                    </a:solidFill>
                    <a:effectLst/>
                    <a:latin typeface="+mn-lt"/>
                    <a:ea typeface="+mn-ea"/>
                    <a:cs typeface="+mn-cs"/>
                  </a:rPr>
                  <a:t>not directly comparable</a:t>
                </a:r>
                <a:r>
                  <a:rPr lang="en-US" sz="1400" b="0" i="0" kern="1200" dirty="0">
                    <a:solidFill>
                      <a:schemeClr val="tx1"/>
                    </a:solidFill>
                    <a:effectLst/>
                    <a:latin typeface="+mn-lt"/>
                    <a:ea typeface="+mn-ea"/>
                    <a:cs typeface="+mn-cs"/>
                  </a:rPr>
                  <a:t>; for instance uncertainty about t+1 forecast is higher than forecast t and similarly for Spring vs Autumn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kern="1200" dirty="0">
                  <a:solidFill>
                    <a:schemeClr val="tx1"/>
                  </a:solidFill>
                  <a:effectLst/>
                  <a:latin typeface="+mn-lt"/>
                  <a:ea typeface="+mn-ea"/>
                  <a:cs typeface="+mn-cs"/>
                </a:endParaRPr>
              </a:p>
              <a:p>
                <a:pPr fontAlgn="t"/>
                <a:r>
                  <a:rPr lang="en-US" sz="1400" b="0" i="0" kern="1200" dirty="0">
                    <a:solidFill>
                      <a:schemeClr val="tx1"/>
                    </a:solidFill>
                    <a:effectLst/>
                    <a:latin typeface="+mn-lt"/>
                    <a:ea typeface="+mn-ea"/>
                    <a:cs typeface="+mn-cs"/>
                  </a:rPr>
                  <a:t>Solution</a:t>
                </a:r>
                <a:r>
                  <a:rPr lang="en-US" sz="1400" dirty="0"/>
                  <a:t> =&gt;</a:t>
                </a:r>
                <a:r>
                  <a:rPr lang="en-US" sz="1400" b="0" i="0" kern="1200" dirty="0">
                    <a:solidFill>
                      <a:schemeClr val="tx1"/>
                    </a:solidFill>
                    <a:effectLst/>
                    <a:latin typeface="+mn-lt"/>
                    <a:ea typeface="+mn-ea"/>
                    <a:cs typeface="+mn-cs"/>
                  </a:rPr>
                  <a:t> </a:t>
                </a:r>
                <a:r>
                  <a:rPr lang="en-NL" sz="1400" b="0" i="0" kern="1200" dirty="0">
                    <a:solidFill>
                      <a:schemeClr val="tx1"/>
                    </a:solidFill>
                    <a:effectLst/>
                    <a:latin typeface="+mn-lt"/>
                    <a:ea typeface="+mn-ea"/>
                    <a:cs typeface="+mn-cs"/>
                  </a:rPr>
                  <a:t>add forecast-vintage controls:</a:t>
                </a:r>
                <a:r>
                  <a:rPr lang="en-US" sz="1400" b="0" i="0" kern="1200" dirty="0">
                    <a:solidFill>
                      <a:schemeClr val="tx1"/>
                    </a:solidFill>
                    <a:effectLst/>
                    <a:latin typeface="+mn-lt"/>
                    <a:ea typeface="+mn-ea"/>
                    <a:cs typeface="+mn-cs"/>
                  </a:rPr>
                  <a:t> Autumn, horizon t+1, Autumn x horizon t+1 (Spring forecasts &amp; forecasts for year t are the omitted reference categories). These terms control for systematic differences between Spring/Autumn forecasts and t/t+1 horizons….. t</a:t>
                </a:r>
                <a:r>
                  <a:rPr lang="en-NL" sz="1400" b="0" i="0" kern="1200" dirty="0">
                    <a:solidFill>
                      <a:schemeClr val="tx1"/>
                    </a:solidFill>
                    <a:effectLst/>
                    <a:latin typeface="+mn-lt"/>
                    <a:ea typeface="+mn-ea"/>
                    <a:cs typeface="+mn-cs"/>
                  </a:rPr>
                  <a:t>his removes systematic differences between forecast types</a:t>
                </a:r>
                <a:r>
                  <a:rPr lang="en-US" sz="1400" b="0" i="0" kern="1200" dirty="0">
                    <a:solidFill>
                      <a:schemeClr val="tx1"/>
                    </a:solidFill>
                    <a:effectLst/>
                    <a:latin typeface="+mn-lt"/>
                    <a:ea typeface="+mn-ea"/>
                    <a:cs typeface="+mn-cs"/>
                  </a:rPr>
                  <a:t> //</a:t>
                </a:r>
                <a:r>
                  <a:rPr lang="en-NL" sz="1400" b="0" i="0" kern="1200" dirty="0">
                    <a:solidFill>
                      <a:schemeClr val="tx1"/>
                    </a:solidFill>
                    <a:effectLst/>
                    <a:latin typeface="+mn-lt"/>
                    <a:ea typeface="+mn-ea"/>
                    <a:cs typeface="+mn-cs"/>
                  </a:rPr>
                  <a:t> </a:t>
                </a:r>
                <a:r>
                  <a:rPr lang="nl-NL" sz="1400" b="0" i="0" kern="1200" dirty="0">
                    <a:solidFill>
                      <a:schemeClr val="tx1"/>
                    </a:solidFill>
                    <a:effectLst/>
                    <a:latin typeface="+mn-lt"/>
                    <a:ea typeface="+mn-ea"/>
                    <a:cs typeface="+mn-cs"/>
                  </a:rPr>
                  <a:t>interactieterm =&gt; </a:t>
                </a:r>
                <a:r>
                  <a:rPr lang="nl-NL" sz="1400" b="0" i="0" kern="1200" dirty="0" err="1">
                    <a:solidFill>
                      <a:schemeClr val="tx1"/>
                    </a:solidFill>
                    <a:effectLst/>
                    <a:latin typeface="+mn-lt"/>
                    <a:ea typeface="+mn-ea"/>
                    <a:cs typeface="+mn-cs"/>
                  </a:rPr>
                  <a:t>Autumn</a:t>
                </a:r>
                <a:r>
                  <a:rPr lang="nl-NL" sz="1400" b="0" i="0" kern="1200" dirty="0">
                    <a:solidFill>
                      <a:schemeClr val="tx1"/>
                    </a:solidFill>
                    <a:effectLst/>
                    <a:latin typeface="+mn-lt"/>
                    <a:ea typeface="+mn-ea"/>
                    <a:cs typeface="+mn-cs"/>
                  </a:rPr>
                  <a:t>-effect is anders  voor t+1 dan voor t  // </a:t>
                </a:r>
                <a:r>
                  <a:rPr lang="en-NL" sz="1400" b="0" i="0" kern="1200" dirty="0">
                    <a:solidFill>
                      <a:schemeClr val="tx1"/>
                    </a:solidFill>
                    <a:effectLst/>
                    <a:latin typeface="+mn-lt"/>
                    <a:ea typeface="+mn-ea"/>
                    <a:cs typeface="+mn-cs"/>
                  </a:rPr>
                  <a:t>holding AI constant</a:t>
                </a:r>
                <a:r>
                  <a:rPr lang="en-US" sz="1400" b="0" i="0" kern="1200" dirty="0">
                    <a:solidFill>
                      <a:schemeClr val="tx1"/>
                    </a:solidFill>
                    <a:effectLst/>
                    <a:latin typeface="+mn-lt"/>
                    <a:ea typeface="+mn-ea"/>
                    <a:cs typeface="+mn-cs"/>
                  </a:rPr>
                  <a:t> (w</a:t>
                </a:r>
                <a:r>
                  <a:rPr lang="en-NL" sz="1400" b="0" i="0" kern="1200" dirty="0" err="1">
                    <a:solidFill>
                      <a:schemeClr val="tx1"/>
                    </a:solidFill>
                    <a:effectLst/>
                    <a:latin typeface="+mn-lt"/>
                    <a:ea typeface="+mn-ea"/>
                    <a:cs typeface="+mn-cs"/>
                  </a:rPr>
                  <a:t>ithout</a:t>
                </a:r>
                <a:r>
                  <a:rPr lang="en-NL" sz="1400" b="0" i="0" kern="1200" dirty="0">
                    <a:solidFill>
                      <a:schemeClr val="tx1"/>
                    </a:solidFill>
                    <a:effectLst/>
                    <a:latin typeface="+mn-lt"/>
                    <a:ea typeface="+mn-ea"/>
                    <a:cs typeface="+mn-cs"/>
                  </a:rPr>
                  <a:t> controls, </a:t>
                </a:r>
                <a:r>
                  <a:rPr lang="en-US" sz="1400" b="0" i="0" kern="1200" dirty="0">
                    <a:solidFill>
                      <a:schemeClr val="tx1"/>
                    </a:solidFill>
                    <a:effectLst/>
                    <a:latin typeface="+mn-lt"/>
                    <a:ea typeface="+mn-ea"/>
                    <a:cs typeface="+mn-cs"/>
                  </a:rPr>
                  <a:t>for instance, the</a:t>
                </a:r>
                <a:r>
                  <a:rPr lang="en-NL" sz="1400" b="0" i="0" kern="1200" dirty="0">
                    <a:solidFill>
                      <a:schemeClr val="tx1"/>
                    </a:solidFill>
                    <a:effectLst/>
                    <a:latin typeface="+mn-lt"/>
                    <a:ea typeface="+mn-ea"/>
                    <a:cs typeface="+mn-cs"/>
                  </a:rPr>
                  <a:t> AI coefficient is </a:t>
                </a:r>
                <a:r>
                  <a:rPr lang="en-US" sz="1400" b="0" i="0" kern="1200" dirty="0">
                    <a:solidFill>
                      <a:schemeClr val="tx1"/>
                    </a:solidFill>
                    <a:effectLst/>
                    <a:latin typeface="+mn-lt"/>
                    <a:ea typeface="+mn-ea"/>
                    <a:cs typeface="+mn-cs"/>
                  </a:rPr>
                  <a:t>also </a:t>
                </a:r>
                <a:r>
                  <a:rPr lang="en-NL" sz="1400" b="0" i="0" kern="1200" dirty="0">
                    <a:solidFill>
                      <a:schemeClr val="tx1"/>
                    </a:solidFill>
                    <a:effectLst/>
                    <a:latin typeface="+mn-lt"/>
                    <a:ea typeface="+mn-ea"/>
                    <a:cs typeface="+mn-cs"/>
                  </a:rPr>
                  <a:t>estimated</a:t>
                </a:r>
                <a:r>
                  <a:rPr lang="en-US" sz="1400" b="0" i="0" kern="1200" dirty="0">
                    <a:solidFill>
                      <a:schemeClr val="tx1"/>
                    </a:solidFill>
                    <a:effectLst/>
                    <a:latin typeface="+mn-lt"/>
                    <a:ea typeface="+mn-ea"/>
                    <a:cs typeface="+mn-cs"/>
                  </a:rPr>
                  <a:t> </a:t>
                </a:r>
                <a:r>
                  <a:rPr lang="en-NL" sz="1400" b="0" i="0" kern="1200" dirty="0">
                    <a:solidFill>
                      <a:schemeClr val="tx1"/>
                    </a:solidFill>
                    <a:effectLst/>
                    <a:latin typeface="+mn-lt"/>
                    <a:ea typeface="+mn-ea"/>
                    <a:cs typeface="+mn-cs"/>
                  </a:rPr>
                  <a:t>from variation in</a:t>
                </a:r>
                <a:r>
                  <a:rPr lang="en-US" sz="1400" b="0" i="0" kern="1200" dirty="0">
                    <a:solidFill>
                      <a:schemeClr val="tx1"/>
                    </a:solidFill>
                    <a:effectLst/>
                    <a:latin typeface="+mn-lt"/>
                    <a:ea typeface="+mn-ea"/>
                    <a:cs typeface="+mn-cs"/>
                  </a:rPr>
                  <a:t> type of forecast)</a:t>
                </a:r>
                <a:endParaRPr lang="en-NL" sz="1400" b="0" i="0" kern="1200" dirty="0">
                  <a:solidFill>
                    <a:schemeClr val="tx1"/>
                  </a:solidFill>
                  <a:effectLst/>
                  <a:latin typeface="+mn-lt"/>
                  <a:ea typeface="+mn-ea"/>
                  <a:cs typeface="+mn-cs"/>
                </a:endParaRPr>
              </a:p>
              <a:p>
                <a:pPr fontAlgn="t"/>
                <a:r>
                  <a:rPr lang="en-NL" sz="1400" dirty="0"/>
                  <a:t>Suppose </a:t>
                </a:r>
                <a:r>
                  <a:rPr lang="en-US" sz="1400" dirty="0"/>
                  <a:t>that t+1 </a:t>
                </a:r>
                <a:r>
                  <a:rPr lang="en-NL" sz="1400" dirty="0"/>
                  <a:t>forecasts have more </a:t>
                </a:r>
                <a:r>
                  <a:rPr lang="en-US" sz="1400" dirty="0"/>
                  <a:t>positive</a:t>
                </a:r>
                <a:r>
                  <a:rPr lang="en-NL" sz="1400" dirty="0"/>
                  <a:t> surprises because they are harder to predict.</a:t>
                </a:r>
                <a:r>
                  <a:rPr lang="en-US" sz="1400" dirty="0"/>
                  <a:t> </a:t>
                </a:r>
                <a:r>
                  <a:rPr lang="en-NL" sz="1400" dirty="0"/>
                  <a:t>Then</a:t>
                </a:r>
                <a:r>
                  <a:rPr lang="en-US" sz="1400" dirty="0"/>
                  <a:t>: </a:t>
                </a:r>
                <a14:m>
                  <m:oMath xmlns:m="http://schemas.openxmlformats.org/officeDocument/2006/math">
                    <m:r>
                      <a:rPr lang="en-US" sz="1400" b="0" i="0" smtClean="0">
                        <a:latin typeface="Cambria Math" panose="02040503050406030204" pitchFamily="18" charset="0"/>
                      </a:rPr>
                      <m:t> </m:t>
                    </m:r>
                    <m:sSub>
                      <m:sSubPr>
                        <m:ctrlPr>
                          <a:rPr lang="en-NL" sz="1400" i="1">
                            <a:latin typeface="Cambria Math" panose="02040503050406030204" pitchFamily="18" charset="0"/>
                          </a:rPr>
                        </m:ctrlPr>
                      </m:sSubPr>
                      <m:e>
                        <m:r>
                          <a:rPr lang="en-NL" sz="1400" i="1">
                            <a:latin typeface="Cambria Math" panose="02040503050406030204" pitchFamily="18" charset="0"/>
                          </a:rPr>
                          <m:t>𝛾</m:t>
                        </m:r>
                      </m:e>
                      <m:sub>
                        <m:r>
                          <a:rPr lang="en-NL" sz="1400">
                            <a:latin typeface="Cambria Math" panose="02040503050406030204" pitchFamily="18" charset="0"/>
                          </a:rPr>
                          <m:t>2</m:t>
                        </m:r>
                      </m:sub>
                    </m:sSub>
                    <m:r>
                      <a:rPr lang="en-NL" sz="1400">
                        <a:latin typeface="Cambria Math" panose="02040503050406030204" pitchFamily="18" charset="0"/>
                      </a:rPr>
                      <m:t>&lt;0</m:t>
                    </m:r>
                  </m:oMath>
                </a14:m>
                <a:r>
                  <a:rPr lang="en-US" sz="1400" dirty="0"/>
                  <a:t>    </a:t>
                </a:r>
                <a:r>
                  <a:rPr lang="en-NL" sz="1400" dirty="0"/>
                  <a:t>will absorb that systematic shift</a:t>
                </a:r>
                <a:r>
                  <a:rPr lang="en-US" sz="1400" dirty="0"/>
                  <a:t>.</a:t>
                </a:r>
              </a:p>
              <a:p>
                <a:pPr fontAlgn="t"/>
                <a:r>
                  <a:rPr lang="en-US" dirty="0"/>
                  <a:t>estimate </a:t>
                </a:r>
                <a:r>
                  <a:rPr lang="en-NL" dirty="0"/>
                  <a:t>how AI dependence </a:t>
                </a:r>
                <a:r>
                  <a:rPr lang="en-US" dirty="0"/>
                  <a:t>IS </a:t>
                </a:r>
                <a:r>
                  <a:rPr lang="en-NL" dirty="0"/>
                  <a:t>associated with probability of </a:t>
                </a:r>
                <a:r>
                  <a:rPr lang="en-US" dirty="0"/>
                  <a:t>positive </a:t>
                </a:r>
                <a:r>
                  <a:rPr lang="en-NL" dirty="0"/>
                  <a:t>GDP growth surprise</a:t>
                </a:r>
                <a:r>
                  <a:rPr lang="en-US" dirty="0"/>
                  <a:t>, </a:t>
                </a:r>
                <a:r>
                  <a:rPr lang="en-NL" dirty="0"/>
                  <a:t>Holding constant whether the forecast is Spring or Autumn and whether it refers to year </a:t>
                </a:r>
                <a14:m>
                  <m:oMath xmlns:m="http://schemas.openxmlformats.org/officeDocument/2006/math">
                    <m:r>
                      <a:rPr lang="en-NL" i="1">
                        <a:latin typeface="Cambria Math" panose="02040503050406030204" pitchFamily="18" charset="0"/>
                      </a:rPr>
                      <m:t>𝑡</m:t>
                    </m:r>
                  </m:oMath>
                </a14:m>
                <a:r>
                  <a:rPr lang="en-NL" dirty="0"/>
                  <a:t>or </a:t>
                </a:r>
                <a14:m>
                  <m:oMath xmlns:m="http://schemas.openxmlformats.org/officeDocument/2006/math">
                    <m:r>
                      <a:rPr lang="en-NL" i="1">
                        <a:latin typeface="Cambria Math" panose="02040503050406030204" pitchFamily="18" charset="0"/>
                      </a:rPr>
                      <m:t>𝑡</m:t>
                    </m:r>
                    <m:r>
                      <a:rPr lang="en-NL">
                        <a:latin typeface="Cambria Math" panose="02040503050406030204" pitchFamily="18" charset="0"/>
                      </a:rPr>
                      <m:t>+</m:t>
                    </m:r>
                    <m:r>
                      <a:rPr lang="en-US" b="0" i="0" smtClean="0">
                        <a:latin typeface="Cambria Math" panose="02040503050406030204" pitchFamily="18" charset="0"/>
                      </a:rPr>
                      <m:t>1</m:t>
                    </m:r>
                  </m:oMath>
                </a14:m>
                <a:endParaRPr lang="en-NL" dirty="0"/>
              </a:p>
              <a:p>
                <a:pPr fontAlgn="t"/>
                <a:endParaRPr lang="en-NL" sz="1200" b="0" i="0" kern="1200" dirty="0">
                  <a:solidFill>
                    <a:schemeClr val="tx1"/>
                  </a:solidFill>
                  <a:effectLst/>
                  <a:latin typeface="+mn-lt"/>
                  <a:ea typeface="+mn-ea"/>
                  <a:cs typeface="+mn-cs"/>
                </a:endParaRPr>
              </a:p>
              <a:p>
                <a:pPr marL="0" indent="0">
                  <a:buFontTx/>
                  <a:buNone/>
                </a:pPr>
                <a:endParaRPr lang="nl-NL" i="0" baseline="0" dirty="0"/>
              </a:p>
            </p:txBody>
          </p:sp>
        </mc:Choice>
        <mc:Fallback xmlns="">
          <p:sp>
            <p:nvSpPr>
              <p:cNvPr id="3" name="Tijdelijke aanduiding voor notities 2">
                <a:extLst>
                  <a:ext uri="{FF2B5EF4-FFF2-40B4-BE49-F238E27FC236}">
                    <a16:creationId xmlns:a16="http://schemas.microsoft.com/office/drawing/2014/main" id="{A6DA90D2-1A07-3CDD-DC37-B10D687FEBF4}"/>
                  </a:ext>
                </a:extLst>
              </p:cNvPr>
              <p:cNvSpPr>
                <a:spLocks noGrp="1"/>
              </p:cNvSpPr>
              <p:nvPr>
                <p:ph type="body" idx="1"/>
              </p:nvPr>
            </p:nvSpPr>
            <p:spPr>
              <a:xfrm>
                <a:off x="474921" y="4785598"/>
                <a:ext cx="5897525" cy="48475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By pooling the GDP growth realizations in year t &amp;  t+1 and Spring &amp;  Autumn forecasts, you</a:t>
                </a:r>
                <a:r>
                  <a:rPr lang="en-NL" sz="1400" b="0" i="0" kern="1200" dirty="0">
                    <a:solidFill>
                      <a:schemeClr val="tx1"/>
                    </a:solidFill>
                    <a:effectLst/>
                    <a:latin typeface="+mn-lt"/>
                    <a:ea typeface="+mn-ea"/>
                    <a:cs typeface="+mn-cs"/>
                  </a:rPr>
                  <a:t> increases sample size and treats all forecasts as observations on the same forecasting problem.</a:t>
                </a:r>
                <a:r>
                  <a:rPr lang="en-US" sz="14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However, </a:t>
                </a:r>
                <a:r>
                  <a:rPr lang="en-NL" sz="1400" b="0" i="0" kern="1200" dirty="0">
                    <a:solidFill>
                      <a:schemeClr val="tx1"/>
                    </a:solidFill>
                    <a:effectLst/>
                    <a:latin typeface="+mn-lt"/>
                    <a:ea typeface="+mn-ea"/>
                    <a:cs typeface="+mn-cs"/>
                  </a:rPr>
                  <a:t>surprise</a:t>
                </a:r>
                <a:r>
                  <a:rPr lang="en-US" sz="1400" b="0" i="0" kern="1200" dirty="0">
                    <a:solidFill>
                      <a:schemeClr val="tx1"/>
                    </a:solidFill>
                    <a:effectLst/>
                    <a:latin typeface="+mn-lt"/>
                    <a:ea typeface="+mn-ea"/>
                    <a:cs typeface="+mn-cs"/>
                  </a:rPr>
                  <a:t>s based on </a:t>
                </a:r>
                <a:r>
                  <a:rPr lang="en-NL" sz="1400" b="0" i="0" kern="1200" dirty="0">
                    <a:solidFill>
                      <a:schemeClr val="tx1"/>
                    </a:solidFill>
                    <a:effectLst/>
                    <a:latin typeface="+mn-lt"/>
                    <a:ea typeface="+mn-ea"/>
                    <a:cs typeface="+mn-cs"/>
                  </a:rPr>
                  <a:t>Autumn</a:t>
                </a:r>
                <a:r>
                  <a:rPr lang="en-US" sz="1400" b="0" i="0" kern="1200" dirty="0">
                    <a:solidFill>
                      <a:schemeClr val="tx1"/>
                    </a:solidFill>
                    <a:effectLst/>
                    <a:latin typeface="+mn-lt"/>
                    <a:ea typeface="+mn-ea"/>
                    <a:cs typeface="+mn-cs"/>
                  </a:rPr>
                  <a:t> &amp; Spring</a:t>
                </a:r>
                <a:r>
                  <a:rPr lang="en-US" sz="1400" b="0" i="0" kern="1200" baseline="0" dirty="0">
                    <a:solidFill>
                      <a:schemeClr val="tx1"/>
                    </a:solidFill>
                    <a:effectLst/>
                    <a:latin typeface="+mn-lt"/>
                    <a:ea typeface="+mn-ea"/>
                    <a:cs typeface="+mn-cs"/>
                  </a:rPr>
                  <a:t> </a:t>
                </a:r>
                <a:r>
                  <a:rPr lang="en-NL" sz="1400" b="0" i="0" kern="1200" dirty="0">
                    <a:solidFill>
                      <a:schemeClr val="tx1"/>
                    </a:solidFill>
                    <a:effectLst/>
                    <a:latin typeface="+mn-lt"/>
                    <a:ea typeface="+mn-ea"/>
                    <a:cs typeface="+mn-cs"/>
                  </a:rPr>
                  <a:t>forecast </a:t>
                </a:r>
                <a:r>
                  <a:rPr lang="en-US" sz="1400" b="0" i="0" kern="1200" dirty="0">
                    <a:solidFill>
                      <a:schemeClr val="tx1"/>
                    </a:solidFill>
                    <a:effectLst/>
                    <a:latin typeface="+mn-lt"/>
                    <a:ea typeface="+mn-ea"/>
                    <a:cs typeface="+mn-cs"/>
                  </a:rPr>
                  <a:t>and t </a:t>
                </a:r>
                <a:r>
                  <a:rPr lang="en-US" sz="1400" dirty="0"/>
                  <a:t>&amp; </a:t>
                </a:r>
                <a:r>
                  <a:rPr lang="en-US" sz="1400" b="0" i="0" kern="1200" dirty="0">
                    <a:solidFill>
                      <a:schemeClr val="tx1"/>
                    </a:solidFill>
                    <a:effectLst/>
                    <a:latin typeface="+mn-lt"/>
                    <a:ea typeface="+mn-ea"/>
                    <a:cs typeface="+mn-cs"/>
                  </a:rPr>
                  <a:t> t+1 are </a:t>
                </a:r>
                <a:r>
                  <a:rPr lang="en-NL" sz="1400" b="0" i="0" kern="1200" dirty="0">
                    <a:solidFill>
                      <a:schemeClr val="tx1"/>
                    </a:solidFill>
                    <a:effectLst/>
                    <a:latin typeface="+mn-lt"/>
                    <a:ea typeface="+mn-ea"/>
                    <a:cs typeface="+mn-cs"/>
                  </a:rPr>
                  <a:t>not directly comparable</a:t>
                </a:r>
                <a:r>
                  <a:rPr lang="en-US" sz="1400" b="0" i="0" kern="1200" dirty="0">
                    <a:solidFill>
                      <a:schemeClr val="tx1"/>
                    </a:solidFill>
                    <a:effectLst/>
                    <a:latin typeface="+mn-lt"/>
                    <a:ea typeface="+mn-ea"/>
                    <a:cs typeface="+mn-cs"/>
                  </a:rPr>
                  <a:t>; for instance uncertainty about t+1 forecast is higher than forecast t and similarly for Spring vs Autumn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kern="1200" dirty="0">
                  <a:solidFill>
                    <a:schemeClr val="tx1"/>
                  </a:solidFill>
                  <a:effectLst/>
                  <a:latin typeface="+mn-lt"/>
                  <a:ea typeface="+mn-ea"/>
                  <a:cs typeface="+mn-cs"/>
                </a:endParaRPr>
              </a:p>
              <a:p>
                <a:pPr fontAlgn="t"/>
                <a:r>
                  <a:rPr lang="en-US" sz="1400" b="0" i="0" kern="1200" dirty="0">
                    <a:solidFill>
                      <a:schemeClr val="tx1"/>
                    </a:solidFill>
                    <a:effectLst/>
                    <a:latin typeface="+mn-lt"/>
                    <a:ea typeface="+mn-ea"/>
                    <a:cs typeface="+mn-cs"/>
                  </a:rPr>
                  <a:t>Solution</a:t>
                </a:r>
                <a:r>
                  <a:rPr lang="en-US" sz="1400" dirty="0"/>
                  <a:t> =&gt;</a:t>
                </a:r>
                <a:r>
                  <a:rPr lang="en-US" sz="1400" b="0" i="0" kern="1200" dirty="0">
                    <a:solidFill>
                      <a:schemeClr val="tx1"/>
                    </a:solidFill>
                    <a:effectLst/>
                    <a:latin typeface="+mn-lt"/>
                    <a:ea typeface="+mn-ea"/>
                    <a:cs typeface="+mn-cs"/>
                  </a:rPr>
                  <a:t> </a:t>
                </a:r>
                <a:r>
                  <a:rPr lang="en-NL" sz="1400" b="0" i="0" kern="1200" dirty="0">
                    <a:solidFill>
                      <a:schemeClr val="tx1"/>
                    </a:solidFill>
                    <a:effectLst/>
                    <a:latin typeface="+mn-lt"/>
                    <a:ea typeface="+mn-ea"/>
                    <a:cs typeface="+mn-cs"/>
                  </a:rPr>
                  <a:t>add forecast-vintage controls:</a:t>
                </a:r>
                <a:r>
                  <a:rPr lang="en-US" sz="1400" b="0" i="0" kern="1200" dirty="0">
                    <a:solidFill>
                      <a:schemeClr val="tx1"/>
                    </a:solidFill>
                    <a:effectLst/>
                    <a:latin typeface="+mn-lt"/>
                    <a:ea typeface="+mn-ea"/>
                    <a:cs typeface="+mn-cs"/>
                  </a:rPr>
                  <a:t> Autumn, horizon t+1, Autumn x horizon t+1 (Spring forecasts &amp; forecasts for year t are the omitted reference categories). These terms control for systematic differences between Spring/Autumn forecasts and t/t+1 horizons….. t</a:t>
                </a:r>
                <a:r>
                  <a:rPr lang="en-NL" sz="1400" b="0" i="0" kern="1200" dirty="0">
                    <a:solidFill>
                      <a:schemeClr val="tx1"/>
                    </a:solidFill>
                    <a:effectLst/>
                    <a:latin typeface="+mn-lt"/>
                    <a:ea typeface="+mn-ea"/>
                    <a:cs typeface="+mn-cs"/>
                  </a:rPr>
                  <a:t>his removes systematic differences between forecast types</a:t>
                </a:r>
                <a:r>
                  <a:rPr lang="en-US" sz="1400" b="0" i="0" kern="1200" dirty="0">
                    <a:solidFill>
                      <a:schemeClr val="tx1"/>
                    </a:solidFill>
                    <a:effectLst/>
                    <a:latin typeface="+mn-lt"/>
                    <a:ea typeface="+mn-ea"/>
                    <a:cs typeface="+mn-cs"/>
                  </a:rPr>
                  <a:t> //</a:t>
                </a:r>
                <a:r>
                  <a:rPr lang="en-NL" sz="1400" b="0" i="0" kern="1200" dirty="0">
                    <a:solidFill>
                      <a:schemeClr val="tx1"/>
                    </a:solidFill>
                    <a:effectLst/>
                    <a:latin typeface="+mn-lt"/>
                    <a:ea typeface="+mn-ea"/>
                    <a:cs typeface="+mn-cs"/>
                  </a:rPr>
                  <a:t> </a:t>
                </a:r>
                <a:r>
                  <a:rPr lang="nl-NL" sz="1400" b="0" i="0" kern="1200" dirty="0">
                    <a:solidFill>
                      <a:schemeClr val="tx1"/>
                    </a:solidFill>
                    <a:effectLst/>
                    <a:latin typeface="+mn-lt"/>
                    <a:ea typeface="+mn-ea"/>
                    <a:cs typeface="+mn-cs"/>
                  </a:rPr>
                  <a:t>interactieterm =&gt; </a:t>
                </a:r>
                <a:r>
                  <a:rPr lang="nl-NL" sz="1400" b="0" i="0" kern="1200" dirty="0" err="1">
                    <a:solidFill>
                      <a:schemeClr val="tx1"/>
                    </a:solidFill>
                    <a:effectLst/>
                    <a:latin typeface="+mn-lt"/>
                    <a:ea typeface="+mn-ea"/>
                    <a:cs typeface="+mn-cs"/>
                  </a:rPr>
                  <a:t>Autumn</a:t>
                </a:r>
                <a:r>
                  <a:rPr lang="nl-NL" sz="1400" b="0" i="0" kern="1200" dirty="0">
                    <a:solidFill>
                      <a:schemeClr val="tx1"/>
                    </a:solidFill>
                    <a:effectLst/>
                    <a:latin typeface="+mn-lt"/>
                    <a:ea typeface="+mn-ea"/>
                    <a:cs typeface="+mn-cs"/>
                  </a:rPr>
                  <a:t>-effect is anders  voor t+1 dan voor t  // </a:t>
                </a:r>
                <a:r>
                  <a:rPr lang="en-NL" sz="1400" b="0" i="0" kern="1200" dirty="0">
                    <a:solidFill>
                      <a:schemeClr val="tx1"/>
                    </a:solidFill>
                    <a:effectLst/>
                    <a:latin typeface="+mn-lt"/>
                    <a:ea typeface="+mn-ea"/>
                    <a:cs typeface="+mn-cs"/>
                  </a:rPr>
                  <a:t>holding AI constant</a:t>
                </a:r>
                <a:r>
                  <a:rPr lang="en-US" sz="1400" b="0" i="0" kern="1200" dirty="0">
                    <a:solidFill>
                      <a:schemeClr val="tx1"/>
                    </a:solidFill>
                    <a:effectLst/>
                    <a:latin typeface="+mn-lt"/>
                    <a:ea typeface="+mn-ea"/>
                    <a:cs typeface="+mn-cs"/>
                  </a:rPr>
                  <a:t> (w</a:t>
                </a:r>
                <a:r>
                  <a:rPr lang="en-NL" sz="1400" b="0" i="0" kern="1200" dirty="0" err="1">
                    <a:solidFill>
                      <a:schemeClr val="tx1"/>
                    </a:solidFill>
                    <a:effectLst/>
                    <a:latin typeface="+mn-lt"/>
                    <a:ea typeface="+mn-ea"/>
                    <a:cs typeface="+mn-cs"/>
                  </a:rPr>
                  <a:t>ithout</a:t>
                </a:r>
                <a:r>
                  <a:rPr lang="en-NL" sz="1400" b="0" i="0" kern="1200" dirty="0">
                    <a:solidFill>
                      <a:schemeClr val="tx1"/>
                    </a:solidFill>
                    <a:effectLst/>
                    <a:latin typeface="+mn-lt"/>
                    <a:ea typeface="+mn-ea"/>
                    <a:cs typeface="+mn-cs"/>
                  </a:rPr>
                  <a:t> controls, </a:t>
                </a:r>
                <a:r>
                  <a:rPr lang="en-US" sz="1400" b="0" i="0" kern="1200" dirty="0">
                    <a:solidFill>
                      <a:schemeClr val="tx1"/>
                    </a:solidFill>
                    <a:effectLst/>
                    <a:latin typeface="+mn-lt"/>
                    <a:ea typeface="+mn-ea"/>
                    <a:cs typeface="+mn-cs"/>
                  </a:rPr>
                  <a:t>for instance, the</a:t>
                </a:r>
                <a:r>
                  <a:rPr lang="en-NL" sz="1400" b="0" i="0" kern="1200" dirty="0">
                    <a:solidFill>
                      <a:schemeClr val="tx1"/>
                    </a:solidFill>
                    <a:effectLst/>
                    <a:latin typeface="+mn-lt"/>
                    <a:ea typeface="+mn-ea"/>
                    <a:cs typeface="+mn-cs"/>
                  </a:rPr>
                  <a:t> AI coefficient is </a:t>
                </a:r>
                <a:r>
                  <a:rPr lang="en-US" sz="1400" b="0" i="0" kern="1200" dirty="0">
                    <a:solidFill>
                      <a:schemeClr val="tx1"/>
                    </a:solidFill>
                    <a:effectLst/>
                    <a:latin typeface="+mn-lt"/>
                    <a:ea typeface="+mn-ea"/>
                    <a:cs typeface="+mn-cs"/>
                  </a:rPr>
                  <a:t>also </a:t>
                </a:r>
                <a:r>
                  <a:rPr lang="en-NL" sz="1400" b="0" i="0" kern="1200" dirty="0">
                    <a:solidFill>
                      <a:schemeClr val="tx1"/>
                    </a:solidFill>
                    <a:effectLst/>
                    <a:latin typeface="+mn-lt"/>
                    <a:ea typeface="+mn-ea"/>
                    <a:cs typeface="+mn-cs"/>
                  </a:rPr>
                  <a:t>estimated</a:t>
                </a:r>
                <a:r>
                  <a:rPr lang="en-US" sz="1400" b="0" i="0" kern="1200" dirty="0">
                    <a:solidFill>
                      <a:schemeClr val="tx1"/>
                    </a:solidFill>
                    <a:effectLst/>
                    <a:latin typeface="+mn-lt"/>
                    <a:ea typeface="+mn-ea"/>
                    <a:cs typeface="+mn-cs"/>
                  </a:rPr>
                  <a:t> </a:t>
                </a:r>
                <a:r>
                  <a:rPr lang="en-NL" sz="1400" b="0" i="0" kern="1200" dirty="0">
                    <a:solidFill>
                      <a:schemeClr val="tx1"/>
                    </a:solidFill>
                    <a:effectLst/>
                    <a:latin typeface="+mn-lt"/>
                    <a:ea typeface="+mn-ea"/>
                    <a:cs typeface="+mn-cs"/>
                  </a:rPr>
                  <a:t>from variation in</a:t>
                </a:r>
                <a:r>
                  <a:rPr lang="en-US" sz="1400" b="0" i="0" kern="1200" dirty="0">
                    <a:solidFill>
                      <a:schemeClr val="tx1"/>
                    </a:solidFill>
                    <a:effectLst/>
                    <a:latin typeface="+mn-lt"/>
                    <a:ea typeface="+mn-ea"/>
                    <a:cs typeface="+mn-cs"/>
                  </a:rPr>
                  <a:t> type of forecast)</a:t>
                </a:r>
                <a:endParaRPr lang="en-NL" sz="1400" b="0" i="0" kern="1200" dirty="0">
                  <a:solidFill>
                    <a:schemeClr val="tx1"/>
                  </a:solidFill>
                  <a:effectLst/>
                  <a:latin typeface="+mn-lt"/>
                  <a:ea typeface="+mn-ea"/>
                  <a:cs typeface="+mn-cs"/>
                </a:endParaRPr>
              </a:p>
              <a:p>
                <a:pPr fontAlgn="t"/>
                <a:r>
                  <a:rPr lang="en-NL" sz="1400" dirty="0"/>
                  <a:t>Suppose </a:t>
                </a:r>
                <a:r>
                  <a:rPr lang="en-US" sz="1400" dirty="0"/>
                  <a:t>that t+1 </a:t>
                </a:r>
                <a:r>
                  <a:rPr lang="en-NL" sz="1400" dirty="0"/>
                  <a:t>forecasts have more </a:t>
                </a:r>
                <a:r>
                  <a:rPr lang="en-US" sz="1400" dirty="0"/>
                  <a:t>positive</a:t>
                </a:r>
                <a:r>
                  <a:rPr lang="en-NL" sz="1400" dirty="0"/>
                  <a:t> surprises because they are harder to predict.</a:t>
                </a:r>
                <a:r>
                  <a:rPr lang="en-US" sz="1400" dirty="0"/>
                  <a:t> </a:t>
                </a:r>
                <a:r>
                  <a:rPr lang="en-NL" sz="1400" dirty="0"/>
                  <a:t>Then</a:t>
                </a:r>
                <a:r>
                  <a:rPr lang="en-US" sz="1400" dirty="0"/>
                  <a:t>: </a:t>
                </a:r>
                <a:r>
                  <a:rPr lang="en-US" sz="1400" b="0" i="0">
                    <a:latin typeface="Cambria Math" panose="02040503050406030204" pitchFamily="18" charset="0"/>
                  </a:rPr>
                  <a:t> </a:t>
                </a:r>
                <a:r>
                  <a:rPr lang="en-NL" sz="1400" i="0">
                    <a:latin typeface="Cambria Math" panose="02040503050406030204" pitchFamily="18" charset="0"/>
                  </a:rPr>
                  <a:t>𝛾_2&lt;0</a:t>
                </a:r>
                <a:r>
                  <a:rPr lang="en-US" sz="1400" dirty="0"/>
                  <a:t>    </a:t>
                </a:r>
                <a:r>
                  <a:rPr lang="en-NL" sz="1400" dirty="0"/>
                  <a:t>will absorb that systematic shift</a:t>
                </a:r>
                <a:r>
                  <a:rPr lang="en-US" sz="1400" dirty="0"/>
                  <a:t>.</a:t>
                </a:r>
              </a:p>
              <a:p>
                <a:pPr fontAlgn="t"/>
                <a:r>
                  <a:rPr lang="en-US" dirty="0"/>
                  <a:t>estimate </a:t>
                </a:r>
                <a:r>
                  <a:rPr lang="en-NL" dirty="0"/>
                  <a:t>how AI dependence </a:t>
                </a:r>
                <a:r>
                  <a:rPr lang="en-US" dirty="0"/>
                  <a:t>IS </a:t>
                </a:r>
                <a:r>
                  <a:rPr lang="en-NL" dirty="0"/>
                  <a:t>associated with probability of </a:t>
                </a:r>
                <a:r>
                  <a:rPr lang="en-US" dirty="0"/>
                  <a:t>positive </a:t>
                </a:r>
                <a:r>
                  <a:rPr lang="en-NL" dirty="0"/>
                  <a:t>GDP growth surprise</a:t>
                </a:r>
                <a:r>
                  <a:rPr lang="en-US" dirty="0"/>
                  <a:t>, </a:t>
                </a:r>
                <a:r>
                  <a:rPr lang="en-NL" dirty="0"/>
                  <a:t>Holding constant whether the forecast is Spring or Autumn and whether it refers to year </a:t>
                </a:r>
                <a:r>
                  <a:rPr lang="en-NL" i="0">
                    <a:latin typeface="Cambria Math" panose="02040503050406030204" pitchFamily="18" charset="0"/>
                  </a:rPr>
                  <a:t>𝑡</a:t>
                </a:r>
                <a:r>
                  <a:rPr lang="en-NL" dirty="0"/>
                  <a:t>or </a:t>
                </a:r>
                <a:r>
                  <a:rPr lang="en-NL" i="0">
                    <a:latin typeface="Cambria Math" panose="02040503050406030204" pitchFamily="18" charset="0"/>
                  </a:rPr>
                  <a:t>𝑡+</a:t>
                </a:r>
                <a:r>
                  <a:rPr lang="en-US" b="0" i="0">
                    <a:latin typeface="Cambria Math" panose="02040503050406030204" pitchFamily="18" charset="0"/>
                  </a:rPr>
                  <a:t>1</a:t>
                </a:r>
                <a:endParaRPr lang="en-NL" dirty="0"/>
              </a:p>
              <a:p>
                <a:pPr fontAlgn="t"/>
                <a:endParaRPr lang="en-NL" sz="1200" b="0" i="0" kern="1200" dirty="0">
                  <a:solidFill>
                    <a:schemeClr val="tx1"/>
                  </a:solidFill>
                  <a:effectLst/>
                  <a:latin typeface="+mn-lt"/>
                  <a:ea typeface="+mn-ea"/>
                  <a:cs typeface="+mn-cs"/>
                </a:endParaRPr>
              </a:p>
              <a:p>
                <a:pPr marL="0" indent="0">
                  <a:buFontTx/>
                  <a:buNone/>
                </a:pPr>
                <a:endParaRPr lang="nl-NL" i="0" baseline="0" dirty="0"/>
              </a:p>
            </p:txBody>
          </p:sp>
        </mc:Fallback>
      </mc:AlternateContent>
      <p:sp>
        <p:nvSpPr>
          <p:cNvPr id="4" name="Tijdelijke aanduiding voor dianummer 3">
            <a:extLst>
              <a:ext uri="{FF2B5EF4-FFF2-40B4-BE49-F238E27FC236}">
                <a16:creationId xmlns:a16="http://schemas.microsoft.com/office/drawing/2014/main" id="{F7E40117-2FC2-AD64-7A69-257DCDF9CD57}"/>
              </a:ext>
            </a:extLst>
          </p:cNvPr>
          <p:cNvSpPr>
            <a:spLocks noGrp="1"/>
          </p:cNvSpPr>
          <p:nvPr>
            <p:ph type="sldNum" sz="quarter" idx="10"/>
          </p:nvPr>
        </p:nvSpPr>
        <p:spPr/>
        <p:txBody>
          <a:bodyPr/>
          <a:lstStyle/>
          <a:p>
            <a:fld id="{F9513F78-5509-4637-B397-C3DEABA56153}" type="slidenum">
              <a:rPr lang="nl-NL" smtClean="0">
                <a:solidFill>
                  <a:prstClr val="black"/>
                </a:solidFill>
              </a:rPr>
              <a:pPr/>
              <a:t>5</a:t>
            </a:fld>
            <a:endParaRPr lang="nl-NL">
              <a:solidFill>
                <a:prstClr val="black"/>
              </a:solidFill>
            </a:endParaRPr>
          </a:p>
        </p:txBody>
      </p:sp>
    </p:spTree>
    <p:extLst>
      <p:ext uri="{BB962C8B-B14F-4D97-AF65-F5344CB8AC3E}">
        <p14:creationId xmlns:p14="http://schemas.microsoft.com/office/powerpoint/2010/main" val="3581444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1EF1A-2BFE-FC73-A652-E93653709EB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8E45FAF-A103-FAAB-7970-46F9F5DD781A}"/>
              </a:ext>
            </a:extLst>
          </p:cNvPr>
          <p:cNvSpPr>
            <a:spLocks noGrp="1" noRot="1" noChangeAspect="1"/>
          </p:cNvSpPr>
          <p:nvPr>
            <p:ph type="sldImg"/>
          </p:nvPr>
        </p:nvSpPr>
        <p:spPr/>
        <p:txBody>
          <a:bodyPr/>
          <a:lstStyle/>
          <a:p>
            <a:endParaRPr lang="en-US"/>
          </a:p>
        </p:txBody>
      </p:sp>
      <p:sp>
        <p:nvSpPr>
          <p:cNvPr id="3" name="Tijdelijke aanduiding voor notities 2">
            <a:extLst>
              <a:ext uri="{FF2B5EF4-FFF2-40B4-BE49-F238E27FC236}">
                <a16:creationId xmlns:a16="http://schemas.microsoft.com/office/drawing/2014/main" id="{0EDCB2AF-C97E-CB13-E1A4-6EFAD0321743}"/>
              </a:ext>
            </a:extLst>
          </p:cNvPr>
          <p:cNvSpPr>
            <a:spLocks noGrp="1"/>
          </p:cNvSpPr>
          <p:nvPr>
            <p:ph type="body" idx="1"/>
          </p:nvPr>
        </p:nvSpPr>
        <p:spPr/>
        <p:txBody>
          <a:bodyPr/>
          <a:lstStyle/>
          <a:p>
            <a:pPr marL="0" indent="0">
              <a:buFontTx/>
              <a:buNone/>
            </a:pPr>
            <a:endParaRPr lang="nl-NL" i="0" baseline="0"/>
          </a:p>
        </p:txBody>
      </p:sp>
      <p:sp>
        <p:nvSpPr>
          <p:cNvPr id="4" name="Tijdelijke aanduiding voor dianummer 3">
            <a:extLst>
              <a:ext uri="{FF2B5EF4-FFF2-40B4-BE49-F238E27FC236}">
                <a16:creationId xmlns:a16="http://schemas.microsoft.com/office/drawing/2014/main" id="{FBB08B61-6468-52E0-E472-F09207F523A7}"/>
              </a:ext>
            </a:extLst>
          </p:cNvPr>
          <p:cNvSpPr>
            <a:spLocks noGrp="1"/>
          </p:cNvSpPr>
          <p:nvPr>
            <p:ph type="sldNum" sz="quarter" idx="10"/>
          </p:nvPr>
        </p:nvSpPr>
        <p:spPr/>
        <p:txBody>
          <a:bodyPr/>
          <a:lstStyle/>
          <a:p>
            <a:fld id="{F9513F78-5509-4637-B397-C3DEABA56153}" type="slidenum">
              <a:rPr lang="nl-NL" smtClean="0">
                <a:solidFill>
                  <a:prstClr val="black"/>
                </a:solidFill>
              </a:rPr>
              <a:pPr/>
              <a:t>6</a:t>
            </a:fld>
            <a:endParaRPr lang="nl-NL">
              <a:solidFill>
                <a:prstClr val="black"/>
              </a:solidFill>
            </a:endParaRPr>
          </a:p>
        </p:txBody>
      </p:sp>
    </p:spTree>
    <p:extLst>
      <p:ext uri="{BB962C8B-B14F-4D97-AF65-F5344CB8AC3E}">
        <p14:creationId xmlns:p14="http://schemas.microsoft.com/office/powerpoint/2010/main" val="1947068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48E58-CB75-905B-068E-CDD7A9D2A0B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87A6651-9D8C-041E-6221-CB4A80DAA58D}"/>
              </a:ext>
            </a:extLst>
          </p:cNvPr>
          <p:cNvSpPr>
            <a:spLocks noGrp="1" noRot="1" noChangeAspect="1"/>
          </p:cNvSpPr>
          <p:nvPr>
            <p:ph type="sldImg"/>
          </p:nvPr>
        </p:nvSpPr>
        <p:spPr/>
        <p:txBody>
          <a:bodyPr/>
          <a:lstStyle/>
          <a:p>
            <a:endParaRPr lang="en-US"/>
          </a:p>
        </p:txBody>
      </p:sp>
      <p:sp>
        <p:nvSpPr>
          <p:cNvPr id="3" name="Tijdelijke aanduiding voor notities 2">
            <a:extLst>
              <a:ext uri="{FF2B5EF4-FFF2-40B4-BE49-F238E27FC236}">
                <a16:creationId xmlns:a16="http://schemas.microsoft.com/office/drawing/2014/main" id="{F634D1AC-E4B8-E07C-05B4-D7A415247C10}"/>
              </a:ext>
            </a:extLst>
          </p:cNvPr>
          <p:cNvSpPr>
            <a:spLocks noGrp="1"/>
          </p:cNvSpPr>
          <p:nvPr>
            <p:ph type="body" idx="1"/>
          </p:nvPr>
        </p:nvSpPr>
        <p:spPr/>
        <p:txBody>
          <a:bodyPr/>
          <a:lstStyle/>
          <a:p>
            <a:pPr marL="0" indent="0">
              <a:buFontTx/>
              <a:buNone/>
            </a:pPr>
            <a:endParaRPr lang="nl-NL" i="0" baseline="0"/>
          </a:p>
        </p:txBody>
      </p:sp>
      <p:sp>
        <p:nvSpPr>
          <p:cNvPr id="4" name="Tijdelijke aanduiding voor dianummer 3">
            <a:extLst>
              <a:ext uri="{FF2B5EF4-FFF2-40B4-BE49-F238E27FC236}">
                <a16:creationId xmlns:a16="http://schemas.microsoft.com/office/drawing/2014/main" id="{3026BB5A-DB7F-2C88-876D-A4F0BE83B448}"/>
              </a:ext>
            </a:extLst>
          </p:cNvPr>
          <p:cNvSpPr>
            <a:spLocks noGrp="1"/>
          </p:cNvSpPr>
          <p:nvPr>
            <p:ph type="sldNum" sz="quarter" idx="10"/>
          </p:nvPr>
        </p:nvSpPr>
        <p:spPr/>
        <p:txBody>
          <a:bodyPr/>
          <a:lstStyle/>
          <a:p>
            <a:fld id="{F9513F78-5509-4637-B397-C3DEABA56153}" type="slidenum">
              <a:rPr lang="nl-NL" smtClean="0">
                <a:solidFill>
                  <a:prstClr val="black"/>
                </a:solidFill>
              </a:rPr>
              <a:pPr/>
              <a:t>7</a:t>
            </a:fld>
            <a:endParaRPr lang="nl-NL">
              <a:solidFill>
                <a:prstClr val="black"/>
              </a:solidFill>
            </a:endParaRPr>
          </a:p>
        </p:txBody>
      </p:sp>
    </p:spTree>
    <p:extLst>
      <p:ext uri="{BB962C8B-B14F-4D97-AF65-F5344CB8AC3E}">
        <p14:creationId xmlns:p14="http://schemas.microsoft.com/office/powerpoint/2010/main" val="3621924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90BC5-06E4-392E-9044-211CD5CF8EC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3A3BA49-0B7A-D781-55F9-636B649C7531}"/>
              </a:ext>
            </a:extLst>
          </p:cNvPr>
          <p:cNvSpPr>
            <a:spLocks noGrp="1" noRot="1" noChangeAspect="1"/>
          </p:cNvSpPr>
          <p:nvPr>
            <p:ph type="sldImg"/>
          </p:nvPr>
        </p:nvSpPr>
        <p:spPr/>
        <p:txBody>
          <a:bodyPr/>
          <a:lstStyle/>
          <a:p>
            <a:endParaRPr lang="en-US"/>
          </a:p>
        </p:txBody>
      </p:sp>
      <mc:AlternateContent xmlns:mc="http://schemas.openxmlformats.org/markup-compatibility/2006">
        <mc:Choice xmlns:a14="http://schemas.microsoft.com/office/drawing/2010/main" Requires="a14">
          <p:sp>
            <p:nvSpPr>
              <p:cNvPr id="3" name="Tijdelijke aanduiding voor notities 2">
                <a:extLst>
                  <a:ext uri="{FF2B5EF4-FFF2-40B4-BE49-F238E27FC236}">
                    <a16:creationId xmlns:a16="http://schemas.microsoft.com/office/drawing/2014/main" id="{8F9248E1-2394-BB6E-ACF7-C8BB520C4467}"/>
                  </a:ext>
                </a:extLst>
              </p:cNvPr>
              <p:cNvSpPr>
                <a:spLocks noGrp="1"/>
              </p:cNvSpPr>
              <p:nvPr>
                <p:ph type="body" idx="1"/>
              </p:nvPr>
            </p:nvSpPr>
            <p:spPr>
              <a:xfrm>
                <a:off x="233917" y="4785598"/>
                <a:ext cx="6223590" cy="3915489"/>
              </a:xfrm>
            </p:spPr>
            <p:txBody>
              <a:bodyPr/>
              <a:lstStyle/>
              <a:p>
                <a:r>
                  <a:rPr lang="en-US" sz="1300" dirty="0"/>
                  <a:t>Dependent variable is the unexpected component of GDP growth, while the explanatory variables describe the composition of GDP (investment or exports as a share of GDP). In doing so, the relationship does not describe an accounting identity. In addition, the ICT variables are recorded with a delay (previous ICT exposures explain later growth surprises).</a:t>
                </a:r>
              </a:p>
              <a:p>
                <a:pPr marL="171450" indent="-171450">
                  <a:buFontTx/>
                  <a:buChar char="-"/>
                </a:pPr>
                <a:endParaRPr lang="en-US" sz="1300" dirty="0"/>
              </a:p>
              <a:p>
                <a:pPr marL="171450" indent="-171450">
                  <a:buFontTx/>
                  <a:buChar char="-"/>
                </a:pPr>
                <a:r>
                  <a:rPr lang="en-US" sz="1300" dirty="0"/>
                  <a:t>Investing in ICT does not yet equal its effective application. It is a proxy, also for a country's exposure to the ICT factor without having to change economic processes.</a:t>
                </a:r>
              </a:p>
              <a:p>
                <a:pPr marL="171450" indent="-171450">
                  <a:buFontTx/>
                  <a:buChar char="-"/>
                </a:pPr>
                <a:r>
                  <a:rPr lang="nl-NL" sz="1300" dirty="0" err="1"/>
                  <a:t>Each</a:t>
                </a:r>
                <a:r>
                  <a:rPr lang="nl-NL" sz="1300" dirty="0"/>
                  <a:t> </a:t>
                </a:r>
                <a:r>
                  <a:rPr lang="nl-NL" sz="1300" dirty="0" err="1"/>
                  <a:t>year</a:t>
                </a:r>
                <a:r>
                  <a:rPr lang="nl-NL" sz="1300" dirty="0"/>
                  <a:t> the </a:t>
                </a:r>
                <a:r>
                  <a:rPr lang="nl-NL" sz="1300" dirty="0" err="1"/>
                  <a:t>median</a:t>
                </a:r>
                <a:r>
                  <a:rPr lang="nl-NL" sz="1300" dirty="0"/>
                  <a:t> </a:t>
                </a:r>
                <a:r>
                  <a:rPr lang="nl-NL" sz="1300" dirty="0" err="1"/>
                  <a:t>threshold</a:t>
                </a:r>
                <a:r>
                  <a:rPr lang="nl-NL" sz="1300" dirty="0"/>
                  <a:t> </a:t>
                </a:r>
                <a:r>
                  <a:rPr lang="nl-NL" sz="1300" dirty="0" err="1"/>
                  <a:t>for</a:t>
                </a:r>
                <a:r>
                  <a:rPr lang="nl-NL" sz="1300" dirty="0"/>
                  <a:t> </a:t>
                </a:r>
                <a:r>
                  <a:rPr lang="nl-NL" sz="1300" dirty="0" err="1"/>
                  <a:t>Above</a:t>
                </a:r>
                <a:r>
                  <a:rPr lang="nl-NL" sz="1300" dirty="0"/>
                  <a:t> </a:t>
                </a:r>
                <a:r>
                  <a:rPr lang="nl-NL" sz="1300" dirty="0" err="1"/>
                  <a:t>vs</a:t>
                </a:r>
                <a:r>
                  <a:rPr lang="nl-NL" sz="1300" dirty="0"/>
                  <a:t> Below changes, </a:t>
                </a:r>
                <a:r>
                  <a:rPr lang="nl-NL" sz="1300" dirty="0" err="1"/>
                  <a:t>so</a:t>
                </a:r>
                <a:r>
                  <a:rPr lang="nl-NL" sz="1300" dirty="0"/>
                  <a:t>: </a:t>
                </a:r>
                <a:r>
                  <a:rPr lang="nl-NL" sz="1300" dirty="0" err="1"/>
                  <a:t>each</a:t>
                </a:r>
                <a:r>
                  <a:rPr lang="nl-NL" sz="1300" dirty="0"/>
                  <a:t> </a:t>
                </a:r>
                <a:r>
                  <a:rPr lang="nl-NL" sz="1300" dirty="0" err="1"/>
                  <a:t>year</a:t>
                </a:r>
                <a:r>
                  <a:rPr lang="nl-NL" sz="1300" dirty="0"/>
                  <a:t> the </a:t>
                </a:r>
                <a:r>
                  <a:rPr lang="nl-NL" sz="1300" dirty="0" err="1"/>
                  <a:t>Above</a:t>
                </a:r>
                <a:r>
                  <a:rPr lang="nl-NL" sz="1300" dirty="0"/>
                  <a:t> and Below </a:t>
                </a:r>
                <a:r>
                  <a:rPr lang="nl-NL" sz="1300" dirty="0" err="1"/>
                  <a:t>groups</a:t>
                </a:r>
                <a:r>
                  <a:rPr lang="nl-NL" sz="1300" dirty="0"/>
                  <a:t> of </a:t>
                </a:r>
                <a:r>
                  <a:rPr lang="nl-NL" sz="1300" dirty="0" err="1"/>
                  <a:t>countries</a:t>
                </a:r>
                <a:r>
                  <a:rPr lang="nl-NL" sz="1300" dirty="0"/>
                  <a:t> </a:t>
                </a:r>
                <a:r>
                  <a:rPr lang="nl-NL" sz="1300" dirty="0" err="1"/>
                  <a:t>differ</a:t>
                </a:r>
                <a:endParaRPr lang="nl-NL" sz="1300" dirty="0"/>
              </a:p>
              <a:p>
                <a:pPr marL="171450" indent="-171450">
                  <a:buFontTx/>
                  <a:buChar char="-"/>
                </a:pPr>
                <a:endParaRPr lang="nl-NL" sz="1300" dirty="0"/>
              </a:p>
              <a:p>
                <a:pPr lvl="0"/>
                <a:r>
                  <a:rPr lang="en-NL" sz="1300" kern="1200" dirty="0">
                    <a:solidFill>
                      <a:schemeClr val="tx1"/>
                    </a:solidFill>
                    <a:effectLst/>
                    <a:ea typeface="+mn-ea"/>
                    <a:cs typeface="+mn-cs"/>
                  </a:rPr>
                  <a:t>The LPM-FE is attractive because</a:t>
                </a:r>
                <a:r>
                  <a:rPr lang="en-US" sz="1300" kern="1200" dirty="0">
                    <a:solidFill>
                      <a:schemeClr val="tx1"/>
                    </a:solidFill>
                    <a:effectLst/>
                    <a:ea typeface="+mn-ea"/>
                    <a:cs typeface="+mn-cs"/>
                  </a:rPr>
                  <a:t> c</a:t>
                </a:r>
                <a:r>
                  <a:rPr lang="en-NL" sz="1300" kern="1200" dirty="0" err="1">
                    <a:solidFill>
                      <a:schemeClr val="tx1"/>
                    </a:solidFill>
                    <a:effectLst/>
                    <a:ea typeface="+mn-ea"/>
                    <a:cs typeface="+mn-cs"/>
                  </a:rPr>
                  <a:t>ountry</a:t>
                </a:r>
                <a:r>
                  <a:rPr lang="en-NL" sz="1300" kern="1200" dirty="0">
                    <a:solidFill>
                      <a:schemeClr val="tx1"/>
                    </a:solidFill>
                    <a:effectLst/>
                    <a:ea typeface="+mn-ea"/>
                    <a:cs typeface="+mn-cs"/>
                  </a:rPr>
                  <a:t> fixed effects can be included without the nonlinear incidental-parameters problem.</a:t>
                </a:r>
                <a:r>
                  <a:rPr lang="en-US" sz="1300" kern="1200" dirty="0">
                    <a:solidFill>
                      <a:schemeClr val="tx1"/>
                    </a:solidFill>
                    <a:effectLst/>
                    <a:ea typeface="+mn-ea"/>
                    <a:cs typeface="+mn-cs"/>
                  </a:rPr>
                  <a:t>/ </a:t>
                </a:r>
                <a:r>
                  <a:rPr lang="en-NL" sz="1300" kern="1200" dirty="0">
                    <a:solidFill>
                      <a:schemeClr val="tx1"/>
                    </a:solidFill>
                    <a:effectLst/>
                    <a:ea typeface="+mn-ea"/>
                    <a:cs typeface="+mn-cs"/>
                  </a:rPr>
                  <a:t>It allows the country effects to be arbitrarily correlated with ICT exposure</a:t>
                </a:r>
                <a:endParaRPr lang="en-US" sz="13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i="0" kern="1200" dirty="0">
                    <a:solidFill>
                      <a:schemeClr val="tx1"/>
                    </a:solidFill>
                    <a:effectLst/>
                    <a:ea typeface="+mn-ea"/>
                    <a:cs typeface="+mn-cs"/>
                  </a:rPr>
                  <a:t>In LPM with FE </a:t>
                </a:r>
                <a:r>
                  <a:rPr lang="en-NL" sz="1300" b="0" i="0" kern="1200" dirty="0">
                    <a:solidFill>
                      <a:schemeClr val="tx1"/>
                    </a:solidFill>
                    <a:effectLst/>
                    <a:ea typeface="+mn-ea"/>
                    <a:cs typeface="+mn-cs"/>
                  </a:rPr>
                  <a:t>the country-specific effect is treated as an unrestricted parameter that is eliminated through the </a:t>
                </a:r>
                <a:r>
                  <a:rPr lang="en-NL" sz="1300" b="0" i="0" u="sng" kern="1200" dirty="0">
                    <a:solidFill>
                      <a:schemeClr val="tx1"/>
                    </a:solidFill>
                    <a:effectLst/>
                    <a:ea typeface="+mn-ea"/>
                    <a:cs typeface="+mn-cs"/>
                  </a:rPr>
                  <a:t>within transformation.</a:t>
                </a:r>
                <a:r>
                  <a:rPr lang="en-NL" sz="1300" b="0" i="0" kern="1200" dirty="0">
                    <a:solidFill>
                      <a:schemeClr val="tx1"/>
                    </a:solidFill>
                    <a:effectLst/>
                    <a:ea typeface="+mn-ea"/>
                    <a:cs typeface="+mn-cs"/>
                  </a:rPr>
                  <a:t> As a result, you do </a:t>
                </a:r>
                <a:r>
                  <a:rPr lang="en-NL" sz="1300" b="1" i="0" kern="1200" dirty="0">
                    <a:solidFill>
                      <a:schemeClr val="tx1"/>
                    </a:solidFill>
                    <a:effectLst/>
                    <a:ea typeface="+mn-ea"/>
                    <a:cs typeface="+mn-cs"/>
                  </a:rPr>
                  <a:t>not</a:t>
                </a:r>
                <a:r>
                  <a:rPr lang="en-NL" sz="1300" b="0" i="0" kern="1200" dirty="0">
                    <a:solidFill>
                      <a:schemeClr val="tx1"/>
                    </a:solidFill>
                    <a:effectLst/>
                    <a:ea typeface="+mn-ea"/>
                    <a:cs typeface="+mn-cs"/>
                  </a:rPr>
                  <a:t> need the assumption that the country effect is uncorrelated with ICT exposure</a:t>
                </a:r>
                <a:r>
                  <a:rPr lang="en-US" sz="1300" b="0" i="0" kern="1200" dirty="0">
                    <a:solidFill>
                      <a:schemeClr val="tx1"/>
                    </a:solidFill>
                    <a:effectLst/>
                    <a:ea typeface="+mn-ea"/>
                    <a:cs typeface="+mn-cs"/>
                  </a:rPr>
                  <a:t> (</a:t>
                </a:r>
                <a:r>
                  <a:rPr lang="en-NL" sz="1300" b="0" i="0" kern="1200" dirty="0">
                    <a:solidFill>
                      <a:schemeClr val="tx1"/>
                    </a:solidFill>
                    <a:effectLst/>
                    <a:ea typeface="+mn-ea"/>
                    <a:cs typeface="+mn-cs"/>
                  </a:rPr>
                  <a:t>In a </a:t>
                </a:r>
                <a:r>
                  <a:rPr lang="en-US" sz="1300" b="0" i="0" kern="1200" dirty="0">
                    <a:solidFill>
                      <a:schemeClr val="tx1"/>
                    </a:solidFill>
                    <a:effectLst/>
                    <a:ea typeface="+mn-ea"/>
                    <a:cs typeface="+mn-cs"/>
                  </a:rPr>
                  <a:t>FE</a:t>
                </a:r>
                <a:r>
                  <a:rPr lang="en-NL" sz="1300" b="0" i="0" kern="1200" dirty="0">
                    <a:solidFill>
                      <a:schemeClr val="tx1"/>
                    </a:solidFill>
                    <a:effectLst/>
                    <a:ea typeface="+mn-ea"/>
                    <a:cs typeface="+mn-cs"/>
                  </a:rPr>
                  <a:t> LPM, </a:t>
                </a:r>
                <a:r>
                  <a:rPr lang="en-US" sz="1300" b="0" i="0" kern="1200" dirty="0">
                    <a:solidFill>
                      <a:schemeClr val="tx1"/>
                    </a:solidFill>
                    <a:effectLst/>
                    <a:ea typeface="+mn-ea"/>
                    <a:cs typeface="+mn-cs"/>
                  </a:rPr>
                  <a:t>you</a:t>
                </a:r>
                <a:r>
                  <a:rPr lang="en-NL" sz="1300" b="0" i="0" kern="1200" dirty="0">
                    <a:solidFill>
                      <a:schemeClr val="tx1"/>
                    </a:solidFill>
                    <a:effectLst/>
                    <a:ea typeface="+mn-ea"/>
                    <a:cs typeface="+mn-cs"/>
                  </a:rPr>
                  <a:t> transform the data by subtracting country means:</a:t>
                </a:r>
                <a:r>
                  <a:rPr lang="en-US" sz="1300" b="0" i="0" kern="1200" dirty="0">
                    <a:solidFill>
                      <a:schemeClr val="tx1"/>
                    </a:solidFill>
                    <a:effectLst/>
                    <a:ea typeface="+mn-ea"/>
                    <a:cs typeface="+mn-cs"/>
                  </a:rPr>
                  <a:t> // </a:t>
                </a:r>
                <a:r>
                  <a:rPr lang="en-NL" sz="1300" b="0" i="0" kern="1200" dirty="0">
                    <a:solidFill>
                      <a:schemeClr val="tx1"/>
                    </a:solidFill>
                    <a:effectLst/>
                    <a:ea typeface="+mn-ea"/>
                    <a:cs typeface="+mn-cs"/>
                  </a:rPr>
                  <a:t>Therefore, estimation uses only </a:t>
                </a:r>
                <a:r>
                  <a:rPr lang="en-NL" sz="1300" b="1" i="0" kern="1200" dirty="0">
                    <a:solidFill>
                      <a:schemeClr val="tx1"/>
                    </a:solidFill>
                    <a:effectLst/>
                    <a:ea typeface="+mn-ea"/>
                    <a:cs typeface="+mn-cs"/>
                  </a:rPr>
                  <a:t>within-country variation over time</a:t>
                </a:r>
                <a:r>
                  <a:rPr lang="en-NL" sz="1300" b="0" i="0" kern="1200" dirty="0">
                    <a:solidFill>
                      <a:schemeClr val="tx1"/>
                    </a:solidFill>
                    <a:effectLst/>
                    <a:ea typeface="+mn-ea"/>
                    <a:cs typeface="+mn-cs"/>
                  </a:rPr>
                  <a:t>. Whether high-ICT countries have systematically larger or smaller </a:t>
                </a:r>
                <a14:m>
                  <m:oMath xmlns:m="http://schemas.openxmlformats.org/officeDocument/2006/math">
                    <m:sSub>
                      <m:sSubPr>
                        <m:ctrlPr>
                          <a:rPr lang="en-NL" sz="1300" i="1" kern="1200">
                            <a:solidFill>
                              <a:schemeClr val="tx1"/>
                            </a:solidFill>
                            <a:ea typeface="+mn-ea"/>
                            <a:cs typeface="+mn-cs"/>
                          </a:rPr>
                        </m:ctrlPr>
                      </m:sSubPr>
                      <m:e>
                        <m:r>
                          <a:rPr lang="en-NL" sz="1300" i="1" kern="1200">
                            <a:solidFill>
                              <a:schemeClr val="tx1"/>
                            </a:solidFill>
                            <a:ea typeface="+mn-ea"/>
                            <a:cs typeface="+mn-cs"/>
                          </a:rPr>
                          <m:t>𝛼</m:t>
                        </m:r>
                      </m:e>
                      <m:sub>
                        <m:r>
                          <a:rPr lang="en-NL" sz="1300" i="1" kern="1200">
                            <a:solidFill>
                              <a:schemeClr val="tx1"/>
                            </a:solidFill>
                            <a:ea typeface="+mn-ea"/>
                            <a:cs typeface="+mn-cs"/>
                          </a:rPr>
                          <m:t>𝑖</m:t>
                        </m:r>
                      </m:sub>
                    </m:sSub>
                  </m:oMath>
                </a14:m>
                <a:r>
                  <a:rPr lang="en-NL" sz="1300" b="0" i="0" kern="1200" dirty="0">
                    <a:solidFill>
                      <a:schemeClr val="tx1"/>
                    </a:solidFill>
                    <a:effectLst/>
                    <a:ea typeface="+mn-ea"/>
                    <a:cs typeface="+mn-cs"/>
                  </a:rPr>
                  <a:t>is irrelevant, because </a:t>
                </a:r>
                <a14:m>
                  <m:oMath xmlns:m="http://schemas.openxmlformats.org/officeDocument/2006/math">
                    <m:sSub>
                      <m:sSubPr>
                        <m:ctrlPr>
                          <a:rPr lang="en-NL" sz="1300" i="1" kern="1200">
                            <a:solidFill>
                              <a:schemeClr val="tx1"/>
                            </a:solidFill>
                            <a:ea typeface="+mn-ea"/>
                            <a:cs typeface="+mn-cs"/>
                          </a:rPr>
                        </m:ctrlPr>
                      </m:sSubPr>
                      <m:e>
                        <m:r>
                          <a:rPr lang="en-NL" sz="1300" i="1" kern="1200">
                            <a:solidFill>
                              <a:schemeClr val="tx1"/>
                            </a:solidFill>
                            <a:ea typeface="+mn-ea"/>
                            <a:cs typeface="+mn-cs"/>
                          </a:rPr>
                          <m:t>𝛼</m:t>
                        </m:r>
                      </m:e>
                      <m:sub>
                        <m:r>
                          <a:rPr lang="en-NL" sz="1300" i="1" kern="1200">
                            <a:solidFill>
                              <a:schemeClr val="tx1"/>
                            </a:solidFill>
                            <a:ea typeface="+mn-ea"/>
                            <a:cs typeface="+mn-cs"/>
                          </a:rPr>
                          <m:t>𝑖</m:t>
                        </m:r>
                      </m:sub>
                    </m:sSub>
                  </m:oMath>
                </a14:m>
                <a:r>
                  <a:rPr lang="en-NL" sz="1300" b="0" i="0" kern="1200" dirty="0">
                    <a:solidFill>
                      <a:schemeClr val="tx1"/>
                    </a:solidFill>
                    <a:effectLst/>
                    <a:ea typeface="+mn-ea"/>
                    <a:cs typeface="+mn-cs"/>
                  </a:rPr>
                  <a:t>has been removed</a:t>
                </a:r>
                <a:r>
                  <a:rPr lang="en-US" sz="1300" b="0" i="0" kern="1200" dirty="0">
                    <a:solidFill>
                      <a:schemeClr val="tx1"/>
                    </a:solidFill>
                    <a:effectLs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NL" sz="1300" b="0" i="0" kern="1200" dirty="0" err="1">
                    <a:solidFill>
                      <a:schemeClr val="tx1"/>
                    </a:solidFill>
                    <a:effectLst/>
                    <a:ea typeface="+mn-ea"/>
                    <a:cs typeface="+mn-cs"/>
                  </a:rPr>
                  <a:t>bij</a:t>
                </a:r>
                <a:r>
                  <a:rPr lang="en-NL" sz="1300" b="0" i="0" kern="1200" dirty="0">
                    <a:solidFill>
                      <a:schemeClr val="tx1"/>
                    </a:solidFill>
                    <a:effectLst/>
                    <a:ea typeface="+mn-ea"/>
                    <a:cs typeface="+mn-cs"/>
                  </a:rPr>
                  <a:t> </a:t>
                </a:r>
                <a:r>
                  <a:rPr lang="en-NL" sz="1300" b="0" i="0" kern="1200" dirty="0" err="1">
                    <a:solidFill>
                      <a:schemeClr val="tx1"/>
                    </a:solidFill>
                    <a:effectLst/>
                    <a:ea typeface="+mn-ea"/>
                    <a:cs typeface="+mn-cs"/>
                  </a:rPr>
                  <a:t>een</a:t>
                </a:r>
                <a:r>
                  <a:rPr lang="en-NL" sz="1300" b="0" i="0" kern="1200" dirty="0">
                    <a:solidFill>
                      <a:schemeClr val="tx1"/>
                    </a:solidFill>
                    <a:effectLst/>
                    <a:ea typeface="+mn-ea"/>
                    <a:cs typeface="+mn-cs"/>
                  </a:rPr>
                  <a:t> </a:t>
                </a:r>
                <a:r>
                  <a:rPr lang="en-NL" sz="1300" b="1" i="0" kern="1200" dirty="0" err="1">
                    <a:solidFill>
                      <a:schemeClr val="tx1"/>
                    </a:solidFill>
                    <a:effectLst/>
                    <a:ea typeface="+mn-ea"/>
                    <a:cs typeface="+mn-cs"/>
                  </a:rPr>
                  <a:t>lineair</a:t>
                </a:r>
                <a:r>
                  <a:rPr lang="en-NL" sz="1300" b="1" i="0" kern="1200" dirty="0">
                    <a:solidFill>
                      <a:schemeClr val="tx1"/>
                    </a:solidFill>
                    <a:effectLst/>
                    <a:ea typeface="+mn-ea"/>
                    <a:cs typeface="+mn-cs"/>
                  </a:rPr>
                  <a:t> model</a:t>
                </a:r>
                <a:r>
                  <a:rPr lang="en-NL" sz="1300" b="0" i="0" kern="1200" dirty="0">
                    <a:solidFill>
                      <a:schemeClr val="tx1"/>
                    </a:solidFill>
                    <a:effectLst/>
                    <a:ea typeface="+mn-ea"/>
                    <a:cs typeface="+mn-cs"/>
                  </a:rPr>
                  <a:t> </a:t>
                </a:r>
                <a:r>
                  <a:rPr lang="en-US" sz="1300" b="0" i="0" kern="1200" dirty="0">
                    <a:solidFill>
                      <a:schemeClr val="tx1"/>
                    </a:solidFill>
                    <a:effectLst/>
                    <a:ea typeface="+mn-ea"/>
                    <a:cs typeface="+mn-cs"/>
                  </a:rPr>
                  <a:t>(LPM) </a:t>
                </a:r>
                <a:r>
                  <a:rPr lang="en-NL" sz="1300" b="0" i="0" kern="1200" dirty="0" err="1">
                    <a:solidFill>
                      <a:schemeClr val="tx1"/>
                    </a:solidFill>
                    <a:effectLst/>
                    <a:ea typeface="+mn-ea"/>
                    <a:cs typeface="+mn-cs"/>
                  </a:rPr>
                  <a:t>werkt</a:t>
                </a:r>
                <a:r>
                  <a:rPr lang="en-NL" sz="1300" b="0" i="0" kern="1200" dirty="0">
                    <a:solidFill>
                      <a:schemeClr val="tx1"/>
                    </a:solidFill>
                    <a:effectLst/>
                    <a:ea typeface="+mn-ea"/>
                    <a:cs typeface="+mn-cs"/>
                  </a:rPr>
                  <a:t> de within-</a:t>
                </a:r>
                <a:r>
                  <a:rPr lang="en-NL" sz="1300" b="0" i="0" kern="1200" dirty="0" err="1">
                    <a:solidFill>
                      <a:schemeClr val="tx1"/>
                    </a:solidFill>
                    <a:effectLst/>
                    <a:ea typeface="+mn-ea"/>
                    <a:cs typeface="+mn-cs"/>
                  </a:rPr>
                  <a:t>transformatie</a:t>
                </a:r>
                <a:r>
                  <a:rPr lang="en-NL" sz="1300" b="0" i="0" kern="1200" dirty="0">
                    <a:solidFill>
                      <a:schemeClr val="tx1"/>
                    </a:solidFill>
                    <a:effectLst/>
                    <a:ea typeface="+mn-ea"/>
                    <a:cs typeface="+mn-cs"/>
                  </a:rPr>
                  <a:t>, maar </a:t>
                </a:r>
                <a:r>
                  <a:rPr lang="en-NL" sz="1300" b="0" i="0" kern="1200" dirty="0" err="1">
                    <a:solidFill>
                      <a:schemeClr val="tx1"/>
                    </a:solidFill>
                    <a:effectLst/>
                    <a:ea typeface="+mn-ea"/>
                    <a:cs typeface="+mn-cs"/>
                  </a:rPr>
                  <a:t>bij</a:t>
                </a:r>
                <a:r>
                  <a:rPr lang="en-NL" sz="1300" b="0" i="0" kern="1200" dirty="0">
                    <a:solidFill>
                      <a:schemeClr val="tx1"/>
                    </a:solidFill>
                    <a:effectLst/>
                    <a:ea typeface="+mn-ea"/>
                    <a:cs typeface="+mn-cs"/>
                  </a:rPr>
                  <a:t> </a:t>
                </a:r>
                <a:r>
                  <a:rPr lang="en-NL" sz="1300" b="0" i="0" kern="1200" dirty="0" err="1">
                    <a:solidFill>
                      <a:schemeClr val="tx1"/>
                    </a:solidFill>
                    <a:effectLst/>
                    <a:ea typeface="+mn-ea"/>
                    <a:cs typeface="+mn-cs"/>
                  </a:rPr>
                  <a:t>een</a:t>
                </a:r>
                <a:r>
                  <a:rPr lang="en-NL" sz="1300" b="0" i="0" kern="1200" dirty="0">
                    <a:solidFill>
                      <a:schemeClr val="tx1"/>
                    </a:solidFill>
                    <a:effectLst/>
                    <a:ea typeface="+mn-ea"/>
                    <a:cs typeface="+mn-cs"/>
                  </a:rPr>
                  <a:t> </a:t>
                </a:r>
                <a:r>
                  <a:rPr lang="en-NL" sz="1300" b="1" i="0" kern="1200" dirty="0">
                    <a:solidFill>
                      <a:schemeClr val="tx1"/>
                    </a:solidFill>
                    <a:effectLst/>
                    <a:ea typeface="+mn-ea"/>
                    <a:cs typeface="+mn-cs"/>
                  </a:rPr>
                  <a:t>probit-model</a:t>
                </a:r>
                <a:r>
                  <a:rPr lang="en-NL" sz="1300" b="0" i="0" kern="1200" dirty="0">
                    <a:solidFill>
                      <a:schemeClr val="tx1"/>
                    </a:solidFill>
                    <a:effectLst/>
                    <a:ea typeface="+mn-ea"/>
                    <a:cs typeface="+mn-cs"/>
                  </a:rPr>
                  <a:t> </a:t>
                </a:r>
                <a:r>
                  <a:rPr lang="en-NL" sz="1300" b="0" i="0" kern="1200" dirty="0" err="1">
                    <a:solidFill>
                      <a:schemeClr val="tx1"/>
                    </a:solidFill>
                    <a:effectLst/>
                    <a:ea typeface="+mn-ea"/>
                    <a:cs typeface="+mn-cs"/>
                  </a:rPr>
                  <a:t>niet</a:t>
                </a:r>
                <a:r>
                  <a:rPr lang="en-US" sz="1300" b="0" i="0" kern="1200" dirty="0">
                    <a:solidFill>
                      <a:schemeClr val="tx1"/>
                    </a:solidFill>
                    <a:effectLst/>
                    <a:ea typeface="+mn-ea"/>
                    <a:cs typeface="+mn-cs"/>
                  </a:rPr>
                  <a:t> (</a:t>
                </a:r>
                <a:r>
                  <a:rPr lang="en-NL" sz="1300" b="0" i="0" kern="1200" dirty="0">
                    <a:solidFill>
                      <a:schemeClr val="tx1"/>
                    </a:solidFill>
                    <a:effectLst/>
                    <a:ea typeface="+mn-ea"/>
                    <a:cs typeface="+mn-cs"/>
                  </a:rPr>
                  <a:t>Door de </a:t>
                </a:r>
                <a:r>
                  <a:rPr lang="en-NL" sz="1300" b="0" i="0" kern="1200" dirty="0" err="1">
                    <a:solidFill>
                      <a:schemeClr val="tx1"/>
                    </a:solidFill>
                    <a:effectLst/>
                    <a:ea typeface="+mn-ea"/>
                    <a:cs typeface="+mn-cs"/>
                  </a:rPr>
                  <a:t>niet-lineariteit</a:t>
                </a:r>
                <a:r>
                  <a:rPr lang="en-NL" sz="1300" b="0" i="0" kern="1200" dirty="0">
                    <a:solidFill>
                      <a:schemeClr val="tx1"/>
                    </a:solidFill>
                    <a:effectLst/>
                    <a:ea typeface="+mn-ea"/>
                    <a:cs typeface="+mn-cs"/>
                  </a:rPr>
                  <a:t> </a:t>
                </a:r>
                <a:r>
                  <a:rPr lang="en-NL" sz="1300" b="0" i="0" kern="1200" dirty="0" err="1">
                    <a:solidFill>
                      <a:schemeClr val="tx1"/>
                    </a:solidFill>
                    <a:effectLst/>
                    <a:ea typeface="+mn-ea"/>
                    <a:cs typeface="+mn-cs"/>
                  </a:rPr>
                  <a:t>blijft</a:t>
                </a:r>
                <a:r>
                  <a:rPr lang="en-NL" sz="1300" b="0" i="0" kern="1200" dirty="0">
                    <a:solidFill>
                      <a:schemeClr val="tx1"/>
                    </a:solidFill>
                    <a:effectLst/>
                    <a:ea typeface="+mn-ea"/>
                    <a:cs typeface="+mn-cs"/>
                  </a:rPr>
                  <a:t> </a:t>
                </a:r>
                <a14:m>
                  <m:oMath xmlns:m="http://schemas.openxmlformats.org/officeDocument/2006/math">
                    <m:sSub>
                      <m:sSubPr>
                        <m:ctrlPr>
                          <a:rPr lang="en-NL" sz="1300" i="1" kern="1200">
                            <a:solidFill>
                              <a:schemeClr val="tx1"/>
                            </a:solidFill>
                            <a:ea typeface="+mn-ea"/>
                            <a:cs typeface="+mn-cs"/>
                          </a:rPr>
                        </m:ctrlPr>
                      </m:sSubPr>
                      <m:e>
                        <m:r>
                          <a:rPr lang="en-NL" sz="1300" i="1" kern="1200">
                            <a:solidFill>
                              <a:schemeClr val="tx1"/>
                            </a:solidFill>
                            <a:ea typeface="+mn-ea"/>
                            <a:cs typeface="+mn-cs"/>
                          </a:rPr>
                          <m:t>𝛼</m:t>
                        </m:r>
                      </m:e>
                      <m:sub>
                        <m:r>
                          <a:rPr lang="en-NL" sz="1300" i="1" kern="1200">
                            <a:solidFill>
                              <a:schemeClr val="tx1"/>
                            </a:solidFill>
                            <a:ea typeface="+mn-ea"/>
                            <a:cs typeface="+mn-cs"/>
                          </a:rPr>
                          <m:t>𝑖</m:t>
                        </m:r>
                      </m:sub>
                    </m:sSub>
                  </m:oMath>
                </a14:m>
                <a:r>
                  <a:rPr lang="en-NL" sz="1300" b="0" i="0" kern="1200" dirty="0" err="1">
                    <a:solidFill>
                      <a:schemeClr val="tx1"/>
                    </a:solidFill>
                    <a:effectLst/>
                    <a:ea typeface="+mn-ea"/>
                    <a:cs typeface="+mn-cs"/>
                  </a:rPr>
                  <a:t>verweven</a:t>
                </a:r>
                <a:r>
                  <a:rPr lang="en-NL" sz="1300" b="0" i="0" kern="1200" dirty="0">
                    <a:solidFill>
                      <a:schemeClr val="tx1"/>
                    </a:solidFill>
                    <a:effectLst/>
                    <a:ea typeface="+mn-ea"/>
                    <a:cs typeface="+mn-cs"/>
                  </a:rPr>
                  <a:t> </a:t>
                </a:r>
                <a:r>
                  <a:rPr lang="en-NL" sz="1300" b="0" i="0" kern="1200" dirty="0" err="1">
                    <a:solidFill>
                      <a:schemeClr val="tx1"/>
                    </a:solidFill>
                    <a:effectLst/>
                    <a:ea typeface="+mn-ea"/>
                    <a:cs typeface="+mn-cs"/>
                  </a:rPr>
                  <a:t>zitten</a:t>
                </a:r>
                <a:r>
                  <a:rPr lang="en-NL" sz="1300" b="0" i="0" kern="1200" dirty="0">
                    <a:solidFill>
                      <a:schemeClr val="tx1"/>
                    </a:solidFill>
                    <a:effectLst/>
                    <a:ea typeface="+mn-ea"/>
                    <a:cs typeface="+mn-cs"/>
                  </a:rPr>
                  <a:t> in de </a:t>
                </a:r>
                <a:r>
                  <a:rPr lang="en-NL" sz="1300" b="0" i="0" kern="1200" dirty="0" err="1">
                    <a:solidFill>
                      <a:schemeClr val="tx1"/>
                    </a:solidFill>
                    <a:effectLst/>
                    <a:ea typeface="+mn-ea"/>
                    <a:cs typeface="+mn-cs"/>
                  </a:rPr>
                  <a:t>kansfunctie</a:t>
                </a:r>
                <a:r>
                  <a:rPr lang="en-NL" sz="1300" b="0" i="0" kern="1200" dirty="0">
                    <a:solidFill>
                      <a:schemeClr val="tx1"/>
                    </a:solidFill>
                    <a:effectLst/>
                    <a:ea typeface="+mn-ea"/>
                    <a:cs typeface="+mn-cs"/>
                  </a:rPr>
                  <a:t> en </a:t>
                </a:r>
                <a:r>
                  <a:rPr lang="en-NL" sz="1300" b="0" i="0" kern="1200" dirty="0" err="1">
                    <a:solidFill>
                      <a:schemeClr val="tx1"/>
                    </a:solidFill>
                    <a:effectLst/>
                    <a:ea typeface="+mn-ea"/>
                    <a:cs typeface="+mn-cs"/>
                  </a:rPr>
                  <a:t>kun</a:t>
                </a:r>
                <a:r>
                  <a:rPr lang="en-NL" sz="1300" b="0" i="0" kern="1200" dirty="0">
                    <a:solidFill>
                      <a:schemeClr val="tx1"/>
                    </a:solidFill>
                    <a:effectLst/>
                    <a:ea typeface="+mn-ea"/>
                    <a:cs typeface="+mn-cs"/>
                  </a:rPr>
                  <a:t> je hem </a:t>
                </a:r>
                <a:r>
                  <a:rPr lang="en-NL" sz="1300" b="0" i="0" kern="1200" dirty="0" err="1">
                    <a:solidFill>
                      <a:schemeClr val="tx1"/>
                    </a:solidFill>
                    <a:effectLst/>
                    <a:ea typeface="+mn-ea"/>
                    <a:cs typeface="+mn-cs"/>
                  </a:rPr>
                  <a:t>niet</a:t>
                </a:r>
                <a:r>
                  <a:rPr lang="en-NL" sz="1300" b="0" i="0" kern="1200" dirty="0">
                    <a:solidFill>
                      <a:schemeClr val="tx1"/>
                    </a:solidFill>
                    <a:effectLst/>
                    <a:ea typeface="+mn-ea"/>
                    <a:cs typeface="+mn-cs"/>
                  </a:rPr>
                  <a:t> </a:t>
                </a:r>
                <a:r>
                  <a:rPr lang="en-NL" sz="1300" b="0" i="0" kern="1200" dirty="0" err="1">
                    <a:solidFill>
                      <a:schemeClr val="tx1"/>
                    </a:solidFill>
                    <a:effectLst/>
                    <a:ea typeface="+mn-ea"/>
                    <a:cs typeface="+mn-cs"/>
                  </a:rPr>
                  <a:t>wegtransformeren</a:t>
                </a:r>
                <a:r>
                  <a:rPr lang="en-NL" sz="1300" b="0" i="0" kern="1200" dirty="0">
                    <a:solidFill>
                      <a:schemeClr val="tx1"/>
                    </a:solidFill>
                    <a:effectLst/>
                    <a:ea typeface="+mn-ea"/>
                    <a:cs typeface="+mn-cs"/>
                  </a:rPr>
                  <a:t> door </a:t>
                </a:r>
                <a:r>
                  <a:rPr lang="en-NL" sz="1300" b="0" i="0" kern="1200" dirty="0" err="1">
                    <a:solidFill>
                      <a:schemeClr val="tx1"/>
                    </a:solidFill>
                    <a:effectLst/>
                    <a:ea typeface="+mn-ea"/>
                    <a:cs typeface="+mn-cs"/>
                  </a:rPr>
                  <a:t>te</a:t>
                </a:r>
                <a:r>
                  <a:rPr lang="en-NL" sz="1300" b="0" i="0" kern="1200" dirty="0">
                    <a:solidFill>
                      <a:schemeClr val="tx1"/>
                    </a:solidFill>
                    <a:effectLst/>
                    <a:ea typeface="+mn-ea"/>
                    <a:cs typeface="+mn-cs"/>
                  </a:rPr>
                  <a:t> de-</a:t>
                </a:r>
                <a:r>
                  <a:rPr lang="en-NL" sz="1300" b="0" i="0" kern="1200" dirty="0" err="1">
                    <a:solidFill>
                      <a:schemeClr val="tx1"/>
                    </a:solidFill>
                    <a:effectLst/>
                    <a:ea typeface="+mn-ea"/>
                    <a:cs typeface="+mn-cs"/>
                  </a:rPr>
                  <a:t>meanen</a:t>
                </a:r>
                <a:r>
                  <a:rPr lang="en-US" sz="1300" b="0" i="0" kern="1200" dirty="0">
                    <a:solidFill>
                      <a:schemeClr val="tx1"/>
                    </a:solidFill>
                    <a:effectLst/>
                    <a:ea typeface="+mn-ea"/>
                    <a:cs typeface="+mn-cs"/>
                  </a:rPr>
                  <a:t>); probit is </a:t>
                </a:r>
                <a:r>
                  <a:rPr lang="en-US" sz="1300" b="0" i="0" kern="1200" dirty="0" err="1">
                    <a:solidFill>
                      <a:schemeClr val="tx1"/>
                    </a:solidFill>
                    <a:effectLst/>
                    <a:ea typeface="+mn-ea"/>
                    <a:cs typeface="+mn-cs"/>
                  </a:rPr>
                  <a:t>daarom</a:t>
                </a:r>
                <a:r>
                  <a:rPr lang="en-US" sz="1300" b="0" i="0" kern="1200" dirty="0">
                    <a:solidFill>
                      <a:schemeClr val="tx1"/>
                    </a:solidFill>
                    <a:effectLst/>
                    <a:ea typeface="+mn-ea"/>
                    <a:cs typeface="+mn-cs"/>
                  </a:rPr>
                  <a:t> </a:t>
                </a:r>
                <a:r>
                  <a:rPr lang="en-US" sz="1300" b="0" i="0" kern="1200" dirty="0" err="1">
                    <a:solidFill>
                      <a:schemeClr val="tx1"/>
                    </a:solidFill>
                    <a:effectLst/>
                    <a:ea typeface="+mn-ea"/>
                    <a:cs typeface="+mn-cs"/>
                  </a:rPr>
                  <a:t>niet</a:t>
                </a:r>
                <a:r>
                  <a:rPr lang="en-US" sz="1300" b="0" i="0" kern="1200" dirty="0">
                    <a:solidFill>
                      <a:schemeClr val="tx1"/>
                    </a:solidFill>
                    <a:effectLst/>
                    <a:ea typeface="+mn-ea"/>
                    <a:cs typeface="+mn-cs"/>
                  </a:rPr>
                  <a:t> met FE </a:t>
                </a:r>
                <a:r>
                  <a:rPr lang="en-US" sz="1300" b="0" i="0" kern="1200" dirty="0" err="1">
                    <a:solidFill>
                      <a:schemeClr val="tx1"/>
                    </a:solidFill>
                    <a:effectLst/>
                    <a:ea typeface="+mn-ea"/>
                    <a:cs typeface="+mn-cs"/>
                  </a:rPr>
                  <a:t>te</a:t>
                </a:r>
                <a:r>
                  <a:rPr lang="en-US" sz="1300" b="0" i="0" kern="1200" dirty="0">
                    <a:solidFill>
                      <a:schemeClr val="tx1"/>
                    </a:solidFill>
                    <a:effectLst/>
                    <a:ea typeface="+mn-ea"/>
                    <a:cs typeface="+mn-cs"/>
                  </a:rPr>
                  <a:t> Schatten </a:t>
                </a:r>
                <a:r>
                  <a:rPr lang="en-US" sz="1300" b="0" i="0" kern="1200" dirty="0" err="1">
                    <a:solidFill>
                      <a:schemeClr val="tx1"/>
                    </a:solidFill>
                    <a:effectLst/>
                    <a:ea typeface="+mn-ea"/>
                    <a:cs typeface="+mn-cs"/>
                  </a:rPr>
                  <a:t>behalve</a:t>
                </a:r>
                <a:r>
                  <a:rPr lang="en-US" sz="1300" b="0" i="0" kern="1200" dirty="0">
                    <a:solidFill>
                      <a:schemeClr val="tx1"/>
                    </a:solidFill>
                    <a:effectLst/>
                    <a:ea typeface="+mn-ea"/>
                    <a:cs typeface="+mn-cs"/>
                  </a:rPr>
                  <a:t> CRE probit</a:t>
                </a:r>
                <a:r>
                  <a:rPr lang="en-NL" sz="1300" b="0" i="0" kern="1200" dirty="0">
                    <a:solidFill>
                      <a:schemeClr val="tx1"/>
                    </a:solidFill>
                    <a:effectLs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NL" sz="1300" b="0" i="0" kern="1200" dirty="0">
                  <a:solidFill>
                    <a:schemeClr val="tx1"/>
                  </a:solidFill>
                  <a:effectLst/>
                  <a:ea typeface="+mn-ea"/>
                  <a:cs typeface="+mn-cs"/>
                </a:endParaRPr>
              </a:p>
            </p:txBody>
          </p:sp>
        </mc:Choice>
        <mc:Fallback>
          <p:sp>
            <p:nvSpPr>
              <p:cNvPr id="3" name="Tijdelijke aanduiding voor notities 2">
                <a:extLst>
                  <a:ext uri="{FF2B5EF4-FFF2-40B4-BE49-F238E27FC236}">
                    <a16:creationId xmlns:a16="http://schemas.microsoft.com/office/drawing/2014/main" id="{8F9248E1-2394-BB6E-ACF7-C8BB520C4467}"/>
                  </a:ext>
                </a:extLst>
              </p:cNvPr>
              <p:cNvSpPr>
                <a:spLocks noGrp="1"/>
              </p:cNvSpPr>
              <p:nvPr>
                <p:ph type="body" idx="1"/>
              </p:nvPr>
            </p:nvSpPr>
            <p:spPr>
              <a:xfrm>
                <a:off x="233917" y="4785598"/>
                <a:ext cx="6223590" cy="3915489"/>
              </a:xfrm>
            </p:spPr>
            <p:txBody>
              <a:bodyPr/>
              <a:lstStyle/>
              <a:p>
                <a:r>
                  <a:rPr lang="en-US" sz="1300" dirty="0"/>
                  <a:t>Dependent variable is the unexpected component of GDP growth, while the explanatory variables describe the composition of GDP (investment or exports as a share of GDP). In doing so, the relationship does not describe an accounting identity. In addition, the ICT variables are recorded with a delay (previous ICT exposures explain later growth surprises).</a:t>
                </a:r>
              </a:p>
              <a:p>
                <a:pPr marL="171450" indent="-171450">
                  <a:buFontTx/>
                  <a:buChar char="-"/>
                </a:pPr>
                <a:endParaRPr lang="en-US" sz="1300" dirty="0"/>
              </a:p>
              <a:p>
                <a:pPr marL="171450" indent="-171450">
                  <a:buFontTx/>
                  <a:buChar char="-"/>
                </a:pPr>
                <a:r>
                  <a:rPr lang="en-US" sz="1300" dirty="0"/>
                  <a:t>Investing in ICT does not yet equal its effective application. It is a proxy, also for a country's exposure to the ICT factor without having to change economic processes.</a:t>
                </a:r>
              </a:p>
              <a:p>
                <a:pPr marL="171450" indent="-171450">
                  <a:buFontTx/>
                  <a:buChar char="-"/>
                </a:pPr>
                <a:r>
                  <a:rPr lang="nl-NL" sz="1300" dirty="0" err="1"/>
                  <a:t>Each</a:t>
                </a:r>
                <a:r>
                  <a:rPr lang="nl-NL" sz="1300" dirty="0"/>
                  <a:t> </a:t>
                </a:r>
                <a:r>
                  <a:rPr lang="nl-NL" sz="1300" dirty="0" err="1"/>
                  <a:t>year</a:t>
                </a:r>
                <a:r>
                  <a:rPr lang="nl-NL" sz="1300" dirty="0"/>
                  <a:t> the </a:t>
                </a:r>
                <a:r>
                  <a:rPr lang="nl-NL" sz="1300" dirty="0" err="1"/>
                  <a:t>median</a:t>
                </a:r>
                <a:r>
                  <a:rPr lang="nl-NL" sz="1300" dirty="0"/>
                  <a:t> </a:t>
                </a:r>
                <a:r>
                  <a:rPr lang="nl-NL" sz="1300" dirty="0" err="1"/>
                  <a:t>threshold</a:t>
                </a:r>
                <a:r>
                  <a:rPr lang="nl-NL" sz="1300" dirty="0"/>
                  <a:t> </a:t>
                </a:r>
                <a:r>
                  <a:rPr lang="nl-NL" sz="1300" dirty="0" err="1"/>
                  <a:t>for</a:t>
                </a:r>
                <a:r>
                  <a:rPr lang="nl-NL" sz="1300" dirty="0"/>
                  <a:t> </a:t>
                </a:r>
                <a:r>
                  <a:rPr lang="nl-NL" sz="1300" dirty="0" err="1"/>
                  <a:t>Above</a:t>
                </a:r>
                <a:r>
                  <a:rPr lang="nl-NL" sz="1300" dirty="0"/>
                  <a:t> </a:t>
                </a:r>
                <a:r>
                  <a:rPr lang="nl-NL" sz="1300" dirty="0" err="1"/>
                  <a:t>vs</a:t>
                </a:r>
                <a:r>
                  <a:rPr lang="nl-NL" sz="1300" dirty="0"/>
                  <a:t> Below changes, </a:t>
                </a:r>
                <a:r>
                  <a:rPr lang="nl-NL" sz="1300" dirty="0" err="1"/>
                  <a:t>so</a:t>
                </a:r>
                <a:r>
                  <a:rPr lang="nl-NL" sz="1300" dirty="0"/>
                  <a:t>: </a:t>
                </a:r>
                <a:r>
                  <a:rPr lang="nl-NL" sz="1300" dirty="0" err="1"/>
                  <a:t>each</a:t>
                </a:r>
                <a:r>
                  <a:rPr lang="nl-NL" sz="1300" dirty="0"/>
                  <a:t> </a:t>
                </a:r>
                <a:r>
                  <a:rPr lang="nl-NL" sz="1300" dirty="0" err="1"/>
                  <a:t>year</a:t>
                </a:r>
                <a:r>
                  <a:rPr lang="nl-NL" sz="1300" dirty="0"/>
                  <a:t> the </a:t>
                </a:r>
                <a:r>
                  <a:rPr lang="nl-NL" sz="1300" dirty="0" err="1"/>
                  <a:t>Above</a:t>
                </a:r>
                <a:r>
                  <a:rPr lang="nl-NL" sz="1300" dirty="0"/>
                  <a:t> and Below </a:t>
                </a:r>
                <a:r>
                  <a:rPr lang="nl-NL" sz="1300" dirty="0" err="1"/>
                  <a:t>groups</a:t>
                </a:r>
                <a:r>
                  <a:rPr lang="nl-NL" sz="1300" dirty="0"/>
                  <a:t> of </a:t>
                </a:r>
                <a:r>
                  <a:rPr lang="nl-NL" sz="1300" dirty="0" err="1"/>
                  <a:t>countries</a:t>
                </a:r>
                <a:r>
                  <a:rPr lang="nl-NL" sz="1300" dirty="0"/>
                  <a:t> </a:t>
                </a:r>
                <a:r>
                  <a:rPr lang="nl-NL" sz="1300" dirty="0" err="1"/>
                  <a:t>differ</a:t>
                </a:r>
                <a:endParaRPr lang="nl-NL" sz="1300" dirty="0"/>
              </a:p>
              <a:p>
                <a:pPr marL="171450" indent="-171450">
                  <a:buFontTx/>
                  <a:buChar char="-"/>
                </a:pPr>
                <a:endParaRPr lang="nl-NL" sz="1300" dirty="0"/>
              </a:p>
              <a:p>
                <a:pPr lvl="0"/>
                <a:r>
                  <a:rPr lang="en-NL" sz="1300" kern="1200" dirty="0">
                    <a:solidFill>
                      <a:schemeClr val="tx1"/>
                    </a:solidFill>
                    <a:effectLst/>
                    <a:ea typeface="+mn-ea"/>
                    <a:cs typeface="+mn-cs"/>
                  </a:rPr>
                  <a:t>The LPM-FE is attractive because</a:t>
                </a:r>
                <a:r>
                  <a:rPr lang="en-US" sz="1300" kern="1200" dirty="0">
                    <a:solidFill>
                      <a:schemeClr val="tx1"/>
                    </a:solidFill>
                    <a:effectLst/>
                    <a:ea typeface="+mn-ea"/>
                    <a:cs typeface="+mn-cs"/>
                  </a:rPr>
                  <a:t> c</a:t>
                </a:r>
                <a:r>
                  <a:rPr lang="en-NL" sz="1300" kern="1200" dirty="0" err="1">
                    <a:solidFill>
                      <a:schemeClr val="tx1"/>
                    </a:solidFill>
                    <a:effectLst/>
                    <a:ea typeface="+mn-ea"/>
                    <a:cs typeface="+mn-cs"/>
                  </a:rPr>
                  <a:t>ountry</a:t>
                </a:r>
                <a:r>
                  <a:rPr lang="en-NL" sz="1300" kern="1200" dirty="0">
                    <a:solidFill>
                      <a:schemeClr val="tx1"/>
                    </a:solidFill>
                    <a:effectLst/>
                    <a:ea typeface="+mn-ea"/>
                    <a:cs typeface="+mn-cs"/>
                  </a:rPr>
                  <a:t> fixed effects can be included without the nonlinear incidental-parameters problem.</a:t>
                </a:r>
                <a:r>
                  <a:rPr lang="en-US" sz="1300" kern="1200" dirty="0">
                    <a:solidFill>
                      <a:schemeClr val="tx1"/>
                    </a:solidFill>
                    <a:effectLst/>
                    <a:ea typeface="+mn-ea"/>
                    <a:cs typeface="+mn-cs"/>
                  </a:rPr>
                  <a:t>/ </a:t>
                </a:r>
                <a:r>
                  <a:rPr lang="en-NL" sz="1300" kern="1200" dirty="0">
                    <a:solidFill>
                      <a:schemeClr val="tx1"/>
                    </a:solidFill>
                    <a:effectLst/>
                    <a:ea typeface="+mn-ea"/>
                    <a:cs typeface="+mn-cs"/>
                  </a:rPr>
                  <a:t>It allows the country effects to be arbitrarily correlated with ICT exposure</a:t>
                </a:r>
                <a:endParaRPr lang="en-US" sz="13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i="0" kern="1200" dirty="0">
                    <a:solidFill>
                      <a:schemeClr val="tx1"/>
                    </a:solidFill>
                    <a:effectLst/>
                    <a:ea typeface="+mn-ea"/>
                    <a:cs typeface="+mn-cs"/>
                  </a:rPr>
                  <a:t>In LPM with FE </a:t>
                </a:r>
                <a:r>
                  <a:rPr lang="en-NL" sz="1300" b="0" i="0" kern="1200" dirty="0">
                    <a:solidFill>
                      <a:schemeClr val="tx1"/>
                    </a:solidFill>
                    <a:effectLst/>
                    <a:ea typeface="+mn-ea"/>
                    <a:cs typeface="+mn-cs"/>
                  </a:rPr>
                  <a:t>the country-specific effect is treated as an unrestricted parameter that is eliminated through the </a:t>
                </a:r>
                <a:r>
                  <a:rPr lang="en-NL" sz="1300" b="0" i="0" u="sng" kern="1200" dirty="0">
                    <a:solidFill>
                      <a:schemeClr val="tx1"/>
                    </a:solidFill>
                    <a:effectLst/>
                    <a:ea typeface="+mn-ea"/>
                    <a:cs typeface="+mn-cs"/>
                  </a:rPr>
                  <a:t>within transformation.</a:t>
                </a:r>
                <a:r>
                  <a:rPr lang="en-NL" sz="1300" b="0" i="0" kern="1200" dirty="0">
                    <a:solidFill>
                      <a:schemeClr val="tx1"/>
                    </a:solidFill>
                    <a:effectLst/>
                    <a:ea typeface="+mn-ea"/>
                    <a:cs typeface="+mn-cs"/>
                  </a:rPr>
                  <a:t> As a result, you do </a:t>
                </a:r>
                <a:r>
                  <a:rPr lang="en-NL" sz="1300" b="1" i="0" kern="1200" dirty="0">
                    <a:solidFill>
                      <a:schemeClr val="tx1"/>
                    </a:solidFill>
                    <a:effectLst/>
                    <a:ea typeface="+mn-ea"/>
                    <a:cs typeface="+mn-cs"/>
                  </a:rPr>
                  <a:t>not</a:t>
                </a:r>
                <a:r>
                  <a:rPr lang="en-NL" sz="1300" b="0" i="0" kern="1200" dirty="0">
                    <a:solidFill>
                      <a:schemeClr val="tx1"/>
                    </a:solidFill>
                    <a:effectLst/>
                    <a:ea typeface="+mn-ea"/>
                    <a:cs typeface="+mn-cs"/>
                  </a:rPr>
                  <a:t> need the assumption that the country effect is uncorrelated with ICT exposure</a:t>
                </a:r>
                <a:r>
                  <a:rPr lang="en-US" sz="1300" b="0" i="0" kern="1200" dirty="0">
                    <a:solidFill>
                      <a:schemeClr val="tx1"/>
                    </a:solidFill>
                    <a:effectLst/>
                    <a:ea typeface="+mn-ea"/>
                    <a:cs typeface="+mn-cs"/>
                  </a:rPr>
                  <a:t> (</a:t>
                </a:r>
                <a:r>
                  <a:rPr lang="en-NL" sz="1300" b="0" i="0" kern="1200" dirty="0">
                    <a:solidFill>
                      <a:schemeClr val="tx1"/>
                    </a:solidFill>
                    <a:effectLst/>
                    <a:ea typeface="+mn-ea"/>
                    <a:cs typeface="+mn-cs"/>
                  </a:rPr>
                  <a:t>In a </a:t>
                </a:r>
                <a:r>
                  <a:rPr lang="en-US" sz="1300" b="0" i="0" kern="1200" dirty="0">
                    <a:solidFill>
                      <a:schemeClr val="tx1"/>
                    </a:solidFill>
                    <a:effectLst/>
                    <a:ea typeface="+mn-ea"/>
                    <a:cs typeface="+mn-cs"/>
                  </a:rPr>
                  <a:t>FE</a:t>
                </a:r>
                <a:r>
                  <a:rPr lang="en-NL" sz="1300" b="0" i="0" kern="1200" dirty="0">
                    <a:solidFill>
                      <a:schemeClr val="tx1"/>
                    </a:solidFill>
                    <a:effectLst/>
                    <a:ea typeface="+mn-ea"/>
                    <a:cs typeface="+mn-cs"/>
                  </a:rPr>
                  <a:t> LPM, </a:t>
                </a:r>
                <a:r>
                  <a:rPr lang="en-US" sz="1300" b="0" i="0" kern="1200" dirty="0">
                    <a:solidFill>
                      <a:schemeClr val="tx1"/>
                    </a:solidFill>
                    <a:effectLst/>
                    <a:ea typeface="+mn-ea"/>
                    <a:cs typeface="+mn-cs"/>
                  </a:rPr>
                  <a:t>you</a:t>
                </a:r>
                <a:r>
                  <a:rPr lang="en-NL" sz="1300" b="0" i="0" kern="1200" dirty="0">
                    <a:solidFill>
                      <a:schemeClr val="tx1"/>
                    </a:solidFill>
                    <a:effectLst/>
                    <a:ea typeface="+mn-ea"/>
                    <a:cs typeface="+mn-cs"/>
                  </a:rPr>
                  <a:t> transform the data by subtracting country means:</a:t>
                </a:r>
                <a:r>
                  <a:rPr lang="en-US" sz="1300" b="0" i="0" kern="1200" dirty="0">
                    <a:solidFill>
                      <a:schemeClr val="tx1"/>
                    </a:solidFill>
                    <a:effectLst/>
                    <a:ea typeface="+mn-ea"/>
                    <a:cs typeface="+mn-cs"/>
                  </a:rPr>
                  <a:t> // </a:t>
                </a:r>
                <a:r>
                  <a:rPr lang="en-NL" sz="1300" b="0" i="0" kern="1200" dirty="0">
                    <a:solidFill>
                      <a:schemeClr val="tx1"/>
                    </a:solidFill>
                    <a:effectLst/>
                    <a:ea typeface="+mn-ea"/>
                    <a:cs typeface="+mn-cs"/>
                  </a:rPr>
                  <a:t>Therefore, estimation uses only </a:t>
                </a:r>
                <a:r>
                  <a:rPr lang="en-NL" sz="1300" b="1" i="0" kern="1200" dirty="0">
                    <a:solidFill>
                      <a:schemeClr val="tx1"/>
                    </a:solidFill>
                    <a:effectLst/>
                    <a:ea typeface="+mn-ea"/>
                    <a:cs typeface="+mn-cs"/>
                  </a:rPr>
                  <a:t>within-country variation over time</a:t>
                </a:r>
                <a:r>
                  <a:rPr lang="en-NL" sz="1300" b="0" i="0" kern="1200" dirty="0">
                    <a:solidFill>
                      <a:schemeClr val="tx1"/>
                    </a:solidFill>
                    <a:effectLst/>
                    <a:ea typeface="+mn-ea"/>
                    <a:cs typeface="+mn-cs"/>
                  </a:rPr>
                  <a:t>. Whether high-ICT countries have systematically larger or smaller </a:t>
                </a:r>
                <a:r>
                  <a:rPr lang="en-NL" sz="1300" i="0" kern="1200">
                    <a:solidFill>
                      <a:schemeClr val="tx1"/>
                    </a:solidFill>
                    <a:ea typeface="+mn-ea"/>
                    <a:cs typeface="+mn-cs"/>
                  </a:rPr>
                  <a:t>𝛼_𝑖</a:t>
                </a:r>
                <a:r>
                  <a:rPr lang="en-NL" sz="1300" b="0" i="0" kern="1200" dirty="0">
                    <a:solidFill>
                      <a:schemeClr val="tx1"/>
                    </a:solidFill>
                    <a:effectLst/>
                    <a:ea typeface="+mn-ea"/>
                    <a:cs typeface="+mn-cs"/>
                  </a:rPr>
                  <a:t>is irrelevant, because </a:t>
                </a:r>
                <a:r>
                  <a:rPr lang="en-NL" sz="1300" i="0" kern="1200">
                    <a:solidFill>
                      <a:schemeClr val="tx1"/>
                    </a:solidFill>
                    <a:ea typeface="+mn-ea"/>
                    <a:cs typeface="+mn-cs"/>
                  </a:rPr>
                  <a:t>𝛼_𝑖</a:t>
                </a:r>
                <a:r>
                  <a:rPr lang="en-NL" sz="1300" b="0" i="0" kern="1200" dirty="0">
                    <a:solidFill>
                      <a:schemeClr val="tx1"/>
                    </a:solidFill>
                    <a:effectLst/>
                    <a:ea typeface="+mn-ea"/>
                    <a:cs typeface="+mn-cs"/>
                  </a:rPr>
                  <a:t>has been removed</a:t>
                </a:r>
                <a:r>
                  <a:rPr lang="en-US" sz="1300" b="0" i="0" kern="1200" dirty="0">
                    <a:solidFill>
                      <a:schemeClr val="tx1"/>
                    </a:solidFill>
                    <a:effectLs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NL" sz="1300" b="0" i="0" kern="1200" dirty="0" err="1">
                    <a:solidFill>
                      <a:schemeClr val="tx1"/>
                    </a:solidFill>
                    <a:effectLst/>
                    <a:ea typeface="+mn-ea"/>
                    <a:cs typeface="+mn-cs"/>
                  </a:rPr>
                  <a:t>bij</a:t>
                </a:r>
                <a:r>
                  <a:rPr lang="en-NL" sz="1300" b="0" i="0" kern="1200" dirty="0">
                    <a:solidFill>
                      <a:schemeClr val="tx1"/>
                    </a:solidFill>
                    <a:effectLst/>
                    <a:ea typeface="+mn-ea"/>
                    <a:cs typeface="+mn-cs"/>
                  </a:rPr>
                  <a:t> </a:t>
                </a:r>
                <a:r>
                  <a:rPr lang="en-NL" sz="1300" b="0" i="0" kern="1200" dirty="0" err="1">
                    <a:solidFill>
                      <a:schemeClr val="tx1"/>
                    </a:solidFill>
                    <a:effectLst/>
                    <a:ea typeface="+mn-ea"/>
                    <a:cs typeface="+mn-cs"/>
                  </a:rPr>
                  <a:t>een</a:t>
                </a:r>
                <a:r>
                  <a:rPr lang="en-NL" sz="1300" b="0" i="0" kern="1200" dirty="0">
                    <a:solidFill>
                      <a:schemeClr val="tx1"/>
                    </a:solidFill>
                    <a:effectLst/>
                    <a:ea typeface="+mn-ea"/>
                    <a:cs typeface="+mn-cs"/>
                  </a:rPr>
                  <a:t> </a:t>
                </a:r>
                <a:r>
                  <a:rPr lang="en-NL" sz="1300" b="1" i="0" kern="1200" dirty="0" err="1">
                    <a:solidFill>
                      <a:schemeClr val="tx1"/>
                    </a:solidFill>
                    <a:effectLst/>
                    <a:ea typeface="+mn-ea"/>
                    <a:cs typeface="+mn-cs"/>
                  </a:rPr>
                  <a:t>lineair</a:t>
                </a:r>
                <a:r>
                  <a:rPr lang="en-NL" sz="1300" b="1" i="0" kern="1200" dirty="0">
                    <a:solidFill>
                      <a:schemeClr val="tx1"/>
                    </a:solidFill>
                    <a:effectLst/>
                    <a:ea typeface="+mn-ea"/>
                    <a:cs typeface="+mn-cs"/>
                  </a:rPr>
                  <a:t> model</a:t>
                </a:r>
                <a:r>
                  <a:rPr lang="en-NL" sz="1300" b="0" i="0" kern="1200" dirty="0">
                    <a:solidFill>
                      <a:schemeClr val="tx1"/>
                    </a:solidFill>
                    <a:effectLst/>
                    <a:ea typeface="+mn-ea"/>
                    <a:cs typeface="+mn-cs"/>
                  </a:rPr>
                  <a:t> </a:t>
                </a:r>
                <a:r>
                  <a:rPr lang="en-US" sz="1300" b="0" i="0" kern="1200" dirty="0">
                    <a:solidFill>
                      <a:schemeClr val="tx1"/>
                    </a:solidFill>
                    <a:effectLst/>
                    <a:ea typeface="+mn-ea"/>
                    <a:cs typeface="+mn-cs"/>
                  </a:rPr>
                  <a:t>(LPM) </a:t>
                </a:r>
                <a:r>
                  <a:rPr lang="en-NL" sz="1300" b="0" i="0" kern="1200" dirty="0" err="1">
                    <a:solidFill>
                      <a:schemeClr val="tx1"/>
                    </a:solidFill>
                    <a:effectLst/>
                    <a:ea typeface="+mn-ea"/>
                    <a:cs typeface="+mn-cs"/>
                  </a:rPr>
                  <a:t>werkt</a:t>
                </a:r>
                <a:r>
                  <a:rPr lang="en-NL" sz="1300" b="0" i="0" kern="1200" dirty="0">
                    <a:solidFill>
                      <a:schemeClr val="tx1"/>
                    </a:solidFill>
                    <a:effectLst/>
                    <a:ea typeface="+mn-ea"/>
                    <a:cs typeface="+mn-cs"/>
                  </a:rPr>
                  <a:t> de within-</a:t>
                </a:r>
                <a:r>
                  <a:rPr lang="en-NL" sz="1300" b="0" i="0" kern="1200" dirty="0" err="1">
                    <a:solidFill>
                      <a:schemeClr val="tx1"/>
                    </a:solidFill>
                    <a:effectLst/>
                    <a:ea typeface="+mn-ea"/>
                    <a:cs typeface="+mn-cs"/>
                  </a:rPr>
                  <a:t>transformatie</a:t>
                </a:r>
                <a:r>
                  <a:rPr lang="en-NL" sz="1300" b="0" i="0" kern="1200" dirty="0">
                    <a:solidFill>
                      <a:schemeClr val="tx1"/>
                    </a:solidFill>
                    <a:effectLst/>
                    <a:ea typeface="+mn-ea"/>
                    <a:cs typeface="+mn-cs"/>
                  </a:rPr>
                  <a:t>, maar </a:t>
                </a:r>
                <a:r>
                  <a:rPr lang="en-NL" sz="1300" b="0" i="0" kern="1200" dirty="0" err="1">
                    <a:solidFill>
                      <a:schemeClr val="tx1"/>
                    </a:solidFill>
                    <a:effectLst/>
                    <a:ea typeface="+mn-ea"/>
                    <a:cs typeface="+mn-cs"/>
                  </a:rPr>
                  <a:t>bij</a:t>
                </a:r>
                <a:r>
                  <a:rPr lang="en-NL" sz="1300" b="0" i="0" kern="1200" dirty="0">
                    <a:solidFill>
                      <a:schemeClr val="tx1"/>
                    </a:solidFill>
                    <a:effectLst/>
                    <a:ea typeface="+mn-ea"/>
                    <a:cs typeface="+mn-cs"/>
                  </a:rPr>
                  <a:t> </a:t>
                </a:r>
                <a:r>
                  <a:rPr lang="en-NL" sz="1300" b="0" i="0" kern="1200" dirty="0" err="1">
                    <a:solidFill>
                      <a:schemeClr val="tx1"/>
                    </a:solidFill>
                    <a:effectLst/>
                    <a:ea typeface="+mn-ea"/>
                    <a:cs typeface="+mn-cs"/>
                  </a:rPr>
                  <a:t>een</a:t>
                </a:r>
                <a:r>
                  <a:rPr lang="en-NL" sz="1300" b="0" i="0" kern="1200" dirty="0">
                    <a:solidFill>
                      <a:schemeClr val="tx1"/>
                    </a:solidFill>
                    <a:effectLst/>
                    <a:ea typeface="+mn-ea"/>
                    <a:cs typeface="+mn-cs"/>
                  </a:rPr>
                  <a:t> </a:t>
                </a:r>
                <a:r>
                  <a:rPr lang="en-NL" sz="1300" b="1" i="0" kern="1200" dirty="0">
                    <a:solidFill>
                      <a:schemeClr val="tx1"/>
                    </a:solidFill>
                    <a:effectLst/>
                    <a:ea typeface="+mn-ea"/>
                    <a:cs typeface="+mn-cs"/>
                  </a:rPr>
                  <a:t>probit-model</a:t>
                </a:r>
                <a:r>
                  <a:rPr lang="en-NL" sz="1300" b="0" i="0" kern="1200" dirty="0">
                    <a:solidFill>
                      <a:schemeClr val="tx1"/>
                    </a:solidFill>
                    <a:effectLst/>
                    <a:ea typeface="+mn-ea"/>
                    <a:cs typeface="+mn-cs"/>
                  </a:rPr>
                  <a:t> </a:t>
                </a:r>
                <a:r>
                  <a:rPr lang="en-NL" sz="1300" b="0" i="0" kern="1200" dirty="0" err="1">
                    <a:solidFill>
                      <a:schemeClr val="tx1"/>
                    </a:solidFill>
                    <a:effectLst/>
                    <a:ea typeface="+mn-ea"/>
                    <a:cs typeface="+mn-cs"/>
                  </a:rPr>
                  <a:t>niet</a:t>
                </a:r>
                <a:r>
                  <a:rPr lang="en-US" sz="1300" b="0" i="0" kern="1200" dirty="0">
                    <a:solidFill>
                      <a:schemeClr val="tx1"/>
                    </a:solidFill>
                    <a:effectLst/>
                    <a:ea typeface="+mn-ea"/>
                    <a:cs typeface="+mn-cs"/>
                  </a:rPr>
                  <a:t> (</a:t>
                </a:r>
                <a:r>
                  <a:rPr lang="en-NL" sz="1300" b="0" i="0" kern="1200" dirty="0">
                    <a:solidFill>
                      <a:schemeClr val="tx1"/>
                    </a:solidFill>
                    <a:effectLst/>
                    <a:ea typeface="+mn-ea"/>
                    <a:cs typeface="+mn-cs"/>
                  </a:rPr>
                  <a:t>Door de </a:t>
                </a:r>
                <a:r>
                  <a:rPr lang="en-NL" sz="1300" b="0" i="0" kern="1200" dirty="0" err="1">
                    <a:solidFill>
                      <a:schemeClr val="tx1"/>
                    </a:solidFill>
                    <a:effectLst/>
                    <a:ea typeface="+mn-ea"/>
                    <a:cs typeface="+mn-cs"/>
                  </a:rPr>
                  <a:t>niet-lineariteit</a:t>
                </a:r>
                <a:r>
                  <a:rPr lang="en-NL" sz="1300" b="0" i="0" kern="1200" dirty="0">
                    <a:solidFill>
                      <a:schemeClr val="tx1"/>
                    </a:solidFill>
                    <a:effectLst/>
                    <a:ea typeface="+mn-ea"/>
                    <a:cs typeface="+mn-cs"/>
                  </a:rPr>
                  <a:t> </a:t>
                </a:r>
                <a:r>
                  <a:rPr lang="en-NL" sz="1300" b="0" i="0" kern="1200" dirty="0" err="1">
                    <a:solidFill>
                      <a:schemeClr val="tx1"/>
                    </a:solidFill>
                    <a:effectLst/>
                    <a:ea typeface="+mn-ea"/>
                    <a:cs typeface="+mn-cs"/>
                  </a:rPr>
                  <a:t>blijft</a:t>
                </a:r>
                <a:r>
                  <a:rPr lang="en-NL" sz="1300" b="0" i="0" kern="1200" dirty="0">
                    <a:solidFill>
                      <a:schemeClr val="tx1"/>
                    </a:solidFill>
                    <a:effectLst/>
                    <a:ea typeface="+mn-ea"/>
                    <a:cs typeface="+mn-cs"/>
                  </a:rPr>
                  <a:t> </a:t>
                </a:r>
                <a:r>
                  <a:rPr lang="en-NL" sz="1300" i="0" kern="1200">
                    <a:solidFill>
                      <a:schemeClr val="tx1"/>
                    </a:solidFill>
                    <a:ea typeface="+mn-ea"/>
                    <a:cs typeface="+mn-cs"/>
                  </a:rPr>
                  <a:t>𝛼_𝑖</a:t>
                </a:r>
                <a:r>
                  <a:rPr lang="en-NL" sz="1300" b="0" i="0" kern="1200" dirty="0" err="1">
                    <a:solidFill>
                      <a:schemeClr val="tx1"/>
                    </a:solidFill>
                    <a:effectLst/>
                    <a:ea typeface="+mn-ea"/>
                    <a:cs typeface="+mn-cs"/>
                  </a:rPr>
                  <a:t>verweven</a:t>
                </a:r>
                <a:r>
                  <a:rPr lang="en-NL" sz="1300" b="0" i="0" kern="1200" dirty="0">
                    <a:solidFill>
                      <a:schemeClr val="tx1"/>
                    </a:solidFill>
                    <a:effectLst/>
                    <a:ea typeface="+mn-ea"/>
                    <a:cs typeface="+mn-cs"/>
                  </a:rPr>
                  <a:t> </a:t>
                </a:r>
                <a:r>
                  <a:rPr lang="en-NL" sz="1300" b="0" i="0" kern="1200" dirty="0" err="1">
                    <a:solidFill>
                      <a:schemeClr val="tx1"/>
                    </a:solidFill>
                    <a:effectLst/>
                    <a:ea typeface="+mn-ea"/>
                    <a:cs typeface="+mn-cs"/>
                  </a:rPr>
                  <a:t>zitten</a:t>
                </a:r>
                <a:r>
                  <a:rPr lang="en-NL" sz="1300" b="0" i="0" kern="1200" dirty="0">
                    <a:solidFill>
                      <a:schemeClr val="tx1"/>
                    </a:solidFill>
                    <a:effectLst/>
                    <a:ea typeface="+mn-ea"/>
                    <a:cs typeface="+mn-cs"/>
                  </a:rPr>
                  <a:t> in de </a:t>
                </a:r>
                <a:r>
                  <a:rPr lang="en-NL" sz="1300" b="0" i="0" kern="1200" dirty="0" err="1">
                    <a:solidFill>
                      <a:schemeClr val="tx1"/>
                    </a:solidFill>
                    <a:effectLst/>
                    <a:ea typeface="+mn-ea"/>
                    <a:cs typeface="+mn-cs"/>
                  </a:rPr>
                  <a:t>kansfunctie</a:t>
                </a:r>
                <a:r>
                  <a:rPr lang="en-NL" sz="1300" b="0" i="0" kern="1200" dirty="0">
                    <a:solidFill>
                      <a:schemeClr val="tx1"/>
                    </a:solidFill>
                    <a:effectLst/>
                    <a:ea typeface="+mn-ea"/>
                    <a:cs typeface="+mn-cs"/>
                  </a:rPr>
                  <a:t> en </a:t>
                </a:r>
                <a:r>
                  <a:rPr lang="en-NL" sz="1300" b="0" i="0" kern="1200" dirty="0" err="1">
                    <a:solidFill>
                      <a:schemeClr val="tx1"/>
                    </a:solidFill>
                    <a:effectLst/>
                    <a:ea typeface="+mn-ea"/>
                    <a:cs typeface="+mn-cs"/>
                  </a:rPr>
                  <a:t>kun</a:t>
                </a:r>
                <a:r>
                  <a:rPr lang="en-NL" sz="1300" b="0" i="0" kern="1200" dirty="0">
                    <a:solidFill>
                      <a:schemeClr val="tx1"/>
                    </a:solidFill>
                    <a:effectLst/>
                    <a:ea typeface="+mn-ea"/>
                    <a:cs typeface="+mn-cs"/>
                  </a:rPr>
                  <a:t> je hem </a:t>
                </a:r>
                <a:r>
                  <a:rPr lang="en-NL" sz="1300" b="0" i="0" kern="1200" dirty="0" err="1">
                    <a:solidFill>
                      <a:schemeClr val="tx1"/>
                    </a:solidFill>
                    <a:effectLst/>
                    <a:ea typeface="+mn-ea"/>
                    <a:cs typeface="+mn-cs"/>
                  </a:rPr>
                  <a:t>niet</a:t>
                </a:r>
                <a:r>
                  <a:rPr lang="en-NL" sz="1300" b="0" i="0" kern="1200" dirty="0">
                    <a:solidFill>
                      <a:schemeClr val="tx1"/>
                    </a:solidFill>
                    <a:effectLst/>
                    <a:ea typeface="+mn-ea"/>
                    <a:cs typeface="+mn-cs"/>
                  </a:rPr>
                  <a:t> </a:t>
                </a:r>
                <a:r>
                  <a:rPr lang="en-NL" sz="1300" b="0" i="0" kern="1200" dirty="0" err="1">
                    <a:solidFill>
                      <a:schemeClr val="tx1"/>
                    </a:solidFill>
                    <a:effectLst/>
                    <a:ea typeface="+mn-ea"/>
                    <a:cs typeface="+mn-cs"/>
                  </a:rPr>
                  <a:t>wegtransformeren</a:t>
                </a:r>
                <a:r>
                  <a:rPr lang="en-NL" sz="1300" b="0" i="0" kern="1200" dirty="0">
                    <a:solidFill>
                      <a:schemeClr val="tx1"/>
                    </a:solidFill>
                    <a:effectLst/>
                    <a:ea typeface="+mn-ea"/>
                    <a:cs typeface="+mn-cs"/>
                  </a:rPr>
                  <a:t> door </a:t>
                </a:r>
                <a:r>
                  <a:rPr lang="en-NL" sz="1300" b="0" i="0" kern="1200" dirty="0" err="1">
                    <a:solidFill>
                      <a:schemeClr val="tx1"/>
                    </a:solidFill>
                    <a:effectLst/>
                    <a:ea typeface="+mn-ea"/>
                    <a:cs typeface="+mn-cs"/>
                  </a:rPr>
                  <a:t>te</a:t>
                </a:r>
                <a:r>
                  <a:rPr lang="en-NL" sz="1300" b="0" i="0" kern="1200" dirty="0">
                    <a:solidFill>
                      <a:schemeClr val="tx1"/>
                    </a:solidFill>
                    <a:effectLst/>
                    <a:ea typeface="+mn-ea"/>
                    <a:cs typeface="+mn-cs"/>
                  </a:rPr>
                  <a:t> de-</a:t>
                </a:r>
                <a:r>
                  <a:rPr lang="en-NL" sz="1300" b="0" i="0" kern="1200" dirty="0" err="1">
                    <a:solidFill>
                      <a:schemeClr val="tx1"/>
                    </a:solidFill>
                    <a:effectLst/>
                    <a:ea typeface="+mn-ea"/>
                    <a:cs typeface="+mn-cs"/>
                  </a:rPr>
                  <a:t>meanen</a:t>
                </a:r>
                <a:r>
                  <a:rPr lang="en-US" sz="1300" b="0" i="0" kern="1200" dirty="0">
                    <a:solidFill>
                      <a:schemeClr val="tx1"/>
                    </a:solidFill>
                    <a:effectLst/>
                    <a:ea typeface="+mn-ea"/>
                    <a:cs typeface="+mn-cs"/>
                  </a:rPr>
                  <a:t>); probit is </a:t>
                </a:r>
                <a:r>
                  <a:rPr lang="en-US" sz="1300" b="0" i="0" kern="1200" dirty="0" err="1">
                    <a:solidFill>
                      <a:schemeClr val="tx1"/>
                    </a:solidFill>
                    <a:effectLst/>
                    <a:ea typeface="+mn-ea"/>
                    <a:cs typeface="+mn-cs"/>
                  </a:rPr>
                  <a:t>daarom</a:t>
                </a:r>
                <a:r>
                  <a:rPr lang="en-US" sz="1300" b="0" i="0" kern="1200" dirty="0">
                    <a:solidFill>
                      <a:schemeClr val="tx1"/>
                    </a:solidFill>
                    <a:effectLst/>
                    <a:ea typeface="+mn-ea"/>
                    <a:cs typeface="+mn-cs"/>
                  </a:rPr>
                  <a:t> </a:t>
                </a:r>
                <a:r>
                  <a:rPr lang="en-US" sz="1300" b="0" i="0" kern="1200" dirty="0" err="1">
                    <a:solidFill>
                      <a:schemeClr val="tx1"/>
                    </a:solidFill>
                    <a:effectLst/>
                    <a:ea typeface="+mn-ea"/>
                    <a:cs typeface="+mn-cs"/>
                  </a:rPr>
                  <a:t>niet</a:t>
                </a:r>
                <a:r>
                  <a:rPr lang="en-US" sz="1300" b="0" i="0" kern="1200" dirty="0">
                    <a:solidFill>
                      <a:schemeClr val="tx1"/>
                    </a:solidFill>
                    <a:effectLst/>
                    <a:ea typeface="+mn-ea"/>
                    <a:cs typeface="+mn-cs"/>
                  </a:rPr>
                  <a:t> met FE </a:t>
                </a:r>
                <a:r>
                  <a:rPr lang="en-US" sz="1300" b="0" i="0" kern="1200" dirty="0" err="1">
                    <a:solidFill>
                      <a:schemeClr val="tx1"/>
                    </a:solidFill>
                    <a:effectLst/>
                    <a:ea typeface="+mn-ea"/>
                    <a:cs typeface="+mn-cs"/>
                  </a:rPr>
                  <a:t>te</a:t>
                </a:r>
                <a:r>
                  <a:rPr lang="en-US" sz="1300" b="0" i="0" kern="1200" dirty="0">
                    <a:solidFill>
                      <a:schemeClr val="tx1"/>
                    </a:solidFill>
                    <a:effectLst/>
                    <a:ea typeface="+mn-ea"/>
                    <a:cs typeface="+mn-cs"/>
                  </a:rPr>
                  <a:t> Schatten </a:t>
                </a:r>
                <a:r>
                  <a:rPr lang="en-US" sz="1300" b="0" i="0" kern="1200" dirty="0" err="1">
                    <a:solidFill>
                      <a:schemeClr val="tx1"/>
                    </a:solidFill>
                    <a:effectLst/>
                    <a:ea typeface="+mn-ea"/>
                    <a:cs typeface="+mn-cs"/>
                  </a:rPr>
                  <a:t>behalve</a:t>
                </a:r>
                <a:r>
                  <a:rPr lang="en-US" sz="1300" b="0" i="0" kern="1200" dirty="0">
                    <a:solidFill>
                      <a:schemeClr val="tx1"/>
                    </a:solidFill>
                    <a:effectLst/>
                    <a:ea typeface="+mn-ea"/>
                    <a:cs typeface="+mn-cs"/>
                  </a:rPr>
                  <a:t> CRE probit</a:t>
                </a:r>
                <a:r>
                  <a:rPr lang="en-NL" sz="1300" b="0" i="0" kern="1200" dirty="0">
                    <a:solidFill>
                      <a:schemeClr val="tx1"/>
                    </a:solidFill>
                    <a:effectLs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NL" sz="1300" b="0" i="0" kern="1200" dirty="0">
                  <a:solidFill>
                    <a:schemeClr val="tx1"/>
                  </a:solidFill>
                  <a:effectLst/>
                  <a:ea typeface="+mn-ea"/>
                  <a:cs typeface="+mn-cs"/>
                </a:endParaRPr>
              </a:p>
            </p:txBody>
          </p:sp>
        </mc:Fallback>
      </mc:AlternateContent>
      <p:sp>
        <p:nvSpPr>
          <p:cNvPr id="4" name="Tijdelijke aanduiding voor dianummer 3">
            <a:extLst>
              <a:ext uri="{FF2B5EF4-FFF2-40B4-BE49-F238E27FC236}">
                <a16:creationId xmlns:a16="http://schemas.microsoft.com/office/drawing/2014/main" id="{33D28C7A-35E3-D7B6-1A04-5292B9F6D93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513F78-5509-4637-B397-C3DEABA56153}"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7956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F143D-9E44-94EC-AB52-06F1DEC0DFB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8347234-BA72-C5A5-000F-B7C8EE2A67A9}"/>
              </a:ext>
            </a:extLst>
          </p:cNvPr>
          <p:cNvSpPr>
            <a:spLocks noGrp="1" noRot="1" noChangeAspect="1"/>
          </p:cNvSpPr>
          <p:nvPr>
            <p:ph type="sldImg"/>
          </p:nvPr>
        </p:nvSpPr>
        <p:spPr/>
        <p:txBody>
          <a:bodyPr/>
          <a:lstStyle/>
          <a:p>
            <a:endParaRPr lang="en-US"/>
          </a:p>
        </p:txBody>
      </p:sp>
      <p:sp>
        <p:nvSpPr>
          <p:cNvPr id="3" name="Tijdelijke aanduiding voor notities 2">
            <a:extLst>
              <a:ext uri="{FF2B5EF4-FFF2-40B4-BE49-F238E27FC236}">
                <a16:creationId xmlns:a16="http://schemas.microsoft.com/office/drawing/2014/main" id="{67B9C725-AD21-6CD5-3DA4-207B353C143D}"/>
              </a:ext>
            </a:extLst>
          </p:cNvPr>
          <p:cNvSpPr>
            <a:spLocks noGrp="1"/>
          </p:cNvSpPr>
          <p:nvPr>
            <p:ph type="body" idx="1"/>
          </p:nvPr>
        </p:nvSpPr>
        <p:spPr/>
        <p:txBody>
          <a:bodyPr/>
          <a:lstStyle/>
          <a:p>
            <a:pPr marL="171450" indent="-171450">
              <a:buFontTx/>
              <a:buChar char="-"/>
            </a:pPr>
            <a:endParaRPr lang="nl-NL" dirty="0"/>
          </a:p>
        </p:txBody>
      </p:sp>
      <p:sp>
        <p:nvSpPr>
          <p:cNvPr id="4" name="Tijdelijke aanduiding voor dianummer 3">
            <a:extLst>
              <a:ext uri="{FF2B5EF4-FFF2-40B4-BE49-F238E27FC236}">
                <a16:creationId xmlns:a16="http://schemas.microsoft.com/office/drawing/2014/main" id="{A4204FB8-B708-D4FF-C770-62C729146F7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513F78-5509-4637-B397-C3DEABA56153}"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8933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76A53-A44A-40F9-6AEB-D4604691F90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1A525D6-CCD9-BB08-433C-BC82E9D4D224}"/>
              </a:ext>
            </a:extLst>
          </p:cNvPr>
          <p:cNvSpPr>
            <a:spLocks noGrp="1" noRot="1" noChangeAspect="1"/>
          </p:cNvSpPr>
          <p:nvPr>
            <p:ph type="sldImg"/>
          </p:nvPr>
        </p:nvSpPr>
        <p:spPr/>
        <p:txBody>
          <a:bodyPr/>
          <a:lstStyle/>
          <a:p>
            <a:endParaRPr lang="en-US"/>
          </a:p>
        </p:txBody>
      </p:sp>
      <p:sp>
        <p:nvSpPr>
          <p:cNvPr id="3" name="Tijdelijke aanduiding voor notities 2">
            <a:extLst>
              <a:ext uri="{FF2B5EF4-FFF2-40B4-BE49-F238E27FC236}">
                <a16:creationId xmlns:a16="http://schemas.microsoft.com/office/drawing/2014/main" id="{641B7F79-C5DD-F3BA-D516-7A8B8AF19412}"/>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NL" sz="1200" b="0" i="0" u="sng" kern="1200" dirty="0">
                <a:solidFill>
                  <a:schemeClr val="tx1"/>
                </a:solidFill>
                <a:effectLst/>
                <a:latin typeface="+mn-lt"/>
                <a:ea typeface="+mn-ea"/>
                <a:cs typeface="+mn-cs"/>
              </a:rPr>
              <a:t>The CRE probit, also known as the </a:t>
            </a:r>
            <a:r>
              <a:rPr lang="en-NL" sz="1200" b="0" i="0" u="sng" kern="1200" dirty="0" err="1">
                <a:solidFill>
                  <a:schemeClr val="tx1"/>
                </a:solidFill>
                <a:effectLst/>
                <a:latin typeface="+mn-lt"/>
                <a:ea typeface="+mn-ea"/>
                <a:cs typeface="+mn-cs"/>
              </a:rPr>
              <a:t>Mundlak</a:t>
            </a:r>
            <a:r>
              <a:rPr lang="en-NL" sz="1200" b="0" i="0" u="sng" kern="1200" dirty="0">
                <a:solidFill>
                  <a:schemeClr val="tx1"/>
                </a:solidFill>
                <a:effectLst/>
                <a:latin typeface="+mn-lt"/>
                <a:ea typeface="+mn-ea"/>
                <a:cs typeface="+mn-cs"/>
              </a:rPr>
              <a:t> approach, is the </a:t>
            </a:r>
            <a:r>
              <a:rPr lang="en-NL" sz="1200" b="1" i="0" u="sng" kern="1200" dirty="0">
                <a:solidFill>
                  <a:schemeClr val="tx1"/>
                </a:solidFill>
                <a:effectLst/>
                <a:latin typeface="+mn-lt"/>
                <a:ea typeface="+mn-ea"/>
                <a:cs typeface="+mn-cs"/>
              </a:rPr>
              <a:t>nonlinear</a:t>
            </a:r>
            <a:r>
              <a:rPr lang="en-NL" sz="1200" b="0" i="0" u="sng" kern="1200" dirty="0">
                <a:solidFill>
                  <a:schemeClr val="tx1"/>
                </a:solidFill>
                <a:effectLst/>
                <a:latin typeface="+mn-lt"/>
                <a:ea typeface="+mn-ea"/>
                <a:cs typeface="+mn-cs"/>
              </a:rPr>
              <a:t> analogue of the fixed-effects LPM</a:t>
            </a:r>
            <a:r>
              <a:rPr lang="en-US" sz="1200" b="0" i="0" u="sng" kern="1200" dirty="0">
                <a:solidFill>
                  <a:schemeClr val="tx1"/>
                </a:solidFill>
                <a:effectLst/>
                <a:latin typeface="+mn-lt"/>
                <a:ea typeface="+mn-ea"/>
                <a:cs typeface="+mn-cs"/>
              </a:rPr>
              <a:t>.</a:t>
            </a:r>
            <a:endParaRPr lang="en-NL" sz="1200" b="0" i="0" u="sng" kern="1200" dirty="0">
              <a:solidFill>
                <a:schemeClr val="tx1"/>
              </a:solidFill>
              <a:effectLst/>
              <a:latin typeface="+mn-lt"/>
              <a:ea typeface="+mn-ea"/>
              <a:cs typeface="+mn-cs"/>
            </a:endParaRPr>
          </a:p>
          <a:p>
            <a:pPr marL="0" indent="0">
              <a:buFontTx/>
              <a:buNone/>
            </a:pPr>
            <a:r>
              <a:rPr lang="en-US" sz="1200" u="sng" kern="1200" dirty="0">
                <a:solidFill>
                  <a:schemeClr val="tx1"/>
                </a:solidFill>
                <a:effectLst/>
                <a:latin typeface="+mn-lt"/>
                <a:ea typeface="+mn-ea"/>
                <a:cs typeface="+mn-cs"/>
              </a:rPr>
              <a:t>  CRE probit using </a:t>
            </a:r>
            <a:r>
              <a:rPr lang="en-US" sz="1200" u="sng" kern="1200" dirty="0" err="1">
                <a:solidFill>
                  <a:schemeClr val="tx1"/>
                </a:solidFill>
                <a:effectLst/>
                <a:latin typeface="+mn-lt"/>
                <a:ea typeface="+mn-ea"/>
                <a:cs typeface="+mn-cs"/>
              </a:rPr>
              <a:t>Mundlak</a:t>
            </a:r>
            <a:r>
              <a:rPr lang="en-US" sz="1200" u="sng" kern="1200" dirty="0">
                <a:solidFill>
                  <a:schemeClr val="tx1"/>
                </a:solidFill>
                <a:effectLst/>
                <a:latin typeface="+mn-lt"/>
                <a:ea typeface="+mn-ea"/>
                <a:cs typeface="+mn-cs"/>
              </a:rPr>
              <a:t> formulation</a:t>
            </a:r>
            <a:r>
              <a:rPr lang="en-US" sz="1200" kern="1200" dirty="0">
                <a:solidFill>
                  <a:schemeClr val="tx1"/>
                </a:solidFill>
                <a:effectLst/>
                <a:latin typeface="+mn-lt"/>
                <a:ea typeface="+mn-ea"/>
                <a:cs typeface="+mn-cs"/>
              </a:rPr>
              <a:t>, including country means of the time-varying explanatory variables and controls (within/between decompositions of ICT and the enabled time-varying controls.). This permits persistent unobserved country heterogeneity to be correlated with ICT exposure. Inference accounts for within-country dependence. Including means of explanatory variables makes random component </a:t>
            </a:r>
            <a:r>
              <a:rPr lang="en-US" sz="1200" kern="1200" dirty="0" err="1">
                <a:solidFill>
                  <a:schemeClr val="tx1"/>
                </a:solidFill>
                <a:effectLst/>
                <a:latin typeface="+mn-lt"/>
                <a:ea typeface="+mn-ea"/>
                <a:cs typeface="+mn-cs"/>
              </a:rPr>
              <a:t>alpha_i</a:t>
            </a:r>
            <a:r>
              <a:rPr lang="en-US" sz="1200" kern="1200" dirty="0">
                <a:solidFill>
                  <a:schemeClr val="tx1"/>
                </a:solidFill>
                <a:effectLst/>
                <a:latin typeface="+mn-lt"/>
                <a:ea typeface="+mn-ea"/>
                <a:cs typeface="+mn-cs"/>
              </a:rPr>
              <a:t> (=remaining unobserved country heterogeneity, = country random effect) independent of the regressors. </a:t>
            </a:r>
          </a:p>
          <a:p>
            <a:pPr marL="171450" indent="-171450">
              <a:buFontTx/>
              <a:buChar char="-"/>
            </a:pP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Beta_w</a:t>
            </a:r>
            <a:r>
              <a:rPr lang="en-US" sz="1200" kern="1200" dirty="0">
                <a:solidFill>
                  <a:schemeClr val="tx1"/>
                </a:solidFill>
                <a:effectLst/>
                <a:latin typeface="+mn-lt"/>
                <a:ea typeface="+mn-ea"/>
                <a:cs typeface="+mn-cs"/>
              </a:rPr>
              <a:t> = within country effect (</a:t>
            </a:r>
            <a:r>
              <a:rPr lang="en-US" sz="1200" kern="1200" dirty="0" err="1">
                <a:solidFill>
                  <a:schemeClr val="tx1"/>
                </a:solidFill>
                <a:effectLst/>
                <a:latin typeface="+mn-lt"/>
                <a:ea typeface="+mn-ea"/>
                <a:cs typeface="+mn-cs"/>
              </a:rPr>
              <a:t>Beta_w</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X_t</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X_mean</a:t>
            </a:r>
            <a:r>
              <a:rPr lang="en-US" sz="1200" kern="1200" dirty="0">
                <a:solidFill>
                  <a:schemeClr val="tx1"/>
                </a:solidFill>
                <a:effectLst/>
                <a:latin typeface="+mn-lt"/>
                <a:ea typeface="+mn-ea"/>
                <a:cs typeface="+mn-cs"/>
              </a:rPr>
              <a:t>): what happens when X changes within a country</a:t>
            </a:r>
          </a:p>
          <a:p>
            <a:pPr marL="0" indent="0">
              <a:buFontTx/>
              <a:buNone/>
            </a:pPr>
            <a:r>
              <a:rPr lang="en-NL" sz="1400" u="sng" kern="1200" dirty="0" err="1">
                <a:solidFill>
                  <a:schemeClr val="tx1"/>
                </a:solidFill>
                <a:effectLst/>
                <a:latin typeface="+mn-lt"/>
                <a:ea typeface="+mn-ea"/>
                <a:cs typeface="+mn-cs"/>
              </a:rPr>
              <a:t>Mundlak</a:t>
            </a:r>
            <a:r>
              <a:rPr lang="en-NL" sz="1400" u="sng" kern="1200" dirty="0">
                <a:solidFill>
                  <a:schemeClr val="tx1"/>
                </a:solidFill>
                <a:effectLst/>
                <a:latin typeface="+mn-lt"/>
                <a:ea typeface="+mn-ea"/>
                <a:cs typeface="+mn-cs"/>
              </a:rPr>
              <a:t> country </a:t>
            </a:r>
            <a:r>
              <a:rPr lang="en-NL" sz="1400" b="1" u="sng" kern="1200" dirty="0">
                <a:solidFill>
                  <a:schemeClr val="tx1"/>
                </a:solidFill>
                <a:effectLst/>
                <a:latin typeface="+mn-lt"/>
                <a:ea typeface="+mn-ea"/>
                <a:cs typeface="+mn-cs"/>
              </a:rPr>
              <a:t>means</a:t>
            </a:r>
            <a:r>
              <a:rPr lang="en-NL" sz="1400" u="sng" kern="1200" dirty="0">
                <a:solidFill>
                  <a:schemeClr val="tx1"/>
                </a:solidFill>
                <a:effectLst/>
                <a:latin typeface="+mn-lt"/>
                <a:ea typeface="+mn-ea"/>
                <a:cs typeface="+mn-cs"/>
              </a:rPr>
              <a:t> adequately capture the </a:t>
            </a:r>
            <a:r>
              <a:rPr lang="en-NL" sz="1400" b="1" u="sng" kern="1200" dirty="0">
                <a:solidFill>
                  <a:schemeClr val="tx1"/>
                </a:solidFill>
                <a:effectLst/>
                <a:latin typeface="+mn-lt"/>
                <a:ea typeface="+mn-ea"/>
                <a:cs typeface="+mn-cs"/>
              </a:rPr>
              <a:t>correlation</a:t>
            </a:r>
            <a:r>
              <a:rPr lang="en-NL" sz="1400" u="sng" kern="1200" dirty="0">
                <a:solidFill>
                  <a:schemeClr val="tx1"/>
                </a:solidFill>
                <a:effectLst/>
                <a:latin typeface="+mn-lt"/>
                <a:ea typeface="+mn-ea"/>
                <a:cs typeface="+mn-cs"/>
              </a:rPr>
              <a:t> between ICT exposure and persistent country heterogeneity</a:t>
            </a:r>
            <a:r>
              <a:rPr lang="en-US" sz="1400" u="sng" kern="1200" dirty="0">
                <a:solidFill>
                  <a:schemeClr val="tx1"/>
                </a:solidFill>
                <a:effectLst/>
                <a:latin typeface="+mn-lt"/>
                <a:ea typeface="+mn-ea"/>
                <a:cs typeface="+mn-cs"/>
              </a:rPr>
              <a:t> =&gt;  </a:t>
            </a:r>
            <a:r>
              <a:rPr lang="en-NL" sz="1200" kern="1200" dirty="0">
                <a:solidFill>
                  <a:schemeClr val="tx1"/>
                </a:solidFill>
                <a:effectLst/>
                <a:latin typeface="+mn-lt"/>
                <a:ea typeface="+mn-ea"/>
                <a:cs typeface="+mn-cs"/>
              </a:rPr>
              <a:t>FE probit </a:t>
            </a:r>
            <a:r>
              <a:rPr lang="en-US" sz="1200" kern="1200" dirty="0">
                <a:solidFill>
                  <a:schemeClr val="tx1"/>
                </a:solidFill>
                <a:effectLst/>
                <a:latin typeface="+mn-lt"/>
                <a:ea typeface="+mn-ea"/>
                <a:cs typeface="+mn-cs"/>
              </a:rPr>
              <a:t>model </a:t>
            </a:r>
            <a:r>
              <a:rPr lang="en-NL" sz="1200" kern="1200" dirty="0">
                <a:solidFill>
                  <a:schemeClr val="tx1"/>
                </a:solidFill>
                <a:effectLst/>
                <a:latin typeface="+mn-lt"/>
                <a:ea typeface="+mn-ea"/>
                <a:cs typeface="+mn-cs"/>
              </a:rPr>
              <a:t>estimates a separate intercept for </a:t>
            </a:r>
            <a:r>
              <a:rPr lang="en-US" sz="1200" kern="1200" dirty="0">
                <a:solidFill>
                  <a:schemeClr val="tx1"/>
                </a:solidFill>
                <a:effectLst/>
                <a:latin typeface="+mn-lt"/>
                <a:ea typeface="+mn-ea"/>
                <a:cs typeface="+mn-cs"/>
              </a:rPr>
              <a:t>each</a:t>
            </a:r>
            <a:r>
              <a:rPr lang="en-NL" sz="1200" kern="1200" dirty="0">
                <a:solidFill>
                  <a:schemeClr val="tx1"/>
                </a:solidFill>
                <a:effectLst/>
                <a:latin typeface="+mn-lt"/>
                <a:ea typeface="+mn-ea"/>
                <a:cs typeface="+mn-cs"/>
              </a:rPr>
              <a:t> country, whereas CRE probit assumes a normally distributed </a:t>
            </a:r>
            <a:r>
              <a:rPr lang="en-NL" sz="1200" b="1" kern="1200" dirty="0">
                <a:solidFill>
                  <a:schemeClr val="tx1"/>
                </a:solidFill>
                <a:effectLst/>
                <a:latin typeface="+mn-lt"/>
                <a:ea typeface="+mn-ea"/>
                <a:cs typeface="+mn-cs"/>
              </a:rPr>
              <a:t>country random intercept </a:t>
            </a:r>
            <a:r>
              <a:rPr lang="en-NL" sz="1200" kern="1200" dirty="0">
                <a:solidFill>
                  <a:schemeClr val="tx1"/>
                </a:solidFill>
                <a:effectLst/>
                <a:latin typeface="+mn-lt"/>
                <a:ea typeface="+mn-ea"/>
                <a:cs typeface="+mn-cs"/>
              </a:rPr>
              <a:t>and models its </a:t>
            </a:r>
            <a:r>
              <a:rPr lang="en-NL" sz="1200" b="1" kern="1200" dirty="0">
                <a:solidFill>
                  <a:schemeClr val="tx1"/>
                </a:solidFill>
                <a:effectLst/>
                <a:latin typeface="+mn-lt"/>
                <a:ea typeface="+mn-ea"/>
                <a:cs typeface="+mn-cs"/>
              </a:rPr>
              <a:t>correlation with the regressors through their country means</a:t>
            </a:r>
            <a:endParaRPr lang="nl-NL" sz="1400" b="1" dirty="0"/>
          </a:p>
        </p:txBody>
      </p:sp>
      <p:sp>
        <p:nvSpPr>
          <p:cNvPr id="4" name="Tijdelijke aanduiding voor dianummer 3">
            <a:extLst>
              <a:ext uri="{FF2B5EF4-FFF2-40B4-BE49-F238E27FC236}">
                <a16:creationId xmlns:a16="http://schemas.microsoft.com/office/drawing/2014/main" id="{7337F1BA-05B0-AA9C-28F9-DF416BB0B68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513F78-5509-4637-B397-C3DEABA56153}"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4336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894C5-5DF8-CF0D-9F40-18220F46836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585E70F-86F1-ABB3-C0A5-851B721BADB8}"/>
              </a:ext>
            </a:extLst>
          </p:cNvPr>
          <p:cNvSpPr>
            <a:spLocks noGrp="1" noRot="1" noChangeAspect="1"/>
          </p:cNvSpPr>
          <p:nvPr>
            <p:ph type="sldImg"/>
          </p:nvPr>
        </p:nvSpPr>
        <p:spPr/>
        <p:txBody>
          <a:bodyPr/>
          <a:lstStyle/>
          <a:p>
            <a:endParaRPr lang="en-US"/>
          </a:p>
        </p:txBody>
      </p:sp>
      <p:sp>
        <p:nvSpPr>
          <p:cNvPr id="3" name="Tijdelijke aanduiding voor notities 2">
            <a:extLst>
              <a:ext uri="{FF2B5EF4-FFF2-40B4-BE49-F238E27FC236}">
                <a16:creationId xmlns:a16="http://schemas.microsoft.com/office/drawing/2014/main" id="{0EE9CC7E-C39E-CD4E-A766-7DBE8097F989}"/>
              </a:ext>
            </a:extLst>
          </p:cNvPr>
          <p:cNvSpPr>
            <a:spLocks noGrp="1"/>
          </p:cNvSpPr>
          <p:nvPr>
            <p:ph type="body" idx="1"/>
          </p:nvPr>
        </p:nvSpPr>
        <p:spPr/>
        <p:txBody>
          <a:bodyPr/>
          <a:lstStyle/>
          <a:p>
            <a:pPr marL="171450" indent="-171450">
              <a:buFontTx/>
              <a:buChar char="-"/>
            </a:pPr>
            <a:endParaRPr lang="nl-NL" dirty="0"/>
          </a:p>
        </p:txBody>
      </p:sp>
      <p:sp>
        <p:nvSpPr>
          <p:cNvPr id="4" name="Tijdelijke aanduiding voor dianummer 3">
            <a:extLst>
              <a:ext uri="{FF2B5EF4-FFF2-40B4-BE49-F238E27FC236}">
                <a16:creationId xmlns:a16="http://schemas.microsoft.com/office/drawing/2014/main" id="{DFAF7B08-4D7D-35A3-3C73-1281369EA46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513F78-5509-4637-B397-C3DEABA56153}"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36278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96EA2-6791-8BA7-3E1D-8AA41841624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C2B42AB-3FC6-66F4-EDB9-3794F38C39E3}"/>
              </a:ext>
            </a:extLst>
          </p:cNvPr>
          <p:cNvSpPr>
            <a:spLocks noGrp="1" noRot="1" noChangeAspect="1"/>
          </p:cNvSpPr>
          <p:nvPr>
            <p:ph type="sldImg"/>
          </p:nvPr>
        </p:nvSpPr>
        <p:spPr/>
        <p:txBody>
          <a:bodyPr/>
          <a:lstStyle/>
          <a:p>
            <a:endParaRPr lang="en-US"/>
          </a:p>
        </p:txBody>
      </p:sp>
      <p:sp>
        <p:nvSpPr>
          <p:cNvPr id="3" name="Tijdelijke aanduiding voor notities 2">
            <a:extLst>
              <a:ext uri="{FF2B5EF4-FFF2-40B4-BE49-F238E27FC236}">
                <a16:creationId xmlns:a16="http://schemas.microsoft.com/office/drawing/2014/main" id="{76266033-F159-99E4-AB2E-A64BA45BAE07}"/>
              </a:ext>
            </a:extLst>
          </p:cNvPr>
          <p:cNvSpPr>
            <a:spLocks noGrp="1"/>
          </p:cNvSpPr>
          <p:nvPr>
            <p:ph type="body" idx="1"/>
          </p:nvPr>
        </p:nvSpPr>
        <p:spPr/>
        <p:txBody>
          <a:bodyPr/>
          <a:lstStyle/>
          <a:p>
            <a:pPr marL="171450" indent="-171450">
              <a:buFontTx/>
              <a:buChar char="-"/>
            </a:pPr>
            <a:endParaRPr lang="nl-NL"/>
          </a:p>
        </p:txBody>
      </p:sp>
      <p:sp>
        <p:nvSpPr>
          <p:cNvPr id="4" name="Tijdelijke aanduiding voor dianummer 3">
            <a:extLst>
              <a:ext uri="{FF2B5EF4-FFF2-40B4-BE49-F238E27FC236}">
                <a16:creationId xmlns:a16="http://schemas.microsoft.com/office/drawing/2014/main" id="{9271191F-9E85-0AC2-25F8-021F793E688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513F78-5509-4637-B397-C3DEABA56153}"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224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72A8A-A84A-97A5-1457-BC14F74B525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01C7A8D-4AD4-9718-24B4-E3DD7A672EF5}"/>
              </a:ext>
            </a:extLst>
          </p:cNvPr>
          <p:cNvSpPr>
            <a:spLocks noGrp="1" noRot="1" noChangeAspect="1"/>
          </p:cNvSpPr>
          <p:nvPr>
            <p:ph type="sldImg"/>
          </p:nvPr>
        </p:nvSpPr>
        <p:spPr/>
        <p:txBody>
          <a:bodyPr/>
          <a:lstStyle/>
          <a:p>
            <a:endParaRPr lang="en-US"/>
          </a:p>
        </p:txBody>
      </p:sp>
      <p:sp>
        <p:nvSpPr>
          <p:cNvPr id="3" name="Tijdelijke aanduiding voor notities 2">
            <a:extLst>
              <a:ext uri="{FF2B5EF4-FFF2-40B4-BE49-F238E27FC236}">
                <a16:creationId xmlns:a16="http://schemas.microsoft.com/office/drawing/2014/main" id="{45B00884-682F-ABB0-4450-31B342A5997F}"/>
              </a:ext>
            </a:extLst>
          </p:cNvPr>
          <p:cNvSpPr>
            <a:spLocks noGrp="1"/>
          </p:cNvSpPr>
          <p:nvPr>
            <p:ph type="body" idx="1"/>
          </p:nvPr>
        </p:nvSpPr>
        <p:spPr/>
        <p:txBody>
          <a:bodyPr/>
          <a:lstStyle/>
          <a:p>
            <a:pPr marL="171450" indent="-171450">
              <a:buFontTx/>
              <a:buChar char="-"/>
            </a:pPr>
            <a:endParaRPr lang="nl-NL"/>
          </a:p>
        </p:txBody>
      </p:sp>
      <p:sp>
        <p:nvSpPr>
          <p:cNvPr id="4" name="Tijdelijke aanduiding voor dianummer 3">
            <a:extLst>
              <a:ext uri="{FF2B5EF4-FFF2-40B4-BE49-F238E27FC236}">
                <a16:creationId xmlns:a16="http://schemas.microsoft.com/office/drawing/2014/main" id="{9540CA2C-E628-470B-77EC-A64F9E7DE84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513F78-5509-4637-B397-C3DEABA56153}"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2742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F11D1-111C-2097-AF1B-AC0E2514559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33E7C0D-B7FA-4003-29ED-9A68D1D38643}"/>
              </a:ext>
            </a:extLst>
          </p:cNvPr>
          <p:cNvSpPr>
            <a:spLocks noGrp="1" noRot="1" noChangeAspect="1"/>
          </p:cNvSpPr>
          <p:nvPr>
            <p:ph type="sldImg"/>
          </p:nvPr>
        </p:nvSpPr>
        <p:spPr/>
        <p:txBody>
          <a:bodyPr/>
          <a:lstStyle/>
          <a:p>
            <a:endParaRPr lang="en-US"/>
          </a:p>
        </p:txBody>
      </p:sp>
      <p:sp>
        <p:nvSpPr>
          <p:cNvPr id="3" name="Tijdelijke aanduiding voor notities 2">
            <a:extLst>
              <a:ext uri="{FF2B5EF4-FFF2-40B4-BE49-F238E27FC236}">
                <a16:creationId xmlns:a16="http://schemas.microsoft.com/office/drawing/2014/main" id="{1D2409FC-30BF-11D2-8F14-E878B41EDE03}"/>
              </a:ext>
            </a:extLst>
          </p:cNvPr>
          <p:cNvSpPr>
            <a:spLocks noGrp="1"/>
          </p:cNvSpPr>
          <p:nvPr>
            <p:ph type="body" idx="1"/>
          </p:nvPr>
        </p:nvSpPr>
        <p:spPr/>
        <p:txBody>
          <a:bodyPr/>
          <a:lstStyle/>
          <a:p>
            <a:pPr marL="0" indent="0">
              <a:buFontTx/>
              <a:buNone/>
            </a:pPr>
            <a:endParaRPr lang="nl-NL" i="0" baseline="0"/>
          </a:p>
        </p:txBody>
      </p:sp>
      <p:sp>
        <p:nvSpPr>
          <p:cNvPr id="4" name="Tijdelijke aanduiding voor dianummer 3">
            <a:extLst>
              <a:ext uri="{FF2B5EF4-FFF2-40B4-BE49-F238E27FC236}">
                <a16:creationId xmlns:a16="http://schemas.microsoft.com/office/drawing/2014/main" id="{F7DB7752-4697-5BFC-EE65-CBB78901BE3F}"/>
              </a:ext>
            </a:extLst>
          </p:cNvPr>
          <p:cNvSpPr>
            <a:spLocks noGrp="1"/>
          </p:cNvSpPr>
          <p:nvPr>
            <p:ph type="sldNum" sz="quarter" idx="10"/>
          </p:nvPr>
        </p:nvSpPr>
        <p:spPr/>
        <p:txBody>
          <a:bodyPr/>
          <a:lstStyle/>
          <a:p>
            <a:fld id="{F9513F78-5509-4637-B397-C3DEABA56153}" type="slidenum">
              <a:rPr lang="nl-NL" smtClean="0">
                <a:solidFill>
                  <a:prstClr val="black"/>
                </a:solidFill>
              </a:rPr>
              <a:pPr/>
              <a:t>14</a:t>
            </a:fld>
            <a:endParaRPr lang="nl-NL">
              <a:solidFill>
                <a:prstClr val="black"/>
              </a:solidFill>
            </a:endParaRPr>
          </a:p>
        </p:txBody>
      </p:sp>
    </p:spTree>
    <p:extLst>
      <p:ext uri="{BB962C8B-B14F-4D97-AF65-F5344CB8AC3E}">
        <p14:creationId xmlns:p14="http://schemas.microsoft.com/office/powerpoint/2010/main" val="787970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DE61E-40DD-9FCB-7415-8004BAD0958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4660F3A-AA3B-1B45-807B-E34E346A9402}"/>
              </a:ext>
            </a:extLst>
          </p:cNvPr>
          <p:cNvSpPr>
            <a:spLocks noGrp="1" noRot="1" noChangeAspect="1"/>
          </p:cNvSpPr>
          <p:nvPr>
            <p:ph type="sldImg"/>
          </p:nvPr>
        </p:nvSpPr>
        <p:spPr/>
        <p:txBody>
          <a:bodyPr/>
          <a:lstStyle/>
          <a:p>
            <a:endParaRPr lang="en-US"/>
          </a:p>
        </p:txBody>
      </p:sp>
      <p:sp>
        <p:nvSpPr>
          <p:cNvPr id="3" name="Tijdelijke aanduiding voor notities 2">
            <a:extLst>
              <a:ext uri="{FF2B5EF4-FFF2-40B4-BE49-F238E27FC236}">
                <a16:creationId xmlns:a16="http://schemas.microsoft.com/office/drawing/2014/main" id="{A2CDDDEC-3085-D7C1-3586-164751189CA0}"/>
              </a:ext>
            </a:extLst>
          </p:cNvPr>
          <p:cNvSpPr>
            <a:spLocks noGrp="1"/>
          </p:cNvSpPr>
          <p:nvPr>
            <p:ph type="body" idx="1"/>
          </p:nvPr>
        </p:nvSpPr>
        <p:spPr/>
        <p:txBody>
          <a:bodyPr/>
          <a:lstStyle/>
          <a:p>
            <a:pPr marL="0" indent="0">
              <a:buFontTx/>
              <a:buNone/>
            </a:pPr>
            <a:endParaRPr lang="nl-NL" i="0" baseline="0"/>
          </a:p>
        </p:txBody>
      </p:sp>
      <p:sp>
        <p:nvSpPr>
          <p:cNvPr id="4" name="Tijdelijke aanduiding voor dianummer 3">
            <a:extLst>
              <a:ext uri="{FF2B5EF4-FFF2-40B4-BE49-F238E27FC236}">
                <a16:creationId xmlns:a16="http://schemas.microsoft.com/office/drawing/2014/main" id="{1BC49F77-D952-93CD-01F1-A7374ECB05C7}"/>
              </a:ext>
            </a:extLst>
          </p:cNvPr>
          <p:cNvSpPr>
            <a:spLocks noGrp="1"/>
          </p:cNvSpPr>
          <p:nvPr>
            <p:ph type="sldNum" sz="quarter" idx="10"/>
          </p:nvPr>
        </p:nvSpPr>
        <p:spPr/>
        <p:txBody>
          <a:bodyPr/>
          <a:lstStyle/>
          <a:p>
            <a:fld id="{F9513F78-5509-4637-B397-C3DEABA56153}" type="slidenum">
              <a:rPr lang="nl-NL" smtClean="0">
                <a:solidFill>
                  <a:prstClr val="black"/>
                </a:solidFill>
              </a:rPr>
              <a:pPr/>
              <a:t>15</a:t>
            </a:fld>
            <a:endParaRPr lang="nl-NL">
              <a:solidFill>
                <a:prstClr val="black"/>
              </a:solidFill>
            </a:endParaRPr>
          </a:p>
        </p:txBody>
      </p:sp>
    </p:spTree>
    <p:extLst>
      <p:ext uri="{BB962C8B-B14F-4D97-AF65-F5344CB8AC3E}">
        <p14:creationId xmlns:p14="http://schemas.microsoft.com/office/powerpoint/2010/main" val="16498637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0B703-6763-3A02-0CD1-2AA5E1B12EC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4C337D0-D3BF-4189-B369-1E9D295871F0}"/>
              </a:ext>
            </a:extLst>
          </p:cNvPr>
          <p:cNvSpPr>
            <a:spLocks noGrp="1" noRot="1" noChangeAspect="1"/>
          </p:cNvSpPr>
          <p:nvPr>
            <p:ph type="sldImg"/>
          </p:nvPr>
        </p:nvSpPr>
        <p:spPr/>
        <p:txBody>
          <a:bodyPr/>
          <a:lstStyle/>
          <a:p>
            <a:endParaRPr lang="en-US"/>
          </a:p>
        </p:txBody>
      </p:sp>
      <p:sp>
        <p:nvSpPr>
          <p:cNvPr id="3" name="Tijdelijke aanduiding voor notities 2">
            <a:extLst>
              <a:ext uri="{FF2B5EF4-FFF2-40B4-BE49-F238E27FC236}">
                <a16:creationId xmlns:a16="http://schemas.microsoft.com/office/drawing/2014/main" id="{14911D73-3315-29CE-AA78-CA06D883825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i="0" baseline="0" dirty="0"/>
          </a:p>
        </p:txBody>
      </p:sp>
      <p:sp>
        <p:nvSpPr>
          <p:cNvPr id="4" name="Tijdelijke aanduiding voor dianummer 3">
            <a:extLst>
              <a:ext uri="{FF2B5EF4-FFF2-40B4-BE49-F238E27FC236}">
                <a16:creationId xmlns:a16="http://schemas.microsoft.com/office/drawing/2014/main" id="{DDB81D25-FC8A-9EA8-7378-54154F5B79F8}"/>
              </a:ext>
            </a:extLst>
          </p:cNvPr>
          <p:cNvSpPr>
            <a:spLocks noGrp="1"/>
          </p:cNvSpPr>
          <p:nvPr>
            <p:ph type="sldNum" sz="quarter" idx="10"/>
          </p:nvPr>
        </p:nvSpPr>
        <p:spPr/>
        <p:txBody>
          <a:bodyPr/>
          <a:lstStyle/>
          <a:p>
            <a:fld id="{F9513F78-5509-4637-B397-C3DEABA56153}" type="slidenum">
              <a:rPr lang="nl-NL" smtClean="0">
                <a:solidFill>
                  <a:prstClr val="black"/>
                </a:solidFill>
              </a:rPr>
              <a:pPr/>
              <a:t>16</a:t>
            </a:fld>
            <a:endParaRPr lang="nl-NL">
              <a:solidFill>
                <a:prstClr val="black"/>
              </a:solidFill>
            </a:endParaRPr>
          </a:p>
        </p:txBody>
      </p:sp>
    </p:spTree>
    <p:extLst>
      <p:ext uri="{BB962C8B-B14F-4D97-AF65-F5344CB8AC3E}">
        <p14:creationId xmlns:p14="http://schemas.microsoft.com/office/powerpoint/2010/main" val="3493946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36740-ACF0-1F8D-EFE0-B2B9B646E6D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4242CD5-8079-4695-C2BE-761D6D79ACDF}"/>
              </a:ext>
            </a:extLst>
          </p:cNvPr>
          <p:cNvSpPr>
            <a:spLocks noGrp="1" noRot="1" noChangeAspect="1"/>
          </p:cNvSpPr>
          <p:nvPr>
            <p:ph type="sldImg"/>
          </p:nvPr>
        </p:nvSpPr>
        <p:spPr/>
        <p:txBody>
          <a:bodyPr/>
          <a:lstStyle/>
          <a:p>
            <a:endParaRPr lang="en-US"/>
          </a:p>
        </p:txBody>
      </p:sp>
      <p:sp>
        <p:nvSpPr>
          <p:cNvPr id="3" name="Tijdelijke aanduiding voor notities 2">
            <a:extLst>
              <a:ext uri="{FF2B5EF4-FFF2-40B4-BE49-F238E27FC236}">
                <a16:creationId xmlns:a16="http://schemas.microsoft.com/office/drawing/2014/main" id="{7953C6CF-2BBF-0983-ABCB-AAD49ED7E86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noProof="1">
                <a:latin typeface="Arial" panose="020B0604020202020204" pitchFamily="34" charset="0"/>
                <a:ea typeface="Verdana" panose="020B0604030504040204" pitchFamily="34" charset="0"/>
                <a:cs typeface="Arial" panose="020B0604020202020204" pitchFamily="34" charset="0"/>
              </a:rPr>
              <a:t>Robustness check with CPA data (goods) intra + extra-EA trade for the 10 countries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CPA 2.2 261 Electronic components and boards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CPA 2.2 262 Computers and peripheral equipment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nl-NL" sz="1200" noProof="1">
                <a:latin typeface="Arial" panose="020B0604020202020204" pitchFamily="34" charset="0"/>
                <a:ea typeface="Verdana" panose="020B0604030504040204" pitchFamily="34" charset="0"/>
                <a:cs typeface="Arial" panose="020B0604020202020204" pitchFamily="34" charset="0"/>
              </a:rPr>
              <a:t>CPA 2.2 2899  </a:t>
            </a:r>
            <a:r>
              <a:rPr lang="en-NL" sz="1200" b="0" i="0" kern="1200" dirty="0">
                <a:solidFill>
                  <a:schemeClr val="tx1"/>
                </a:solidFill>
                <a:effectLst/>
                <a:latin typeface="+mn-lt"/>
                <a:ea typeface="+mn-ea"/>
                <a:cs typeface="+mn-cs"/>
              </a:rPr>
              <a:t>Other special-purpose machinery </a:t>
            </a:r>
            <a:r>
              <a:rPr lang="en-NL" sz="1200" b="0" i="0" kern="1200" dirty="0" err="1">
                <a:solidFill>
                  <a:schemeClr val="tx1"/>
                </a:solidFill>
                <a:effectLst/>
                <a:latin typeface="+mn-lt"/>
                <a:ea typeface="+mn-ea"/>
                <a:cs typeface="+mn-cs"/>
              </a:rPr>
              <a:t>n.e.c.</a:t>
            </a:r>
            <a:endParaRPr lang="en-NL"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noProof="1">
                <a:latin typeface="Arial" panose="020B0604020202020204" pitchFamily="34" charset="0"/>
                <a:ea typeface="Verdana" panose="020B0604030504040204" pitchFamily="34" charset="0"/>
                <a:cs typeface="Arial" panose="020B0604020202020204" pitchFamily="34" charset="0"/>
              </a:rPr>
              <a:t>Data for computer services (Eurostat: EBOPS, </a:t>
            </a:r>
            <a:r>
              <a:rPr lang="en-NL" sz="1200" b="0" i="0" kern="1200" dirty="0">
                <a:solidFill>
                  <a:schemeClr val="tx1"/>
                </a:solidFill>
                <a:effectLst/>
                <a:latin typeface="+mn-lt"/>
                <a:ea typeface="+mn-ea"/>
                <a:cs typeface="+mn-cs"/>
              </a:rPr>
              <a:t>International Trade in Services, ITS</a:t>
            </a:r>
            <a:r>
              <a:rPr lang="en-US" sz="1200" b="0" i="0" kern="1200" dirty="0">
                <a:solidFill>
                  <a:schemeClr val="tx1"/>
                </a:solidFill>
                <a:effectLst/>
                <a:latin typeface="+mn-lt"/>
                <a:ea typeface="+mn-ea"/>
                <a:cs typeface="+mn-cs"/>
              </a:rPr>
              <a:t> are just limitedly available (for some countries just starting in 2013, while 2025 data is not yet available for any country)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=&gt; to fetch these data =&gt;collect_ai_data_eur_serv.py // spreadsheet with data including services = ai_data_eur_serv.xls</a:t>
            </a:r>
            <a:endParaRPr lang="nl-NL" i="0" baseline="0" dirty="0"/>
          </a:p>
        </p:txBody>
      </p:sp>
      <p:sp>
        <p:nvSpPr>
          <p:cNvPr id="4" name="Tijdelijke aanduiding voor dianummer 3">
            <a:extLst>
              <a:ext uri="{FF2B5EF4-FFF2-40B4-BE49-F238E27FC236}">
                <a16:creationId xmlns:a16="http://schemas.microsoft.com/office/drawing/2014/main" id="{2CF62F4D-F0F1-75BD-73A5-CA318506320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513F78-5509-4637-B397-C3DEABA56153}"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62185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eldiaDNBGrijs2">
    <p:bg>
      <p:bgPr>
        <a:solidFill>
          <a:srgbClr val="B8450E"/>
        </a:solidFill>
        <a:effectLst/>
      </p:bgPr>
    </p:bg>
    <p:spTree>
      <p:nvGrpSpPr>
        <p:cNvPr id="1" name=""/>
        <p:cNvGrpSpPr/>
        <p:nvPr/>
      </p:nvGrpSpPr>
      <p:grpSpPr>
        <a:xfrm>
          <a:off x="0" y="0"/>
          <a:ext cx="0" cy="0"/>
          <a:chOff x="0" y="0"/>
          <a:chExt cx="0" cy="0"/>
        </a:xfrm>
      </p:grpSpPr>
      <p:sp>
        <p:nvSpPr>
          <p:cNvPr id="9" name="Rechthoek 8"/>
          <p:cNvSpPr/>
          <p:nvPr userDrawn="1"/>
        </p:nvSpPr>
        <p:spPr bwMode="gray">
          <a:xfrm>
            <a:off x="316829" y="2202312"/>
            <a:ext cx="7912770" cy="2446339"/>
          </a:xfrm>
          <a:prstGeom prst="rect">
            <a:avLst/>
          </a:prstGeom>
          <a:solidFill>
            <a:srgbClr val="410099"/>
          </a:solidFill>
          <a:ln>
            <a:noFill/>
          </a:ln>
        </p:spPr>
        <p:style>
          <a:lnRef idx="2">
            <a:schemeClr val="accent5">
              <a:shade val="50000"/>
            </a:schemeClr>
          </a:lnRef>
          <a:fillRef idx="1">
            <a:schemeClr val="accent5"/>
          </a:fillRef>
          <a:effectRef idx="0">
            <a:schemeClr val="accent5"/>
          </a:effectRef>
          <a:fontRef idx="minor">
            <a:schemeClr val="lt1"/>
          </a:fontRef>
        </p:style>
        <p:txBody>
          <a:bodyPr lIns="201600" rIns="201600" rtlCol="0" anchor="ctr"/>
          <a:lstStyle/>
          <a:p>
            <a:pPr algn="ctr"/>
            <a:endParaRPr lang="nl-NL" sz="2400">
              <a:solidFill>
                <a:prstClr val="white"/>
              </a:solidFill>
            </a:endParaRPr>
          </a:p>
        </p:txBody>
      </p:sp>
      <p:pic>
        <p:nvPicPr>
          <p:cNvPr id="10" name="Picture 2" descr="R:\Projecten\000_TID_DNBPPT\van_tid\DNB_merkteken_pos_eurosysteemwit_rgb-groot.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gray">
          <a:xfrm>
            <a:off x="308808" y="4765514"/>
            <a:ext cx="2438400" cy="781050"/>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p:cNvSpPr txBox="1">
            <a:spLocks/>
          </p:cNvSpPr>
          <p:nvPr userDrawn="1"/>
        </p:nvSpPr>
        <p:spPr bwMode="gray">
          <a:xfrm>
            <a:off x="323528" y="4149080"/>
            <a:ext cx="7912769" cy="508747"/>
          </a:xfrm>
          <a:prstGeom prst="rect">
            <a:avLst/>
          </a:prstGeom>
          <a:noFill/>
          <a:ln>
            <a:noFill/>
          </a:ln>
        </p:spPr>
        <p:txBody>
          <a:bodyPr vert="horz" lIns="201600" tIns="0" rIns="201600" bIns="0" rtlCol="0" anchor="t" anchorCtr="0">
            <a:normAutofit/>
          </a:bodyPr>
          <a:lstStyle>
            <a:lvl1pPr algn="l" defTabSz="914400" rtl="0" eaLnBrk="1" latinLnBrk="0" hangingPunct="1">
              <a:lnSpc>
                <a:spcPts val="3750"/>
              </a:lnSpc>
              <a:spcBef>
                <a:spcPct val="0"/>
              </a:spcBef>
              <a:buNone/>
              <a:defRPr sz="3200" kern="1200">
                <a:solidFill>
                  <a:srgbClr val="EAE7F4"/>
                </a:solidFill>
                <a:latin typeface="+mj-lt"/>
                <a:ea typeface="+mj-ea"/>
                <a:cs typeface="+mj-cs"/>
              </a:defRPr>
            </a:lvl1pPr>
          </a:lstStyle>
          <a:p>
            <a:r>
              <a:rPr lang="nl-NL" sz="2800"/>
              <a:t>Vooruitzichten </a:t>
            </a:r>
            <a:endParaRPr lang="en-US" sz="2800"/>
          </a:p>
        </p:txBody>
      </p:sp>
      <p:sp>
        <p:nvSpPr>
          <p:cNvPr id="15" name="Title 1"/>
          <p:cNvSpPr txBox="1">
            <a:spLocks/>
          </p:cNvSpPr>
          <p:nvPr userDrawn="1"/>
        </p:nvSpPr>
        <p:spPr bwMode="gray">
          <a:xfrm>
            <a:off x="323528" y="3645024"/>
            <a:ext cx="7912769" cy="508747"/>
          </a:xfrm>
          <a:prstGeom prst="rect">
            <a:avLst/>
          </a:prstGeom>
          <a:noFill/>
          <a:ln>
            <a:noFill/>
          </a:ln>
        </p:spPr>
        <p:txBody>
          <a:bodyPr vert="horz" lIns="201600" tIns="0" rIns="201600" bIns="0" rtlCol="0" anchor="t" anchorCtr="0">
            <a:normAutofit/>
          </a:bodyPr>
          <a:lstStyle>
            <a:lvl1pPr algn="l" defTabSz="914400" rtl="0" eaLnBrk="1" latinLnBrk="0" hangingPunct="1">
              <a:lnSpc>
                <a:spcPts val="3750"/>
              </a:lnSpc>
              <a:spcBef>
                <a:spcPct val="0"/>
              </a:spcBef>
              <a:buNone/>
              <a:defRPr sz="3200" kern="1200">
                <a:solidFill>
                  <a:srgbClr val="EAE7F4"/>
                </a:solidFill>
                <a:latin typeface="+mj-lt"/>
                <a:ea typeface="+mj-ea"/>
                <a:cs typeface="+mj-cs"/>
              </a:defRPr>
            </a:lvl1pPr>
          </a:lstStyle>
          <a:p>
            <a:r>
              <a:rPr lang="nl-NL" sz="2800"/>
              <a:t>Ontwikkelingen en</a:t>
            </a:r>
            <a:endParaRPr lang="en-US" sz="2800"/>
          </a:p>
        </p:txBody>
      </p:sp>
      <p:sp>
        <p:nvSpPr>
          <p:cNvPr id="16" name="Title 1"/>
          <p:cNvSpPr txBox="1">
            <a:spLocks/>
          </p:cNvSpPr>
          <p:nvPr userDrawn="1"/>
        </p:nvSpPr>
        <p:spPr bwMode="gray">
          <a:xfrm>
            <a:off x="323528" y="3136277"/>
            <a:ext cx="7912769" cy="508747"/>
          </a:xfrm>
          <a:prstGeom prst="rect">
            <a:avLst/>
          </a:prstGeom>
          <a:noFill/>
          <a:ln>
            <a:noFill/>
          </a:ln>
        </p:spPr>
        <p:txBody>
          <a:bodyPr vert="horz" lIns="201600" tIns="0" rIns="201600" bIns="0" rtlCol="0" anchor="t" anchorCtr="0">
            <a:normAutofit/>
          </a:bodyPr>
          <a:lstStyle>
            <a:lvl1pPr algn="l" defTabSz="914400" rtl="0" eaLnBrk="1" latinLnBrk="0" hangingPunct="1">
              <a:lnSpc>
                <a:spcPts val="3750"/>
              </a:lnSpc>
              <a:spcBef>
                <a:spcPct val="0"/>
              </a:spcBef>
              <a:buNone/>
              <a:defRPr sz="3200" kern="1200">
                <a:solidFill>
                  <a:srgbClr val="EAE7F4"/>
                </a:solidFill>
                <a:latin typeface="+mj-lt"/>
                <a:ea typeface="+mj-ea"/>
                <a:cs typeface="+mj-cs"/>
              </a:defRPr>
            </a:lvl1pPr>
          </a:lstStyle>
          <a:p>
            <a:r>
              <a:rPr lang="nl-NL" sz="2800"/>
              <a:t>Economische </a:t>
            </a:r>
            <a:endParaRPr lang="en-US" sz="2800"/>
          </a:p>
        </p:txBody>
      </p:sp>
    </p:spTree>
    <p:extLst>
      <p:ext uri="{BB962C8B-B14F-4D97-AF65-F5344CB8AC3E}">
        <p14:creationId xmlns:p14="http://schemas.microsoft.com/office/powerpoint/2010/main" val="3725265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eldiaDNBGrijs2">
    <p:bg>
      <p:bgPr>
        <a:solidFill>
          <a:srgbClr val="84CDC7"/>
        </a:solidFill>
        <a:effectLst/>
      </p:bgPr>
    </p:bg>
    <p:spTree>
      <p:nvGrpSpPr>
        <p:cNvPr id="1" name=""/>
        <p:cNvGrpSpPr/>
        <p:nvPr/>
      </p:nvGrpSpPr>
      <p:grpSpPr>
        <a:xfrm>
          <a:off x="0" y="0"/>
          <a:ext cx="0" cy="0"/>
          <a:chOff x="0" y="0"/>
          <a:chExt cx="0" cy="0"/>
        </a:xfrm>
      </p:grpSpPr>
      <p:sp>
        <p:nvSpPr>
          <p:cNvPr id="9" name="Rechthoek 8"/>
          <p:cNvSpPr/>
          <p:nvPr userDrawn="1"/>
        </p:nvSpPr>
        <p:spPr bwMode="gray">
          <a:xfrm>
            <a:off x="712995" y="3751911"/>
            <a:ext cx="5383005" cy="1761921"/>
          </a:xfrm>
          <a:prstGeom prst="rect">
            <a:avLst/>
          </a:prstGeom>
          <a:solidFill>
            <a:srgbClr val="410099"/>
          </a:solidFill>
          <a:ln>
            <a:noFill/>
          </a:ln>
        </p:spPr>
        <p:style>
          <a:lnRef idx="2">
            <a:schemeClr val="accent5">
              <a:shade val="50000"/>
            </a:schemeClr>
          </a:lnRef>
          <a:fillRef idx="1">
            <a:schemeClr val="accent5"/>
          </a:fillRef>
          <a:effectRef idx="0">
            <a:schemeClr val="accent5"/>
          </a:effectRef>
          <a:fontRef idx="minor">
            <a:schemeClr val="lt1"/>
          </a:fontRef>
        </p:style>
        <p:txBody>
          <a:bodyPr lIns="201600" rIns="201600" rtlCol="0" anchor="ctr"/>
          <a:lstStyle/>
          <a:p>
            <a:pPr algn="ctr"/>
            <a:endParaRPr lang="nl-NL" sz="2400">
              <a:solidFill>
                <a:prstClr val="white"/>
              </a:solidFill>
            </a:endParaRPr>
          </a:p>
        </p:txBody>
      </p:sp>
      <p:pic>
        <p:nvPicPr>
          <p:cNvPr id="10" name="Picture 2" descr="R:\Projecten\000_TID_DNBPPT\van_tid\DNB_merkteken_pos_eurosysteemwit_rgb-groot.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gray">
          <a:xfrm>
            <a:off x="712995" y="5611401"/>
            <a:ext cx="2438400" cy="781050"/>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p:cNvSpPr txBox="1">
            <a:spLocks/>
          </p:cNvSpPr>
          <p:nvPr userDrawn="1"/>
        </p:nvSpPr>
        <p:spPr bwMode="gray">
          <a:xfrm>
            <a:off x="645257" y="4952296"/>
            <a:ext cx="7912769" cy="508747"/>
          </a:xfrm>
          <a:prstGeom prst="rect">
            <a:avLst/>
          </a:prstGeom>
          <a:noFill/>
          <a:ln>
            <a:noFill/>
          </a:ln>
        </p:spPr>
        <p:txBody>
          <a:bodyPr vert="horz" lIns="201600" tIns="0" rIns="201600" bIns="0" rtlCol="0" anchor="t" anchorCtr="0">
            <a:normAutofit/>
          </a:bodyPr>
          <a:lstStyle>
            <a:lvl1pPr algn="l" defTabSz="914400" rtl="0" eaLnBrk="1" latinLnBrk="0" hangingPunct="1">
              <a:lnSpc>
                <a:spcPts val="3750"/>
              </a:lnSpc>
              <a:spcBef>
                <a:spcPct val="0"/>
              </a:spcBef>
              <a:buNone/>
              <a:defRPr sz="3200" kern="1200">
                <a:solidFill>
                  <a:srgbClr val="EAE7F4"/>
                </a:solidFill>
                <a:latin typeface="+mj-lt"/>
                <a:ea typeface="+mj-ea"/>
                <a:cs typeface="+mj-cs"/>
              </a:defRPr>
            </a:lvl1pPr>
          </a:lstStyle>
          <a:p>
            <a:r>
              <a:rPr lang="nl-NL" sz="2800"/>
              <a:t>Vooruitzichten </a:t>
            </a:r>
            <a:endParaRPr lang="en-US" sz="2800"/>
          </a:p>
        </p:txBody>
      </p:sp>
      <p:sp>
        <p:nvSpPr>
          <p:cNvPr id="15" name="Title 1"/>
          <p:cNvSpPr txBox="1">
            <a:spLocks/>
          </p:cNvSpPr>
          <p:nvPr userDrawn="1"/>
        </p:nvSpPr>
        <p:spPr bwMode="gray">
          <a:xfrm>
            <a:off x="645256" y="4531027"/>
            <a:ext cx="7912769" cy="508747"/>
          </a:xfrm>
          <a:prstGeom prst="rect">
            <a:avLst/>
          </a:prstGeom>
          <a:noFill/>
          <a:ln>
            <a:noFill/>
          </a:ln>
        </p:spPr>
        <p:txBody>
          <a:bodyPr vert="horz" lIns="201600" tIns="0" rIns="201600" bIns="0" rtlCol="0" anchor="t" anchorCtr="0">
            <a:normAutofit/>
          </a:bodyPr>
          <a:lstStyle>
            <a:lvl1pPr algn="l" defTabSz="914400" rtl="0" eaLnBrk="1" latinLnBrk="0" hangingPunct="1">
              <a:lnSpc>
                <a:spcPts val="3750"/>
              </a:lnSpc>
              <a:spcBef>
                <a:spcPct val="0"/>
              </a:spcBef>
              <a:buNone/>
              <a:defRPr sz="3200" kern="1200">
                <a:solidFill>
                  <a:srgbClr val="EAE7F4"/>
                </a:solidFill>
                <a:latin typeface="+mj-lt"/>
                <a:ea typeface="+mj-ea"/>
                <a:cs typeface="+mj-cs"/>
              </a:defRPr>
            </a:lvl1pPr>
          </a:lstStyle>
          <a:p>
            <a:r>
              <a:rPr lang="nl-NL" sz="2800"/>
              <a:t>Ontwikkelingen en</a:t>
            </a:r>
            <a:endParaRPr lang="en-US" sz="2800"/>
          </a:p>
        </p:txBody>
      </p:sp>
      <p:sp>
        <p:nvSpPr>
          <p:cNvPr id="16" name="Title 1"/>
          <p:cNvSpPr txBox="1">
            <a:spLocks/>
          </p:cNvSpPr>
          <p:nvPr userDrawn="1"/>
        </p:nvSpPr>
        <p:spPr bwMode="gray">
          <a:xfrm>
            <a:off x="645256" y="4124124"/>
            <a:ext cx="7912769" cy="508747"/>
          </a:xfrm>
          <a:prstGeom prst="rect">
            <a:avLst/>
          </a:prstGeom>
          <a:noFill/>
          <a:ln>
            <a:noFill/>
          </a:ln>
        </p:spPr>
        <p:txBody>
          <a:bodyPr vert="horz" lIns="201600" tIns="0" rIns="201600" bIns="0" rtlCol="0" anchor="t" anchorCtr="0">
            <a:normAutofit/>
          </a:bodyPr>
          <a:lstStyle>
            <a:lvl1pPr algn="l" defTabSz="914400" rtl="0" eaLnBrk="1" latinLnBrk="0" hangingPunct="1">
              <a:lnSpc>
                <a:spcPts val="3750"/>
              </a:lnSpc>
              <a:spcBef>
                <a:spcPct val="0"/>
              </a:spcBef>
              <a:buNone/>
              <a:defRPr sz="3200" kern="1200">
                <a:solidFill>
                  <a:srgbClr val="EAE7F4"/>
                </a:solidFill>
                <a:latin typeface="+mj-lt"/>
                <a:ea typeface="+mj-ea"/>
                <a:cs typeface="+mj-cs"/>
              </a:defRPr>
            </a:lvl1pPr>
          </a:lstStyle>
          <a:p>
            <a:r>
              <a:rPr lang="nl-NL" sz="2800"/>
              <a:t>Economische </a:t>
            </a:r>
            <a:endParaRPr lang="en-US" sz="2800"/>
          </a:p>
        </p:txBody>
      </p:sp>
    </p:spTree>
    <p:extLst>
      <p:ext uri="{BB962C8B-B14F-4D97-AF65-F5344CB8AC3E}">
        <p14:creationId xmlns:p14="http://schemas.microsoft.com/office/powerpoint/2010/main" val="401840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de stijl te bewerken</a:t>
            </a:r>
            <a:endParaRPr lang="en-US"/>
          </a:p>
        </p:txBody>
      </p:sp>
      <p:sp>
        <p:nvSpPr>
          <p:cNvPr id="3" name="Content Placeholder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Date Placeholder 3"/>
          <p:cNvSpPr>
            <a:spLocks noGrp="1"/>
          </p:cNvSpPr>
          <p:nvPr>
            <p:ph type="dt" sz="half" idx="2"/>
          </p:nvPr>
        </p:nvSpPr>
        <p:spPr>
          <a:xfrm>
            <a:off x="7417599" y="6418800"/>
            <a:ext cx="1314182" cy="146200"/>
          </a:xfrm>
          <a:prstGeom prst="rect">
            <a:avLst/>
          </a:prstGeom>
        </p:spPr>
        <p:txBody>
          <a:bodyPr vert="horz" lIns="0" tIns="0" rIns="0" bIns="0" rtlCol="0" anchor="t" anchorCtr="0"/>
          <a:lstStyle>
            <a:lvl1pPr algn="r">
              <a:defRPr sz="1050">
                <a:solidFill>
                  <a:schemeClr val="tx1"/>
                </a:solidFill>
              </a:defRPr>
            </a:lvl1pPr>
          </a:lstStyle>
          <a:p>
            <a:r>
              <a:rPr lang="en-US"/>
              <a:t>&lt;d maand&gt; 2015</a:t>
            </a:r>
            <a:endParaRPr lang="nl-NL"/>
          </a:p>
        </p:txBody>
      </p:sp>
      <p:sp>
        <p:nvSpPr>
          <p:cNvPr id="8" name="Footer Placeholder 4"/>
          <p:cNvSpPr>
            <a:spLocks noGrp="1"/>
          </p:cNvSpPr>
          <p:nvPr>
            <p:ph type="ftr" sz="quarter" idx="3"/>
          </p:nvPr>
        </p:nvSpPr>
        <p:spPr>
          <a:xfrm>
            <a:off x="2912882" y="6418800"/>
            <a:ext cx="4506016" cy="147600"/>
          </a:xfrm>
          <a:prstGeom prst="rect">
            <a:avLst/>
          </a:prstGeom>
        </p:spPr>
        <p:txBody>
          <a:bodyPr vert="horz" lIns="0" tIns="0" rIns="0" bIns="0" rtlCol="0" anchor="t" anchorCtr="0"/>
          <a:lstStyle>
            <a:lvl1pPr algn="r">
              <a:defRPr sz="1050">
                <a:solidFill>
                  <a:schemeClr val="tx1"/>
                </a:solidFill>
              </a:defRPr>
            </a:lvl1pPr>
          </a:lstStyle>
          <a:p>
            <a:r>
              <a:rPr lang="nl-NL"/>
              <a:t>kies Invoegen-&gt;'Koptekst en voettekst' voor &lt;auteur, functie&gt; en</a:t>
            </a:r>
          </a:p>
        </p:txBody>
      </p:sp>
      <p:sp>
        <p:nvSpPr>
          <p:cNvPr id="9" name="Slide Number Placeholder 5"/>
          <p:cNvSpPr>
            <a:spLocks noGrp="1"/>
          </p:cNvSpPr>
          <p:nvPr>
            <p:ph type="sldNum" sz="quarter" idx="4"/>
          </p:nvPr>
        </p:nvSpPr>
        <p:spPr>
          <a:xfrm>
            <a:off x="2149309" y="6418800"/>
            <a:ext cx="603318" cy="147600"/>
          </a:xfrm>
          <a:prstGeom prst="rect">
            <a:avLst/>
          </a:prstGeom>
        </p:spPr>
        <p:txBody>
          <a:bodyPr vert="horz" lIns="0" tIns="0" rIns="0" bIns="0" rtlCol="0" anchor="t" anchorCtr="1"/>
          <a:lstStyle>
            <a:lvl1pPr algn="ctr">
              <a:defRPr sz="1050">
                <a:solidFill>
                  <a:schemeClr val="tx1"/>
                </a:solidFill>
              </a:defRPr>
            </a:lvl1pPr>
          </a:lstStyle>
          <a:p>
            <a:fld id="{73EE6724-4521-4EF8-974D-BA1C7F9CD007}" type="slidenum">
              <a:rPr lang="nl-NL" smtClean="0"/>
              <a:pPr/>
              <a:t>‹#›</a:t>
            </a:fld>
            <a:endParaRPr lang="nl-NL"/>
          </a:p>
        </p:txBody>
      </p:sp>
    </p:spTree>
    <p:extLst>
      <p:ext uri="{BB962C8B-B14F-4D97-AF65-F5344CB8AC3E}">
        <p14:creationId xmlns:p14="http://schemas.microsoft.com/office/powerpoint/2010/main" val="1809227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Leeg">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7417599" y="6418800"/>
            <a:ext cx="1314182" cy="146200"/>
          </a:xfrm>
          <a:prstGeom prst="rect">
            <a:avLst/>
          </a:prstGeom>
        </p:spPr>
        <p:txBody>
          <a:bodyPr vert="horz" lIns="0" tIns="0" rIns="0" bIns="0" rtlCol="0" anchor="t" anchorCtr="0"/>
          <a:lstStyle>
            <a:lvl1pPr algn="r">
              <a:defRPr sz="1050">
                <a:solidFill>
                  <a:schemeClr val="tx1"/>
                </a:solidFill>
              </a:defRPr>
            </a:lvl1pPr>
          </a:lstStyle>
          <a:p>
            <a:r>
              <a:rPr lang="en-US"/>
              <a:t>&lt;d maand&gt; 2015</a:t>
            </a:r>
            <a:endParaRPr lang="nl-NL"/>
          </a:p>
        </p:txBody>
      </p:sp>
      <p:sp>
        <p:nvSpPr>
          <p:cNvPr id="6" name="Footer Placeholder 4"/>
          <p:cNvSpPr>
            <a:spLocks noGrp="1"/>
          </p:cNvSpPr>
          <p:nvPr>
            <p:ph type="ftr" sz="quarter" idx="3"/>
          </p:nvPr>
        </p:nvSpPr>
        <p:spPr>
          <a:xfrm>
            <a:off x="2912882" y="6418800"/>
            <a:ext cx="4506016" cy="147600"/>
          </a:xfrm>
          <a:prstGeom prst="rect">
            <a:avLst/>
          </a:prstGeom>
        </p:spPr>
        <p:txBody>
          <a:bodyPr vert="horz" lIns="0" tIns="0" rIns="0" bIns="0" rtlCol="0" anchor="t" anchorCtr="0"/>
          <a:lstStyle>
            <a:lvl1pPr algn="r">
              <a:defRPr sz="1050">
                <a:solidFill>
                  <a:schemeClr val="tx1"/>
                </a:solidFill>
              </a:defRPr>
            </a:lvl1pPr>
          </a:lstStyle>
          <a:p>
            <a:r>
              <a:rPr lang="nl-NL"/>
              <a:t>kies Invoegen-&gt;'Koptekst en voettekst' voor &lt;auteur, functie&gt; en</a:t>
            </a:r>
          </a:p>
        </p:txBody>
      </p:sp>
      <p:sp>
        <p:nvSpPr>
          <p:cNvPr id="7" name="Slide Number Placeholder 5"/>
          <p:cNvSpPr>
            <a:spLocks noGrp="1"/>
          </p:cNvSpPr>
          <p:nvPr>
            <p:ph type="sldNum" sz="quarter" idx="4"/>
          </p:nvPr>
        </p:nvSpPr>
        <p:spPr>
          <a:xfrm>
            <a:off x="2149309" y="6418800"/>
            <a:ext cx="603318" cy="147600"/>
          </a:xfrm>
          <a:prstGeom prst="rect">
            <a:avLst/>
          </a:prstGeom>
        </p:spPr>
        <p:txBody>
          <a:bodyPr vert="horz" lIns="0" tIns="0" rIns="0" bIns="0" rtlCol="0" anchor="t" anchorCtr="1"/>
          <a:lstStyle>
            <a:lvl1pPr algn="ctr">
              <a:defRPr sz="1050">
                <a:solidFill>
                  <a:schemeClr val="tx1"/>
                </a:solidFill>
              </a:defRPr>
            </a:lvl1pPr>
          </a:lstStyle>
          <a:p>
            <a:fld id="{73EE6724-4521-4EF8-974D-BA1C7F9CD007}" type="slidenum">
              <a:rPr lang="nl-NL" smtClean="0"/>
              <a:pPr/>
              <a:t>‹#›</a:t>
            </a:fld>
            <a:endParaRPr lang="nl-NL"/>
          </a:p>
        </p:txBody>
      </p:sp>
    </p:spTree>
    <p:extLst>
      <p:ext uri="{BB962C8B-B14F-4D97-AF65-F5344CB8AC3E}">
        <p14:creationId xmlns:p14="http://schemas.microsoft.com/office/powerpoint/2010/main" val="39247660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2" descr="R:\Projecten\000_TID_DNBPPT\van_tid\DNB_merkteken_pos_rgb-klei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561" y="6242400"/>
            <a:ext cx="1527175" cy="4873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295200" y="399600"/>
            <a:ext cx="8568000" cy="674288"/>
          </a:xfrm>
          <a:prstGeom prst="rect">
            <a:avLst/>
          </a:prstGeom>
        </p:spPr>
        <p:txBody>
          <a:bodyPr vert="horz" lIns="0" tIns="0" rIns="0" bIns="0" rtlCol="0" anchor="t" anchorCtr="0">
            <a:noAutofit/>
          </a:bodyPr>
          <a:lstStyle/>
          <a:p>
            <a:r>
              <a:rPr lang="nl-NL"/>
              <a:t>Klik om de stijl te bewerken</a:t>
            </a:r>
            <a:endParaRPr lang="en-US"/>
          </a:p>
        </p:txBody>
      </p:sp>
      <p:sp>
        <p:nvSpPr>
          <p:cNvPr id="3" name="Text Placeholder 2"/>
          <p:cNvSpPr>
            <a:spLocks noGrp="1"/>
          </p:cNvSpPr>
          <p:nvPr>
            <p:ph type="body" idx="1"/>
          </p:nvPr>
        </p:nvSpPr>
        <p:spPr>
          <a:xfrm>
            <a:off x="295200" y="1353600"/>
            <a:ext cx="8553600" cy="4608000"/>
          </a:xfrm>
          <a:prstGeom prst="rect">
            <a:avLst/>
          </a:prstGeom>
        </p:spPr>
        <p:txBody>
          <a:bodyPr vert="horz" lIns="0" tIns="0" rIns="0" bIns="0" rtlCol="0" anchor="t" anchorCtr="0">
            <a:no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9" name="Date Placeholder 3"/>
          <p:cNvSpPr>
            <a:spLocks noGrp="1"/>
          </p:cNvSpPr>
          <p:nvPr>
            <p:ph type="dt" sz="half" idx="2"/>
          </p:nvPr>
        </p:nvSpPr>
        <p:spPr>
          <a:xfrm>
            <a:off x="7417599" y="6421305"/>
            <a:ext cx="1314182" cy="146200"/>
          </a:xfrm>
          <a:prstGeom prst="rect">
            <a:avLst/>
          </a:prstGeom>
        </p:spPr>
        <p:txBody>
          <a:bodyPr vert="horz" lIns="0" tIns="0" rIns="0" bIns="0" rtlCol="0" anchor="t" anchorCtr="0"/>
          <a:lstStyle>
            <a:lvl1pPr algn="r">
              <a:defRPr sz="1050">
                <a:solidFill>
                  <a:schemeClr val="tx1"/>
                </a:solidFill>
              </a:defRPr>
            </a:lvl1pPr>
          </a:lstStyle>
          <a:p>
            <a:r>
              <a:rPr lang="en-US">
                <a:solidFill>
                  <a:prstClr val="black"/>
                </a:solidFill>
              </a:rPr>
              <a:t>&lt;d </a:t>
            </a:r>
            <a:r>
              <a:rPr lang="en-US" err="1">
                <a:solidFill>
                  <a:prstClr val="black"/>
                </a:solidFill>
              </a:rPr>
              <a:t>maand</a:t>
            </a:r>
            <a:r>
              <a:rPr lang="en-US">
                <a:solidFill>
                  <a:prstClr val="black"/>
                </a:solidFill>
              </a:rPr>
              <a:t>&gt; 2015</a:t>
            </a:r>
            <a:endParaRPr lang="nl-NL">
              <a:solidFill>
                <a:prstClr val="black"/>
              </a:solidFill>
            </a:endParaRPr>
          </a:p>
        </p:txBody>
      </p:sp>
      <p:sp>
        <p:nvSpPr>
          <p:cNvPr id="10" name="Footer Placeholder 4"/>
          <p:cNvSpPr>
            <a:spLocks noGrp="1"/>
          </p:cNvSpPr>
          <p:nvPr>
            <p:ph type="ftr" sz="quarter" idx="3"/>
          </p:nvPr>
        </p:nvSpPr>
        <p:spPr>
          <a:xfrm>
            <a:off x="2912882" y="6421612"/>
            <a:ext cx="4506016" cy="147600"/>
          </a:xfrm>
          <a:prstGeom prst="rect">
            <a:avLst/>
          </a:prstGeom>
        </p:spPr>
        <p:txBody>
          <a:bodyPr vert="horz" lIns="0" tIns="0" rIns="0" bIns="0" rtlCol="0" anchor="t" anchorCtr="0"/>
          <a:lstStyle>
            <a:lvl1pPr algn="r">
              <a:defRPr sz="1050">
                <a:solidFill>
                  <a:schemeClr val="tx1"/>
                </a:solidFill>
              </a:defRPr>
            </a:lvl1pPr>
          </a:lstStyle>
          <a:p>
            <a:r>
              <a:rPr lang="nl-NL">
                <a:solidFill>
                  <a:prstClr val="black"/>
                </a:solidFill>
              </a:rPr>
              <a:t>kies Invoegen-&gt;'Koptekst en voettekst' voor &lt;auteur, functie&gt; en</a:t>
            </a:r>
          </a:p>
        </p:txBody>
      </p:sp>
      <p:sp>
        <p:nvSpPr>
          <p:cNvPr id="11" name="Slide Number Placeholder 5"/>
          <p:cNvSpPr>
            <a:spLocks noGrp="1"/>
          </p:cNvSpPr>
          <p:nvPr>
            <p:ph type="sldNum" sz="quarter" idx="4"/>
          </p:nvPr>
        </p:nvSpPr>
        <p:spPr>
          <a:xfrm>
            <a:off x="2149309" y="6420525"/>
            <a:ext cx="603318" cy="147600"/>
          </a:xfrm>
          <a:prstGeom prst="rect">
            <a:avLst/>
          </a:prstGeom>
        </p:spPr>
        <p:txBody>
          <a:bodyPr vert="horz" lIns="0" tIns="0" rIns="0" bIns="0" rtlCol="0" anchor="t" anchorCtr="1"/>
          <a:lstStyle>
            <a:lvl1pPr algn="ctr">
              <a:defRPr sz="1050">
                <a:solidFill>
                  <a:schemeClr val="tx1"/>
                </a:solidFill>
              </a:defRPr>
            </a:lvl1pPr>
          </a:lstStyle>
          <a:p>
            <a:fld id="{73EE6724-4521-4EF8-974D-BA1C7F9CD007}" type="slidenum">
              <a:rPr lang="nl-NL" smtClean="0">
                <a:solidFill>
                  <a:prstClr val="black"/>
                </a:solidFill>
              </a:rPr>
              <a:pPr/>
              <a:t>‹#›</a:t>
            </a:fld>
            <a:endParaRPr lang="nl-NL">
              <a:solidFill>
                <a:prstClr val="black"/>
              </a:solidFill>
            </a:endParaRPr>
          </a:p>
        </p:txBody>
      </p:sp>
      <p:sp>
        <p:nvSpPr>
          <p:cNvPr id="5" name="TextBox 4">
            <a:extLst>
              <a:ext uri="{FF2B5EF4-FFF2-40B4-BE49-F238E27FC236}">
                <a16:creationId xmlns:a16="http://schemas.microsoft.com/office/drawing/2014/main" id="{0F419613-3326-3B0A-A276-3ECE2A30D205}"/>
              </a:ext>
            </a:extLst>
          </p:cNvPr>
          <p:cNvSpPr txBox="1"/>
          <p:nvPr>
            <p:extLst>
              <p:ext uri="{1162E1C5-73C7-4A58-AE30-91384D911F3F}">
                <p184:classification xmlns:p184="http://schemas.microsoft.com/office/powerpoint/2018/4/main" val="hdr"/>
              </p:ext>
            </p:extLst>
          </p:nvPr>
        </p:nvSpPr>
        <p:spPr>
          <a:xfrm>
            <a:off x="63500" y="63500"/>
            <a:ext cx="842963" cy="152400"/>
          </a:xfrm>
          <a:prstGeom prst="rect">
            <a:avLst/>
          </a:prstGeom>
        </p:spPr>
        <p:txBody>
          <a:bodyPr horzOverflow="overflow" lIns="0" tIns="0" rIns="0" bIns="0">
            <a:spAutoFit/>
          </a:bodyPr>
          <a:lstStyle/>
          <a:p>
            <a:pPr algn="l"/>
            <a:r>
              <a:rPr lang="en-GB" sz="1000">
                <a:solidFill>
                  <a:srgbClr val="7FAA39">
                    <a:alpha val="50000"/>
                  </a:srgbClr>
                </a:solidFill>
                <a:latin typeface="Aptos" panose="020B0004020202020204" pitchFamily="34" charset="0"/>
              </a:rPr>
              <a:t>| DNB PUBLIC |</a:t>
            </a:r>
          </a:p>
        </p:txBody>
      </p:sp>
    </p:spTree>
    <p:extLst>
      <p:ext uri="{BB962C8B-B14F-4D97-AF65-F5344CB8AC3E}">
        <p14:creationId xmlns:p14="http://schemas.microsoft.com/office/powerpoint/2010/main" val="1457511077"/>
      </p:ext>
    </p:extLst>
  </p:cSld>
  <p:clrMap bg1="lt1" tx1="dk1" bg2="lt2" tx2="dk2" accent1="accent1" accent2="accent2" accent3="accent3" accent4="accent4" accent5="accent5" accent6="accent6" hlink="hlink" folHlink="folHlink"/>
  <p:sldLayoutIdLst>
    <p:sldLayoutId id="2147483689" r:id="rId1"/>
  </p:sldLayoutIdLst>
  <p:hf hdr="0"/>
  <p:txStyles>
    <p:titleStyle>
      <a:lvl1pPr algn="l" defTabSz="914400" rtl="0" eaLnBrk="1" latinLnBrk="0" hangingPunct="1">
        <a:lnSpc>
          <a:spcPts val="3750"/>
        </a:lnSpc>
        <a:spcBef>
          <a:spcPct val="0"/>
        </a:spcBef>
        <a:buNone/>
        <a:defRPr sz="3000" kern="1200">
          <a:solidFill>
            <a:schemeClr val="tx1"/>
          </a:solidFill>
          <a:latin typeface="+mj-lt"/>
          <a:ea typeface="+mj-ea"/>
          <a:cs typeface="+mj-cs"/>
        </a:defRPr>
      </a:lvl1pPr>
    </p:titleStyle>
    <p:bodyStyle>
      <a:lvl1pPr marL="0" indent="0" algn="l" defTabSz="914400" rtl="0" eaLnBrk="1" latinLnBrk="0" hangingPunct="1">
        <a:lnSpc>
          <a:spcPts val="2250"/>
        </a:lnSpc>
        <a:spcBef>
          <a:spcPts val="0"/>
        </a:spcBef>
        <a:buFont typeface="Arial" panose="020B0604020202020204" pitchFamily="34" charset="0"/>
        <a:buNone/>
        <a:defRPr sz="1500" b="0" kern="1200">
          <a:solidFill>
            <a:schemeClr val="tx1"/>
          </a:solidFill>
          <a:latin typeface="+mn-lt"/>
          <a:ea typeface="+mn-ea"/>
          <a:cs typeface="+mn-cs"/>
        </a:defRPr>
      </a:lvl1pPr>
      <a:lvl2pPr marL="0" indent="0" algn="l" defTabSz="914400" rtl="0" eaLnBrk="1" latinLnBrk="0" hangingPunct="1">
        <a:lnSpc>
          <a:spcPts val="1800"/>
        </a:lnSpc>
        <a:spcBef>
          <a:spcPts val="0"/>
        </a:spcBef>
        <a:buSzPct val="125000"/>
        <a:buFontTx/>
        <a:buNone/>
        <a:defRPr sz="1850" b="1" kern="1200">
          <a:solidFill>
            <a:schemeClr val="tx1"/>
          </a:solidFill>
          <a:latin typeface="+mn-lt"/>
          <a:ea typeface="+mn-ea"/>
          <a:cs typeface="+mn-cs"/>
        </a:defRPr>
      </a:lvl2pPr>
      <a:lvl3pPr marL="180975" indent="-180975" algn="l" defTabSz="914400" rtl="0" eaLnBrk="1" latinLnBrk="0" hangingPunct="1">
        <a:lnSpc>
          <a:spcPts val="2250"/>
        </a:lnSpc>
        <a:spcBef>
          <a:spcPts val="0"/>
        </a:spcBef>
        <a:buSzPct val="125000"/>
        <a:buFont typeface="Wingdings" panose="05000000000000000000" pitchFamily="2" charset="2"/>
        <a:buChar char="§"/>
        <a:defRPr sz="1500" b="0" kern="1200">
          <a:solidFill>
            <a:schemeClr val="tx1"/>
          </a:solidFill>
          <a:latin typeface="+mn-lt"/>
          <a:ea typeface="+mn-ea"/>
          <a:cs typeface="+mn-cs"/>
        </a:defRPr>
      </a:lvl3pPr>
      <a:lvl4pPr marL="360000" indent="-180975" algn="l" defTabSz="914400" rtl="0" eaLnBrk="1" latinLnBrk="0" hangingPunct="1">
        <a:lnSpc>
          <a:spcPts val="2250"/>
        </a:lnSpc>
        <a:spcBef>
          <a:spcPts val="0"/>
        </a:spcBef>
        <a:buSzPct val="125000"/>
        <a:buFont typeface="Wingdings" panose="05000000000000000000" pitchFamily="2" charset="2"/>
        <a:buChar char="§"/>
        <a:defRPr sz="1500" b="0" kern="1200">
          <a:solidFill>
            <a:schemeClr val="tx1"/>
          </a:solidFill>
          <a:latin typeface="+mn-lt"/>
          <a:ea typeface="+mn-ea"/>
          <a:cs typeface="+mn-cs"/>
        </a:defRPr>
      </a:lvl4pPr>
      <a:lvl5pPr marL="540000" indent="-180975" algn="l" defTabSz="914400" rtl="0" eaLnBrk="1" latinLnBrk="0" hangingPunct="1">
        <a:lnSpc>
          <a:spcPts val="2250"/>
        </a:lnSpc>
        <a:spcBef>
          <a:spcPts val="0"/>
        </a:spcBef>
        <a:buSzPct val="125000"/>
        <a:buFont typeface="Wingdings" panose="05000000000000000000" pitchFamily="2" charset="2"/>
        <a:buChar char="§"/>
        <a:defRPr sz="15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2" descr="R:\Projecten\000_TID_DNBPPT\van_tid\DNB_merkteken_pos_rgb-klei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1561" y="6242400"/>
            <a:ext cx="1527175" cy="4873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295200" y="399600"/>
            <a:ext cx="8568000" cy="674288"/>
          </a:xfrm>
          <a:prstGeom prst="rect">
            <a:avLst/>
          </a:prstGeom>
        </p:spPr>
        <p:txBody>
          <a:bodyPr vert="horz" lIns="0" tIns="0" rIns="0" bIns="0" rtlCol="0" anchor="t" anchorCtr="0">
            <a:noAutofit/>
          </a:bodyPr>
          <a:lstStyle/>
          <a:p>
            <a:r>
              <a:rPr lang="nl-NL"/>
              <a:t>Klik om de stijl te bewerken</a:t>
            </a:r>
            <a:endParaRPr lang="en-US"/>
          </a:p>
        </p:txBody>
      </p:sp>
      <p:sp>
        <p:nvSpPr>
          <p:cNvPr id="3" name="Text Placeholder 2"/>
          <p:cNvSpPr>
            <a:spLocks noGrp="1"/>
          </p:cNvSpPr>
          <p:nvPr>
            <p:ph type="body" idx="1"/>
          </p:nvPr>
        </p:nvSpPr>
        <p:spPr>
          <a:xfrm>
            <a:off x="295200" y="1353600"/>
            <a:ext cx="8553600" cy="4608000"/>
          </a:xfrm>
          <a:prstGeom prst="rect">
            <a:avLst/>
          </a:prstGeom>
        </p:spPr>
        <p:txBody>
          <a:bodyPr vert="horz" lIns="0" tIns="0" rIns="0" bIns="0" rtlCol="0" anchor="t" anchorCtr="0">
            <a:no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9" name="Date Placeholder 3"/>
          <p:cNvSpPr>
            <a:spLocks noGrp="1"/>
          </p:cNvSpPr>
          <p:nvPr>
            <p:ph type="dt" sz="half" idx="2"/>
          </p:nvPr>
        </p:nvSpPr>
        <p:spPr>
          <a:xfrm>
            <a:off x="7417599" y="6421305"/>
            <a:ext cx="1314182" cy="146200"/>
          </a:xfrm>
          <a:prstGeom prst="rect">
            <a:avLst/>
          </a:prstGeom>
        </p:spPr>
        <p:txBody>
          <a:bodyPr vert="horz" lIns="0" tIns="0" rIns="0" bIns="0" rtlCol="0" anchor="t" anchorCtr="0"/>
          <a:lstStyle>
            <a:lvl1pPr algn="r">
              <a:defRPr sz="1050">
                <a:solidFill>
                  <a:schemeClr val="tx1"/>
                </a:solidFill>
              </a:defRPr>
            </a:lvl1pPr>
          </a:lstStyle>
          <a:p>
            <a:r>
              <a:rPr lang="en-US">
                <a:solidFill>
                  <a:prstClr val="black"/>
                </a:solidFill>
              </a:rPr>
              <a:t>&lt;d </a:t>
            </a:r>
            <a:r>
              <a:rPr lang="en-US" err="1">
                <a:solidFill>
                  <a:prstClr val="black"/>
                </a:solidFill>
              </a:rPr>
              <a:t>maand</a:t>
            </a:r>
            <a:r>
              <a:rPr lang="en-US">
                <a:solidFill>
                  <a:prstClr val="black"/>
                </a:solidFill>
              </a:rPr>
              <a:t>&gt; 2015</a:t>
            </a:r>
            <a:endParaRPr lang="nl-NL">
              <a:solidFill>
                <a:prstClr val="black"/>
              </a:solidFill>
            </a:endParaRPr>
          </a:p>
        </p:txBody>
      </p:sp>
      <p:sp>
        <p:nvSpPr>
          <p:cNvPr id="10" name="Footer Placeholder 4"/>
          <p:cNvSpPr>
            <a:spLocks noGrp="1"/>
          </p:cNvSpPr>
          <p:nvPr>
            <p:ph type="ftr" sz="quarter" idx="3"/>
          </p:nvPr>
        </p:nvSpPr>
        <p:spPr>
          <a:xfrm>
            <a:off x="2912882" y="6421612"/>
            <a:ext cx="4506016" cy="147600"/>
          </a:xfrm>
          <a:prstGeom prst="rect">
            <a:avLst/>
          </a:prstGeom>
        </p:spPr>
        <p:txBody>
          <a:bodyPr vert="horz" lIns="0" tIns="0" rIns="0" bIns="0" rtlCol="0" anchor="t" anchorCtr="0"/>
          <a:lstStyle>
            <a:lvl1pPr algn="r">
              <a:defRPr sz="1050">
                <a:solidFill>
                  <a:schemeClr val="tx1"/>
                </a:solidFill>
              </a:defRPr>
            </a:lvl1pPr>
          </a:lstStyle>
          <a:p>
            <a:r>
              <a:rPr lang="nl-NL">
                <a:solidFill>
                  <a:prstClr val="black"/>
                </a:solidFill>
              </a:rPr>
              <a:t>kies Invoegen-&gt;'Koptekst en voettekst' voor &lt;auteur, functie&gt; en</a:t>
            </a:r>
          </a:p>
        </p:txBody>
      </p:sp>
      <p:sp>
        <p:nvSpPr>
          <p:cNvPr id="11" name="Slide Number Placeholder 5"/>
          <p:cNvSpPr>
            <a:spLocks noGrp="1"/>
          </p:cNvSpPr>
          <p:nvPr>
            <p:ph type="sldNum" sz="quarter" idx="4"/>
          </p:nvPr>
        </p:nvSpPr>
        <p:spPr>
          <a:xfrm>
            <a:off x="2149309" y="6420525"/>
            <a:ext cx="603318" cy="147600"/>
          </a:xfrm>
          <a:prstGeom prst="rect">
            <a:avLst/>
          </a:prstGeom>
        </p:spPr>
        <p:txBody>
          <a:bodyPr vert="horz" lIns="0" tIns="0" rIns="0" bIns="0" rtlCol="0" anchor="t" anchorCtr="1"/>
          <a:lstStyle>
            <a:lvl1pPr algn="ctr">
              <a:defRPr sz="1050">
                <a:solidFill>
                  <a:schemeClr val="tx1"/>
                </a:solidFill>
              </a:defRPr>
            </a:lvl1pPr>
          </a:lstStyle>
          <a:p>
            <a:fld id="{73EE6724-4521-4EF8-974D-BA1C7F9CD007}" type="slidenum">
              <a:rPr lang="nl-NL" smtClean="0">
                <a:solidFill>
                  <a:prstClr val="black"/>
                </a:solidFill>
              </a:rPr>
              <a:pPr/>
              <a:t>‹#›</a:t>
            </a:fld>
            <a:endParaRPr lang="nl-NL">
              <a:solidFill>
                <a:prstClr val="black"/>
              </a:solidFill>
            </a:endParaRPr>
          </a:p>
        </p:txBody>
      </p:sp>
      <p:sp>
        <p:nvSpPr>
          <p:cNvPr id="5" name="TextBox 4">
            <a:extLst>
              <a:ext uri="{FF2B5EF4-FFF2-40B4-BE49-F238E27FC236}">
                <a16:creationId xmlns:a16="http://schemas.microsoft.com/office/drawing/2014/main" id="{48FE1AA8-430C-925C-4B49-CA9E5538C465}"/>
              </a:ext>
            </a:extLst>
          </p:cNvPr>
          <p:cNvSpPr txBox="1"/>
          <p:nvPr>
            <p:extLst>
              <p:ext uri="{1162E1C5-73C7-4A58-AE30-91384D911F3F}">
                <p184:classification xmlns:p184="http://schemas.microsoft.com/office/powerpoint/2018/4/main" val="hdr"/>
              </p:ext>
            </p:extLst>
          </p:nvPr>
        </p:nvSpPr>
        <p:spPr>
          <a:xfrm>
            <a:off x="63500" y="63500"/>
            <a:ext cx="842963" cy="152400"/>
          </a:xfrm>
          <a:prstGeom prst="rect">
            <a:avLst/>
          </a:prstGeom>
        </p:spPr>
        <p:txBody>
          <a:bodyPr horzOverflow="overflow" lIns="0" tIns="0" rIns="0" bIns="0">
            <a:spAutoFit/>
          </a:bodyPr>
          <a:lstStyle/>
          <a:p>
            <a:pPr algn="l"/>
            <a:r>
              <a:rPr lang="en-GB" sz="1000">
                <a:solidFill>
                  <a:srgbClr val="7FAA39">
                    <a:alpha val="50000"/>
                  </a:srgbClr>
                </a:solidFill>
                <a:latin typeface="Aptos" panose="020B0004020202020204" pitchFamily="34" charset="0"/>
              </a:rPr>
              <a:t>| DNB PUBLIC |</a:t>
            </a:r>
          </a:p>
        </p:txBody>
      </p:sp>
    </p:spTree>
    <p:extLst>
      <p:ext uri="{BB962C8B-B14F-4D97-AF65-F5344CB8AC3E}">
        <p14:creationId xmlns:p14="http://schemas.microsoft.com/office/powerpoint/2010/main" val="413232985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Lst>
  <p:hf hdr="0"/>
  <p:txStyles>
    <p:titleStyle>
      <a:lvl1pPr algn="l" defTabSz="914400" rtl="0" eaLnBrk="1" latinLnBrk="0" hangingPunct="1">
        <a:lnSpc>
          <a:spcPts val="3750"/>
        </a:lnSpc>
        <a:spcBef>
          <a:spcPct val="0"/>
        </a:spcBef>
        <a:buNone/>
        <a:defRPr sz="3000" kern="1200">
          <a:solidFill>
            <a:schemeClr val="tx1"/>
          </a:solidFill>
          <a:latin typeface="+mj-lt"/>
          <a:ea typeface="+mj-ea"/>
          <a:cs typeface="+mj-cs"/>
        </a:defRPr>
      </a:lvl1pPr>
    </p:titleStyle>
    <p:bodyStyle>
      <a:lvl1pPr marL="0" indent="0" algn="l" defTabSz="914400" rtl="0" eaLnBrk="1" latinLnBrk="0" hangingPunct="1">
        <a:lnSpc>
          <a:spcPts val="2250"/>
        </a:lnSpc>
        <a:spcBef>
          <a:spcPts val="0"/>
        </a:spcBef>
        <a:buFont typeface="Arial" panose="020B0604020202020204" pitchFamily="34" charset="0"/>
        <a:buNone/>
        <a:defRPr sz="1500" b="0" kern="1200">
          <a:solidFill>
            <a:schemeClr val="tx1"/>
          </a:solidFill>
          <a:latin typeface="+mn-lt"/>
          <a:ea typeface="+mn-ea"/>
          <a:cs typeface="+mn-cs"/>
        </a:defRPr>
      </a:lvl1pPr>
      <a:lvl2pPr marL="0" indent="0" algn="l" defTabSz="914400" rtl="0" eaLnBrk="1" latinLnBrk="0" hangingPunct="1">
        <a:lnSpc>
          <a:spcPts val="1800"/>
        </a:lnSpc>
        <a:spcBef>
          <a:spcPts val="0"/>
        </a:spcBef>
        <a:buSzPct val="125000"/>
        <a:buFontTx/>
        <a:buNone/>
        <a:defRPr sz="1850" b="1" kern="1200">
          <a:solidFill>
            <a:schemeClr val="tx1"/>
          </a:solidFill>
          <a:latin typeface="+mn-lt"/>
          <a:ea typeface="+mn-ea"/>
          <a:cs typeface="+mn-cs"/>
        </a:defRPr>
      </a:lvl2pPr>
      <a:lvl3pPr marL="180975" indent="-180975" algn="l" defTabSz="914400" rtl="0" eaLnBrk="1" latinLnBrk="0" hangingPunct="1">
        <a:lnSpc>
          <a:spcPts val="2250"/>
        </a:lnSpc>
        <a:spcBef>
          <a:spcPts val="0"/>
        </a:spcBef>
        <a:buSzPct val="125000"/>
        <a:buFont typeface="Wingdings" panose="05000000000000000000" pitchFamily="2" charset="2"/>
        <a:buChar char="§"/>
        <a:defRPr sz="1500" b="0" kern="1200">
          <a:solidFill>
            <a:schemeClr val="tx1"/>
          </a:solidFill>
          <a:latin typeface="+mn-lt"/>
          <a:ea typeface="+mn-ea"/>
          <a:cs typeface="+mn-cs"/>
        </a:defRPr>
      </a:lvl3pPr>
      <a:lvl4pPr marL="360000" indent="-180975" algn="l" defTabSz="914400" rtl="0" eaLnBrk="1" latinLnBrk="0" hangingPunct="1">
        <a:lnSpc>
          <a:spcPts val="2250"/>
        </a:lnSpc>
        <a:spcBef>
          <a:spcPts val="0"/>
        </a:spcBef>
        <a:buSzPct val="125000"/>
        <a:buFont typeface="Wingdings" panose="05000000000000000000" pitchFamily="2" charset="2"/>
        <a:buChar char="§"/>
        <a:defRPr sz="1500" b="0" kern="1200">
          <a:solidFill>
            <a:schemeClr val="tx1"/>
          </a:solidFill>
          <a:latin typeface="+mn-lt"/>
          <a:ea typeface="+mn-ea"/>
          <a:cs typeface="+mn-cs"/>
        </a:defRPr>
      </a:lvl4pPr>
      <a:lvl5pPr marL="540000" indent="-180975" algn="l" defTabSz="914400" rtl="0" eaLnBrk="1" latinLnBrk="0" hangingPunct="1">
        <a:lnSpc>
          <a:spcPts val="2250"/>
        </a:lnSpc>
        <a:spcBef>
          <a:spcPts val="0"/>
        </a:spcBef>
        <a:buSzPct val="125000"/>
        <a:buFont typeface="Wingdings" panose="05000000000000000000" pitchFamily="2" charset="2"/>
        <a:buChar char="§"/>
        <a:defRPr sz="15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slide" Target="slide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slide" Target="slide16.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competition-policy.ec.europa.eu/state-aid/scoreboard/scoreboard-state-aid-data_en"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competition-policy.ec.europa.eu/state-aid/scoreboard/scoreboard-state-aid-data_en"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2.emf"/><Relationship Id="rId5" Type="http://schemas.openxmlformats.org/officeDocument/2006/relationships/image" Target="../media/image10.emf"/><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hyperlink" Target="https://cat.eto.tech/?dataset=Investment&amp;expanded=Summary-metrics%2CChanges-over-time" TargetMode="External"/><Relationship Id="rId7"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slide" Target="slide4.xml"/><Relationship Id="rId5" Type="http://schemas.openxmlformats.org/officeDocument/2006/relationships/hyperlink" Target="https://ec.europa.eu/eurostat/databrowser/view/nama_10_a64_p5__custom_22387728/default/table" TargetMode="Externa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hyperlink" Target="https://ec.europa.eu/eurostat/comext/newxtweb/setupdimselection.do"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slide" Target="slide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A23DEFEE-159F-2F13-C617-6B4633392BB4}"/>
              </a:ext>
            </a:extLst>
          </p:cNvPr>
          <p:cNvSpPr txBox="1">
            <a:spLocks/>
          </p:cNvSpPr>
          <p:nvPr/>
        </p:nvSpPr>
        <p:spPr>
          <a:xfrm>
            <a:off x="418880" y="807374"/>
            <a:ext cx="8469088" cy="5679439"/>
          </a:xfrm>
          <a:prstGeom prst="rect">
            <a:avLst/>
          </a:prstGeom>
        </p:spPr>
        <p:txBody>
          <a:bodyPr>
            <a:normAutofit/>
          </a:bodyPr>
          <a:lstStyle>
            <a:lvl1pPr marL="0" indent="0" algn="l" defTabSz="914400" rtl="0" eaLnBrk="1" latinLnBrk="0" hangingPunct="1">
              <a:lnSpc>
                <a:spcPts val="2250"/>
              </a:lnSpc>
              <a:spcBef>
                <a:spcPts val="0"/>
              </a:spcBef>
              <a:buFont typeface="Arial" panose="020B0604020202020204" pitchFamily="34" charset="0"/>
              <a:buNone/>
              <a:defRPr sz="1500" b="0" kern="1200">
                <a:solidFill>
                  <a:schemeClr val="tx1"/>
                </a:solidFill>
                <a:latin typeface="+mn-lt"/>
                <a:ea typeface="+mn-ea"/>
                <a:cs typeface="+mn-cs"/>
              </a:defRPr>
            </a:lvl1pPr>
            <a:lvl2pPr marL="0" indent="0" algn="l" defTabSz="914400" rtl="0" eaLnBrk="1" latinLnBrk="0" hangingPunct="1">
              <a:lnSpc>
                <a:spcPts val="1800"/>
              </a:lnSpc>
              <a:spcBef>
                <a:spcPts val="0"/>
              </a:spcBef>
              <a:buSzPct val="125000"/>
              <a:buFontTx/>
              <a:buNone/>
              <a:defRPr sz="1850" b="1" kern="1200">
                <a:solidFill>
                  <a:schemeClr val="tx1"/>
                </a:solidFill>
                <a:latin typeface="+mn-lt"/>
                <a:ea typeface="+mn-ea"/>
                <a:cs typeface="+mn-cs"/>
              </a:defRPr>
            </a:lvl2pPr>
            <a:lvl3pPr marL="180975" indent="-180975" algn="l" defTabSz="914400" rtl="0" eaLnBrk="1" latinLnBrk="0" hangingPunct="1">
              <a:lnSpc>
                <a:spcPts val="2250"/>
              </a:lnSpc>
              <a:spcBef>
                <a:spcPts val="0"/>
              </a:spcBef>
              <a:buSzPct val="125000"/>
              <a:buFont typeface="Wingdings" panose="05000000000000000000" pitchFamily="2" charset="2"/>
              <a:buChar char="§"/>
              <a:defRPr sz="1500" b="0" kern="1200">
                <a:solidFill>
                  <a:schemeClr val="tx1"/>
                </a:solidFill>
                <a:latin typeface="+mn-lt"/>
                <a:ea typeface="+mn-ea"/>
                <a:cs typeface="+mn-cs"/>
              </a:defRPr>
            </a:lvl3pPr>
            <a:lvl4pPr marL="360000" indent="-180975" algn="l" defTabSz="914400" rtl="0" eaLnBrk="1" latinLnBrk="0" hangingPunct="1">
              <a:lnSpc>
                <a:spcPts val="2250"/>
              </a:lnSpc>
              <a:spcBef>
                <a:spcPts val="0"/>
              </a:spcBef>
              <a:buSzPct val="125000"/>
              <a:buFont typeface="Wingdings" panose="05000000000000000000" pitchFamily="2" charset="2"/>
              <a:buChar char="§"/>
              <a:defRPr sz="1500" b="0" kern="1200">
                <a:solidFill>
                  <a:schemeClr val="tx1"/>
                </a:solidFill>
                <a:latin typeface="+mn-lt"/>
                <a:ea typeface="+mn-ea"/>
                <a:cs typeface="+mn-cs"/>
              </a:defRPr>
            </a:lvl4pPr>
            <a:lvl5pPr marL="540000" indent="-180975" algn="l" defTabSz="914400" rtl="0" eaLnBrk="1" latinLnBrk="0" hangingPunct="1">
              <a:lnSpc>
                <a:spcPts val="2250"/>
              </a:lnSpc>
              <a:spcBef>
                <a:spcPts val="0"/>
              </a:spcBef>
              <a:buSzPct val="125000"/>
              <a:buFont typeface="Wingdings" panose="05000000000000000000" pitchFamily="2" charset="2"/>
              <a:buChar char="§"/>
              <a:defRPr sz="15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20000"/>
              </a:lnSpc>
              <a:spcAft>
                <a:spcPts val="1200"/>
              </a:spcAft>
            </a:pPr>
            <a:endParaRPr lang="en-US" sz="3400" noProof="1">
              <a:latin typeface="Verdana" panose="020B0604030504040204" pitchFamily="34" charset="0"/>
              <a:ea typeface="Verdana" panose="020B0604030504040204" pitchFamily="34" charset="0"/>
            </a:endParaRPr>
          </a:p>
          <a:p>
            <a:pPr algn="ctr">
              <a:lnSpc>
                <a:spcPct val="120000"/>
              </a:lnSpc>
              <a:spcAft>
                <a:spcPts val="1200"/>
              </a:spcAft>
            </a:pPr>
            <a:r>
              <a:rPr lang="en-US" sz="3400" noProof="1">
                <a:latin typeface="Verdana" panose="020B0604030504040204" pitchFamily="34" charset="0"/>
                <a:ea typeface="Verdana" panose="020B0604030504040204" pitchFamily="34" charset="0"/>
              </a:rPr>
              <a:t>AI and shock resilience: </a:t>
            </a:r>
          </a:p>
          <a:p>
            <a:pPr algn="ctr">
              <a:lnSpc>
                <a:spcPct val="120000"/>
              </a:lnSpc>
              <a:spcAft>
                <a:spcPts val="1200"/>
              </a:spcAft>
            </a:pPr>
            <a:r>
              <a:rPr lang="en-US" sz="3400" noProof="1">
                <a:latin typeface="Verdana" panose="020B0604030504040204" pitchFamily="34" charset="0"/>
                <a:ea typeface="Verdana" panose="020B0604030504040204" pitchFamily="34" charset="0"/>
              </a:rPr>
              <a:t>Indications from euro area economies</a:t>
            </a:r>
            <a:endParaRPr lang="nl-NL" sz="3400" dirty="0"/>
          </a:p>
        </p:txBody>
      </p:sp>
    </p:spTree>
    <p:extLst>
      <p:ext uri="{BB962C8B-B14F-4D97-AF65-F5344CB8AC3E}">
        <p14:creationId xmlns:p14="http://schemas.microsoft.com/office/powerpoint/2010/main" val="2835017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9144000" cy="557784"/>
          </a:xfrm>
          <a:solidFill>
            <a:srgbClr val="44287F"/>
          </a:solidFill>
        </p:spPr>
        <p:txBody>
          <a:bodyPr anchor="ctr"/>
          <a:lstStyle/>
          <a:p>
            <a:pPr algn="ctr"/>
            <a:r>
              <a:rPr lang="nl-NL" sz="2400" dirty="0">
                <a:solidFill>
                  <a:schemeClr val="bg1"/>
                </a:solidFill>
              </a:rPr>
              <a:t>Semiconductor super-</a:t>
            </a:r>
            <a:r>
              <a:rPr lang="nl-NL" sz="2400" dirty="0" err="1">
                <a:solidFill>
                  <a:schemeClr val="bg1"/>
                </a:solidFill>
              </a:rPr>
              <a:t>cycle</a:t>
            </a:r>
            <a:r>
              <a:rPr lang="nl-NL" sz="2400" dirty="0">
                <a:solidFill>
                  <a:schemeClr val="bg1"/>
                </a:solidFill>
              </a:rPr>
              <a:t> </a:t>
            </a:r>
            <a:r>
              <a:rPr lang="nl-NL" sz="2400" dirty="0" err="1">
                <a:solidFill>
                  <a:schemeClr val="bg1"/>
                </a:solidFill>
              </a:rPr>
              <a:t>seems</a:t>
            </a:r>
            <a:r>
              <a:rPr lang="nl-NL" sz="2400" dirty="0">
                <a:solidFill>
                  <a:schemeClr val="bg1"/>
                </a:solidFill>
              </a:rPr>
              <a:t> immune </a:t>
            </a:r>
            <a:r>
              <a:rPr lang="nl-NL" sz="2400" dirty="0" err="1">
                <a:solidFill>
                  <a:schemeClr val="bg1"/>
                </a:solidFill>
              </a:rPr>
              <a:t>to</a:t>
            </a:r>
            <a:r>
              <a:rPr lang="nl-NL" sz="2400" dirty="0">
                <a:solidFill>
                  <a:schemeClr val="bg1"/>
                </a:solidFill>
              </a:rPr>
              <a:t> shocks</a:t>
            </a:r>
            <a:endParaRPr lang="nl-NL" sz="2400" dirty="0">
              <a:solidFill>
                <a:srgbClr val="FF0000"/>
              </a:solidFill>
            </a:endParaRPr>
          </a:p>
        </p:txBody>
      </p:sp>
      <p:sp>
        <p:nvSpPr>
          <p:cNvPr id="6" name="Content Placeholder 2">
            <a:extLst>
              <a:ext uri="{FF2B5EF4-FFF2-40B4-BE49-F238E27FC236}">
                <a16:creationId xmlns:a16="http://schemas.microsoft.com/office/drawing/2014/main" id="{E5F77E79-9F6B-4517-B974-99DAACE11DF6}"/>
              </a:ext>
            </a:extLst>
          </p:cNvPr>
          <p:cNvSpPr>
            <a:spLocks noGrp="1"/>
          </p:cNvSpPr>
          <p:nvPr>
            <p:ph idx="1"/>
          </p:nvPr>
        </p:nvSpPr>
        <p:spPr>
          <a:xfrm>
            <a:off x="128015" y="1111359"/>
            <a:ext cx="2962657" cy="4989922"/>
          </a:xfrm>
        </p:spPr>
        <p:txBody>
          <a:bodyPr>
            <a:normAutofit/>
          </a:bodyPr>
          <a:lstStyle/>
          <a:p>
            <a:pPr marL="285750" indent="-285750">
              <a:lnSpc>
                <a:spcPct val="120000"/>
              </a:lnSpc>
              <a:spcAft>
                <a:spcPts val="1200"/>
              </a:spcAft>
              <a:buFont typeface="Arial" panose="020B0604020202020204" pitchFamily="34" charset="0"/>
              <a:buChar char="•"/>
            </a:pPr>
            <a:endParaRPr lang="en-US" sz="2000" noProof="1">
              <a:solidFill>
                <a:schemeClr val="accent1">
                  <a:lumMod val="50000"/>
                </a:schemeClr>
              </a:solidFill>
              <a:latin typeface="Verdana" panose="020B0604030504040204" pitchFamily="34" charset="0"/>
              <a:ea typeface="Verdana" panose="020B0604030504040204" pitchFamily="34" charset="0"/>
            </a:endParaRPr>
          </a:p>
          <a:p>
            <a:pPr marL="285750" indent="-285750">
              <a:lnSpc>
                <a:spcPct val="120000"/>
              </a:lnSpc>
              <a:spcAft>
                <a:spcPts val="1200"/>
              </a:spcAft>
              <a:buFont typeface="Arial" panose="020B0604020202020204" pitchFamily="34" charset="0"/>
              <a:buChar char="•"/>
            </a:pPr>
            <a:r>
              <a:rPr lang="en-US" sz="2000" noProof="1">
                <a:latin typeface="Verdana" panose="020B0604030504040204" pitchFamily="34" charset="0"/>
                <a:ea typeface="Verdana" panose="020B0604030504040204" pitchFamily="34" charset="0"/>
              </a:rPr>
              <a:t>Strong upward trend in semiconductor market not derailed by global shocks</a:t>
            </a:r>
          </a:p>
          <a:p>
            <a:pPr marL="285750" indent="-285750">
              <a:lnSpc>
                <a:spcPct val="120000"/>
              </a:lnSpc>
              <a:spcAft>
                <a:spcPts val="1200"/>
              </a:spcAft>
              <a:buFont typeface="Arial" panose="020B0604020202020204" pitchFamily="34" charset="0"/>
              <a:buChar char="•"/>
            </a:pPr>
            <a:endParaRPr lang="en-US" sz="2000" noProof="1">
              <a:latin typeface="Verdana" panose="020B0604030504040204" pitchFamily="34" charset="0"/>
              <a:ea typeface="Verdana" panose="020B0604030504040204" pitchFamily="34" charset="0"/>
            </a:endParaRPr>
          </a:p>
          <a:p>
            <a:pPr marL="285750" indent="-285750">
              <a:lnSpc>
                <a:spcPct val="120000"/>
              </a:lnSpc>
              <a:spcAft>
                <a:spcPts val="1200"/>
              </a:spcAft>
              <a:buFont typeface="Arial" panose="020B0604020202020204" pitchFamily="34" charset="0"/>
              <a:buChar char="•"/>
            </a:pPr>
            <a:r>
              <a:rPr lang="en-US" sz="2000" noProof="1">
                <a:latin typeface="Verdana" panose="020B0604030504040204" pitchFamily="34" charset="0"/>
                <a:ea typeface="Verdana" panose="020B0604030504040204" pitchFamily="34" charset="0"/>
              </a:rPr>
              <a:t>Does this mean that economies more exposed to ICT-tech (AI) are also more resilient to shocks?</a:t>
            </a:r>
          </a:p>
          <a:p>
            <a:pPr>
              <a:lnSpc>
                <a:spcPct val="120000"/>
              </a:lnSpc>
              <a:spcAft>
                <a:spcPts val="1200"/>
              </a:spcAft>
            </a:pPr>
            <a:endParaRPr lang="nl-NL" sz="1600" dirty="0">
              <a:solidFill>
                <a:schemeClr val="accent1">
                  <a:lumMod val="50000"/>
                </a:schemeClr>
              </a:solidFill>
            </a:endParaRPr>
          </a:p>
        </p:txBody>
      </p:sp>
      <p:pic>
        <p:nvPicPr>
          <p:cNvPr id="5" name="Picture 4">
            <a:extLst>
              <a:ext uri="{FF2B5EF4-FFF2-40B4-BE49-F238E27FC236}">
                <a16:creationId xmlns:a16="http://schemas.microsoft.com/office/drawing/2014/main" id="{8C31B433-F3FC-898E-A2C4-1A7649456F35}"/>
              </a:ext>
            </a:extLst>
          </p:cNvPr>
          <p:cNvPicPr>
            <a:picLocks noChangeAspect="1"/>
          </p:cNvPicPr>
          <p:nvPr/>
        </p:nvPicPr>
        <p:blipFill>
          <a:blip r:embed="rId3"/>
          <a:stretch>
            <a:fillRect/>
          </a:stretch>
        </p:blipFill>
        <p:spPr>
          <a:xfrm>
            <a:off x="3493008" y="1522669"/>
            <a:ext cx="5650992" cy="3897624"/>
          </a:xfrm>
          <a:prstGeom prst="rect">
            <a:avLst/>
          </a:prstGeom>
        </p:spPr>
      </p:pic>
      <p:sp>
        <p:nvSpPr>
          <p:cNvPr id="8" name="Tekstvak 3">
            <a:extLst>
              <a:ext uri="{FF2B5EF4-FFF2-40B4-BE49-F238E27FC236}">
                <a16:creationId xmlns:a16="http://schemas.microsoft.com/office/drawing/2014/main" id="{545BE5F7-F057-18CF-DA77-201D8BAEDAF2}"/>
              </a:ext>
            </a:extLst>
          </p:cNvPr>
          <p:cNvSpPr txBox="1"/>
          <p:nvPr/>
        </p:nvSpPr>
        <p:spPr>
          <a:xfrm>
            <a:off x="3767327" y="5639616"/>
            <a:ext cx="5376673" cy="1015663"/>
          </a:xfrm>
          <a:prstGeom prst="rect">
            <a:avLst/>
          </a:prstGeom>
          <a:noFill/>
        </p:spPr>
        <p:txBody>
          <a:bodyPr wrap="square" rtlCol="0">
            <a:spAutoFit/>
          </a:bodyPr>
          <a:lstStyle/>
          <a:p>
            <a:pPr>
              <a:defRPr/>
            </a:pPr>
            <a:r>
              <a:rPr lang="nl-NL" sz="1200" dirty="0">
                <a:solidFill>
                  <a:srgbClr val="002060"/>
                </a:solidFill>
              </a:rPr>
              <a:t>Semiconductor stock index (SOX), </a:t>
            </a:r>
            <a:r>
              <a:rPr lang="nl-NL" sz="1200" dirty="0" err="1">
                <a:solidFill>
                  <a:srgbClr val="002060"/>
                </a:solidFill>
              </a:rPr>
              <a:t>controlled</a:t>
            </a:r>
            <a:r>
              <a:rPr lang="nl-NL" sz="1200" dirty="0">
                <a:solidFill>
                  <a:srgbClr val="002060"/>
                </a:solidFill>
              </a:rPr>
              <a:t> </a:t>
            </a:r>
            <a:r>
              <a:rPr lang="nl-NL" sz="1200" dirty="0" err="1">
                <a:solidFill>
                  <a:srgbClr val="002060"/>
                </a:solidFill>
              </a:rPr>
              <a:t>for</a:t>
            </a:r>
            <a:r>
              <a:rPr lang="nl-NL" sz="1200" dirty="0">
                <a:solidFill>
                  <a:srgbClr val="002060"/>
                </a:solidFill>
              </a:rPr>
              <a:t> </a:t>
            </a:r>
            <a:r>
              <a:rPr lang="nl-NL" sz="1200" dirty="0" err="1">
                <a:solidFill>
                  <a:srgbClr val="002060"/>
                </a:solidFill>
              </a:rPr>
              <a:t>by</a:t>
            </a:r>
            <a:r>
              <a:rPr lang="nl-NL" sz="1200" dirty="0">
                <a:solidFill>
                  <a:srgbClr val="002060"/>
                </a:solidFill>
              </a:rPr>
              <a:t> </a:t>
            </a:r>
            <a:r>
              <a:rPr lang="nl-NL" sz="1200" dirty="0" err="1">
                <a:solidFill>
                  <a:srgbClr val="002060"/>
                </a:solidFill>
              </a:rPr>
              <a:t>broad</a:t>
            </a:r>
            <a:r>
              <a:rPr lang="nl-NL" sz="1200" dirty="0">
                <a:solidFill>
                  <a:srgbClr val="002060"/>
                </a:solidFill>
              </a:rPr>
              <a:t> traditional stock index (STOXX Europe 600). Global </a:t>
            </a:r>
            <a:r>
              <a:rPr lang="nl-NL" sz="1200" dirty="0" err="1">
                <a:solidFill>
                  <a:srgbClr val="002060"/>
                </a:solidFill>
              </a:rPr>
              <a:t>uncertainty</a:t>
            </a:r>
            <a:r>
              <a:rPr lang="nl-NL" sz="1200" dirty="0">
                <a:solidFill>
                  <a:srgbClr val="002060"/>
                </a:solidFill>
              </a:rPr>
              <a:t> </a:t>
            </a:r>
            <a:r>
              <a:rPr lang="nl-NL" sz="1200">
                <a:solidFill>
                  <a:srgbClr val="002060"/>
                </a:solidFill>
              </a:rPr>
              <a:t>is first </a:t>
            </a:r>
            <a:r>
              <a:rPr lang="nl-NL" sz="1200" dirty="0" err="1">
                <a:solidFill>
                  <a:srgbClr val="002060"/>
                </a:solidFill>
              </a:rPr>
              <a:t>principal</a:t>
            </a:r>
            <a:r>
              <a:rPr lang="nl-NL" sz="1200" dirty="0">
                <a:solidFill>
                  <a:srgbClr val="002060"/>
                </a:solidFill>
              </a:rPr>
              <a:t> component of EPU, GPR, VIX (</a:t>
            </a:r>
            <a:r>
              <a:rPr lang="nl-NL" sz="1200" dirty="0" err="1">
                <a:solidFill>
                  <a:srgbClr val="002060"/>
                </a:solidFill>
              </a:rPr>
              <a:t>standardised</a:t>
            </a:r>
            <a:r>
              <a:rPr lang="nl-NL" sz="1200" dirty="0">
                <a:solidFill>
                  <a:srgbClr val="002060"/>
                </a:solidFill>
              </a:rPr>
              <a:t>).</a:t>
            </a:r>
          </a:p>
          <a:p>
            <a:pPr>
              <a:defRPr/>
            </a:pPr>
            <a:endParaRPr lang="nl-NL" sz="1200" dirty="0">
              <a:solidFill>
                <a:srgbClr val="002060"/>
              </a:solidFill>
              <a:hlinkClick r:id="rId4" action="ppaction://hlinksldjump"/>
            </a:endParaRPr>
          </a:p>
          <a:p>
            <a:pPr>
              <a:defRPr/>
            </a:pPr>
            <a:r>
              <a:rPr lang="nl-NL" sz="1200" dirty="0">
                <a:solidFill>
                  <a:srgbClr val="002060"/>
                </a:solidFill>
                <a:hlinkClick r:id="rId4" action="ppaction://hlinksldjump"/>
              </a:rPr>
              <a:t>Link</a:t>
            </a:r>
            <a:r>
              <a:rPr lang="nl-NL" sz="1200" dirty="0">
                <a:solidFill>
                  <a:srgbClr val="002060"/>
                </a:solidFill>
              </a:rPr>
              <a:t> </a:t>
            </a:r>
            <a:r>
              <a:rPr lang="nl-NL" sz="1200" dirty="0" err="1">
                <a:solidFill>
                  <a:srgbClr val="002060"/>
                </a:solidFill>
              </a:rPr>
              <a:t>to</a:t>
            </a:r>
            <a:r>
              <a:rPr lang="nl-NL" sz="1200" dirty="0">
                <a:solidFill>
                  <a:srgbClr val="002060"/>
                </a:solidFill>
              </a:rPr>
              <a:t> short-term </a:t>
            </a:r>
            <a:r>
              <a:rPr lang="nl-NL" sz="1200" dirty="0" err="1">
                <a:solidFill>
                  <a:srgbClr val="002060"/>
                </a:solidFill>
              </a:rPr>
              <a:t>cycle</a:t>
            </a:r>
            <a:endParaRPr lang="nl-NL" sz="1200" dirty="0">
              <a:solidFill>
                <a:srgbClr val="002060"/>
              </a:solidFill>
            </a:endParaRPr>
          </a:p>
        </p:txBody>
      </p:sp>
    </p:spTree>
    <p:extLst>
      <p:ext uri="{BB962C8B-B14F-4D97-AF65-F5344CB8AC3E}">
        <p14:creationId xmlns:p14="http://schemas.microsoft.com/office/powerpoint/2010/main" val="1203207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CE812-DB4E-6877-6B4B-63CFA22DC170}"/>
            </a:ext>
          </a:extLst>
        </p:cNvPr>
        <p:cNvGrpSpPr/>
        <p:nvPr/>
      </p:nvGrpSpPr>
      <p:grpSpPr>
        <a:xfrm>
          <a:off x="0" y="0"/>
          <a:ext cx="0" cy="0"/>
          <a:chOff x="0" y="0"/>
          <a:chExt cx="0" cy="0"/>
        </a:xfrm>
      </p:grpSpPr>
      <p:sp>
        <p:nvSpPr>
          <p:cNvPr id="9" name="Titel 1">
            <a:extLst>
              <a:ext uri="{FF2B5EF4-FFF2-40B4-BE49-F238E27FC236}">
                <a16:creationId xmlns:a16="http://schemas.microsoft.com/office/drawing/2014/main" id="{BC7CDFAD-06A8-46EF-4776-25D11166D76F}"/>
              </a:ext>
            </a:extLst>
          </p:cNvPr>
          <p:cNvSpPr>
            <a:spLocks noGrp="1"/>
          </p:cNvSpPr>
          <p:nvPr>
            <p:ph type="title"/>
          </p:nvPr>
        </p:nvSpPr>
        <p:spPr>
          <a:xfrm>
            <a:off x="0" y="0"/>
            <a:ext cx="9144000" cy="566928"/>
          </a:xfrm>
          <a:solidFill>
            <a:srgbClr val="44287F"/>
          </a:solidFill>
        </p:spPr>
        <p:txBody>
          <a:bodyPr anchor="ctr"/>
          <a:lstStyle/>
          <a:p>
            <a:pPr algn="ctr">
              <a:lnSpc>
                <a:spcPct val="100000"/>
              </a:lnSpc>
            </a:pPr>
            <a:r>
              <a:rPr lang="en-US" sz="2400" noProof="1">
                <a:solidFill>
                  <a:schemeClr val="bg1"/>
                </a:solidFill>
              </a:rPr>
              <a:t>Empirical approach</a:t>
            </a:r>
          </a:p>
        </p:txBody>
      </p:sp>
      <p:sp>
        <p:nvSpPr>
          <p:cNvPr id="2" name="Content Placeholder 2">
            <a:extLst>
              <a:ext uri="{FF2B5EF4-FFF2-40B4-BE49-F238E27FC236}">
                <a16:creationId xmlns:a16="http://schemas.microsoft.com/office/drawing/2014/main" id="{7415D86D-5542-3552-758F-1923FC3E3C99}"/>
              </a:ext>
            </a:extLst>
          </p:cNvPr>
          <p:cNvSpPr>
            <a:spLocks noGrp="1"/>
          </p:cNvSpPr>
          <p:nvPr>
            <p:ph idx="1"/>
          </p:nvPr>
        </p:nvSpPr>
        <p:spPr>
          <a:xfrm>
            <a:off x="438653" y="803135"/>
            <a:ext cx="7781804" cy="5679439"/>
          </a:xfrm>
        </p:spPr>
        <p:txBody>
          <a:bodyPr>
            <a:normAutofit/>
          </a:bodyPr>
          <a:lstStyle/>
          <a:p>
            <a:pPr marL="342900" indent="-342900">
              <a:lnSpc>
                <a:spcPct val="120000"/>
              </a:lnSpc>
              <a:spcAft>
                <a:spcPts val="1200"/>
              </a:spcAft>
              <a:buFont typeface="Arial" panose="020B0604020202020204" pitchFamily="34" charset="0"/>
              <a:buChar char="•"/>
            </a:pPr>
            <a:endParaRPr lang="nl-NL" sz="2000" noProof="1">
              <a:solidFill>
                <a:schemeClr val="accent1">
                  <a:lumMod val="50000"/>
                </a:schemeClr>
              </a:solidFill>
              <a:latin typeface="Verdana" panose="020B0604030504040204" pitchFamily="34" charset="0"/>
              <a:ea typeface="Verdana" panose="020B0604030504040204" pitchFamily="34" charset="0"/>
            </a:endParaRPr>
          </a:p>
          <a:p>
            <a:pPr marL="342900" indent="-342900">
              <a:lnSpc>
                <a:spcPct val="120000"/>
              </a:lnSpc>
              <a:spcAft>
                <a:spcPts val="1200"/>
              </a:spcAft>
              <a:buFont typeface="Arial" panose="020B0604020202020204" pitchFamily="34" charset="0"/>
              <a:buChar char="•"/>
            </a:pPr>
            <a:r>
              <a:rPr lang="nl-NL" sz="2000" noProof="1">
                <a:latin typeface="Verdana" panose="020B0604030504040204" pitchFamily="34" charset="0"/>
                <a:ea typeface="Verdana" panose="020B0604030504040204" pitchFamily="34" charset="0"/>
              </a:rPr>
              <a:t>GDP growth surprises linked to ICT/AI-related activity</a:t>
            </a:r>
          </a:p>
          <a:p>
            <a:pPr marL="342900" indent="-342900">
              <a:lnSpc>
                <a:spcPct val="120000"/>
              </a:lnSpc>
              <a:spcAft>
                <a:spcPts val="1200"/>
              </a:spcAft>
              <a:buFont typeface="Arial" panose="020B0604020202020204" pitchFamily="34" charset="0"/>
              <a:buChar char="•"/>
            </a:pPr>
            <a:endParaRPr lang="nl-NL" sz="2000" noProof="1">
              <a:latin typeface="Verdana" panose="020B0604030504040204" pitchFamily="34" charset="0"/>
              <a:ea typeface="Verdana" panose="020B0604030504040204" pitchFamily="34" charset="0"/>
            </a:endParaRPr>
          </a:p>
          <a:p>
            <a:pPr marL="342900" indent="-342900">
              <a:lnSpc>
                <a:spcPct val="120000"/>
              </a:lnSpc>
              <a:spcAft>
                <a:spcPts val="1200"/>
              </a:spcAft>
              <a:buFont typeface="Arial" panose="020B0604020202020204" pitchFamily="34" charset="0"/>
              <a:buChar char="•"/>
            </a:pPr>
            <a:r>
              <a:rPr lang="nl-NL" sz="2000" noProof="1">
                <a:latin typeface="Verdana" panose="020B0604030504040204" pitchFamily="34" charset="0"/>
                <a:ea typeface="Verdana" panose="020B0604030504040204" pitchFamily="34" charset="0"/>
              </a:rPr>
              <a:t>Data for 10 euro area countries, 2011-2025</a:t>
            </a:r>
          </a:p>
          <a:p>
            <a:pPr marL="342900" indent="-342900">
              <a:lnSpc>
                <a:spcPct val="120000"/>
              </a:lnSpc>
              <a:spcAft>
                <a:spcPts val="1200"/>
              </a:spcAft>
              <a:buFont typeface="Arial" panose="020B0604020202020204" pitchFamily="34" charset="0"/>
              <a:buChar char="•"/>
            </a:pPr>
            <a:r>
              <a:rPr lang="en-US" sz="2000" noProof="1">
                <a:latin typeface="Verdana" panose="020B0604030504040204" pitchFamily="34" charset="0"/>
                <a:ea typeface="Verdana" panose="020B0604030504040204" pitchFamily="34" charset="0"/>
              </a:rPr>
              <a:t>Eur Com bi-annual forecast vintages</a:t>
            </a:r>
          </a:p>
          <a:p>
            <a:pPr marL="342900" indent="-342900">
              <a:lnSpc>
                <a:spcPct val="120000"/>
              </a:lnSpc>
              <a:spcAft>
                <a:spcPts val="1200"/>
              </a:spcAft>
              <a:buFont typeface="Arial" panose="020B0604020202020204" pitchFamily="34" charset="0"/>
              <a:buChar char="•"/>
            </a:pPr>
            <a:endParaRPr lang="nl-NL" sz="2000" noProof="1">
              <a:latin typeface="Verdana" panose="020B0604030504040204" pitchFamily="34" charset="0"/>
              <a:ea typeface="Verdana" panose="020B0604030504040204" pitchFamily="34" charset="0"/>
            </a:endParaRPr>
          </a:p>
          <a:p>
            <a:pPr marL="342900" indent="-342900">
              <a:lnSpc>
                <a:spcPct val="120000"/>
              </a:lnSpc>
              <a:spcAft>
                <a:spcPts val="1200"/>
              </a:spcAft>
              <a:buFont typeface="Arial" panose="020B0604020202020204" pitchFamily="34" charset="0"/>
              <a:buChar char="•"/>
            </a:pPr>
            <a:r>
              <a:rPr lang="nl-NL" sz="2000" noProof="1">
                <a:latin typeface="Verdana" panose="020B0604030504040204" pitchFamily="34" charset="0"/>
                <a:ea typeface="Verdana" panose="020B0604030504040204" pitchFamily="34" charset="0"/>
              </a:rPr>
              <a:t>Unconditional bivariate tests</a:t>
            </a:r>
          </a:p>
          <a:p>
            <a:pPr marL="342900" indent="-342900">
              <a:lnSpc>
                <a:spcPct val="120000"/>
              </a:lnSpc>
              <a:spcAft>
                <a:spcPts val="1200"/>
              </a:spcAft>
              <a:buFont typeface="Arial" panose="020B0604020202020204" pitchFamily="34" charset="0"/>
              <a:buChar char="•"/>
            </a:pPr>
            <a:r>
              <a:rPr lang="nl-NL" sz="2000" noProof="1">
                <a:latin typeface="Verdana" panose="020B0604030504040204" pitchFamily="34" charset="0"/>
                <a:ea typeface="Verdana" panose="020B0604030504040204" pitchFamily="34" charset="0"/>
              </a:rPr>
              <a:t>Panel regression models (linear and non-linear)</a:t>
            </a:r>
          </a:p>
          <a:p>
            <a:pPr marL="285750" indent="-285750">
              <a:lnSpc>
                <a:spcPct val="120000"/>
              </a:lnSpc>
              <a:spcAft>
                <a:spcPts val="1200"/>
              </a:spcAft>
              <a:buFont typeface="Arial" panose="020B0604020202020204" pitchFamily="34" charset="0"/>
              <a:buChar char="•"/>
            </a:pPr>
            <a:endParaRPr lang="nl-NL" sz="1600" dirty="0">
              <a:solidFill>
                <a:schemeClr val="accent1">
                  <a:lumMod val="50000"/>
                </a:schemeClr>
              </a:solidFill>
            </a:endParaRPr>
          </a:p>
        </p:txBody>
      </p:sp>
    </p:spTree>
    <p:extLst>
      <p:ext uri="{BB962C8B-B14F-4D97-AF65-F5344CB8AC3E}">
        <p14:creationId xmlns:p14="http://schemas.microsoft.com/office/powerpoint/2010/main" val="16580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1"/>
          <p:cNvSpPr>
            <a:spLocks noGrp="1"/>
          </p:cNvSpPr>
          <p:nvPr>
            <p:ph type="title"/>
          </p:nvPr>
        </p:nvSpPr>
        <p:spPr>
          <a:xfrm>
            <a:off x="0" y="0"/>
            <a:ext cx="9144000" cy="566928"/>
          </a:xfrm>
          <a:solidFill>
            <a:srgbClr val="44287F"/>
          </a:solidFill>
        </p:spPr>
        <p:txBody>
          <a:bodyPr anchor="ctr"/>
          <a:lstStyle/>
          <a:p>
            <a:pPr algn="ctr">
              <a:lnSpc>
                <a:spcPct val="100000"/>
              </a:lnSpc>
            </a:pPr>
            <a:r>
              <a:rPr lang="en-US" sz="2400" noProof="1">
                <a:solidFill>
                  <a:schemeClr val="bg1"/>
                </a:solidFill>
              </a:rPr>
              <a:t>AI-related exposure</a:t>
            </a:r>
          </a:p>
        </p:txBody>
      </p:sp>
      <p:sp>
        <p:nvSpPr>
          <p:cNvPr id="2" name="Content Placeholder 2">
            <a:extLst>
              <a:ext uri="{FF2B5EF4-FFF2-40B4-BE49-F238E27FC236}">
                <a16:creationId xmlns:a16="http://schemas.microsoft.com/office/drawing/2014/main" id="{8F3D8D65-3E89-7468-E586-D814DD2BD102}"/>
              </a:ext>
            </a:extLst>
          </p:cNvPr>
          <p:cNvSpPr>
            <a:spLocks noGrp="1"/>
          </p:cNvSpPr>
          <p:nvPr>
            <p:ph idx="1"/>
          </p:nvPr>
        </p:nvSpPr>
        <p:spPr>
          <a:xfrm>
            <a:off x="287906" y="775703"/>
            <a:ext cx="8746366" cy="5679439"/>
          </a:xfrm>
        </p:spPr>
        <p:txBody>
          <a:bodyPr>
            <a:normAutofit/>
          </a:bodyPr>
          <a:lstStyle/>
          <a:p>
            <a:pPr>
              <a:lnSpc>
                <a:spcPct val="120000"/>
              </a:lnSpc>
              <a:spcAft>
                <a:spcPts val="1200"/>
              </a:spcAft>
            </a:pPr>
            <a:r>
              <a:rPr lang="en-US" sz="2000" noProof="1">
                <a:latin typeface="Verdana" panose="020B0604030504040204" pitchFamily="34" charset="0"/>
                <a:ea typeface="Verdana" panose="020B0604030504040204" pitchFamily="34" charset="0"/>
              </a:rPr>
              <a:t>Investment channel</a:t>
            </a:r>
            <a:endParaRPr lang="nl-NL" sz="2000" noProof="1">
              <a:latin typeface="Verdana" panose="020B0604030504040204" pitchFamily="34" charset="0"/>
              <a:ea typeface="Verdana" panose="020B0604030504040204" pitchFamily="34" charset="0"/>
            </a:endParaRPr>
          </a:p>
          <a:p>
            <a:pPr marL="285750" indent="-285750">
              <a:lnSpc>
                <a:spcPct val="100000"/>
              </a:lnSpc>
              <a:spcAft>
                <a:spcPts val="1200"/>
              </a:spcAft>
              <a:buFont typeface="Arial" panose="020B0604020202020204" pitchFamily="34" charset="0"/>
              <a:buChar char="•"/>
            </a:pPr>
            <a:r>
              <a:rPr lang="en-US" sz="2000" noProof="1">
                <a:latin typeface="Verdana" panose="020B0604030504040204" pitchFamily="34" charset="0"/>
                <a:ea typeface="Verdana" panose="020B0604030504040204" pitchFamily="34" charset="0"/>
              </a:rPr>
              <a:t>ICT/AI-investment can improve shock resilience by enhancing firms’ flexibility, information processing and supply chain management </a:t>
            </a:r>
            <a:r>
              <a:rPr lang="en-US" sz="1800" noProof="1">
                <a:latin typeface="Verdana" panose="020B0604030504040204" pitchFamily="34" charset="0"/>
                <a:ea typeface="Verdana" panose="020B0604030504040204" pitchFamily="34" charset="0"/>
              </a:rPr>
              <a:t>(Moujahid et al., 2025)</a:t>
            </a:r>
          </a:p>
          <a:p>
            <a:pPr marL="702900" lvl="3" indent="-342900">
              <a:lnSpc>
                <a:spcPct val="100000"/>
              </a:lnSpc>
              <a:spcAft>
                <a:spcPts val="300"/>
              </a:spcAft>
              <a:buSzPct val="100000"/>
              <a:buFont typeface="Courier New" panose="02070309020205020404" pitchFamily="49" charset="0"/>
              <a:buChar char="o"/>
            </a:pPr>
            <a:r>
              <a:rPr lang="nl-NL" sz="2000" noProof="1">
                <a:latin typeface="Verdana" panose="020B0604030504040204" pitchFamily="34" charset="0"/>
                <a:ea typeface="Verdana" panose="020B0604030504040204" pitchFamily="34" charset="0"/>
              </a:rPr>
              <a:t>digital </a:t>
            </a:r>
            <a:r>
              <a:rPr lang="nl-NL" sz="2000" noProof="1">
                <a:latin typeface="Verdana" panose="020B0604030504040204" pitchFamily="34" charset="0"/>
                <a:ea typeface="Verdana" panose="020B0604030504040204" pitchFamily="34" charset="0"/>
                <a:hlinkClick r:id="rId3" action="ppaction://hlinksldjump"/>
              </a:rPr>
              <a:t>investm</a:t>
            </a:r>
            <a:r>
              <a:rPr lang="nl-NL" sz="2000" noProof="1">
                <a:latin typeface="Verdana" panose="020B0604030504040204" pitchFamily="34" charset="0"/>
                <a:ea typeface="Verdana" panose="020B0604030504040204" pitchFamily="34" charset="0"/>
              </a:rPr>
              <a:t> by corporations, equity investm in AI firms</a:t>
            </a:r>
          </a:p>
          <a:p>
            <a:pPr>
              <a:lnSpc>
                <a:spcPct val="120000"/>
              </a:lnSpc>
              <a:spcAft>
                <a:spcPts val="1200"/>
              </a:spcAft>
            </a:pPr>
            <a:endParaRPr lang="nl-NL" sz="2000" noProof="1">
              <a:latin typeface="Verdana" panose="020B0604030504040204" pitchFamily="34" charset="0"/>
              <a:ea typeface="Verdana" panose="020B0604030504040204" pitchFamily="34" charset="0"/>
            </a:endParaRPr>
          </a:p>
          <a:p>
            <a:pPr>
              <a:lnSpc>
                <a:spcPct val="120000"/>
              </a:lnSpc>
              <a:spcAft>
                <a:spcPts val="1200"/>
              </a:spcAft>
            </a:pPr>
            <a:r>
              <a:rPr lang="en-US" sz="2000" noProof="1">
                <a:latin typeface="Verdana" panose="020B0604030504040204" pitchFamily="34" charset="0"/>
                <a:ea typeface="Verdana" panose="020B0604030504040204" pitchFamily="34" charset="0"/>
              </a:rPr>
              <a:t>T</a:t>
            </a:r>
            <a:r>
              <a:rPr lang="nl-NL" sz="2000" noProof="1">
                <a:latin typeface="Verdana" panose="020B0604030504040204" pitchFamily="34" charset="0"/>
                <a:ea typeface="Verdana" panose="020B0604030504040204" pitchFamily="34" charset="0"/>
              </a:rPr>
              <a:t>rade and stock market channels</a:t>
            </a:r>
          </a:p>
          <a:p>
            <a:pPr marL="285750" indent="-285750">
              <a:lnSpc>
                <a:spcPct val="100000"/>
              </a:lnSpc>
              <a:spcAft>
                <a:spcPts val="1200"/>
              </a:spcAft>
              <a:buFont typeface="Arial" panose="020B0604020202020204" pitchFamily="34" charset="0"/>
              <a:buChar char="•"/>
            </a:pPr>
            <a:r>
              <a:rPr lang="en-US" sz="2000" noProof="1">
                <a:latin typeface="Verdana" panose="020B0604030504040204" pitchFamily="34" charset="0"/>
                <a:ea typeface="Verdana" panose="020B0604030504040204" pitchFamily="34" charset="0"/>
              </a:rPr>
              <a:t>Exposure to global semiconductor cycle comes with positive trade effects from AI-related global activity </a:t>
            </a:r>
            <a:r>
              <a:rPr lang="en-US" sz="1800" noProof="1">
                <a:latin typeface="Verdana" panose="020B0604030504040204" pitchFamily="34" charset="0"/>
                <a:ea typeface="Verdana" panose="020B0604030504040204" pitchFamily="34" charset="0"/>
              </a:rPr>
              <a:t>(ECB, 2026)</a:t>
            </a:r>
            <a:endParaRPr lang="nl-NL" sz="1800" noProof="1">
              <a:latin typeface="Verdana" panose="020B0604030504040204" pitchFamily="34" charset="0"/>
              <a:ea typeface="Verdana" panose="020B0604030504040204" pitchFamily="34" charset="0"/>
            </a:endParaRPr>
          </a:p>
          <a:p>
            <a:pPr marL="702900" lvl="3" indent="-342900">
              <a:lnSpc>
                <a:spcPct val="100000"/>
              </a:lnSpc>
              <a:spcAft>
                <a:spcPts val="300"/>
              </a:spcAft>
              <a:buSzPct val="100000"/>
              <a:buFont typeface="Courier New" panose="02070309020205020404" pitchFamily="49" charset="0"/>
              <a:buChar char="o"/>
            </a:pPr>
            <a:r>
              <a:rPr lang="nl-NL" sz="2000" noProof="1">
                <a:latin typeface="Verdana" panose="020B0604030504040204" pitchFamily="34" charset="0"/>
                <a:ea typeface="Verdana" panose="020B0604030504040204" pitchFamily="34" charset="0"/>
                <a:hlinkClick r:id="rId4" action="ppaction://hlinksldjump"/>
              </a:rPr>
              <a:t>exports</a:t>
            </a:r>
            <a:r>
              <a:rPr lang="nl-NL" sz="2000" noProof="1">
                <a:latin typeface="Verdana" panose="020B0604030504040204" pitchFamily="34" charset="0"/>
                <a:ea typeface="Verdana" panose="020B0604030504040204" pitchFamily="34" charset="0"/>
              </a:rPr>
              <a:t> ICT/AI-related products, correlation with SOX index</a:t>
            </a:r>
            <a:endParaRPr lang="en-US" sz="2000" noProof="1">
              <a:latin typeface="Verdana" panose="020B0604030504040204" pitchFamily="34" charset="0"/>
              <a:ea typeface="Verdana" panose="020B0604030504040204" pitchFamily="34" charset="0"/>
            </a:endParaRPr>
          </a:p>
          <a:p>
            <a:pPr>
              <a:lnSpc>
                <a:spcPct val="120000"/>
              </a:lnSpc>
              <a:spcAft>
                <a:spcPts val="1200"/>
              </a:spcAft>
            </a:pPr>
            <a:endParaRPr lang="nl-NL" sz="2000" noProof="1">
              <a:latin typeface="Verdana" panose="020B0604030504040204" pitchFamily="34" charset="0"/>
              <a:ea typeface="Verdana" panose="020B0604030504040204" pitchFamily="34" charset="0"/>
            </a:endParaRPr>
          </a:p>
          <a:p>
            <a:pPr>
              <a:lnSpc>
                <a:spcPct val="120000"/>
              </a:lnSpc>
              <a:spcAft>
                <a:spcPts val="1200"/>
              </a:spcAft>
            </a:pPr>
            <a:r>
              <a:rPr lang="nl-NL" sz="2000" noProof="1">
                <a:latin typeface="Verdana" panose="020B0604030504040204" pitchFamily="34" charset="0"/>
                <a:ea typeface="Verdana" panose="020B0604030504040204" pitchFamily="34" charset="0"/>
              </a:rPr>
              <a:t>Channels could capture structural and/or cyclical relations (underlying economic changes, or exposure to another cycle/factor)</a:t>
            </a:r>
          </a:p>
        </p:txBody>
      </p:sp>
    </p:spTree>
    <p:extLst>
      <p:ext uri="{BB962C8B-B14F-4D97-AF65-F5344CB8AC3E}">
        <p14:creationId xmlns:p14="http://schemas.microsoft.com/office/powerpoint/2010/main" val="3588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08D8-0F6C-FBDD-656B-B2A73E65BF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27A485C-F246-D226-E4A1-7AA88455D07C}"/>
              </a:ext>
            </a:extLst>
          </p:cNvPr>
          <p:cNvSpPr>
            <a:spLocks noGrp="1"/>
          </p:cNvSpPr>
          <p:nvPr>
            <p:ph type="title"/>
          </p:nvPr>
        </p:nvSpPr>
        <p:spPr>
          <a:xfrm>
            <a:off x="0" y="0"/>
            <a:ext cx="9144000" cy="557784"/>
          </a:xfrm>
          <a:solidFill>
            <a:srgbClr val="44287F"/>
          </a:solidFill>
        </p:spPr>
        <p:txBody>
          <a:bodyPr anchor="ctr"/>
          <a:lstStyle/>
          <a:p>
            <a:pPr algn="ctr"/>
            <a:r>
              <a:rPr lang="nl-NL" sz="2400" dirty="0">
                <a:solidFill>
                  <a:schemeClr val="bg1"/>
                </a:solidFill>
              </a:rPr>
              <a:t>Shock </a:t>
            </a:r>
            <a:r>
              <a:rPr lang="nl-NL" sz="2400" dirty="0" err="1">
                <a:solidFill>
                  <a:schemeClr val="bg1"/>
                </a:solidFill>
              </a:rPr>
              <a:t>resilience</a:t>
            </a:r>
            <a:endParaRPr lang="nl-NL" sz="2400" dirty="0">
              <a:solidFill>
                <a:srgbClr val="FF0000"/>
              </a:solidFill>
            </a:endParaRPr>
          </a:p>
        </p:txBody>
      </p:sp>
      <p:sp>
        <p:nvSpPr>
          <p:cNvPr id="6" name="Content Placeholder 2">
            <a:extLst>
              <a:ext uri="{FF2B5EF4-FFF2-40B4-BE49-F238E27FC236}">
                <a16:creationId xmlns:a16="http://schemas.microsoft.com/office/drawing/2014/main" id="{4B7D4710-9ED0-97A7-CD0B-BD25DA4B7AA9}"/>
              </a:ext>
            </a:extLst>
          </p:cNvPr>
          <p:cNvSpPr>
            <a:spLocks noGrp="1"/>
          </p:cNvSpPr>
          <p:nvPr>
            <p:ph idx="1"/>
          </p:nvPr>
        </p:nvSpPr>
        <p:spPr>
          <a:xfrm>
            <a:off x="219455" y="1321671"/>
            <a:ext cx="2962657" cy="4989922"/>
          </a:xfrm>
        </p:spPr>
        <p:txBody>
          <a:bodyPr>
            <a:normAutofit lnSpcReduction="10000"/>
          </a:bodyPr>
          <a:lstStyle/>
          <a:p>
            <a:pPr marL="285750" indent="-285750">
              <a:lnSpc>
                <a:spcPct val="120000"/>
              </a:lnSpc>
              <a:spcAft>
                <a:spcPts val="1200"/>
              </a:spcAft>
              <a:buFont typeface="Arial" panose="020B0604020202020204" pitchFamily="34" charset="0"/>
              <a:buChar char="•"/>
            </a:pPr>
            <a:r>
              <a:rPr lang="en-US" sz="2000" noProof="1">
                <a:latin typeface="Verdana" panose="020B0604030504040204" pitchFamily="34" charset="0"/>
                <a:ea typeface="Verdana" panose="020B0604030504040204" pitchFamily="34" charset="0"/>
              </a:rPr>
              <a:t>Resilience </a:t>
            </a:r>
            <a:r>
              <a:rPr lang="en-US" sz="2000" noProof="1">
                <a:latin typeface="Arial" panose="020B0604020202020204" pitchFamily="34" charset="0"/>
                <a:ea typeface="Verdana" panose="020B0604030504040204" pitchFamily="34" charset="0"/>
                <a:cs typeface="Arial" panose="020B0604020202020204" pitchFamily="34" charset="0"/>
              </a:rPr>
              <a:t>→</a:t>
            </a:r>
            <a:r>
              <a:rPr lang="en-US" sz="2000" noProof="1">
                <a:latin typeface="Verdana" panose="020B0604030504040204" pitchFamily="34" charset="0"/>
                <a:ea typeface="Verdana" panose="020B0604030504040204" pitchFamily="34" charset="0"/>
              </a:rPr>
              <a:t> tendency of economy to bounce back from negative shocks </a:t>
            </a:r>
            <a:r>
              <a:rPr lang="en-US" sz="1800" noProof="1">
                <a:latin typeface="Verdana" panose="020B0604030504040204" pitchFamily="34" charset="0"/>
                <a:ea typeface="Verdana" panose="020B0604030504040204" pitchFamily="34" charset="0"/>
              </a:rPr>
              <a:t>(Eichengreen et al., 2024) </a:t>
            </a:r>
          </a:p>
          <a:p>
            <a:pPr marL="285750" indent="-285750">
              <a:lnSpc>
                <a:spcPct val="120000"/>
              </a:lnSpc>
              <a:spcAft>
                <a:spcPts val="1200"/>
              </a:spcAft>
              <a:buFont typeface="Arial" panose="020B0604020202020204" pitchFamily="34" charset="0"/>
              <a:buChar char="•"/>
            </a:pPr>
            <a:endParaRPr lang="en-US" sz="2000" noProof="1">
              <a:latin typeface="Verdana" panose="020B0604030504040204" pitchFamily="34" charset="0"/>
              <a:ea typeface="Verdana" panose="020B0604030504040204" pitchFamily="34" charset="0"/>
            </a:endParaRPr>
          </a:p>
          <a:p>
            <a:pPr marL="285750" indent="-285750">
              <a:lnSpc>
                <a:spcPct val="120000"/>
              </a:lnSpc>
              <a:spcAft>
                <a:spcPts val="1200"/>
              </a:spcAft>
              <a:buFont typeface="Arial" panose="020B0604020202020204" pitchFamily="34" charset="0"/>
              <a:buChar char="•"/>
            </a:pPr>
            <a:r>
              <a:rPr lang="en-US" sz="2000" noProof="1">
                <a:latin typeface="Verdana" panose="020B0604030504040204" pitchFamily="34" charset="0"/>
                <a:ea typeface="Verdana" panose="020B0604030504040204" pitchFamily="34" charset="0"/>
              </a:rPr>
              <a:t>Proxied by positive GDP growth surprises </a:t>
            </a:r>
            <a:r>
              <a:rPr lang="en-US" sz="1800" noProof="1">
                <a:latin typeface="Verdana" panose="020B0604030504040204" pitchFamily="34" charset="0"/>
                <a:ea typeface="Verdana" panose="020B0604030504040204" pitchFamily="34" charset="0"/>
              </a:rPr>
              <a:t>(based on EC bi-annual forecasts 2011-25, 10 EA countries)</a:t>
            </a:r>
          </a:p>
          <a:p>
            <a:pPr>
              <a:lnSpc>
                <a:spcPct val="120000"/>
              </a:lnSpc>
              <a:spcAft>
                <a:spcPts val="1200"/>
              </a:spcAft>
            </a:pPr>
            <a:endParaRPr lang="nl-NL" sz="1600" dirty="0">
              <a:solidFill>
                <a:schemeClr val="accent1">
                  <a:lumMod val="50000"/>
                </a:schemeClr>
              </a:solidFill>
            </a:endParaRPr>
          </a:p>
        </p:txBody>
      </p:sp>
      <p:sp>
        <p:nvSpPr>
          <p:cNvPr id="8" name="Tekstvak 3">
            <a:extLst>
              <a:ext uri="{FF2B5EF4-FFF2-40B4-BE49-F238E27FC236}">
                <a16:creationId xmlns:a16="http://schemas.microsoft.com/office/drawing/2014/main" id="{233DCD29-1BC1-E6E9-61D7-A3B8C24AFEC7}"/>
              </a:ext>
            </a:extLst>
          </p:cNvPr>
          <p:cNvSpPr txBox="1"/>
          <p:nvPr/>
        </p:nvSpPr>
        <p:spPr>
          <a:xfrm>
            <a:off x="3982421" y="5677421"/>
            <a:ext cx="4942124" cy="1015663"/>
          </a:xfrm>
          <a:prstGeom prst="rect">
            <a:avLst/>
          </a:prstGeom>
          <a:noFill/>
        </p:spPr>
        <p:txBody>
          <a:bodyPr wrap="square" rtlCol="0">
            <a:spAutoFit/>
          </a:bodyPr>
          <a:lstStyle/>
          <a:p>
            <a:pPr>
              <a:defRPr/>
            </a:pPr>
            <a:r>
              <a:rPr lang="nl-NL" sz="1200" noProof="1">
                <a:solidFill>
                  <a:srgbClr val="002060"/>
                </a:solidFill>
              </a:rPr>
              <a:t>Based on European Commission Spring and Autumn forecasts of GDP growth. Surprise = realised GDP growth minus forecast (all years 2011-2025, 548 obs and shock years 2020, 2022, 2025 (selection based on peaks in global uncertainty index, 120 obs).</a:t>
            </a:r>
          </a:p>
        </p:txBody>
      </p:sp>
      <p:pic>
        <p:nvPicPr>
          <p:cNvPr id="3" name="Picture 2">
            <a:extLst>
              <a:ext uri="{FF2B5EF4-FFF2-40B4-BE49-F238E27FC236}">
                <a16:creationId xmlns:a16="http://schemas.microsoft.com/office/drawing/2014/main" id="{1294A734-3F15-AF48-C076-C8D21D213F67}"/>
              </a:ext>
            </a:extLst>
          </p:cNvPr>
          <p:cNvPicPr>
            <a:picLocks noChangeAspect="1"/>
          </p:cNvPicPr>
          <p:nvPr/>
        </p:nvPicPr>
        <p:blipFill>
          <a:blip r:embed="rId3"/>
          <a:stretch>
            <a:fillRect/>
          </a:stretch>
        </p:blipFill>
        <p:spPr>
          <a:xfrm>
            <a:off x="3596639" y="2122170"/>
            <a:ext cx="5112813" cy="3254502"/>
          </a:xfrm>
          <a:prstGeom prst="rect">
            <a:avLst/>
          </a:prstGeom>
        </p:spPr>
      </p:pic>
      <p:sp>
        <p:nvSpPr>
          <p:cNvPr id="5" name="Tekstvak 3">
            <a:extLst>
              <a:ext uri="{FF2B5EF4-FFF2-40B4-BE49-F238E27FC236}">
                <a16:creationId xmlns:a16="http://schemas.microsoft.com/office/drawing/2014/main" id="{D0123357-EEBB-CDB1-0C16-42033D94D66A}"/>
              </a:ext>
            </a:extLst>
          </p:cNvPr>
          <p:cNvSpPr txBox="1"/>
          <p:nvPr/>
        </p:nvSpPr>
        <p:spPr>
          <a:xfrm>
            <a:off x="3986782" y="1482867"/>
            <a:ext cx="5157218" cy="338554"/>
          </a:xfrm>
          <a:prstGeom prst="rect">
            <a:avLst/>
          </a:prstGeom>
          <a:noFill/>
        </p:spPr>
        <p:txBody>
          <a:bodyPr wrap="square" rtlCol="0">
            <a:spAutoFit/>
          </a:bodyPr>
          <a:lstStyle/>
          <a:p>
            <a:pPr>
              <a:defRPr/>
            </a:pPr>
            <a:r>
              <a:rPr lang="nl-NL" sz="1600" noProof="1">
                <a:solidFill>
                  <a:srgbClr val="002060"/>
                </a:solidFill>
              </a:rPr>
              <a:t>Positive growth surprises </a:t>
            </a:r>
            <a:r>
              <a:rPr lang="nl-NL" sz="1600" dirty="0">
                <a:solidFill>
                  <a:srgbClr val="002060"/>
                </a:solidFill>
              </a:rPr>
              <a:t>(% of EC forecasts)</a:t>
            </a:r>
          </a:p>
        </p:txBody>
      </p:sp>
    </p:spTree>
    <p:extLst>
      <p:ext uri="{BB962C8B-B14F-4D97-AF65-F5344CB8AC3E}">
        <p14:creationId xmlns:p14="http://schemas.microsoft.com/office/powerpoint/2010/main" val="4129420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2ECBB-8EBB-9B82-F87E-88F96C93955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B51448F-E6B0-C8D8-CC16-0AFD8961EF7F}"/>
              </a:ext>
            </a:extLst>
          </p:cNvPr>
          <p:cNvSpPr>
            <a:spLocks noGrp="1"/>
          </p:cNvSpPr>
          <p:nvPr>
            <p:ph type="title"/>
          </p:nvPr>
        </p:nvSpPr>
        <p:spPr>
          <a:xfrm>
            <a:off x="0" y="0"/>
            <a:ext cx="9144000" cy="557784"/>
          </a:xfrm>
          <a:solidFill>
            <a:srgbClr val="44287F"/>
          </a:solidFill>
        </p:spPr>
        <p:txBody>
          <a:bodyPr anchor="ctr"/>
          <a:lstStyle/>
          <a:p>
            <a:pPr algn="ctr"/>
            <a:r>
              <a:rPr lang="nl-NL" sz="2400" dirty="0">
                <a:solidFill>
                  <a:schemeClr val="bg1"/>
                </a:solidFill>
              </a:rPr>
              <a:t>AI-</a:t>
            </a:r>
            <a:r>
              <a:rPr lang="nl-NL" sz="2400" dirty="0" err="1">
                <a:solidFill>
                  <a:schemeClr val="bg1"/>
                </a:solidFill>
              </a:rPr>
              <a:t>related</a:t>
            </a:r>
            <a:r>
              <a:rPr lang="nl-NL" sz="2400" dirty="0">
                <a:solidFill>
                  <a:schemeClr val="bg1"/>
                </a:solidFill>
              </a:rPr>
              <a:t> investment</a:t>
            </a:r>
            <a:endParaRPr lang="nl-NL" sz="2400" dirty="0">
              <a:solidFill>
                <a:srgbClr val="FF0000"/>
              </a:solidFill>
            </a:endParaRPr>
          </a:p>
        </p:txBody>
      </p:sp>
      <p:sp>
        <p:nvSpPr>
          <p:cNvPr id="6" name="Content Placeholder 2">
            <a:extLst>
              <a:ext uri="{FF2B5EF4-FFF2-40B4-BE49-F238E27FC236}">
                <a16:creationId xmlns:a16="http://schemas.microsoft.com/office/drawing/2014/main" id="{613E110F-8AEE-A02C-2032-1F07DE944DEB}"/>
              </a:ext>
            </a:extLst>
          </p:cNvPr>
          <p:cNvSpPr>
            <a:spLocks noGrp="1"/>
          </p:cNvSpPr>
          <p:nvPr>
            <p:ph idx="1"/>
          </p:nvPr>
        </p:nvSpPr>
        <p:spPr>
          <a:xfrm>
            <a:off x="358000" y="1098631"/>
            <a:ext cx="3253879" cy="4989922"/>
          </a:xfrm>
        </p:spPr>
        <p:txBody>
          <a:bodyPr>
            <a:noAutofit/>
          </a:bodyPr>
          <a:lstStyle/>
          <a:p>
            <a:pPr marL="285750" indent="-285750">
              <a:lnSpc>
                <a:spcPct val="120000"/>
              </a:lnSpc>
              <a:spcAft>
                <a:spcPts val="1200"/>
              </a:spcAft>
              <a:buFont typeface="Arial" panose="020B0604020202020204" pitchFamily="34" charset="0"/>
              <a:buChar char="•"/>
            </a:pPr>
            <a:r>
              <a:rPr lang="en-US" sz="1800" noProof="1">
                <a:latin typeface="Verdana" panose="020B0604030504040204" pitchFamily="34" charset="0"/>
                <a:ea typeface="Verdana" panose="020B0604030504040204" pitchFamily="34" charset="0"/>
              </a:rPr>
              <a:t>High ICT/AI-investm associated with more positive growth surprises …</a:t>
            </a:r>
          </a:p>
          <a:p>
            <a:pPr marL="285750" indent="-285750">
              <a:lnSpc>
                <a:spcPct val="120000"/>
              </a:lnSpc>
              <a:spcAft>
                <a:spcPts val="1200"/>
              </a:spcAft>
              <a:buFont typeface="Arial" panose="020B0604020202020204" pitchFamily="34" charset="0"/>
              <a:buChar char="•"/>
            </a:pPr>
            <a:r>
              <a:rPr lang="en-US" sz="1800" noProof="1">
                <a:latin typeface="Verdana" panose="020B0604030504040204" pitchFamily="34" charset="0"/>
                <a:ea typeface="Verdana" panose="020B0604030504040204" pitchFamily="34" charset="0"/>
              </a:rPr>
              <a:t>… advantage not significant in shock years</a:t>
            </a:r>
          </a:p>
          <a:p>
            <a:pPr marL="285750" indent="-285750">
              <a:lnSpc>
                <a:spcPct val="120000"/>
              </a:lnSpc>
              <a:spcAft>
                <a:spcPts val="1200"/>
              </a:spcAft>
              <a:buFont typeface="Arial" panose="020B0604020202020204" pitchFamily="34" charset="0"/>
              <a:buChar char="•"/>
            </a:pPr>
            <a:endParaRPr lang="en-US" sz="1800" noProof="1">
              <a:latin typeface="Verdana" panose="020B0604030504040204" pitchFamily="34" charset="0"/>
              <a:ea typeface="Verdana" panose="020B0604030504040204" pitchFamily="34" charset="0"/>
            </a:endParaRPr>
          </a:p>
          <a:p>
            <a:pPr marL="285750" indent="-285750">
              <a:lnSpc>
                <a:spcPct val="120000"/>
              </a:lnSpc>
              <a:spcAft>
                <a:spcPts val="1200"/>
              </a:spcAft>
              <a:buFont typeface="Arial" panose="020B0604020202020204" pitchFamily="34" charset="0"/>
              <a:buChar char="•"/>
            </a:pPr>
            <a:r>
              <a:rPr lang="nl-NL" sz="1800" dirty="0"/>
              <a:t>Low </a:t>
            </a:r>
            <a:r>
              <a:rPr lang="nl-NL" sz="1800" dirty="0" err="1"/>
              <a:t>equity</a:t>
            </a:r>
            <a:r>
              <a:rPr lang="nl-NL" sz="1800" dirty="0"/>
              <a:t> AI </a:t>
            </a:r>
            <a:r>
              <a:rPr lang="nl-NL" sz="1800" dirty="0" err="1"/>
              <a:t>invest</a:t>
            </a:r>
            <a:r>
              <a:rPr lang="nl-NL" sz="1800" dirty="0"/>
              <a:t> </a:t>
            </a:r>
            <a:r>
              <a:rPr lang="en-US" sz="1800" dirty="0"/>
              <a:t>seems to be a relative advantage in shock years (less sensitivity to shocks)</a:t>
            </a:r>
            <a:endParaRPr lang="nl-NL" sz="1800" dirty="0"/>
          </a:p>
        </p:txBody>
      </p:sp>
      <p:sp>
        <p:nvSpPr>
          <p:cNvPr id="5" name="Tekstvak 3">
            <a:extLst>
              <a:ext uri="{FF2B5EF4-FFF2-40B4-BE49-F238E27FC236}">
                <a16:creationId xmlns:a16="http://schemas.microsoft.com/office/drawing/2014/main" id="{0EEE5C01-F407-B286-8291-7A84B3BBB14E}"/>
              </a:ext>
            </a:extLst>
          </p:cNvPr>
          <p:cNvSpPr txBox="1"/>
          <p:nvPr/>
        </p:nvSpPr>
        <p:spPr>
          <a:xfrm>
            <a:off x="4701404" y="636934"/>
            <a:ext cx="3985397" cy="584775"/>
          </a:xfrm>
          <a:prstGeom prst="rect">
            <a:avLst/>
          </a:prstGeom>
          <a:noFill/>
        </p:spPr>
        <p:txBody>
          <a:bodyPr wrap="square" rtlCol="0">
            <a:spAutoFit/>
          </a:bodyPr>
          <a:lstStyle/>
          <a:p>
            <a:pPr>
              <a:defRPr/>
            </a:pPr>
            <a:r>
              <a:rPr lang="nl-NL" sz="1600" noProof="1">
                <a:solidFill>
                  <a:srgbClr val="002060"/>
                </a:solidFill>
              </a:rPr>
              <a:t>Influence of AI-related investment on positive growth surprises</a:t>
            </a:r>
          </a:p>
        </p:txBody>
      </p:sp>
      <p:sp>
        <p:nvSpPr>
          <p:cNvPr id="13" name="Tekstvak 3">
            <a:extLst>
              <a:ext uri="{FF2B5EF4-FFF2-40B4-BE49-F238E27FC236}">
                <a16:creationId xmlns:a16="http://schemas.microsoft.com/office/drawing/2014/main" id="{C8DC46B8-5E08-30F3-1EE3-CB90635026CE}"/>
              </a:ext>
            </a:extLst>
          </p:cNvPr>
          <p:cNvSpPr txBox="1"/>
          <p:nvPr/>
        </p:nvSpPr>
        <p:spPr>
          <a:xfrm>
            <a:off x="4498847" y="5608859"/>
            <a:ext cx="4645153" cy="1277273"/>
          </a:xfrm>
          <a:prstGeom prst="rect">
            <a:avLst/>
          </a:prstGeom>
          <a:noFill/>
        </p:spPr>
        <p:txBody>
          <a:bodyPr wrap="square" rtlCol="0">
            <a:spAutoFit/>
          </a:bodyPr>
          <a:lstStyle/>
          <a:p>
            <a:pPr algn="just">
              <a:defRPr/>
            </a:pPr>
            <a:r>
              <a:rPr lang="nl-NL" sz="1100" noProof="1">
                <a:solidFill>
                  <a:srgbClr val="002060"/>
                </a:solidFill>
              </a:rPr>
              <a:t>Lower vs higher than the time-varying median ICT/AI-exposure (10 EA countries, 2011-25 (all years), 2020, 2022, 2025 (shock years)). ***, **, * indicate 1%, 5%, 10% significance of difference between blue and grey dot in same period. +++, ++, + indicate 1%, 5%, 10% significance of difference between blue (grey) dots in all years vs shock years (country-clustered difference-in-shares test).</a:t>
            </a:r>
          </a:p>
        </p:txBody>
      </p:sp>
      <p:pic>
        <p:nvPicPr>
          <p:cNvPr id="3" name="Picture 2">
            <a:extLst>
              <a:ext uri="{FF2B5EF4-FFF2-40B4-BE49-F238E27FC236}">
                <a16:creationId xmlns:a16="http://schemas.microsoft.com/office/drawing/2014/main" id="{B68D3A0C-D014-485F-5A02-9F50BA67BD89}"/>
              </a:ext>
            </a:extLst>
          </p:cNvPr>
          <p:cNvPicPr>
            <a:picLocks noChangeAspect="1"/>
          </p:cNvPicPr>
          <p:nvPr/>
        </p:nvPicPr>
        <p:blipFill>
          <a:blip r:embed="rId3"/>
          <a:stretch>
            <a:fillRect/>
          </a:stretch>
        </p:blipFill>
        <p:spPr>
          <a:xfrm>
            <a:off x="4686994" y="1232345"/>
            <a:ext cx="3962400" cy="2169223"/>
          </a:xfrm>
          <a:prstGeom prst="rect">
            <a:avLst/>
          </a:prstGeom>
        </p:spPr>
      </p:pic>
      <p:pic>
        <p:nvPicPr>
          <p:cNvPr id="4" name="Picture 3">
            <a:extLst>
              <a:ext uri="{FF2B5EF4-FFF2-40B4-BE49-F238E27FC236}">
                <a16:creationId xmlns:a16="http://schemas.microsoft.com/office/drawing/2014/main" id="{AFFB3634-5B82-136E-F947-D33F3E34AD6C}"/>
              </a:ext>
            </a:extLst>
          </p:cNvPr>
          <p:cNvPicPr>
            <a:picLocks noChangeAspect="1"/>
          </p:cNvPicPr>
          <p:nvPr/>
        </p:nvPicPr>
        <p:blipFill>
          <a:blip r:embed="rId4"/>
          <a:stretch>
            <a:fillRect/>
          </a:stretch>
        </p:blipFill>
        <p:spPr>
          <a:xfrm>
            <a:off x="4686994" y="3401568"/>
            <a:ext cx="3962400" cy="2179859"/>
          </a:xfrm>
          <a:prstGeom prst="rect">
            <a:avLst/>
          </a:prstGeom>
        </p:spPr>
      </p:pic>
    </p:spTree>
    <p:extLst>
      <p:ext uri="{BB962C8B-B14F-4D97-AF65-F5344CB8AC3E}">
        <p14:creationId xmlns:p14="http://schemas.microsoft.com/office/powerpoint/2010/main" val="2428101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24241-2444-F196-D04C-6270141B1B7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0D1D165-50E0-8F1E-E2D5-7D57D4E9228C}"/>
              </a:ext>
            </a:extLst>
          </p:cNvPr>
          <p:cNvSpPr>
            <a:spLocks noGrp="1"/>
          </p:cNvSpPr>
          <p:nvPr>
            <p:ph type="title"/>
          </p:nvPr>
        </p:nvSpPr>
        <p:spPr>
          <a:xfrm>
            <a:off x="0" y="0"/>
            <a:ext cx="9144000" cy="557784"/>
          </a:xfrm>
          <a:solidFill>
            <a:srgbClr val="44287F"/>
          </a:solidFill>
        </p:spPr>
        <p:txBody>
          <a:bodyPr anchor="ctr"/>
          <a:lstStyle/>
          <a:p>
            <a:pPr algn="ctr"/>
            <a:r>
              <a:rPr lang="nl-NL" sz="2400" dirty="0">
                <a:solidFill>
                  <a:schemeClr val="bg1"/>
                </a:solidFill>
              </a:rPr>
              <a:t>AI-</a:t>
            </a:r>
            <a:r>
              <a:rPr lang="nl-NL" sz="2400" dirty="0" err="1">
                <a:solidFill>
                  <a:schemeClr val="bg1"/>
                </a:solidFill>
              </a:rPr>
              <a:t>related</a:t>
            </a:r>
            <a:r>
              <a:rPr lang="nl-NL" sz="2400" dirty="0">
                <a:solidFill>
                  <a:schemeClr val="bg1"/>
                </a:solidFill>
              </a:rPr>
              <a:t> </a:t>
            </a:r>
            <a:r>
              <a:rPr lang="nl-NL" sz="2400" dirty="0" err="1">
                <a:solidFill>
                  <a:schemeClr val="bg1"/>
                </a:solidFill>
              </a:rPr>
              <a:t>trade</a:t>
            </a:r>
            <a:r>
              <a:rPr lang="nl-NL" sz="2400" dirty="0">
                <a:solidFill>
                  <a:schemeClr val="bg1"/>
                </a:solidFill>
              </a:rPr>
              <a:t> and stock market exposure</a:t>
            </a:r>
            <a:endParaRPr lang="nl-NL" sz="2400" dirty="0">
              <a:solidFill>
                <a:srgbClr val="FF0000"/>
              </a:solidFill>
            </a:endParaRPr>
          </a:p>
        </p:txBody>
      </p:sp>
      <p:sp>
        <p:nvSpPr>
          <p:cNvPr id="6" name="Content Placeholder 2">
            <a:extLst>
              <a:ext uri="{FF2B5EF4-FFF2-40B4-BE49-F238E27FC236}">
                <a16:creationId xmlns:a16="http://schemas.microsoft.com/office/drawing/2014/main" id="{CF9708F7-32AE-5645-3159-CE1174AB0729}"/>
              </a:ext>
            </a:extLst>
          </p:cNvPr>
          <p:cNvSpPr>
            <a:spLocks noGrp="1"/>
          </p:cNvSpPr>
          <p:nvPr>
            <p:ph idx="1"/>
          </p:nvPr>
        </p:nvSpPr>
        <p:spPr>
          <a:xfrm>
            <a:off x="502919" y="956753"/>
            <a:ext cx="3127249" cy="5174492"/>
          </a:xfrm>
        </p:spPr>
        <p:txBody>
          <a:bodyPr>
            <a:normAutofit fontScale="92500" lnSpcReduction="10000"/>
          </a:bodyPr>
          <a:lstStyle/>
          <a:p>
            <a:pPr marL="285750" indent="-285750">
              <a:lnSpc>
                <a:spcPct val="120000"/>
              </a:lnSpc>
              <a:spcAft>
                <a:spcPts val="1200"/>
              </a:spcAft>
              <a:buFont typeface="Arial" panose="020B0604020202020204" pitchFamily="34" charset="0"/>
              <a:buChar char="•"/>
            </a:pPr>
            <a:r>
              <a:rPr lang="en-US" sz="1900" noProof="1">
                <a:latin typeface="Verdana" panose="020B0604030504040204" pitchFamily="34" charset="0"/>
                <a:ea typeface="Verdana" panose="020B0604030504040204" pitchFamily="34" charset="0"/>
              </a:rPr>
              <a:t>More positive growth surprises in shock years for countries with higher tech-exports …</a:t>
            </a:r>
          </a:p>
          <a:p>
            <a:pPr marL="285750" indent="-285750">
              <a:lnSpc>
                <a:spcPct val="120000"/>
              </a:lnSpc>
              <a:spcAft>
                <a:spcPts val="1200"/>
              </a:spcAft>
              <a:buFont typeface="Arial" panose="020B0604020202020204" pitchFamily="34" charset="0"/>
              <a:buChar char="•"/>
            </a:pPr>
            <a:r>
              <a:rPr lang="en-US" sz="1900" noProof="1">
                <a:latin typeface="Verdana" panose="020B0604030504040204" pitchFamily="34" charset="0"/>
                <a:ea typeface="Verdana" panose="020B0604030504040204" pitchFamily="34" charset="0"/>
              </a:rPr>
              <a:t>…  suggesting ICT/AI global demand is countercyclical and/or accelerates in shock years …</a:t>
            </a:r>
          </a:p>
          <a:p>
            <a:pPr marL="285750" indent="-285750">
              <a:lnSpc>
                <a:spcPct val="120000"/>
              </a:lnSpc>
              <a:spcAft>
                <a:spcPts val="1200"/>
              </a:spcAft>
              <a:buFont typeface="Arial" panose="020B0604020202020204" pitchFamily="34" charset="0"/>
              <a:buChar char="•"/>
            </a:pPr>
            <a:endParaRPr lang="en-US" sz="1900" noProof="1">
              <a:latin typeface="Verdana" panose="020B0604030504040204" pitchFamily="34" charset="0"/>
              <a:ea typeface="Verdana" panose="020B0604030504040204" pitchFamily="34" charset="0"/>
            </a:endParaRPr>
          </a:p>
          <a:p>
            <a:pPr marL="285750" indent="-285750">
              <a:lnSpc>
                <a:spcPct val="120000"/>
              </a:lnSpc>
              <a:spcAft>
                <a:spcPts val="1200"/>
              </a:spcAft>
              <a:buFont typeface="Arial" panose="020B0604020202020204" pitchFamily="34" charset="0"/>
              <a:buChar char="•"/>
            </a:pPr>
            <a:r>
              <a:rPr lang="en-US" sz="1900" noProof="1">
                <a:latin typeface="Verdana" panose="020B0604030504040204" pitchFamily="34" charset="0"/>
                <a:ea typeface="Verdana" panose="020B0604030504040204" pitchFamily="34" charset="0"/>
              </a:rPr>
              <a:t>… which is not the case for stock market exposure; common component may dominate</a:t>
            </a:r>
          </a:p>
          <a:p>
            <a:pPr>
              <a:lnSpc>
                <a:spcPct val="120000"/>
              </a:lnSpc>
              <a:spcAft>
                <a:spcPts val="1200"/>
              </a:spcAft>
            </a:pPr>
            <a:endParaRPr lang="nl-NL" sz="1800" dirty="0">
              <a:solidFill>
                <a:schemeClr val="accent1">
                  <a:lumMod val="50000"/>
                </a:schemeClr>
              </a:solidFill>
            </a:endParaRPr>
          </a:p>
        </p:txBody>
      </p:sp>
      <p:sp>
        <p:nvSpPr>
          <p:cNvPr id="8" name="Tekstvak 3">
            <a:extLst>
              <a:ext uri="{FF2B5EF4-FFF2-40B4-BE49-F238E27FC236}">
                <a16:creationId xmlns:a16="http://schemas.microsoft.com/office/drawing/2014/main" id="{AEE2C5DE-2B6A-1A21-C169-797AC72B8FC2}"/>
              </a:ext>
            </a:extLst>
          </p:cNvPr>
          <p:cNvSpPr txBox="1"/>
          <p:nvPr/>
        </p:nvSpPr>
        <p:spPr>
          <a:xfrm>
            <a:off x="4498847" y="5608859"/>
            <a:ext cx="4645153" cy="1277273"/>
          </a:xfrm>
          <a:prstGeom prst="rect">
            <a:avLst/>
          </a:prstGeom>
          <a:noFill/>
        </p:spPr>
        <p:txBody>
          <a:bodyPr wrap="square" rtlCol="0">
            <a:spAutoFit/>
          </a:bodyPr>
          <a:lstStyle/>
          <a:p>
            <a:pPr algn="just">
              <a:defRPr/>
            </a:pPr>
            <a:r>
              <a:rPr lang="nl-NL" sz="1100" noProof="1">
                <a:solidFill>
                  <a:srgbClr val="002060"/>
                </a:solidFill>
              </a:rPr>
              <a:t>Lower vs higher than the time-varying median ICT/AI-exposure (10 EA countries, 2011-25 (all years), 2020, 2022, 2025 (shock years)). ***, **, * indicate 1%, 5%, 10% significance of difference between blue and grey dot in same period. +++, ++, + indicate 1%, 5%, 10% significance of difference between blue (grey) dots in all years vs shock years (country-clustered difference-in-shares test).</a:t>
            </a:r>
          </a:p>
        </p:txBody>
      </p:sp>
      <p:sp>
        <p:nvSpPr>
          <p:cNvPr id="5" name="Tekstvak 3">
            <a:extLst>
              <a:ext uri="{FF2B5EF4-FFF2-40B4-BE49-F238E27FC236}">
                <a16:creationId xmlns:a16="http://schemas.microsoft.com/office/drawing/2014/main" id="{64CF75E5-0A93-A50A-135C-BD487E25C478}"/>
              </a:ext>
            </a:extLst>
          </p:cNvPr>
          <p:cNvSpPr txBox="1"/>
          <p:nvPr/>
        </p:nvSpPr>
        <p:spPr>
          <a:xfrm>
            <a:off x="4673972" y="646078"/>
            <a:ext cx="3985397" cy="584775"/>
          </a:xfrm>
          <a:prstGeom prst="rect">
            <a:avLst/>
          </a:prstGeom>
          <a:noFill/>
        </p:spPr>
        <p:txBody>
          <a:bodyPr wrap="square" rtlCol="0">
            <a:spAutoFit/>
          </a:bodyPr>
          <a:lstStyle/>
          <a:p>
            <a:pPr>
              <a:defRPr/>
            </a:pPr>
            <a:r>
              <a:rPr lang="nl-NL" sz="1600" noProof="1">
                <a:solidFill>
                  <a:srgbClr val="002060"/>
                </a:solidFill>
              </a:rPr>
              <a:t>Influence of AI-related trade and stock market exposure</a:t>
            </a:r>
          </a:p>
        </p:txBody>
      </p:sp>
      <p:pic>
        <p:nvPicPr>
          <p:cNvPr id="3" name="Picture 2">
            <a:extLst>
              <a:ext uri="{FF2B5EF4-FFF2-40B4-BE49-F238E27FC236}">
                <a16:creationId xmlns:a16="http://schemas.microsoft.com/office/drawing/2014/main" id="{E4247869-22B3-74B1-C2DC-BC2BF3DF0889}"/>
              </a:ext>
            </a:extLst>
          </p:cNvPr>
          <p:cNvPicPr>
            <a:picLocks noChangeAspect="1"/>
          </p:cNvPicPr>
          <p:nvPr/>
        </p:nvPicPr>
        <p:blipFill>
          <a:blip r:embed="rId3"/>
          <a:stretch>
            <a:fillRect/>
          </a:stretch>
        </p:blipFill>
        <p:spPr>
          <a:xfrm>
            <a:off x="4696969" y="1319147"/>
            <a:ext cx="3962400" cy="2161571"/>
          </a:xfrm>
          <a:prstGeom prst="rect">
            <a:avLst/>
          </a:prstGeom>
        </p:spPr>
      </p:pic>
      <p:pic>
        <p:nvPicPr>
          <p:cNvPr id="4" name="Picture 3">
            <a:extLst>
              <a:ext uri="{FF2B5EF4-FFF2-40B4-BE49-F238E27FC236}">
                <a16:creationId xmlns:a16="http://schemas.microsoft.com/office/drawing/2014/main" id="{0231C4B6-AE28-A975-F5EB-43D3FA1E2ADA}"/>
              </a:ext>
            </a:extLst>
          </p:cNvPr>
          <p:cNvPicPr>
            <a:picLocks noChangeAspect="1"/>
          </p:cNvPicPr>
          <p:nvPr/>
        </p:nvPicPr>
        <p:blipFill>
          <a:blip r:embed="rId4"/>
          <a:stretch>
            <a:fillRect/>
          </a:stretch>
        </p:blipFill>
        <p:spPr>
          <a:xfrm>
            <a:off x="4696969" y="3429000"/>
            <a:ext cx="3962400" cy="2128141"/>
          </a:xfrm>
          <a:prstGeom prst="rect">
            <a:avLst/>
          </a:prstGeom>
        </p:spPr>
      </p:pic>
    </p:spTree>
    <p:extLst>
      <p:ext uri="{BB962C8B-B14F-4D97-AF65-F5344CB8AC3E}">
        <p14:creationId xmlns:p14="http://schemas.microsoft.com/office/powerpoint/2010/main" val="2304846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5F1A-4F52-7C0A-8747-26D5AD94412E}"/>
            </a:ext>
          </a:extLst>
        </p:cNvPr>
        <p:cNvGrpSpPr/>
        <p:nvPr/>
      </p:nvGrpSpPr>
      <p:grpSpPr>
        <a:xfrm>
          <a:off x="0" y="0"/>
          <a:ext cx="0" cy="0"/>
          <a:chOff x="0" y="0"/>
          <a:chExt cx="0" cy="0"/>
        </a:xfrm>
      </p:grpSpPr>
      <p:sp>
        <p:nvSpPr>
          <p:cNvPr id="9" name="Titel 1">
            <a:extLst>
              <a:ext uri="{FF2B5EF4-FFF2-40B4-BE49-F238E27FC236}">
                <a16:creationId xmlns:a16="http://schemas.microsoft.com/office/drawing/2014/main" id="{279E6971-F8C1-CE73-F846-F4CD2F9BE489}"/>
              </a:ext>
            </a:extLst>
          </p:cNvPr>
          <p:cNvSpPr>
            <a:spLocks noGrp="1"/>
          </p:cNvSpPr>
          <p:nvPr>
            <p:ph type="title"/>
          </p:nvPr>
        </p:nvSpPr>
        <p:spPr>
          <a:xfrm>
            <a:off x="0" y="0"/>
            <a:ext cx="9144000" cy="566928"/>
          </a:xfrm>
          <a:solidFill>
            <a:srgbClr val="44287F"/>
          </a:solidFill>
        </p:spPr>
        <p:txBody>
          <a:bodyPr anchor="ctr"/>
          <a:lstStyle/>
          <a:p>
            <a:pPr algn="ctr">
              <a:lnSpc>
                <a:spcPct val="100000"/>
              </a:lnSpc>
            </a:pPr>
            <a:r>
              <a:rPr lang="en-US" sz="2400" noProof="1">
                <a:solidFill>
                  <a:schemeClr val="bg1"/>
                </a:solidFill>
              </a:rPr>
              <a:t>Linear probability models (LPM)</a:t>
            </a:r>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6B853D72-57E4-54DF-F916-E87E4C65C99E}"/>
                  </a:ext>
                </a:extLst>
              </p:cNvPr>
              <p:cNvSpPr>
                <a:spLocks noGrp="1"/>
              </p:cNvSpPr>
              <p:nvPr>
                <p:ph idx="1"/>
              </p:nvPr>
            </p:nvSpPr>
            <p:spPr>
              <a:xfrm>
                <a:off x="347472" y="935390"/>
                <a:ext cx="8723376" cy="6087202"/>
              </a:xfrm>
            </p:spPr>
            <p:txBody>
              <a:bodyPr>
                <a:normAutofit lnSpcReduction="10000"/>
              </a:bodyPr>
              <a:lstStyle/>
              <a:p>
                <a:pPr>
                  <a:lnSpc>
                    <a:spcPct val="120000"/>
                  </a:lnSpc>
                  <a:spcAft>
                    <a:spcPts val="300"/>
                  </a:spcAft>
                </a:pPr>
                <a:r>
                  <a:rPr lang="en-GB" sz="2000" noProof="1">
                    <a:latin typeface="Verdana" panose="020B0604030504040204" pitchFamily="34" charset="0"/>
                    <a:ea typeface="Verdana" panose="020B0604030504040204" pitchFamily="34" charset="0"/>
                  </a:rPr>
                  <a:t>1. Average effect (</a:t>
                </a:r>
                <a14:m>
                  <m:oMath xmlns:m="http://schemas.openxmlformats.org/officeDocument/2006/math">
                    <m:r>
                      <a:rPr lang="en-GB" sz="2000" i="1" noProof="1" dirty="0" smtClean="0">
                        <a:latin typeface="Cambria Math" panose="02040503050406030204" pitchFamily="18" charset="0"/>
                        <a:ea typeface="Cambria Math" panose="02040503050406030204" pitchFamily="18" charset="0"/>
                      </a:rPr>
                      <m:t>𝛽</m:t>
                    </m:r>
                  </m:oMath>
                </a14:m>
                <a:r>
                  <a:rPr lang="en-GB" sz="2000" noProof="1">
                    <a:latin typeface="Verdana" panose="020B0604030504040204" pitchFamily="34" charset="0"/>
                    <a:ea typeface="Verdana" panose="020B0604030504040204" pitchFamily="34" charset="0"/>
                  </a:rPr>
                  <a:t>) of ICT/AI in all years</a:t>
                </a:r>
              </a:p>
              <a:p>
                <a:pPr>
                  <a:lnSpc>
                    <a:spcPct val="120000"/>
                  </a:lnSpc>
                  <a:spcAft>
                    <a:spcPts val="300"/>
                  </a:spcAft>
                </a:pPr>
                <a:r>
                  <a:rPr lang="en-GB" sz="1800" noProof="1">
                    <a:latin typeface="Verdana" panose="020B0604030504040204" pitchFamily="34" charset="0"/>
                    <a:ea typeface="Verdana" panose="020B0604030504040204" pitchFamily="34" charset="0"/>
                  </a:rPr>
                  <a:t>	 </a:t>
                </a:r>
                <a14:m>
                  <m:oMath xmlns:m="http://schemas.openxmlformats.org/officeDocument/2006/math">
                    <m:sSub>
                      <m:sSubPr>
                        <m:ctrlPr>
                          <a:rPr lang="en-GB" sz="2200" b="0" i="1" noProof="1" dirty="0" smtClean="0">
                            <a:solidFill>
                              <a:schemeClr val="tx1"/>
                            </a:solidFill>
                            <a:latin typeface="Cambria Math" panose="02040503050406030204" pitchFamily="18" charset="0"/>
                            <a:ea typeface="Verdana" panose="020B0604030504040204" pitchFamily="34" charset="0"/>
                          </a:rPr>
                        </m:ctrlPr>
                      </m:sSubPr>
                      <m:e>
                        <m:r>
                          <a:rPr lang="en-GB" sz="2200" b="0" i="1" noProof="1" dirty="0" smtClean="0">
                            <a:solidFill>
                              <a:schemeClr val="tx1"/>
                            </a:solidFill>
                            <a:latin typeface="Cambria Math" panose="02040503050406030204" pitchFamily="18" charset="0"/>
                            <a:ea typeface="Verdana" panose="020B0604030504040204" pitchFamily="34" charset="0"/>
                          </a:rPr>
                          <m:t>𝑆</m:t>
                        </m:r>
                      </m:e>
                      <m:sub>
                        <m:r>
                          <a:rPr lang="en-GB" sz="2200" b="0" i="1" noProof="1" dirty="0" smtClean="0">
                            <a:solidFill>
                              <a:schemeClr val="tx1"/>
                            </a:solidFill>
                            <a:latin typeface="Cambria Math" panose="02040503050406030204" pitchFamily="18" charset="0"/>
                            <a:ea typeface="Verdana" panose="020B0604030504040204" pitchFamily="34" charset="0"/>
                          </a:rPr>
                          <m:t>𝑖</m:t>
                        </m:r>
                        <m:r>
                          <a:rPr lang="en-GB" sz="2200" b="0" i="1" noProof="1" dirty="0" smtClean="0">
                            <a:solidFill>
                              <a:schemeClr val="tx1"/>
                            </a:solidFill>
                            <a:latin typeface="Cambria Math" panose="02040503050406030204" pitchFamily="18" charset="0"/>
                            <a:ea typeface="Verdana" panose="020B0604030504040204" pitchFamily="34" charset="0"/>
                          </a:rPr>
                          <m:t>,</m:t>
                        </m:r>
                        <m:r>
                          <a:rPr lang="en-GB" sz="2200" b="0" i="1" noProof="1" dirty="0" smtClean="0">
                            <a:solidFill>
                              <a:schemeClr val="tx1"/>
                            </a:solidFill>
                            <a:latin typeface="Cambria Math" panose="02040503050406030204" pitchFamily="18" charset="0"/>
                            <a:ea typeface="Verdana" panose="020B0604030504040204" pitchFamily="34" charset="0"/>
                          </a:rPr>
                          <m:t>𝑡</m:t>
                        </m:r>
                      </m:sub>
                    </m:sSub>
                    <m:r>
                      <a:rPr lang="en-GB" sz="2200" i="1" noProof="1" dirty="0" smtClean="0">
                        <a:solidFill>
                          <a:schemeClr val="tx1"/>
                        </a:solidFill>
                        <a:latin typeface="Cambria Math" panose="02040503050406030204" pitchFamily="18" charset="0"/>
                        <a:ea typeface="Verdana" panose="020B0604030504040204" pitchFamily="34" charset="0"/>
                      </a:rPr>
                      <m:t>=</m:t>
                    </m:r>
                  </m:oMath>
                </a14:m>
                <a:r>
                  <a:rPr lang="en-GB" sz="2200" noProof="1">
                    <a:ea typeface="Verdana" panose="020B0604030504040204" pitchFamily="34" charset="0"/>
                  </a:rPr>
                  <a:t> </a:t>
                </a:r>
                <a14:m>
                  <m:oMath xmlns:m="http://schemas.openxmlformats.org/officeDocument/2006/math">
                    <m:sSub>
                      <m:sSubPr>
                        <m:ctrlPr>
                          <a:rPr lang="en-GB" sz="2200" i="1" noProof="1" dirty="0" smtClean="0">
                            <a:latin typeface="Cambria Math" panose="02040503050406030204" pitchFamily="18" charset="0"/>
                            <a:ea typeface="Cambria Math" panose="02040503050406030204" pitchFamily="18" charset="0"/>
                          </a:rPr>
                        </m:ctrlPr>
                      </m:sSubPr>
                      <m:e>
                        <m:r>
                          <a:rPr lang="en-GB" sz="2200" i="1" noProof="1" dirty="0" smtClean="0">
                            <a:latin typeface="Cambria Math" panose="02040503050406030204" pitchFamily="18" charset="0"/>
                            <a:ea typeface="Cambria Math" panose="02040503050406030204" pitchFamily="18" charset="0"/>
                          </a:rPr>
                          <m:t>𝛼</m:t>
                        </m:r>
                      </m:e>
                      <m:sub>
                        <m:r>
                          <a:rPr lang="en-GB" sz="2200" b="0" i="1" noProof="1" dirty="0" smtClean="0">
                            <a:latin typeface="Cambria Math" panose="02040503050406030204" pitchFamily="18" charset="0"/>
                            <a:ea typeface="Verdana" panose="020B0604030504040204" pitchFamily="34" charset="0"/>
                          </a:rPr>
                          <m:t>𝑖</m:t>
                        </m:r>
                      </m:sub>
                    </m:sSub>
                    <m:r>
                      <a:rPr lang="en-GB" sz="2200" b="0" i="1" noProof="1" dirty="0" smtClean="0">
                        <a:latin typeface="Cambria Math" panose="02040503050406030204" pitchFamily="18" charset="0"/>
                        <a:ea typeface="Verdana" panose="020B0604030504040204" pitchFamily="34" charset="0"/>
                      </a:rPr>
                      <m:t>+</m:t>
                    </m:r>
                  </m:oMath>
                </a14:m>
                <a:r>
                  <a:rPr lang="en-GB" sz="2200" noProof="1">
                    <a:ea typeface="Cambria Math" panose="02040503050406030204" pitchFamily="18" charset="0"/>
                  </a:rPr>
                  <a:t> </a:t>
                </a:r>
                <a14:m>
                  <m:oMath xmlns:m="http://schemas.openxmlformats.org/officeDocument/2006/math">
                    <m:sSub>
                      <m:sSubPr>
                        <m:ctrlPr>
                          <a:rPr lang="en-GB" sz="2200" i="1" noProof="1" dirty="0" smtClean="0">
                            <a:latin typeface="Cambria Math" panose="02040503050406030204" pitchFamily="18" charset="0"/>
                            <a:ea typeface="Cambria Math" panose="02040503050406030204" pitchFamily="18" charset="0"/>
                          </a:rPr>
                        </m:ctrlPr>
                      </m:sSubPr>
                      <m:e>
                        <m:r>
                          <a:rPr lang="en-GB" sz="2200" i="1" noProof="1" dirty="0" smtClean="0">
                            <a:latin typeface="Cambria Math" panose="02040503050406030204" pitchFamily="18" charset="0"/>
                            <a:ea typeface="Cambria Math" panose="02040503050406030204" pitchFamily="18" charset="0"/>
                          </a:rPr>
                          <m:t>𝜏</m:t>
                        </m:r>
                      </m:e>
                      <m:sub>
                        <m:r>
                          <a:rPr lang="en-GB" sz="2200" b="0" i="1" noProof="1" dirty="0" smtClean="0">
                            <a:latin typeface="Cambria Math" panose="02040503050406030204" pitchFamily="18" charset="0"/>
                            <a:ea typeface="Verdana" panose="020B0604030504040204" pitchFamily="34" charset="0"/>
                          </a:rPr>
                          <m:t>𝑡</m:t>
                        </m:r>
                      </m:sub>
                    </m:sSub>
                    <m:r>
                      <a:rPr lang="en-GB" sz="2200" b="0" i="1" noProof="1" dirty="0" smtClean="0">
                        <a:latin typeface="Cambria Math" panose="02040503050406030204" pitchFamily="18" charset="0"/>
                        <a:ea typeface="Verdana" panose="020B0604030504040204" pitchFamily="34" charset="0"/>
                      </a:rPr>
                      <m:t>+ </m:t>
                    </m:r>
                    <m:r>
                      <a:rPr lang="en-GB" sz="2200" b="0" i="1" noProof="1" dirty="0" smtClean="0">
                        <a:latin typeface="Cambria Math" panose="02040503050406030204" pitchFamily="18" charset="0"/>
                        <a:ea typeface="Cambria Math" panose="02040503050406030204" pitchFamily="18" charset="0"/>
                      </a:rPr>
                      <m:t>𝛽</m:t>
                    </m:r>
                    <m:sSub>
                      <m:sSubPr>
                        <m:ctrlPr>
                          <a:rPr lang="en-GB" sz="2200" b="0" i="1" noProof="1" dirty="0" smtClean="0">
                            <a:latin typeface="Cambria Math" panose="02040503050406030204" pitchFamily="18" charset="0"/>
                            <a:ea typeface="Verdana" panose="020B0604030504040204" pitchFamily="34" charset="0"/>
                          </a:rPr>
                        </m:ctrlPr>
                      </m:sSubPr>
                      <m:e>
                        <m:r>
                          <a:rPr lang="en-GB" sz="2200" b="0" i="1" noProof="1" dirty="0" smtClean="0">
                            <a:latin typeface="Cambria Math" panose="02040503050406030204" pitchFamily="18" charset="0"/>
                            <a:ea typeface="Verdana" panose="020B0604030504040204" pitchFamily="34" charset="0"/>
                          </a:rPr>
                          <m:t> </m:t>
                        </m:r>
                        <m:r>
                          <a:rPr lang="en-GB" sz="2200" b="0" i="1" noProof="1" dirty="0" smtClean="0">
                            <a:latin typeface="Cambria Math" panose="02040503050406030204" pitchFamily="18" charset="0"/>
                            <a:ea typeface="Verdana" panose="020B0604030504040204" pitchFamily="34" charset="0"/>
                          </a:rPr>
                          <m:t>𝑋</m:t>
                        </m:r>
                      </m:e>
                      <m:sub>
                        <m:r>
                          <a:rPr lang="en-GB" sz="2200" i="1" noProof="1" dirty="0" smtClean="0">
                            <a:latin typeface="Cambria Math" panose="02040503050406030204" pitchFamily="18" charset="0"/>
                            <a:ea typeface="Verdana" panose="020B0604030504040204" pitchFamily="34" charset="0"/>
                          </a:rPr>
                          <m:t>𝑖</m:t>
                        </m:r>
                        <m:r>
                          <a:rPr lang="en-GB" sz="220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Verdana" panose="020B0604030504040204" pitchFamily="34" charset="0"/>
                          </a:rPr>
                          <m:t>𝑡</m:t>
                        </m:r>
                        <m:r>
                          <a:rPr lang="en-GB" sz="2200" b="0" i="1" noProof="1" dirty="0" smtClean="0">
                            <a:latin typeface="Cambria Math" panose="02040503050406030204" pitchFamily="18" charset="0"/>
                            <a:ea typeface="Verdana" panose="020B0604030504040204" pitchFamily="34" charset="0"/>
                          </a:rPr>
                          <m:t>−1</m:t>
                        </m:r>
                      </m:sub>
                    </m:sSub>
                    <m:r>
                      <a:rPr lang="en-GB" sz="220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Cambria Math" panose="02040503050406030204" pitchFamily="18" charset="0"/>
                      </a:rPr>
                      <m:t>𝜑</m:t>
                    </m:r>
                    <m:sSub>
                      <m:sSubPr>
                        <m:ctrlPr>
                          <a:rPr lang="en-GB" sz="2200" i="1" noProof="1" dirty="0" smtClean="0">
                            <a:latin typeface="Cambria Math" panose="02040503050406030204" pitchFamily="18" charset="0"/>
                            <a:ea typeface="Verdana" panose="020B0604030504040204" pitchFamily="34" charset="0"/>
                          </a:rPr>
                        </m:ctrlPr>
                      </m:sSubPr>
                      <m:e>
                        <m:r>
                          <a:rPr lang="en-GB" sz="2200" i="1" noProof="1" dirty="0" smtClean="0">
                            <a:latin typeface="Cambria Math" panose="02040503050406030204" pitchFamily="18" charset="0"/>
                            <a:ea typeface="Verdana" panose="020B0604030504040204" pitchFamily="34" charset="0"/>
                          </a:rPr>
                          <m:t> </m:t>
                        </m:r>
                        <m:r>
                          <a:rPr lang="en-GB" sz="2200" b="0" i="1" noProof="1" dirty="0" smtClean="0">
                            <a:latin typeface="Cambria Math" panose="02040503050406030204" pitchFamily="18" charset="0"/>
                            <a:ea typeface="Verdana" panose="020B0604030504040204" pitchFamily="34" charset="0"/>
                          </a:rPr>
                          <m:t>𝑍</m:t>
                        </m:r>
                      </m:e>
                      <m:sub>
                        <m:r>
                          <a:rPr lang="en-GB" sz="2200" i="1" noProof="1" dirty="0" smtClean="0">
                            <a:latin typeface="Cambria Math" panose="02040503050406030204" pitchFamily="18" charset="0"/>
                            <a:ea typeface="Verdana" panose="020B0604030504040204" pitchFamily="34" charset="0"/>
                          </a:rPr>
                          <m:t>𝑖</m:t>
                        </m:r>
                        <m:r>
                          <a:rPr lang="en-GB" sz="220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Verdana" panose="020B0604030504040204" pitchFamily="34" charset="0"/>
                          </a:rPr>
                          <m:t>𝑡</m:t>
                        </m:r>
                        <m:r>
                          <a:rPr lang="en-GB" sz="2200" b="0" i="1" noProof="1" dirty="0" smtClean="0">
                            <a:latin typeface="Cambria Math" panose="02040503050406030204" pitchFamily="18" charset="0"/>
                            <a:ea typeface="Verdana" panose="020B0604030504040204" pitchFamily="34" charset="0"/>
                          </a:rPr>
                          <m:t>−1</m:t>
                        </m:r>
                      </m:sub>
                    </m:sSub>
                    <m:r>
                      <a:rPr lang="en-GB" sz="2200" i="1" noProof="1" dirty="0" smtClean="0">
                        <a:latin typeface="Cambria Math" panose="02040503050406030204" pitchFamily="18" charset="0"/>
                        <a:ea typeface="Verdana" panose="020B0604030504040204" pitchFamily="34" charset="0"/>
                      </a:rPr>
                      <m:t>+</m:t>
                    </m:r>
                    <m:r>
                      <m:rPr>
                        <m:nor/>
                      </m:rPr>
                      <a:rPr lang="en-GB" sz="2200" i="0" noProof="1" dirty="0" smtClean="0">
                        <a:ea typeface="Cambria Math" panose="02040503050406030204" pitchFamily="18" charset="0"/>
                      </a:rPr>
                      <m:t> </m:t>
                    </m:r>
                    <m:sSub>
                      <m:sSubPr>
                        <m:ctrlPr>
                          <a:rPr lang="en-GB" sz="2200" i="1" noProof="1" dirty="0" smtClean="0">
                            <a:latin typeface="Cambria Math" panose="02040503050406030204" pitchFamily="18" charset="0"/>
                            <a:ea typeface="Cambria Math" panose="02040503050406030204" pitchFamily="18" charset="0"/>
                          </a:rPr>
                        </m:ctrlPr>
                      </m:sSubPr>
                      <m:e>
                        <m:r>
                          <a:rPr lang="en-GB" sz="2200" i="1" noProof="1" dirty="0" smtClean="0">
                            <a:latin typeface="Cambria Math" panose="02040503050406030204" pitchFamily="18" charset="0"/>
                            <a:ea typeface="Cambria Math" panose="02040503050406030204" pitchFamily="18" charset="0"/>
                          </a:rPr>
                          <m:t>𝜀</m:t>
                        </m:r>
                      </m:e>
                      <m:sub>
                        <m:r>
                          <a:rPr lang="en-GB" sz="2200" b="0" i="1" noProof="1" dirty="0" smtClean="0">
                            <a:latin typeface="Cambria Math" panose="02040503050406030204" pitchFamily="18" charset="0"/>
                            <a:ea typeface="Cambria Math" panose="02040503050406030204" pitchFamily="18" charset="0"/>
                          </a:rPr>
                          <m:t>𝑖</m:t>
                        </m:r>
                        <m:r>
                          <a:rPr lang="en-GB" sz="2200" b="0" i="1" noProof="1" dirty="0" smtClean="0">
                            <a:latin typeface="Cambria Math" panose="02040503050406030204" pitchFamily="18" charset="0"/>
                            <a:ea typeface="Cambria Math" panose="02040503050406030204" pitchFamily="18" charset="0"/>
                          </a:rPr>
                          <m:t>,</m:t>
                        </m:r>
                        <m:r>
                          <a:rPr lang="en-GB" sz="2200" i="1" noProof="1" dirty="0" smtClean="0">
                            <a:latin typeface="Cambria Math" panose="02040503050406030204" pitchFamily="18" charset="0"/>
                            <a:ea typeface="Verdana" panose="020B0604030504040204" pitchFamily="34" charset="0"/>
                          </a:rPr>
                          <m:t>𝑡</m:t>
                        </m:r>
                      </m:sub>
                    </m:sSub>
                  </m:oMath>
                </a14:m>
                <a:endParaRPr lang="en-GB" sz="2200" noProof="1">
                  <a:solidFill>
                    <a:schemeClr val="tx1"/>
                  </a:solidFill>
                  <a:latin typeface="Verdana" panose="020B0604030504040204" pitchFamily="34" charset="0"/>
                  <a:ea typeface="Verdana" panose="020B0604030504040204" pitchFamily="34" charset="0"/>
                </a:endParaRPr>
              </a:p>
              <a:p>
                <a:pPr>
                  <a:lnSpc>
                    <a:spcPct val="120000"/>
                  </a:lnSpc>
                  <a:spcAft>
                    <a:spcPts val="300"/>
                  </a:spcAft>
                </a:pPr>
                <a:endParaRPr lang="en-GB" sz="1800" noProof="1">
                  <a:latin typeface="Verdana" panose="020B0604030504040204" pitchFamily="34" charset="0"/>
                  <a:ea typeface="Verdana" panose="020B0604030504040204" pitchFamily="34" charset="0"/>
                </a:endParaRPr>
              </a:p>
              <a:p>
                <a:pPr>
                  <a:lnSpc>
                    <a:spcPct val="120000"/>
                  </a:lnSpc>
                  <a:spcAft>
                    <a:spcPts val="300"/>
                  </a:spcAft>
                </a:pPr>
                <a:r>
                  <a:rPr lang="en-GB" sz="1800" noProof="1">
                    <a:latin typeface="Verdana" panose="020B0604030504040204" pitchFamily="34" charset="0"/>
                    <a:ea typeface="Verdana" panose="020B0604030504040204" pitchFamily="34" charset="0"/>
                  </a:rPr>
                  <a:t>2. </a:t>
                </a:r>
                <a:r>
                  <a:rPr lang="en-GB" sz="2000" noProof="1">
                    <a:latin typeface="Verdana" panose="020B0604030504040204" pitchFamily="34" charset="0"/>
                    <a:ea typeface="Verdana" panose="020B0604030504040204" pitchFamily="34" charset="0"/>
                  </a:rPr>
                  <a:t>Additional effect (</a:t>
                </a:r>
                <a14:m>
                  <m:oMath xmlns:m="http://schemas.openxmlformats.org/officeDocument/2006/math">
                    <m:r>
                      <a:rPr lang="en-GB" sz="2000" i="1" noProof="1" dirty="0" smtClean="0">
                        <a:latin typeface="Cambria Math" panose="02040503050406030204" pitchFamily="18" charset="0"/>
                        <a:ea typeface="Cambria Math" panose="02040503050406030204" pitchFamily="18" charset="0"/>
                      </a:rPr>
                      <m:t>𝛾</m:t>
                    </m:r>
                  </m:oMath>
                </a14:m>
                <a:r>
                  <a:rPr lang="en-GB" sz="2000" noProof="1">
                    <a:latin typeface="Verdana" panose="020B0604030504040204" pitchFamily="34" charset="0"/>
                    <a:ea typeface="Verdana" panose="020B0604030504040204" pitchFamily="34" charset="0"/>
                  </a:rPr>
                  <a:t>) of ICT/AI in shock years</a:t>
                </a:r>
              </a:p>
              <a:p>
                <a:pPr>
                  <a:lnSpc>
                    <a:spcPct val="120000"/>
                  </a:lnSpc>
                  <a:spcAft>
                    <a:spcPts val="300"/>
                  </a:spcAft>
                </a:pPr>
                <a:r>
                  <a:rPr lang="en-GB" sz="1800" noProof="1">
                    <a:latin typeface="Verdana" panose="020B0604030504040204" pitchFamily="34" charset="0"/>
                    <a:ea typeface="Verdana" panose="020B0604030504040204" pitchFamily="34" charset="0"/>
                  </a:rPr>
                  <a:t>	 </a:t>
                </a:r>
                <a14:m>
                  <m:oMath xmlns:m="http://schemas.openxmlformats.org/officeDocument/2006/math">
                    <m:sSub>
                      <m:sSubPr>
                        <m:ctrlPr>
                          <a:rPr lang="en-GB" sz="2200" i="1" noProof="1" dirty="0" smtClean="0">
                            <a:latin typeface="Cambria Math" panose="02040503050406030204" pitchFamily="18" charset="0"/>
                            <a:ea typeface="Verdana" panose="020B0604030504040204" pitchFamily="34" charset="0"/>
                          </a:rPr>
                        </m:ctrlPr>
                      </m:sSubPr>
                      <m:e>
                        <m:r>
                          <a:rPr lang="en-GB" sz="2200" i="1" noProof="1" dirty="0" smtClean="0">
                            <a:latin typeface="Cambria Math" panose="02040503050406030204" pitchFamily="18" charset="0"/>
                            <a:ea typeface="Verdana" panose="020B0604030504040204" pitchFamily="34" charset="0"/>
                          </a:rPr>
                          <m:t>𝑆</m:t>
                        </m:r>
                      </m:e>
                      <m:sub>
                        <m:r>
                          <a:rPr lang="en-GB" sz="2200" i="1" noProof="1" dirty="0" smtClean="0">
                            <a:latin typeface="Cambria Math" panose="02040503050406030204" pitchFamily="18" charset="0"/>
                            <a:ea typeface="Verdana" panose="020B0604030504040204" pitchFamily="34" charset="0"/>
                          </a:rPr>
                          <m:t>𝑖</m:t>
                        </m:r>
                        <m:r>
                          <a:rPr lang="en-GB" sz="220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Verdana" panose="020B0604030504040204" pitchFamily="34" charset="0"/>
                          </a:rPr>
                          <m:t>𝑡</m:t>
                        </m:r>
                      </m:sub>
                    </m:sSub>
                    <m:r>
                      <a:rPr lang="en-GB" sz="2200" i="1" noProof="1" dirty="0" smtClean="0">
                        <a:latin typeface="Cambria Math" panose="02040503050406030204" pitchFamily="18" charset="0"/>
                        <a:ea typeface="Verdana" panose="020B0604030504040204" pitchFamily="34" charset="0"/>
                      </a:rPr>
                      <m:t>=</m:t>
                    </m:r>
                  </m:oMath>
                </a14:m>
                <a:r>
                  <a:rPr lang="en-GB" sz="2200" noProof="1">
                    <a:ea typeface="Verdana" panose="020B0604030504040204" pitchFamily="34" charset="0"/>
                  </a:rPr>
                  <a:t> </a:t>
                </a:r>
                <a14:m>
                  <m:oMath xmlns:m="http://schemas.openxmlformats.org/officeDocument/2006/math">
                    <m:sSub>
                      <m:sSubPr>
                        <m:ctrlPr>
                          <a:rPr lang="en-GB" sz="2200" i="1" noProof="1" dirty="0" smtClean="0">
                            <a:latin typeface="Cambria Math" panose="02040503050406030204" pitchFamily="18" charset="0"/>
                            <a:ea typeface="Cambria Math" panose="02040503050406030204" pitchFamily="18" charset="0"/>
                          </a:rPr>
                        </m:ctrlPr>
                      </m:sSubPr>
                      <m:e>
                        <m:r>
                          <a:rPr lang="en-GB" sz="2200" i="1" noProof="1" dirty="0" smtClean="0">
                            <a:latin typeface="Cambria Math" panose="02040503050406030204" pitchFamily="18" charset="0"/>
                            <a:ea typeface="Cambria Math" panose="02040503050406030204" pitchFamily="18" charset="0"/>
                          </a:rPr>
                          <m:t>𝛼</m:t>
                        </m:r>
                      </m:e>
                      <m:sub>
                        <m:r>
                          <a:rPr lang="en-GB" sz="2200" i="1" noProof="1" dirty="0" smtClean="0">
                            <a:latin typeface="Cambria Math" panose="02040503050406030204" pitchFamily="18" charset="0"/>
                            <a:ea typeface="Verdana" panose="020B0604030504040204" pitchFamily="34" charset="0"/>
                          </a:rPr>
                          <m:t>𝑖</m:t>
                        </m:r>
                      </m:sub>
                    </m:sSub>
                    <m:r>
                      <a:rPr lang="en-GB" sz="2200" i="1" noProof="1" dirty="0" smtClean="0">
                        <a:latin typeface="Cambria Math" panose="02040503050406030204" pitchFamily="18" charset="0"/>
                        <a:ea typeface="Verdana" panose="020B0604030504040204" pitchFamily="34" charset="0"/>
                      </a:rPr>
                      <m:t>+</m:t>
                    </m:r>
                  </m:oMath>
                </a14:m>
                <a:r>
                  <a:rPr lang="en-GB" sz="2200" noProof="1">
                    <a:ea typeface="Cambria Math" panose="02040503050406030204" pitchFamily="18" charset="0"/>
                  </a:rPr>
                  <a:t> </a:t>
                </a:r>
                <a14:m>
                  <m:oMath xmlns:m="http://schemas.openxmlformats.org/officeDocument/2006/math">
                    <m:sSub>
                      <m:sSubPr>
                        <m:ctrlPr>
                          <a:rPr lang="en-GB" sz="2200" i="1" noProof="1" dirty="0" smtClean="0">
                            <a:latin typeface="Cambria Math" panose="02040503050406030204" pitchFamily="18" charset="0"/>
                            <a:ea typeface="Cambria Math" panose="02040503050406030204" pitchFamily="18" charset="0"/>
                          </a:rPr>
                        </m:ctrlPr>
                      </m:sSubPr>
                      <m:e>
                        <m:r>
                          <a:rPr lang="en-GB" sz="2200" i="1" noProof="1" dirty="0" smtClean="0">
                            <a:latin typeface="Cambria Math" panose="02040503050406030204" pitchFamily="18" charset="0"/>
                            <a:ea typeface="Cambria Math" panose="02040503050406030204" pitchFamily="18" charset="0"/>
                          </a:rPr>
                          <m:t>𝜏</m:t>
                        </m:r>
                      </m:e>
                      <m:sub>
                        <m:r>
                          <a:rPr lang="en-GB" sz="2200" i="1" noProof="1" dirty="0" smtClean="0">
                            <a:latin typeface="Cambria Math" panose="02040503050406030204" pitchFamily="18" charset="0"/>
                            <a:ea typeface="Verdana" panose="020B0604030504040204" pitchFamily="34" charset="0"/>
                          </a:rPr>
                          <m:t>𝑡</m:t>
                        </m:r>
                      </m:sub>
                    </m:sSub>
                    <m:r>
                      <a:rPr lang="en-GB" sz="2200" i="1" noProof="1" dirty="0" smtClean="0">
                        <a:latin typeface="Cambria Math" panose="02040503050406030204" pitchFamily="18" charset="0"/>
                        <a:ea typeface="Verdana" panose="020B0604030504040204" pitchFamily="34" charset="0"/>
                      </a:rPr>
                      <m:t>+ </m:t>
                    </m:r>
                    <m:r>
                      <a:rPr lang="en-GB" sz="2200" i="1" noProof="1" dirty="0" smtClean="0">
                        <a:latin typeface="Cambria Math" panose="02040503050406030204" pitchFamily="18" charset="0"/>
                        <a:ea typeface="Cambria Math" panose="02040503050406030204" pitchFamily="18" charset="0"/>
                      </a:rPr>
                      <m:t>𝛽</m:t>
                    </m:r>
                    <m:sSub>
                      <m:sSubPr>
                        <m:ctrlPr>
                          <a:rPr lang="en-GB" sz="2200" i="1" noProof="1" dirty="0" smtClean="0">
                            <a:latin typeface="Cambria Math" panose="02040503050406030204" pitchFamily="18" charset="0"/>
                            <a:ea typeface="Verdana" panose="020B0604030504040204" pitchFamily="34" charset="0"/>
                          </a:rPr>
                        </m:ctrlPr>
                      </m:sSubPr>
                      <m:e>
                        <m:r>
                          <a:rPr lang="en-GB" sz="2200" i="1" noProof="1" dirty="0" smtClean="0">
                            <a:latin typeface="Cambria Math" panose="02040503050406030204" pitchFamily="18" charset="0"/>
                            <a:ea typeface="Verdana" panose="020B0604030504040204" pitchFamily="34" charset="0"/>
                          </a:rPr>
                          <m:t> </m:t>
                        </m:r>
                        <m:r>
                          <a:rPr lang="en-GB" sz="2200" i="1" noProof="1" dirty="0" smtClean="0">
                            <a:latin typeface="Cambria Math" panose="02040503050406030204" pitchFamily="18" charset="0"/>
                            <a:ea typeface="Verdana" panose="020B0604030504040204" pitchFamily="34" charset="0"/>
                          </a:rPr>
                          <m:t>𝑋</m:t>
                        </m:r>
                      </m:e>
                      <m:sub>
                        <m:r>
                          <a:rPr lang="en-GB" sz="2200" i="1" noProof="1" dirty="0" smtClean="0">
                            <a:latin typeface="Cambria Math" panose="02040503050406030204" pitchFamily="18" charset="0"/>
                            <a:ea typeface="Verdana" panose="020B0604030504040204" pitchFamily="34" charset="0"/>
                          </a:rPr>
                          <m:t>𝑖</m:t>
                        </m:r>
                        <m:r>
                          <a:rPr lang="en-GB" sz="220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Verdana" panose="020B0604030504040204" pitchFamily="34" charset="0"/>
                          </a:rPr>
                          <m:t>𝑡</m:t>
                        </m:r>
                        <m:r>
                          <a:rPr lang="en-GB" sz="2200" i="1" noProof="1" dirty="0" smtClean="0">
                            <a:latin typeface="Cambria Math" panose="02040503050406030204" pitchFamily="18" charset="0"/>
                            <a:ea typeface="Verdana" panose="020B0604030504040204" pitchFamily="34" charset="0"/>
                          </a:rPr>
                          <m:t>−1</m:t>
                        </m:r>
                      </m:sub>
                    </m:sSub>
                    <m:r>
                      <a:rPr lang="en-GB" sz="2200" b="0" i="1" noProof="1" dirty="0" smtClean="0">
                        <a:latin typeface="Cambria Math" panose="02040503050406030204" pitchFamily="18" charset="0"/>
                        <a:ea typeface="Verdana" panose="020B0604030504040204" pitchFamily="34" charset="0"/>
                      </a:rPr>
                      <m:t>+ </m:t>
                    </m:r>
                    <m:r>
                      <a:rPr lang="en-GB" sz="2400" i="1" noProof="1" dirty="0" smtClean="0">
                        <a:latin typeface="Cambria Math" panose="02040503050406030204" pitchFamily="18" charset="0"/>
                        <a:ea typeface="Cambria Math" panose="02040503050406030204" pitchFamily="18" charset="0"/>
                      </a:rPr>
                      <m:t>𝛾</m:t>
                    </m:r>
                    <m:r>
                      <a:rPr lang="en-GB" sz="2400" b="0" i="1" noProof="1" dirty="0" smtClean="0">
                        <a:latin typeface="Cambria Math" panose="02040503050406030204" pitchFamily="18" charset="0"/>
                        <a:ea typeface="Cambria Math" panose="02040503050406030204" pitchFamily="18" charset="0"/>
                      </a:rPr>
                      <m:t> </m:t>
                    </m:r>
                    <m:sSub>
                      <m:sSubPr>
                        <m:ctrlPr>
                          <a:rPr lang="en-GB" sz="2400" i="1" noProof="1" dirty="0" smtClean="0">
                            <a:latin typeface="Cambria Math" panose="02040503050406030204" pitchFamily="18" charset="0"/>
                            <a:ea typeface="Verdana" panose="020B0604030504040204" pitchFamily="34" charset="0"/>
                          </a:rPr>
                        </m:ctrlPr>
                      </m:sSubPr>
                      <m:e>
                        <m:r>
                          <a:rPr lang="en-GB" sz="2400" i="1" noProof="1" dirty="0" smtClean="0">
                            <a:latin typeface="Cambria Math" panose="02040503050406030204" pitchFamily="18" charset="0"/>
                            <a:ea typeface="Verdana" panose="020B0604030504040204" pitchFamily="34" charset="0"/>
                          </a:rPr>
                          <m:t>𝑋</m:t>
                        </m:r>
                      </m:e>
                      <m:sub>
                        <m:r>
                          <a:rPr lang="en-GB" sz="2400" i="1" noProof="1" dirty="0" smtClean="0">
                            <a:latin typeface="Cambria Math" panose="02040503050406030204" pitchFamily="18" charset="0"/>
                            <a:ea typeface="Verdana" panose="020B0604030504040204" pitchFamily="34" charset="0"/>
                          </a:rPr>
                          <m:t>𝑖</m:t>
                        </m:r>
                        <m:r>
                          <a:rPr lang="en-GB" sz="2400" i="1" noProof="1" dirty="0" smtClean="0">
                            <a:latin typeface="Cambria Math" panose="02040503050406030204" pitchFamily="18" charset="0"/>
                            <a:ea typeface="Verdana" panose="020B0604030504040204" pitchFamily="34" charset="0"/>
                          </a:rPr>
                          <m:t>,</m:t>
                        </m:r>
                        <m:r>
                          <a:rPr lang="en-GB" sz="2400" i="1" noProof="1" dirty="0" smtClean="0">
                            <a:latin typeface="Cambria Math" panose="02040503050406030204" pitchFamily="18" charset="0"/>
                            <a:ea typeface="Verdana" panose="020B0604030504040204" pitchFamily="34" charset="0"/>
                          </a:rPr>
                          <m:t>𝑡</m:t>
                        </m:r>
                        <m:r>
                          <a:rPr lang="en-GB" sz="2400" i="1" noProof="1" dirty="0" smtClean="0">
                            <a:latin typeface="Cambria Math" panose="02040503050406030204" pitchFamily="18" charset="0"/>
                            <a:ea typeface="Verdana" panose="020B0604030504040204" pitchFamily="34" charset="0"/>
                          </a:rPr>
                          <m:t>−1</m:t>
                        </m:r>
                      </m:sub>
                    </m:sSub>
                    <m:sSub>
                      <m:sSubPr>
                        <m:ctrlPr>
                          <a:rPr lang="en-GB" sz="2400" i="1" noProof="1" dirty="0" smtClean="0">
                            <a:latin typeface="Cambria Math" panose="02040503050406030204" pitchFamily="18" charset="0"/>
                            <a:ea typeface="Verdana" panose="020B0604030504040204" pitchFamily="34" charset="0"/>
                          </a:rPr>
                        </m:ctrlPr>
                      </m:sSubPr>
                      <m:e>
                        <m:r>
                          <a:rPr lang="en-GB" sz="2400" i="1" noProof="1" dirty="0" smtClean="0">
                            <a:latin typeface="Cambria Math" panose="02040503050406030204" pitchFamily="18" charset="0"/>
                            <a:ea typeface="Verdana" panose="020B0604030504040204" pitchFamily="34" charset="0"/>
                          </a:rPr>
                          <m:t>𝐷</m:t>
                        </m:r>
                      </m:e>
                      <m:sub>
                        <m:r>
                          <a:rPr lang="en-GB" sz="2400" i="1" noProof="1" dirty="0" smtClean="0">
                            <a:latin typeface="Cambria Math" panose="02040503050406030204" pitchFamily="18" charset="0"/>
                            <a:ea typeface="Verdana" panose="020B0604030504040204" pitchFamily="34" charset="0"/>
                          </a:rPr>
                          <m:t>𝑡</m:t>
                        </m:r>
                      </m:sub>
                    </m:sSub>
                    <m:r>
                      <a:rPr lang="en-GB" sz="2400" b="0" i="1" noProof="1" dirty="0" smtClean="0">
                        <a:latin typeface="Cambria Math" panose="02040503050406030204" pitchFamily="18" charset="0"/>
                        <a:ea typeface="Verdana" panose="020B0604030504040204" pitchFamily="34" charset="0"/>
                      </a:rPr>
                      <m:t> </m:t>
                    </m:r>
                    <m:r>
                      <a:rPr lang="en-GB" sz="220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Cambria Math" panose="02040503050406030204" pitchFamily="18" charset="0"/>
                      </a:rPr>
                      <m:t>𝜑</m:t>
                    </m:r>
                    <m:sSub>
                      <m:sSubPr>
                        <m:ctrlPr>
                          <a:rPr lang="en-GB" sz="2200" i="1" noProof="1" dirty="0" smtClean="0">
                            <a:latin typeface="Cambria Math" panose="02040503050406030204" pitchFamily="18" charset="0"/>
                            <a:ea typeface="Verdana" panose="020B0604030504040204" pitchFamily="34" charset="0"/>
                          </a:rPr>
                        </m:ctrlPr>
                      </m:sSubPr>
                      <m:e>
                        <m:r>
                          <a:rPr lang="en-GB" sz="2200" i="1" noProof="1" dirty="0" smtClean="0">
                            <a:latin typeface="Cambria Math" panose="02040503050406030204" pitchFamily="18" charset="0"/>
                            <a:ea typeface="Verdana" panose="020B0604030504040204" pitchFamily="34" charset="0"/>
                          </a:rPr>
                          <m:t> </m:t>
                        </m:r>
                        <m:r>
                          <a:rPr lang="en-GB" sz="2200" i="1" noProof="1" dirty="0" smtClean="0">
                            <a:latin typeface="Cambria Math" panose="02040503050406030204" pitchFamily="18" charset="0"/>
                            <a:ea typeface="Verdana" panose="020B0604030504040204" pitchFamily="34" charset="0"/>
                          </a:rPr>
                          <m:t>𝑍</m:t>
                        </m:r>
                      </m:e>
                      <m:sub>
                        <m:r>
                          <a:rPr lang="en-GB" sz="2200" i="1" noProof="1" dirty="0" smtClean="0">
                            <a:latin typeface="Cambria Math" panose="02040503050406030204" pitchFamily="18" charset="0"/>
                            <a:ea typeface="Verdana" panose="020B0604030504040204" pitchFamily="34" charset="0"/>
                          </a:rPr>
                          <m:t>𝑖</m:t>
                        </m:r>
                        <m:r>
                          <a:rPr lang="en-GB" sz="220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Verdana" panose="020B0604030504040204" pitchFamily="34" charset="0"/>
                          </a:rPr>
                          <m:t>𝑡</m:t>
                        </m:r>
                        <m:r>
                          <a:rPr lang="en-GB" sz="2200" i="1" noProof="1" dirty="0" smtClean="0">
                            <a:latin typeface="Cambria Math" panose="02040503050406030204" pitchFamily="18" charset="0"/>
                            <a:ea typeface="Verdana" panose="020B0604030504040204" pitchFamily="34" charset="0"/>
                          </a:rPr>
                          <m:t>−1</m:t>
                        </m:r>
                      </m:sub>
                    </m:sSub>
                    <m:r>
                      <a:rPr lang="en-GB" sz="2200" i="1" noProof="1" dirty="0" smtClean="0">
                        <a:latin typeface="Cambria Math" panose="02040503050406030204" pitchFamily="18" charset="0"/>
                        <a:ea typeface="Verdana" panose="020B0604030504040204" pitchFamily="34" charset="0"/>
                      </a:rPr>
                      <m:t>+</m:t>
                    </m:r>
                    <m:sSub>
                      <m:sSubPr>
                        <m:ctrlPr>
                          <a:rPr lang="en-GB" sz="2200" i="1" noProof="1" dirty="0" smtClean="0">
                            <a:latin typeface="Cambria Math" panose="02040503050406030204" pitchFamily="18" charset="0"/>
                            <a:ea typeface="Cambria Math" panose="02040503050406030204" pitchFamily="18" charset="0"/>
                          </a:rPr>
                        </m:ctrlPr>
                      </m:sSubPr>
                      <m:e>
                        <m:r>
                          <a:rPr lang="en-GB" sz="2200" i="1" noProof="1" dirty="0" smtClean="0">
                            <a:latin typeface="Cambria Math" panose="02040503050406030204" pitchFamily="18" charset="0"/>
                            <a:ea typeface="Cambria Math" panose="02040503050406030204" pitchFamily="18" charset="0"/>
                          </a:rPr>
                          <m:t>𝜀</m:t>
                        </m:r>
                      </m:e>
                      <m:sub>
                        <m:r>
                          <a:rPr lang="en-GB" sz="2200" i="1" noProof="1" dirty="0" smtClean="0">
                            <a:latin typeface="Cambria Math" panose="02040503050406030204" pitchFamily="18" charset="0"/>
                            <a:ea typeface="Cambria Math" panose="02040503050406030204" pitchFamily="18" charset="0"/>
                          </a:rPr>
                          <m:t>𝑖</m:t>
                        </m:r>
                        <m:r>
                          <a:rPr lang="en-GB" sz="2200" i="1" noProof="1" dirty="0" smtClean="0">
                            <a:latin typeface="Cambria Math" panose="02040503050406030204" pitchFamily="18" charset="0"/>
                            <a:ea typeface="Cambria Math" panose="02040503050406030204" pitchFamily="18" charset="0"/>
                          </a:rPr>
                          <m:t>,</m:t>
                        </m:r>
                        <m:r>
                          <a:rPr lang="en-GB" sz="2200" i="1" noProof="1" dirty="0" smtClean="0">
                            <a:latin typeface="Cambria Math" panose="02040503050406030204" pitchFamily="18" charset="0"/>
                            <a:ea typeface="Verdana" panose="020B0604030504040204" pitchFamily="34" charset="0"/>
                          </a:rPr>
                          <m:t>𝑡</m:t>
                        </m:r>
                      </m:sub>
                    </m:sSub>
                  </m:oMath>
                </a14:m>
                <a:endParaRPr lang="en-GB" sz="2000" noProof="1">
                  <a:latin typeface="Verdana" panose="020B0604030504040204" pitchFamily="34" charset="0"/>
                  <a:ea typeface="Verdana" panose="020B0604030504040204" pitchFamily="34" charset="0"/>
                </a:endParaRPr>
              </a:p>
              <a:p>
                <a:pPr>
                  <a:lnSpc>
                    <a:spcPct val="120000"/>
                  </a:lnSpc>
                  <a:spcAft>
                    <a:spcPts val="300"/>
                  </a:spcAft>
                </a:pPr>
                <a:endParaRPr lang="en-GB" sz="2000" noProof="1">
                  <a:latin typeface="Verdana" panose="020B0604030504040204" pitchFamily="34" charset="0"/>
                  <a:ea typeface="Verdana" panose="020B0604030504040204" pitchFamily="34" charset="0"/>
                </a:endParaRPr>
              </a:p>
              <a:p>
                <a:pPr>
                  <a:lnSpc>
                    <a:spcPct val="120000"/>
                  </a:lnSpc>
                  <a:spcAft>
                    <a:spcPts val="300"/>
                  </a:spcAft>
                </a:pPr>
                <a:r>
                  <a:rPr lang="en-GB" sz="2000" noProof="1">
                    <a:latin typeface="Verdana" panose="020B0604030504040204" pitchFamily="34" charset="0"/>
                    <a:ea typeface="Verdana" panose="020B0604030504040204" pitchFamily="34" charset="0"/>
                  </a:rPr>
                  <a:t>3. Additional effect (</a:t>
                </a:r>
                <a14:m>
                  <m:oMath xmlns:m="http://schemas.openxmlformats.org/officeDocument/2006/math">
                    <m:r>
                      <a:rPr lang="en-GB" sz="2000" noProof="1" dirty="0" smtClean="0">
                        <a:latin typeface="Cambria Math" panose="02040503050406030204" pitchFamily="18" charset="0"/>
                        <a:ea typeface="Verdana" panose="020B0604030504040204" pitchFamily="34" charset="0"/>
                      </a:rPr>
                      <m:t>𝛾</m:t>
                    </m:r>
                  </m:oMath>
                </a14:m>
                <a:r>
                  <a:rPr lang="en-GB" sz="2000" noProof="1">
                    <a:latin typeface="Verdana" panose="020B0604030504040204" pitchFamily="34" charset="0"/>
                    <a:ea typeface="Verdana" panose="020B0604030504040204" pitchFamily="34" charset="0"/>
                  </a:rPr>
                  <a:t>) specific to high ICT/AI in shock years</a:t>
                </a:r>
              </a:p>
              <a:p>
                <a:pPr>
                  <a:lnSpc>
                    <a:spcPct val="120000"/>
                  </a:lnSpc>
                  <a:spcAft>
                    <a:spcPts val="300"/>
                  </a:spcAft>
                </a:pPr>
                <a:r>
                  <a:rPr lang="en-GB" sz="2000" noProof="1">
                    <a:latin typeface="Verdana" panose="020B0604030504040204" pitchFamily="34" charset="0"/>
                    <a:ea typeface="Verdana" panose="020B0604030504040204" pitchFamily="34" charset="0"/>
                  </a:rPr>
                  <a:t>	</a:t>
                </a:r>
                <a:r>
                  <a:rPr lang="en-GB" sz="2200" noProof="1">
                    <a:latin typeface="Verdana" panose="020B0604030504040204" pitchFamily="34" charset="0"/>
                    <a:ea typeface="Verdana" panose="020B0604030504040204" pitchFamily="34" charset="0"/>
                  </a:rPr>
                  <a:t> </a:t>
                </a:r>
                <a14:m>
                  <m:oMath xmlns:m="http://schemas.openxmlformats.org/officeDocument/2006/math">
                    <m:sSub>
                      <m:sSubPr>
                        <m:ctrlPr>
                          <a:rPr lang="en-GB" sz="2200" i="1" noProof="1" dirty="0" smtClean="0">
                            <a:latin typeface="Cambria Math" panose="02040503050406030204" pitchFamily="18" charset="0"/>
                            <a:ea typeface="Verdana" panose="020B0604030504040204" pitchFamily="34" charset="0"/>
                          </a:rPr>
                        </m:ctrlPr>
                      </m:sSubPr>
                      <m:e>
                        <m:r>
                          <a:rPr lang="en-GB" sz="2200" i="1" noProof="1" dirty="0" smtClean="0">
                            <a:latin typeface="Cambria Math" panose="02040503050406030204" pitchFamily="18" charset="0"/>
                            <a:ea typeface="Verdana" panose="020B0604030504040204" pitchFamily="34" charset="0"/>
                          </a:rPr>
                          <m:t>𝑆</m:t>
                        </m:r>
                      </m:e>
                      <m:sub>
                        <m:r>
                          <a:rPr lang="en-GB" sz="2200" i="1" noProof="1" dirty="0" smtClean="0">
                            <a:latin typeface="Cambria Math" panose="02040503050406030204" pitchFamily="18" charset="0"/>
                            <a:ea typeface="Verdana" panose="020B0604030504040204" pitchFamily="34" charset="0"/>
                          </a:rPr>
                          <m:t>𝑖</m:t>
                        </m:r>
                        <m:r>
                          <a:rPr lang="en-GB" sz="220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Verdana" panose="020B0604030504040204" pitchFamily="34" charset="0"/>
                          </a:rPr>
                          <m:t>𝑡</m:t>
                        </m:r>
                      </m:sub>
                    </m:sSub>
                    <m:r>
                      <a:rPr lang="en-GB" sz="2200" i="1" noProof="1" dirty="0" smtClean="0">
                        <a:latin typeface="Cambria Math" panose="02040503050406030204" pitchFamily="18" charset="0"/>
                        <a:ea typeface="Verdana" panose="020B0604030504040204" pitchFamily="34" charset="0"/>
                      </a:rPr>
                      <m:t>=</m:t>
                    </m:r>
                  </m:oMath>
                </a14:m>
                <a:r>
                  <a:rPr lang="en-GB" sz="2200" noProof="1">
                    <a:ea typeface="Verdana" panose="020B0604030504040204" pitchFamily="34" charset="0"/>
                  </a:rPr>
                  <a:t> </a:t>
                </a:r>
                <a14:m>
                  <m:oMath xmlns:m="http://schemas.openxmlformats.org/officeDocument/2006/math">
                    <m:sSub>
                      <m:sSubPr>
                        <m:ctrlPr>
                          <a:rPr lang="en-GB" sz="2200" i="1" noProof="1" dirty="0" smtClean="0">
                            <a:latin typeface="Cambria Math" panose="02040503050406030204" pitchFamily="18" charset="0"/>
                            <a:ea typeface="Cambria Math" panose="02040503050406030204" pitchFamily="18" charset="0"/>
                          </a:rPr>
                        </m:ctrlPr>
                      </m:sSubPr>
                      <m:e>
                        <m:r>
                          <a:rPr lang="en-GB" sz="2200" i="1" noProof="1" dirty="0" smtClean="0">
                            <a:latin typeface="Cambria Math" panose="02040503050406030204" pitchFamily="18" charset="0"/>
                            <a:ea typeface="Cambria Math" panose="02040503050406030204" pitchFamily="18" charset="0"/>
                          </a:rPr>
                          <m:t>𝛼</m:t>
                        </m:r>
                      </m:e>
                      <m:sub>
                        <m:r>
                          <a:rPr lang="en-GB" sz="2200" i="1" noProof="1" dirty="0" smtClean="0">
                            <a:latin typeface="Cambria Math" panose="02040503050406030204" pitchFamily="18" charset="0"/>
                            <a:ea typeface="Verdana" panose="020B0604030504040204" pitchFamily="34" charset="0"/>
                          </a:rPr>
                          <m:t>𝑖</m:t>
                        </m:r>
                      </m:sub>
                    </m:sSub>
                    <m:r>
                      <a:rPr lang="en-GB" sz="2200" i="1" noProof="1" dirty="0" smtClean="0">
                        <a:latin typeface="Cambria Math" panose="02040503050406030204" pitchFamily="18" charset="0"/>
                        <a:ea typeface="Verdana" panose="020B0604030504040204" pitchFamily="34" charset="0"/>
                      </a:rPr>
                      <m:t>+</m:t>
                    </m:r>
                  </m:oMath>
                </a14:m>
                <a:r>
                  <a:rPr lang="en-GB" sz="2200" noProof="1">
                    <a:ea typeface="Cambria Math" panose="02040503050406030204" pitchFamily="18" charset="0"/>
                  </a:rPr>
                  <a:t> </a:t>
                </a:r>
                <a14:m>
                  <m:oMath xmlns:m="http://schemas.openxmlformats.org/officeDocument/2006/math">
                    <m:sSub>
                      <m:sSubPr>
                        <m:ctrlPr>
                          <a:rPr lang="en-GB" sz="2200" i="1" noProof="1" dirty="0" smtClean="0">
                            <a:latin typeface="Cambria Math" panose="02040503050406030204" pitchFamily="18" charset="0"/>
                            <a:ea typeface="Cambria Math" panose="02040503050406030204" pitchFamily="18" charset="0"/>
                          </a:rPr>
                        </m:ctrlPr>
                      </m:sSubPr>
                      <m:e>
                        <m:r>
                          <a:rPr lang="en-GB" sz="2200" i="1" noProof="1" dirty="0" smtClean="0">
                            <a:latin typeface="Cambria Math" panose="02040503050406030204" pitchFamily="18" charset="0"/>
                            <a:ea typeface="Cambria Math" panose="02040503050406030204" pitchFamily="18" charset="0"/>
                          </a:rPr>
                          <m:t>𝜏</m:t>
                        </m:r>
                      </m:e>
                      <m:sub>
                        <m:r>
                          <a:rPr lang="en-GB" sz="2200" i="1" noProof="1" dirty="0" smtClean="0">
                            <a:latin typeface="Cambria Math" panose="02040503050406030204" pitchFamily="18" charset="0"/>
                            <a:ea typeface="Verdana" panose="020B0604030504040204" pitchFamily="34" charset="0"/>
                          </a:rPr>
                          <m:t>𝑡</m:t>
                        </m:r>
                      </m:sub>
                    </m:sSub>
                    <m:r>
                      <a:rPr lang="en-GB" sz="220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Cambria Math" panose="02040503050406030204" pitchFamily="18" charset="0"/>
                      </a:rPr>
                      <m:t>𝛽</m:t>
                    </m:r>
                    <m:sSub>
                      <m:sSubPr>
                        <m:ctrlPr>
                          <a:rPr lang="en-GB" sz="2200" i="1" noProof="1" dirty="0" smtClean="0">
                            <a:latin typeface="Cambria Math" panose="02040503050406030204" pitchFamily="18" charset="0"/>
                            <a:ea typeface="Verdana" panose="020B0604030504040204" pitchFamily="34" charset="0"/>
                          </a:rPr>
                        </m:ctrlPr>
                      </m:sSubPr>
                      <m:e>
                        <m:r>
                          <a:rPr lang="en-GB" sz="2200" i="1" noProof="1" dirty="0" smtClean="0">
                            <a:latin typeface="Cambria Math" panose="02040503050406030204" pitchFamily="18" charset="0"/>
                            <a:ea typeface="Verdana" panose="020B0604030504040204" pitchFamily="34" charset="0"/>
                          </a:rPr>
                          <m:t> </m:t>
                        </m:r>
                        <m:sSubSup>
                          <m:sSubSupPr>
                            <m:ctrlPr>
                              <a:rPr lang="en-GB" sz="2200" i="1" noProof="1" dirty="0" smtClean="0">
                                <a:latin typeface="Cambria Math" panose="02040503050406030204" pitchFamily="18" charset="0"/>
                                <a:ea typeface="Verdana" panose="020B0604030504040204" pitchFamily="34" charset="0"/>
                              </a:rPr>
                            </m:ctrlPr>
                          </m:sSubSupPr>
                          <m:e>
                            <m:r>
                              <a:rPr lang="en-GB" sz="2200" i="1" noProof="1" dirty="0" smtClean="0">
                                <a:latin typeface="Cambria Math" panose="02040503050406030204" pitchFamily="18" charset="0"/>
                                <a:ea typeface="Verdana" panose="020B0604030504040204" pitchFamily="34" charset="0"/>
                              </a:rPr>
                              <m:t>𝑋</m:t>
                            </m:r>
                          </m:e>
                          <m:sub>
                            <m:r>
                              <a:rPr lang="en-GB" sz="2200" i="1" noProof="1" dirty="0" smtClean="0">
                                <a:latin typeface="Cambria Math" panose="02040503050406030204" pitchFamily="18" charset="0"/>
                                <a:ea typeface="Verdana" panose="020B0604030504040204" pitchFamily="34" charset="0"/>
                              </a:rPr>
                              <m:t>𝑖</m:t>
                            </m:r>
                            <m:r>
                              <a:rPr lang="en-GB" sz="220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Verdana" panose="020B0604030504040204" pitchFamily="34" charset="0"/>
                              </a:rPr>
                              <m:t>𝑡</m:t>
                            </m:r>
                            <m:r>
                              <a:rPr lang="en-GB" sz="2200" i="1" noProof="1" dirty="0" smtClean="0">
                                <a:latin typeface="Cambria Math" panose="02040503050406030204" pitchFamily="18" charset="0"/>
                                <a:ea typeface="Verdana" panose="020B0604030504040204" pitchFamily="34" charset="0"/>
                              </a:rPr>
                              <m:t>−1</m:t>
                            </m:r>
                          </m:sub>
                          <m:sup>
                            <m:r>
                              <a:rPr lang="en-GB" sz="2200" i="1" noProof="1" dirty="0" smtClean="0">
                                <a:latin typeface="Cambria Math" panose="02040503050406030204" pitchFamily="18" charset="0"/>
                                <a:ea typeface="Verdana" panose="020B0604030504040204" pitchFamily="34" charset="0"/>
                              </a:rPr>
                              <m:t>ℎ𝑖𝑔ℎ</m:t>
                            </m:r>
                          </m:sup>
                        </m:sSubSup>
                      </m:e>
                      <m:sub>
                        <m:r>
                          <a:rPr lang="en-GB" sz="2200" i="1" noProof="1" dirty="0" smtClean="0">
                            <a:latin typeface="Cambria Math" panose="02040503050406030204" pitchFamily="18" charset="0"/>
                            <a:ea typeface="Verdana" panose="020B0604030504040204" pitchFamily="34" charset="0"/>
                          </a:rPr>
                          <m:t> </m:t>
                        </m:r>
                      </m:sub>
                    </m:sSub>
                    <m:r>
                      <a:rPr lang="en-GB" sz="220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Cambria Math" panose="02040503050406030204" pitchFamily="18" charset="0"/>
                      </a:rPr>
                      <m:t>𝛾</m:t>
                    </m:r>
                    <m:r>
                      <a:rPr lang="en-GB" sz="2200" i="1" noProof="1" dirty="0" smtClean="0">
                        <a:latin typeface="Cambria Math" panose="02040503050406030204" pitchFamily="18" charset="0"/>
                        <a:ea typeface="Cambria Math" panose="02040503050406030204" pitchFamily="18" charset="0"/>
                      </a:rPr>
                      <m:t> </m:t>
                    </m:r>
                    <m:sSubSup>
                      <m:sSubSupPr>
                        <m:ctrlPr>
                          <a:rPr lang="en-GB" sz="2200" i="1" noProof="1" dirty="0" smtClean="0">
                            <a:latin typeface="Cambria Math" panose="02040503050406030204" pitchFamily="18" charset="0"/>
                            <a:ea typeface="Verdana" panose="020B0604030504040204" pitchFamily="34" charset="0"/>
                          </a:rPr>
                        </m:ctrlPr>
                      </m:sSubSupPr>
                      <m:e>
                        <m:r>
                          <a:rPr lang="en-GB" sz="2200" i="1" noProof="1" dirty="0" smtClean="0">
                            <a:latin typeface="Cambria Math" panose="02040503050406030204" pitchFamily="18" charset="0"/>
                            <a:ea typeface="Verdana" panose="020B0604030504040204" pitchFamily="34" charset="0"/>
                          </a:rPr>
                          <m:t>𝑋</m:t>
                        </m:r>
                      </m:e>
                      <m:sub>
                        <m:r>
                          <a:rPr lang="en-GB" sz="2200" i="1" noProof="1" dirty="0" smtClean="0">
                            <a:latin typeface="Cambria Math" panose="02040503050406030204" pitchFamily="18" charset="0"/>
                            <a:ea typeface="Verdana" panose="020B0604030504040204" pitchFamily="34" charset="0"/>
                          </a:rPr>
                          <m:t>𝑖</m:t>
                        </m:r>
                        <m:r>
                          <a:rPr lang="en-GB" sz="220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Verdana" panose="020B0604030504040204" pitchFamily="34" charset="0"/>
                          </a:rPr>
                          <m:t>𝑡</m:t>
                        </m:r>
                        <m:r>
                          <a:rPr lang="en-GB" sz="2200" i="1" noProof="1" dirty="0" smtClean="0">
                            <a:latin typeface="Cambria Math" panose="02040503050406030204" pitchFamily="18" charset="0"/>
                            <a:ea typeface="Verdana" panose="020B0604030504040204" pitchFamily="34" charset="0"/>
                          </a:rPr>
                          <m:t>−1</m:t>
                        </m:r>
                      </m:sub>
                      <m:sup>
                        <m:r>
                          <a:rPr lang="en-GB" sz="2200" i="1" noProof="1" dirty="0" smtClean="0">
                            <a:latin typeface="Cambria Math" panose="02040503050406030204" pitchFamily="18" charset="0"/>
                            <a:ea typeface="Verdana" panose="020B0604030504040204" pitchFamily="34" charset="0"/>
                          </a:rPr>
                          <m:t>ℎ𝑖𝑔ℎ</m:t>
                        </m:r>
                      </m:sup>
                    </m:sSubSup>
                    <m:sSub>
                      <m:sSubPr>
                        <m:ctrlPr>
                          <a:rPr lang="en-GB" sz="2200" i="1" noProof="1" dirty="0" smtClean="0">
                            <a:latin typeface="Cambria Math" panose="02040503050406030204" pitchFamily="18" charset="0"/>
                            <a:ea typeface="Verdana" panose="020B0604030504040204" pitchFamily="34" charset="0"/>
                          </a:rPr>
                        </m:ctrlPr>
                      </m:sSubPr>
                      <m:e>
                        <m:r>
                          <a:rPr lang="en-GB" sz="2200" i="1" noProof="1" dirty="0" smtClean="0">
                            <a:latin typeface="Cambria Math" panose="02040503050406030204" pitchFamily="18" charset="0"/>
                            <a:ea typeface="Verdana" panose="020B0604030504040204" pitchFamily="34" charset="0"/>
                          </a:rPr>
                          <m:t>𝐷</m:t>
                        </m:r>
                      </m:e>
                      <m:sub>
                        <m:r>
                          <a:rPr lang="en-GB" sz="2200" i="1" noProof="1" dirty="0" smtClean="0">
                            <a:latin typeface="Cambria Math" panose="02040503050406030204" pitchFamily="18" charset="0"/>
                            <a:ea typeface="Verdana" panose="020B0604030504040204" pitchFamily="34" charset="0"/>
                          </a:rPr>
                          <m:t>𝑡</m:t>
                        </m:r>
                      </m:sub>
                    </m:sSub>
                    <m:r>
                      <a:rPr lang="en-GB" sz="2200" b="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Cambria Math" panose="02040503050406030204" pitchFamily="18" charset="0"/>
                      </a:rPr>
                      <m:t>𝜑</m:t>
                    </m:r>
                    <m:sSub>
                      <m:sSubPr>
                        <m:ctrlPr>
                          <a:rPr lang="en-GB" sz="2200" i="1" noProof="1" dirty="0" smtClean="0">
                            <a:latin typeface="Cambria Math" panose="02040503050406030204" pitchFamily="18" charset="0"/>
                            <a:ea typeface="Verdana" panose="020B0604030504040204" pitchFamily="34" charset="0"/>
                          </a:rPr>
                        </m:ctrlPr>
                      </m:sSubPr>
                      <m:e>
                        <m:r>
                          <a:rPr lang="en-GB" sz="2200" i="1" noProof="1" dirty="0" smtClean="0">
                            <a:latin typeface="Cambria Math" panose="02040503050406030204" pitchFamily="18" charset="0"/>
                            <a:ea typeface="Verdana" panose="020B0604030504040204" pitchFamily="34" charset="0"/>
                          </a:rPr>
                          <m:t> </m:t>
                        </m:r>
                        <m:r>
                          <a:rPr lang="en-GB" sz="2200" i="1" noProof="1" dirty="0" smtClean="0">
                            <a:latin typeface="Cambria Math" panose="02040503050406030204" pitchFamily="18" charset="0"/>
                            <a:ea typeface="Verdana" panose="020B0604030504040204" pitchFamily="34" charset="0"/>
                          </a:rPr>
                          <m:t>𝑍</m:t>
                        </m:r>
                      </m:e>
                      <m:sub>
                        <m:r>
                          <a:rPr lang="en-GB" sz="2200" i="1" noProof="1" dirty="0" smtClean="0">
                            <a:latin typeface="Cambria Math" panose="02040503050406030204" pitchFamily="18" charset="0"/>
                            <a:ea typeface="Verdana" panose="020B0604030504040204" pitchFamily="34" charset="0"/>
                          </a:rPr>
                          <m:t>𝑖</m:t>
                        </m:r>
                        <m:r>
                          <a:rPr lang="en-GB" sz="2200" i="1" noProof="1" dirty="0" smtClean="0">
                            <a:latin typeface="Cambria Math" panose="02040503050406030204" pitchFamily="18" charset="0"/>
                            <a:ea typeface="Verdana" panose="020B0604030504040204" pitchFamily="34" charset="0"/>
                          </a:rPr>
                          <m:t>,</m:t>
                        </m:r>
                        <m:r>
                          <a:rPr lang="en-GB" sz="2200" i="1" noProof="1" dirty="0" smtClean="0">
                            <a:latin typeface="Cambria Math" panose="02040503050406030204" pitchFamily="18" charset="0"/>
                            <a:ea typeface="Verdana" panose="020B0604030504040204" pitchFamily="34" charset="0"/>
                          </a:rPr>
                          <m:t>𝑡</m:t>
                        </m:r>
                        <m:r>
                          <a:rPr lang="en-GB" sz="2200" i="1" noProof="1" dirty="0" smtClean="0">
                            <a:latin typeface="Cambria Math" panose="02040503050406030204" pitchFamily="18" charset="0"/>
                            <a:ea typeface="Verdana" panose="020B0604030504040204" pitchFamily="34" charset="0"/>
                          </a:rPr>
                          <m:t>−1</m:t>
                        </m:r>
                      </m:sub>
                    </m:sSub>
                    <m:r>
                      <a:rPr lang="en-GB" sz="2200" i="1" noProof="1" dirty="0" smtClean="0">
                        <a:latin typeface="Cambria Math" panose="02040503050406030204" pitchFamily="18" charset="0"/>
                        <a:ea typeface="Verdana" panose="020B0604030504040204" pitchFamily="34" charset="0"/>
                      </a:rPr>
                      <m:t>+</m:t>
                    </m:r>
                    <m:sSub>
                      <m:sSubPr>
                        <m:ctrlPr>
                          <a:rPr lang="en-GB" sz="2200" i="1" noProof="1" dirty="0" smtClean="0">
                            <a:latin typeface="Cambria Math" panose="02040503050406030204" pitchFamily="18" charset="0"/>
                            <a:ea typeface="Cambria Math" panose="02040503050406030204" pitchFamily="18" charset="0"/>
                          </a:rPr>
                        </m:ctrlPr>
                      </m:sSubPr>
                      <m:e>
                        <m:r>
                          <a:rPr lang="en-GB" sz="2200" i="1" noProof="1" dirty="0" smtClean="0">
                            <a:latin typeface="Cambria Math" panose="02040503050406030204" pitchFamily="18" charset="0"/>
                            <a:ea typeface="Cambria Math" panose="02040503050406030204" pitchFamily="18" charset="0"/>
                          </a:rPr>
                          <m:t>𝜀</m:t>
                        </m:r>
                      </m:e>
                      <m:sub>
                        <m:r>
                          <a:rPr lang="en-GB" sz="2200" i="1" noProof="1" dirty="0" smtClean="0">
                            <a:latin typeface="Cambria Math" panose="02040503050406030204" pitchFamily="18" charset="0"/>
                            <a:ea typeface="Cambria Math" panose="02040503050406030204" pitchFamily="18" charset="0"/>
                          </a:rPr>
                          <m:t>𝑖</m:t>
                        </m:r>
                        <m:r>
                          <a:rPr lang="en-GB" sz="2200" i="1" noProof="1" dirty="0" smtClean="0">
                            <a:latin typeface="Cambria Math" panose="02040503050406030204" pitchFamily="18" charset="0"/>
                            <a:ea typeface="Cambria Math" panose="02040503050406030204" pitchFamily="18" charset="0"/>
                          </a:rPr>
                          <m:t>,</m:t>
                        </m:r>
                        <m:r>
                          <a:rPr lang="en-GB" sz="2200" i="1" noProof="1" dirty="0" smtClean="0">
                            <a:latin typeface="Cambria Math" panose="02040503050406030204" pitchFamily="18" charset="0"/>
                            <a:ea typeface="Verdana" panose="020B0604030504040204" pitchFamily="34" charset="0"/>
                          </a:rPr>
                          <m:t>𝑡</m:t>
                        </m:r>
                      </m:sub>
                    </m:sSub>
                  </m:oMath>
                </a14:m>
                <a:endParaRPr lang="en-GB" sz="2200" noProof="1">
                  <a:ea typeface="Verdana" panose="020B0604030504040204" pitchFamily="34" charset="0"/>
                </a:endParaRPr>
              </a:p>
              <a:p>
                <a:pPr>
                  <a:lnSpc>
                    <a:spcPct val="120000"/>
                  </a:lnSpc>
                  <a:spcAft>
                    <a:spcPts val="300"/>
                  </a:spcAft>
                </a:pPr>
                <a:endParaRPr lang="en-GB" sz="2200" noProof="1">
                  <a:solidFill>
                    <a:schemeClr val="tx1"/>
                  </a:solidFill>
                  <a:latin typeface="Verdana" panose="020B0604030504040204" pitchFamily="34" charset="0"/>
                  <a:ea typeface="Verdana" panose="020B0604030504040204" pitchFamily="34" charset="0"/>
                </a:endParaRPr>
              </a:p>
              <a:p>
                <a:pPr>
                  <a:lnSpc>
                    <a:spcPct val="120000"/>
                  </a:lnSpc>
                  <a:spcAft>
                    <a:spcPts val="1200"/>
                  </a:spcAft>
                </a:pPr>
                <a14:m>
                  <m:oMath xmlns:m="http://schemas.openxmlformats.org/officeDocument/2006/math">
                    <m:sSub>
                      <m:sSubPr>
                        <m:ctrlPr>
                          <a:rPr lang="en-GB" sz="1900" b="0" i="1" noProof="1" dirty="0" smtClean="0">
                            <a:solidFill>
                              <a:schemeClr val="tx1"/>
                            </a:solidFill>
                            <a:latin typeface="Cambria Math" panose="02040503050406030204" pitchFamily="18" charset="0"/>
                            <a:ea typeface="Verdana" panose="020B0604030504040204" pitchFamily="34" charset="0"/>
                          </a:rPr>
                        </m:ctrlPr>
                      </m:sSubPr>
                      <m:e>
                        <m:r>
                          <a:rPr lang="en-GB" sz="1900" b="0" i="1" noProof="1" dirty="0" smtClean="0">
                            <a:solidFill>
                              <a:schemeClr val="tx1"/>
                            </a:solidFill>
                            <a:latin typeface="Cambria Math" panose="02040503050406030204" pitchFamily="18" charset="0"/>
                            <a:ea typeface="Verdana" panose="020B0604030504040204" pitchFamily="34" charset="0"/>
                          </a:rPr>
                          <m:t>𝑆</m:t>
                        </m:r>
                      </m:e>
                      <m:sub>
                        <m:r>
                          <a:rPr lang="en-GB" sz="1900" i="1" noProof="1" dirty="0" smtClean="0">
                            <a:solidFill>
                              <a:schemeClr val="tx1"/>
                            </a:solidFill>
                            <a:latin typeface="Cambria Math" panose="02040503050406030204" pitchFamily="18" charset="0"/>
                            <a:ea typeface="Verdana" panose="020B0604030504040204" pitchFamily="34" charset="0"/>
                          </a:rPr>
                          <m:t>𝑖</m:t>
                        </m:r>
                        <m:r>
                          <a:rPr lang="en-GB" sz="1900" i="1" noProof="1" dirty="0" smtClean="0">
                            <a:solidFill>
                              <a:schemeClr val="tx1"/>
                            </a:solidFill>
                            <a:latin typeface="Cambria Math" panose="02040503050406030204" pitchFamily="18" charset="0"/>
                            <a:ea typeface="Verdana" panose="020B0604030504040204" pitchFamily="34" charset="0"/>
                          </a:rPr>
                          <m:t>,</m:t>
                        </m:r>
                        <m:r>
                          <a:rPr lang="en-GB" sz="1900" i="1" noProof="1" dirty="0" smtClean="0">
                            <a:solidFill>
                              <a:schemeClr val="tx1"/>
                            </a:solidFill>
                            <a:latin typeface="Cambria Math" panose="02040503050406030204" pitchFamily="18" charset="0"/>
                            <a:ea typeface="Verdana" panose="020B0604030504040204" pitchFamily="34" charset="0"/>
                          </a:rPr>
                          <m:t>𝑡</m:t>
                        </m:r>
                      </m:sub>
                    </m:sSub>
                    <m:r>
                      <a:rPr lang="en-GB" sz="1900" b="0" i="1" noProof="1" dirty="0" smtClean="0">
                        <a:solidFill>
                          <a:schemeClr val="tx1"/>
                        </a:solidFill>
                        <a:latin typeface="Cambria Math" panose="02040503050406030204" pitchFamily="18" charset="0"/>
                        <a:ea typeface="Verdana" panose="020B0604030504040204" pitchFamily="34" charset="0"/>
                      </a:rPr>
                      <m:t>=1 </m:t>
                    </m:r>
                    <m:r>
                      <a:rPr lang="en-GB" sz="1900" b="0" i="0" noProof="1" dirty="0" smtClean="0">
                        <a:solidFill>
                          <a:schemeClr val="tx1"/>
                        </a:solidFill>
                        <a:latin typeface="Cambria Math" panose="02040503050406030204" pitchFamily="18" charset="0"/>
                        <a:ea typeface="Verdana" panose="020B0604030504040204" pitchFamily="34" charset="0"/>
                      </a:rPr>
                      <m:t> </m:t>
                    </m:r>
                  </m:oMath>
                </a14:m>
                <a:r>
                  <a:rPr lang="en-GB" sz="1800" noProof="1">
                    <a:solidFill>
                      <a:schemeClr val="tx1"/>
                    </a:solidFill>
                  </a:rPr>
                  <a:t>if growth surprise &gt;0 (otherwise 0)</a:t>
                </a:r>
                <a:r>
                  <a:rPr lang="en-GB" sz="1800" noProof="1"/>
                  <a:t>; </a:t>
                </a:r>
                <a14:m>
                  <m:oMath xmlns:m="http://schemas.openxmlformats.org/officeDocument/2006/math">
                    <m:sSub>
                      <m:sSubPr>
                        <m:ctrlPr>
                          <a:rPr lang="en-GB" sz="1800" i="1" noProof="1" dirty="0">
                            <a:latin typeface="Cambria Math" panose="02040503050406030204" pitchFamily="18" charset="0"/>
                            <a:ea typeface="Cambria Math" panose="02040503050406030204" pitchFamily="18" charset="0"/>
                          </a:rPr>
                        </m:ctrlPr>
                      </m:sSubPr>
                      <m:e>
                        <m:r>
                          <a:rPr lang="en-GB" sz="1800" i="1" noProof="1" dirty="0">
                            <a:latin typeface="Cambria Math" panose="02040503050406030204" pitchFamily="18" charset="0"/>
                            <a:ea typeface="Cambria Math" panose="02040503050406030204" pitchFamily="18" charset="0"/>
                          </a:rPr>
                          <m:t>𝛼</m:t>
                        </m:r>
                      </m:e>
                      <m:sub>
                        <m:r>
                          <a:rPr lang="en-GB" sz="1800" i="1" noProof="1" dirty="0" smtClean="0">
                            <a:latin typeface="Cambria Math" panose="02040503050406030204" pitchFamily="18" charset="0"/>
                            <a:ea typeface="Verdana" panose="020B0604030504040204" pitchFamily="34" charset="0"/>
                          </a:rPr>
                          <m:t>𝑖</m:t>
                        </m:r>
                      </m:sub>
                    </m:sSub>
                  </m:oMath>
                </a14:m>
                <a:r>
                  <a:rPr lang="en-GB" sz="1800" noProof="1"/>
                  <a:t> is country FE; </a:t>
                </a:r>
                <a14:m>
                  <m:oMath xmlns:m="http://schemas.openxmlformats.org/officeDocument/2006/math">
                    <m:sSub>
                      <m:sSubPr>
                        <m:ctrlPr>
                          <a:rPr lang="en-GB" sz="1800" i="1" noProof="1" dirty="0" smtClean="0">
                            <a:latin typeface="Cambria Math" panose="02040503050406030204" pitchFamily="18" charset="0"/>
                            <a:ea typeface="Cambria Math" panose="02040503050406030204" pitchFamily="18" charset="0"/>
                          </a:rPr>
                        </m:ctrlPr>
                      </m:sSubPr>
                      <m:e>
                        <m:r>
                          <a:rPr lang="en-GB" sz="1800" i="1" noProof="1" dirty="0" smtClean="0">
                            <a:latin typeface="Cambria Math" panose="02040503050406030204" pitchFamily="18" charset="0"/>
                            <a:ea typeface="Cambria Math" panose="02040503050406030204" pitchFamily="18" charset="0"/>
                          </a:rPr>
                          <m:t>𝜏</m:t>
                        </m:r>
                      </m:e>
                      <m:sub>
                        <m:r>
                          <a:rPr lang="en-GB" sz="1800" i="1" noProof="1" dirty="0" smtClean="0">
                            <a:latin typeface="Cambria Math" panose="02040503050406030204" pitchFamily="18" charset="0"/>
                            <a:ea typeface="Verdana" panose="020B0604030504040204" pitchFamily="34" charset="0"/>
                          </a:rPr>
                          <m:t>𝑡</m:t>
                        </m:r>
                      </m:sub>
                    </m:sSub>
                  </m:oMath>
                </a14:m>
                <a:r>
                  <a:rPr lang="en-GB" sz="1800" noProof="1"/>
                  <a:t> is time FE</a:t>
                </a:r>
              </a:p>
              <a:p>
                <a:pPr>
                  <a:lnSpc>
                    <a:spcPct val="120000"/>
                  </a:lnSpc>
                  <a:spcAft>
                    <a:spcPts val="1200"/>
                  </a:spcAft>
                </a:pPr>
                <a14:m>
                  <m:oMath xmlns:m="http://schemas.openxmlformats.org/officeDocument/2006/math">
                    <m:sSub>
                      <m:sSubPr>
                        <m:ctrlPr>
                          <a:rPr lang="en-GB" sz="1900" i="1" noProof="1" dirty="0" smtClean="0">
                            <a:latin typeface="Cambria Math" panose="02040503050406030204" pitchFamily="18" charset="0"/>
                            <a:ea typeface="Verdana" panose="020B0604030504040204" pitchFamily="34" charset="0"/>
                          </a:rPr>
                        </m:ctrlPr>
                      </m:sSubPr>
                      <m:e>
                        <m:r>
                          <a:rPr lang="en-GB" sz="1900" i="1" noProof="1" dirty="0" smtClean="0">
                            <a:latin typeface="Cambria Math" panose="02040503050406030204" pitchFamily="18" charset="0"/>
                            <a:ea typeface="Verdana" panose="020B0604030504040204" pitchFamily="34" charset="0"/>
                          </a:rPr>
                          <m:t>𝑋</m:t>
                        </m:r>
                      </m:e>
                      <m:sub>
                        <m:r>
                          <a:rPr lang="en-GB" sz="1900" i="1" noProof="1" dirty="0" smtClean="0">
                            <a:latin typeface="Cambria Math" panose="02040503050406030204" pitchFamily="18" charset="0"/>
                            <a:ea typeface="Verdana" panose="020B0604030504040204" pitchFamily="34" charset="0"/>
                          </a:rPr>
                          <m:t>𝑖</m:t>
                        </m:r>
                        <m:r>
                          <a:rPr lang="en-GB" sz="1900" i="1" noProof="1" dirty="0" smtClean="0">
                            <a:latin typeface="Cambria Math" panose="02040503050406030204" pitchFamily="18" charset="0"/>
                            <a:ea typeface="Verdana" panose="020B0604030504040204" pitchFamily="34" charset="0"/>
                          </a:rPr>
                          <m:t>,</m:t>
                        </m:r>
                        <m:r>
                          <a:rPr lang="en-GB" sz="1900" i="1" noProof="1" dirty="0" smtClean="0">
                            <a:latin typeface="Cambria Math" panose="02040503050406030204" pitchFamily="18" charset="0"/>
                            <a:ea typeface="Verdana" panose="020B0604030504040204" pitchFamily="34" charset="0"/>
                          </a:rPr>
                          <m:t>𝑡</m:t>
                        </m:r>
                      </m:sub>
                    </m:sSub>
                  </m:oMath>
                </a14:m>
                <a:r>
                  <a:rPr lang="en-GB" sz="1800" noProof="1">
                    <a:solidFill>
                      <a:schemeClr val="tx1"/>
                    </a:solidFill>
                  </a:rPr>
                  <a:t> is ICT/AI-related variable</a:t>
                </a:r>
                <a:r>
                  <a:rPr lang="en-GB" sz="1800" noProof="1"/>
                  <a:t>; </a:t>
                </a:r>
                <a:r>
                  <a:rPr lang="en-GB" sz="1800" noProof="1">
                    <a:solidFill>
                      <a:schemeClr val="tx1"/>
                    </a:solidFill>
                  </a:rPr>
                  <a:t> </a:t>
                </a:r>
                <a14:m>
                  <m:oMath xmlns:m="http://schemas.openxmlformats.org/officeDocument/2006/math">
                    <m:sSubSup>
                      <m:sSubSupPr>
                        <m:ctrlPr>
                          <a:rPr lang="en-GB" sz="2000" i="1" noProof="1" dirty="0" smtClean="0">
                            <a:latin typeface="Cambria Math" panose="02040503050406030204" pitchFamily="18" charset="0"/>
                            <a:ea typeface="Verdana" panose="020B0604030504040204" pitchFamily="34" charset="0"/>
                          </a:rPr>
                        </m:ctrlPr>
                      </m:sSubSupPr>
                      <m:e>
                        <m:r>
                          <a:rPr lang="en-GB" sz="2000" i="1" noProof="1" dirty="0" smtClean="0">
                            <a:latin typeface="Cambria Math" panose="02040503050406030204" pitchFamily="18" charset="0"/>
                            <a:ea typeface="Verdana" panose="020B0604030504040204" pitchFamily="34" charset="0"/>
                          </a:rPr>
                          <m:t>𝑋</m:t>
                        </m:r>
                      </m:e>
                      <m:sub>
                        <m:r>
                          <a:rPr lang="en-GB" sz="2000" i="1" noProof="1" dirty="0" smtClean="0">
                            <a:latin typeface="Cambria Math" panose="02040503050406030204" pitchFamily="18" charset="0"/>
                            <a:ea typeface="Verdana" panose="020B0604030504040204" pitchFamily="34" charset="0"/>
                          </a:rPr>
                          <m:t>𝑖</m:t>
                        </m:r>
                        <m:r>
                          <a:rPr lang="en-GB" sz="2000" i="1" noProof="1" dirty="0" smtClean="0">
                            <a:latin typeface="Cambria Math" panose="02040503050406030204" pitchFamily="18" charset="0"/>
                            <a:ea typeface="Verdana" panose="020B0604030504040204" pitchFamily="34" charset="0"/>
                          </a:rPr>
                          <m:t>,</m:t>
                        </m:r>
                        <m:r>
                          <a:rPr lang="en-GB" sz="2000" i="1" noProof="1" dirty="0" smtClean="0">
                            <a:latin typeface="Cambria Math" panose="02040503050406030204" pitchFamily="18" charset="0"/>
                            <a:ea typeface="Verdana" panose="020B0604030504040204" pitchFamily="34" charset="0"/>
                          </a:rPr>
                          <m:t>𝑡</m:t>
                        </m:r>
                      </m:sub>
                      <m:sup>
                        <m:r>
                          <a:rPr lang="en-GB" sz="2000" i="1" noProof="1" dirty="0" smtClean="0">
                            <a:latin typeface="Cambria Math" panose="02040503050406030204" pitchFamily="18" charset="0"/>
                            <a:ea typeface="Verdana" panose="020B0604030504040204" pitchFamily="34" charset="0"/>
                          </a:rPr>
                          <m:t>ℎ𝑖𝑔ℎ</m:t>
                        </m:r>
                      </m:sup>
                    </m:sSubSup>
                    <m:r>
                      <a:rPr lang="en-GB" sz="2000" b="0" i="1" noProof="1" dirty="0" smtClean="0">
                        <a:latin typeface="Cambria Math" panose="02040503050406030204" pitchFamily="18" charset="0"/>
                        <a:ea typeface="Verdana" panose="020B0604030504040204" pitchFamily="34" charset="0"/>
                      </a:rPr>
                      <m:t>=</m:t>
                    </m:r>
                  </m:oMath>
                </a14:m>
                <a:r>
                  <a:rPr lang="en-GB" sz="2000" noProof="1">
                    <a:ea typeface="Verdana" panose="020B0604030504040204" pitchFamily="34" charset="0"/>
                  </a:rPr>
                  <a:t> </a:t>
                </a:r>
                <a14:m>
                  <m:oMath xmlns:m="http://schemas.openxmlformats.org/officeDocument/2006/math">
                    <m:sSub>
                      <m:sSubPr>
                        <m:ctrlPr>
                          <a:rPr lang="en-GB" sz="2000" i="1" noProof="1" dirty="0" smtClean="0">
                            <a:latin typeface="Cambria Math" panose="02040503050406030204" pitchFamily="18" charset="0"/>
                            <a:ea typeface="Verdana" panose="020B0604030504040204" pitchFamily="34" charset="0"/>
                          </a:rPr>
                        </m:ctrlPr>
                      </m:sSubPr>
                      <m:e>
                        <m:r>
                          <a:rPr lang="en-GB" sz="2000" i="1" noProof="1" dirty="0" smtClean="0">
                            <a:latin typeface="Cambria Math" panose="02040503050406030204" pitchFamily="18" charset="0"/>
                            <a:ea typeface="Verdana" panose="020B0604030504040204" pitchFamily="34" charset="0"/>
                          </a:rPr>
                          <m:t>𝑋</m:t>
                        </m:r>
                      </m:e>
                      <m:sub>
                        <m:r>
                          <a:rPr lang="en-GB" sz="2000" i="1" noProof="1" dirty="0" smtClean="0">
                            <a:latin typeface="Cambria Math" panose="02040503050406030204" pitchFamily="18" charset="0"/>
                            <a:ea typeface="Verdana" panose="020B0604030504040204" pitchFamily="34" charset="0"/>
                          </a:rPr>
                          <m:t>𝑖</m:t>
                        </m:r>
                        <m:r>
                          <a:rPr lang="en-GB" sz="2000" i="1" noProof="1" dirty="0" smtClean="0">
                            <a:latin typeface="Cambria Math" panose="02040503050406030204" pitchFamily="18" charset="0"/>
                            <a:ea typeface="Verdana" panose="020B0604030504040204" pitchFamily="34" charset="0"/>
                          </a:rPr>
                          <m:t>,</m:t>
                        </m:r>
                        <m:r>
                          <a:rPr lang="en-GB" sz="2000" i="1" noProof="1" dirty="0" smtClean="0">
                            <a:latin typeface="Cambria Math" panose="02040503050406030204" pitchFamily="18" charset="0"/>
                            <a:ea typeface="Verdana" panose="020B0604030504040204" pitchFamily="34" charset="0"/>
                          </a:rPr>
                          <m:t>𝑡</m:t>
                        </m:r>
                      </m:sub>
                    </m:sSub>
                  </m:oMath>
                </a14:m>
                <a:r>
                  <a:rPr lang="en-GB" sz="2000" noProof="1"/>
                  <a:t> if </a:t>
                </a:r>
                <a14:m>
                  <m:oMath xmlns:m="http://schemas.openxmlformats.org/officeDocument/2006/math">
                    <m:sSub>
                      <m:sSubPr>
                        <m:ctrlPr>
                          <a:rPr lang="en-GB" sz="2000" i="1" noProof="1" dirty="0" smtClean="0">
                            <a:latin typeface="Cambria Math" panose="02040503050406030204" pitchFamily="18" charset="0"/>
                            <a:ea typeface="Verdana" panose="020B0604030504040204" pitchFamily="34" charset="0"/>
                          </a:rPr>
                        </m:ctrlPr>
                      </m:sSubPr>
                      <m:e>
                        <m:r>
                          <a:rPr lang="en-GB" sz="2000" i="1" noProof="1" dirty="0" smtClean="0">
                            <a:latin typeface="Cambria Math" panose="02040503050406030204" pitchFamily="18" charset="0"/>
                            <a:ea typeface="Verdana" panose="020B0604030504040204" pitchFamily="34" charset="0"/>
                          </a:rPr>
                          <m:t>𝑋</m:t>
                        </m:r>
                      </m:e>
                      <m:sub>
                        <m:r>
                          <a:rPr lang="en-GB" sz="2000" i="1" noProof="1" dirty="0" smtClean="0">
                            <a:latin typeface="Cambria Math" panose="02040503050406030204" pitchFamily="18" charset="0"/>
                            <a:ea typeface="Verdana" panose="020B0604030504040204" pitchFamily="34" charset="0"/>
                          </a:rPr>
                          <m:t>𝑖</m:t>
                        </m:r>
                        <m:r>
                          <a:rPr lang="en-GB" sz="2000" i="1" noProof="1" dirty="0" smtClean="0">
                            <a:latin typeface="Cambria Math" panose="02040503050406030204" pitchFamily="18" charset="0"/>
                            <a:ea typeface="Verdana" panose="020B0604030504040204" pitchFamily="34" charset="0"/>
                          </a:rPr>
                          <m:t>,</m:t>
                        </m:r>
                        <m:r>
                          <a:rPr lang="en-GB" sz="2000" i="1" noProof="1" dirty="0" smtClean="0">
                            <a:latin typeface="Cambria Math" panose="02040503050406030204" pitchFamily="18" charset="0"/>
                            <a:ea typeface="Verdana" panose="020B0604030504040204" pitchFamily="34" charset="0"/>
                          </a:rPr>
                          <m:t>𝑡</m:t>
                        </m:r>
                      </m:sub>
                    </m:sSub>
                    <m:r>
                      <a:rPr lang="en-GB" sz="2000" b="0" i="1" noProof="1" dirty="0" smtClean="0">
                        <a:latin typeface="Cambria Math" panose="02040503050406030204" pitchFamily="18" charset="0"/>
                        <a:ea typeface="Verdana" panose="020B0604030504040204" pitchFamily="34" charset="0"/>
                      </a:rPr>
                      <m:t>&gt;</m:t>
                    </m:r>
                    <m:r>
                      <m:rPr>
                        <m:sty m:val="p"/>
                      </m:rPr>
                      <a:rPr lang="en-GB" sz="2000" b="0" i="0" noProof="1" dirty="0" smtClean="0">
                        <a:latin typeface="Cambria Math" panose="02040503050406030204" pitchFamily="18" charset="0"/>
                        <a:ea typeface="Verdana" panose="020B0604030504040204" pitchFamily="34" charset="0"/>
                      </a:rPr>
                      <m:t>median</m:t>
                    </m:r>
                    <m:d>
                      <m:dPr>
                        <m:ctrlPr>
                          <a:rPr lang="en-GB" sz="2000" b="0" i="1" noProof="1" dirty="0" smtClean="0">
                            <a:latin typeface="Cambria Math" panose="02040503050406030204" pitchFamily="18" charset="0"/>
                            <a:ea typeface="Verdana" panose="020B0604030504040204" pitchFamily="34" charset="0"/>
                          </a:rPr>
                        </m:ctrlPr>
                      </m:dPr>
                      <m:e>
                        <m:r>
                          <a:rPr lang="en-GB" sz="2000" b="0" i="1" noProof="1" dirty="0" smtClean="0">
                            <a:latin typeface="Cambria Math" panose="02040503050406030204" pitchFamily="18" charset="0"/>
                            <a:ea typeface="Verdana" panose="020B0604030504040204" pitchFamily="34" charset="0"/>
                          </a:rPr>
                          <m:t>𝑋</m:t>
                        </m:r>
                      </m:e>
                    </m:d>
                    <m:r>
                      <a:rPr lang="en-GB" sz="2000" b="0" i="1" noProof="1" dirty="0" smtClean="0">
                        <a:latin typeface="Cambria Math" panose="02040503050406030204" pitchFamily="18" charset="0"/>
                        <a:ea typeface="Verdana" panose="020B0604030504040204" pitchFamily="34" charset="0"/>
                      </a:rPr>
                      <m:t>, </m:t>
                    </m:r>
                    <m:r>
                      <m:rPr>
                        <m:sty m:val="p"/>
                      </m:rPr>
                      <a:rPr lang="en-GB" sz="2000" b="0" i="0" noProof="1" dirty="0" smtClean="0">
                        <a:latin typeface="Cambria Math" panose="02040503050406030204" pitchFamily="18" charset="0"/>
                        <a:ea typeface="Verdana" panose="020B0604030504040204" pitchFamily="34" charset="0"/>
                      </a:rPr>
                      <m:t>otherwise</m:t>
                    </m:r>
                    <m:r>
                      <a:rPr lang="en-GB" sz="2000" b="0" i="1" noProof="1" dirty="0" smtClean="0">
                        <a:latin typeface="Cambria Math" panose="02040503050406030204" pitchFamily="18" charset="0"/>
                        <a:ea typeface="Verdana" panose="020B0604030504040204" pitchFamily="34" charset="0"/>
                      </a:rPr>
                      <m:t> 0</m:t>
                    </m:r>
                  </m:oMath>
                </a14:m>
                <a:r>
                  <a:rPr lang="en-GB" sz="2000" noProof="1"/>
                  <a:t> </a:t>
                </a:r>
              </a:p>
              <a:p>
                <a:pPr>
                  <a:lnSpc>
                    <a:spcPct val="120000"/>
                  </a:lnSpc>
                  <a:spcAft>
                    <a:spcPts val="1200"/>
                  </a:spcAft>
                </a:pPr>
                <a14:m>
                  <m:oMath xmlns:m="http://schemas.openxmlformats.org/officeDocument/2006/math">
                    <m:sSub>
                      <m:sSubPr>
                        <m:ctrlPr>
                          <a:rPr lang="en-GB" sz="1900" i="1" noProof="1" dirty="0" smtClean="0">
                            <a:latin typeface="Cambria Math" panose="02040503050406030204" pitchFamily="18" charset="0"/>
                            <a:ea typeface="Verdana" panose="020B0604030504040204" pitchFamily="34" charset="0"/>
                          </a:rPr>
                        </m:ctrlPr>
                      </m:sSubPr>
                      <m:e>
                        <m:r>
                          <a:rPr lang="en-GB" sz="1900" i="1" noProof="1" dirty="0" smtClean="0">
                            <a:latin typeface="Cambria Math" panose="02040503050406030204" pitchFamily="18" charset="0"/>
                            <a:ea typeface="Verdana" panose="020B0604030504040204" pitchFamily="34" charset="0"/>
                          </a:rPr>
                          <m:t>𝐷</m:t>
                        </m:r>
                      </m:e>
                      <m:sub>
                        <m:r>
                          <a:rPr lang="en-GB" sz="1900" i="1" noProof="1" dirty="0" smtClean="0">
                            <a:latin typeface="Cambria Math" panose="02040503050406030204" pitchFamily="18" charset="0"/>
                            <a:ea typeface="Verdana" panose="020B0604030504040204" pitchFamily="34" charset="0"/>
                          </a:rPr>
                          <m:t>𝑡</m:t>
                        </m:r>
                      </m:sub>
                    </m:sSub>
                    <m:r>
                      <a:rPr lang="en-GB" sz="1900" b="0" i="1" noProof="1" dirty="0" smtClean="0">
                        <a:latin typeface="Cambria Math" panose="02040503050406030204" pitchFamily="18" charset="0"/>
                        <a:ea typeface="Verdana" panose="020B0604030504040204" pitchFamily="34" charset="0"/>
                      </a:rPr>
                      <m:t> </m:t>
                    </m:r>
                  </m:oMath>
                </a14:m>
                <a:r>
                  <a:rPr lang="en-GB" sz="1800" noProof="1">
                    <a:solidFill>
                      <a:schemeClr val="tx1"/>
                    </a:solidFill>
                  </a:rPr>
                  <a:t>is dummy (</a:t>
                </a:r>
                <a14:m>
                  <m:oMath xmlns:m="http://schemas.openxmlformats.org/officeDocument/2006/math">
                    <m:sSub>
                      <m:sSubPr>
                        <m:ctrlPr>
                          <a:rPr lang="en-GB" sz="1900" i="1" noProof="1" dirty="0" smtClean="0">
                            <a:latin typeface="Cambria Math" panose="02040503050406030204" pitchFamily="18" charset="0"/>
                            <a:ea typeface="Verdana" panose="020B0604030504040204" pitchFamily="34" charset="0"/>
                          </a:rPr>
                        </m:ctrlPr>
                      </m:sSubPr>
                      <m:e>
                        <m:r>
                          <a:rPr lang="en-GB" sz="1900" i="1" noProof="1" dirty="0" smtClean="0">
                            <a:latin typeface="Cambria Math" panose="02040503050406030204" pitchFamily="18" charset="0"/>
                            <a:ea typeface="Verdana" panose="020B0604030504040204" pitchFamily="34" charset="0"/>
                          </a:rPr>
                          <m:t>𝐷</m:t>
                        </m:r>
                      </m:e>
                      <m:sub>
                        <m:r>
                          <a:rPr lang="en-GB" sz="1900" i="1" noProof="1" dirty="0" smtClean="0">
                            <a:latin typeface="Cambria Math" panose="02040503050406030204" pitchFamily="18" charset="0"/>
                            <a:ea typeface="Verdana" panose="020B0604030504040204" pitchFamily="34" charset="0"/>
                          </a:rPr>
                          <m:t>𝑡</m:t>
                        </m:r>
                      </m:sub>
                    </m:sSub>
                    <m:r>
                      <a:rPr lang="en-GB" sz="1900" b="0" i="1" noProof="1" dirty="0" smtClean="0">
                        <a:latin typeface="Cambria Math" panose="02040503050406030204" pitchFamily="18" charset="0"/>
                        <a:ea typeface="Verdana" panose="020B0604030504040204" pitchFamily="34" charset="0"/>
                      </a:rPr>
                      <m:t>=1 </m:t>
                    </m:r>
                  </m:oMath>
                </a14:m>
                <a:r>
                  <a:rPr lang="en-GB" sz="1800" noProof="1"/>
                  <a:t>for shock years, otherwise 0); </a:t>
                </a:r>
                <a14:m>
                  <m:oMath xmlns:m="http://schemas.openxmlformats.org/officeDocument/2006/math">
                    <m:sSub>
                      <m:sSubPr>
                        <m:ctrlPr>
                          <a:rPr lang="en-GB" sz="1900" i="1" noProof="1" dirty="0" smtClean="0">
                            <a:latin typeface="Cambria Math" panose="02040503050406030204" pitchFamily="18" charset="0"/>
                            <a:ea typeface="Verdana" panose="020B0604030504040204" pitchFamily="34" charset="0"/>
                          </a:rPr>
                        </m:ctrlPr>
                      </m:sSubPr>
                      <m:e>
                        <m:r>
                          <a:rPr lang="en-GB" sz="1900" i="1" noProof="1" dirty="0" smtClean="0">
                            <a:latin typeface="Cambria Math" panose="02040503050406030204" pitchFamily="18" charset="0"/>
                            <a:ea typeface="Verdana" panose="020B0604030504040204" pitchFamily="34" charset="0"/>
                          </a:rPr>
                          <m:t> </m:t>
                        </m:r>
                        <m:r>
                          <a:rPr lang="en-GB" sz="1900" i="1" noProof="1" dirty="0" smtClean="0">
                            <a:latin typeface="Cambria Math" panose="02040503050406030204" pitchFamily="18" charset="0"/>
                            <a:ea typeface="Verdana" panose="020B0604030504040204" pitchFamily="34" charset="0"/>
                          </a:rPr>
                          <m:t>𝑍</m:t>
                        </m:r>
                      </m:e>
                      <m:sub>
                        <m:r>
                          <a:rPr lang="en-GB" sz="1900" i="1" noProof="1" dirty="0" smtClean="0">
                            <a:latin typeface="Cambria Math" panose="02040503050406030204" pitchFamily="18" charset="0"/>
                            <a:ea typeface="Verdana" panose="020B0604030504040204" pitchFamily="34" charset="0"/>
                          </a:rPr>
                          <m:t>𝑖</m:t>
                        </m:r>
                        <m:r>
                          <a:rPr lang="en-GB" sz="1900" i="1" noProof="1" dirty="0" smtClean="0">
                            <a:latin typeface="Cambria Math" panose="02040503050406030204" pitchFamily="18" charset="0"/>
                            <a:ea typeface="Verdana" panose="020B0604030504040204" pitchFamily="34" charset="0"/>
                          </a:rPr>
                          <m:t>,</m:t>
                        </m:r>
                        <m:r>
                          <a:rPr lang="en-GB" sz="1900" i="1" noProof="1" dirty="0" smtClean="0">
                            <a:latin typeface="Cambria Math" panose="02040503050406030204" pitchFamily="18" charset="0"/>
                            <a:ea typeface="Verdana" panose="020B0604030504040204" pitchFamily="34" charset="0"/>
                          </a:rPr>
                          <m:t>𝑡</m:t>
                        </m:r>
                      </m:sub>
                    </m:sSub>
                  </m:oMath>
                </a14:m>
                <a:r>
                  <a:rPr lang="en-GB" sz="1800" noProof="1">
                    <a:solidFill>
                      <a:schemeClr val="tx1"/>
                    </a:solidFill>
                  </a:rPr>
                  <a:t> control variables</a:t>
                </a:r>
              </a:p>
              <a:p>
                <a:pPr>
                  <a:lnSpc>
                    <a:spcPct val="120000"/>
                  </a:lnSpc>
                  <a:spcAft>
                    <a:spcPts val="1200"/>
                  </a:spcAft>
                </a:pPr>
                <a:r>
                  <a:rPr lang="en-GB" sz="1800" noProof="1"/>
                  <a:t>		</a:t>
                </a:r>
                <a:endParaRPr lang="en-GB" sz="1800" noProof="1">
                  <a:solidFill>
                    <a:schemeClr val="tx1"/>
                  </a:solidFill>
                </a:endParaRPr>
              </a:p>
              <a:p>
                <a:pPr>
                  <a:lnSpc>
                    <a:spcPct val="120000"/>
                  </a:lnSpc>
                  <a:spcAft>
                    <a:spcPts val="1200"/>
                  </a:spcAft>
                </a:pPr>
                <a:endParaRPr lang="en-GB" sz="1800" noProof="1">
                  <a:solidFill>
                    <a:schemeClr val="tx1"/>
                  </a:solidFill>
                </a:endParaRPr>
              </a:p>
            </p:txBody>
          </p:sp>
        </mc:Choice>
        <mc:Fallback xmlns="">
          <p:sp>
            <p:nvSpPr>
              <p:cNvPr id="2" name="Content Placeholder 2">
                <a:extLst>
                  <a:ext uri="{FF2B5EF4-FFF2-40B4-BE49-F238E27FC236}">
                    <a16:creationId xmlns:a16="http://schemas.microsoft.com/office/drawing/2014/main" id="{6B853D72-57E4-54DF-F916-E87E4C65C99E}"/>
                  </a:ext>
                </a:extLst>
              </p:cNvPr>
              <p:cNvSpPr>
                <a:spLocks noGrp="1" noRot="1" noChangeAspect="1" noMove="1" noResize="1" noEditPoints="1" noAdjustHandles="1" noChangeArrowheads="1" noChangeShapeType="1" noTextEdit="1"/>
              </p:cNvSpPr>
              <p:nvPr>
                <p:ph idx="1"/>
              </p:nvPr>
            </p:nvSpPr>
            <p:spPr>
              <a:xfrm>
                <a:off x="347472" y="935390"/>
                <a:ext cx="8723376" cy="6087202"/>
              </a:xfrm>
              <a:blipFill>
                <a:blip r:embed="rId3"/>
                <a:stretch>
                  <a:fillRect l="-1747" t="-1301"/>
                </a:stretch>
              </a:blipFill>
            </p:spPr>
            <p:txBody>
              <a:bodyPr/>
              <a:lstStyle/>
              <a:p>
                <a:r>
                  <a:rPr lang="en-GB">
                    <a:noFill/>
                  </a:rPr>
                  <a:t> </a:t>
                </a:r>
              </a:p>
            </p:txBody>
          </p:sp>
        </mc:Fallback>
      </mc:AlternateContent>
    </p:spTree>
    <p:extLst>
      <p:ext uri="{BB962C8B-B14F-4D97-AF65-F5344CB8AC3E}">
        <p14:creationId xmlns:p14="http://schemas.microsoft.com/office/powerpoint/2010/main" val="515665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027D3-935D-C730-7AF0-AF109ECE8EC5}"/>
            </a:ext>
          </a:extLst>
        </p:cNvPr>
        <p:cNvGrpSpPr/>
        <p:nvPr/>
      </p:nvGrpSpPr>
      <p:grpSpPr>
        <a:xfrm>
          <a:off x="0" y="0"/>
          <a:ext cx="0" cy="0"/>
          <a:chOff x="0" y="0"/>
          <a:chExt cx="0" cy="0"/>
        </a:xfrm>
      </p:grpSpPr>
      <p:sp>
        <p:nvSpPr>
          <p:cNvPr id="9" name="Titel 1">
            <a:extLst>
              <a:ext uri="{FF2B5EF4-FFF2-40B4-BE49-F238E27FC236}">
                <a16:creationId xmlns:a16="http://schemas.microsoft.com/office/drawing/2014/main" id="{784B30AC-5ECB-6948-E309-0039374246EA}"/>
              </a:ext>
            </a:extLst>
          </p:cNvPr>
          <p:cNvSpPr>
            <a:spLocks noGrp="1"/>
          </p:cNvSpPr>
          <p:nvPr>
            <p:ph type="title"/>
          </p:nvPr>
        </p:nvSpPr>
        <p:spPr>
          <a:xfrm>
            <a:off x="0" y="0"/>
            <a:ext cx="9144000" cy="566928"/>
          </a:xfrm>
          <a:solidFill>
            <a:srgbClr val="44287F"/>
          </a:solidFill>
        </p:spPr>
        <p:txBody>
          <a:bodyPr anchor="ctr"/>
          <a:lstStyle/>
          <a:p>
            <a:pPr algn="ctr">
              <a:lnSpc>
                <a:spcPct val="100000"/>
              </a:lnSpc>
            </a:pPr>
            <a:r>
              <a:rPr lang="en-US" sz="2400" noProof="1">
                <a:solidFill>
                  <a:schemeClr val="bg1"/>
                </a:solidFill>
              </a:rPr>
              <a:t>Results LPM models</a:t>
            </a:r>
          </a:p>
        </p:txBody>
      </p:sp>
      <p:sp>
        <p:nvSpPr>
          <p:cNvPr id="2" name="Content Placeholder 2">
            <a:extLst>
              <a:ext uri="{FF2B5EF4-FFF2-40B4-BE49-F238E27FC236}">
                <a16:creationId xmlns:a16="http://schemas.microsoft.com/office/drawing/2014/main" id="{9D7DFCD1-CA74-2C76-7A49-94B41E557F74}"/>
              </a:ext>
            </a:extLst>
          </p:cNvPr>
          <p:cNvSpPr>
            <a:spLocks noGrp="1"/>
          </p:cNvSpPr>
          <p:nvPr>
            <p:ph idx="1"/>
          </p:nvPr>
        </p:nvSpPr>
        <p:spPr>
          <a:xfrm>
            <a:off x="105536" y="1016441"/>
            <a:ext cx="8756744" cy="5679439"/>
          </a:xfrm>
        </p:spPr>
        <p:txBody>
          <a:bodyPr>
            <a:normAutofit/>
          </a:bodyPr>
          <a:lstStyle/>
          <a:p>
            <a:pPr marL="285750" indent="-285750">
              <a:lnSpc>
                <a:spcPct val="120000"/>
              </a:lnSpc>
              <a:spcAft>
                <a:spcPts val="1200"/>
              </a:spcAft>
              <a:buFont typeface="Arial" panose="020B0604020202020204" pitchFamily="34" charset="0"/>
              <a:buChar char="•"/>
            </a:pPr>
            <a:r>
              <a:rPr lang="en-US" sz="1800" noProof="1">
                <a:latin typeface="Verdana" panose="020B0604030504040204" pitchFamily="34" charset="0"/>
                <a:ea typeface="Verdana" panose="020B0604030504040204" pitchFamily="34" charset="0"/>
              </a:rPr>
              <a:t>ICT/AI-related investment </a:t>
            </a:r>
            <a:r>
              <a:rPr lang="en-US" sz="1800" noProof="1">
                <a:latin typeface="Arial" panose="020B0604020202020204" pitchFamily="34" charset="0"/>
                <a:ea typeface="Verdana" panose="020B0604030504040204" pitchFamily="34" charset="0"/>
                <a:cs typeface="Arial" panose="020B0604020202020204" pitchFamily="34" charset="0"/>
              </a:rPr>
              <a:t>→</a:t>
            </a:r>
            <a:r>
              <a:rPr lang="en-US" sz="1800" noProof="1">
                <a:latin typeface="Verdana" panose="020B0604030504040204" pitchFamily="34" charset="0"/>
                <a:ea typeface="Verdana" panose="020B0604030504040204" pitchFamily="34" charset="0"/>
              </a:rPr>
              <a:t> positive average effect on growth surprises</a:t>
            </a:r>
          </a:p>
          <a:p>
            <a:pPr marL="285750" indent="-285750">
              <a:lnSpc>
                <a:spcPct val="120000"/>
              </a:lnSpc>
              <a:spcAft>
                <a:spcPts val="1200"/>
              </a:spcAft>
              <a:buFont typeface="Arial" panose="020B0604020202020204" pitchFamily="34" charset="0"/>
              <a:buChar char="•"/>
            </a:pPr>
            <a:r>
              <a:rPr lang="en-US" sz="1800" noProof="1">
                <a:latin typeface="Verdana" panose="020B0604030504040204" pitchFamily="34" charset="0"/>
                <a:ea typeface="Verdana" panose="020B0604030504040204" pitchFamily="34" charset="0"/>
              </a:rPr>
              <a:t>ICT/AI-related trade exposure </a:t>
            </a:r>
            <a:r>
              <a:rPr lang="en-US" sz="1800" noProof="1">
                <a:latin typeface="Arial" panose="020B0604020202020204" pitchFamily="34" charset="0"/>
                <a:ea typeface="Verdana" panose="020B0604030504040204" pitchFamily="34" charset="0"/>
                <a:cs typeface="Arial" panose="020B0604020202020204" pitchFamily="34" charset="0"/>
              </a:rPr>
              <a:t>→</a:t>
            </a:r>
            <a:r>
              <a:rPr lang="en-US" sz="1800" noProof="1">
                <a:latin typeface="Verdana" panose="020B0604030504040204" pitchFamily="34" charset="0"/>
                <a:ea typeface="Verdana" panose="020B0604030504040204" pitchFamily="34" charset="0"/>
              </a:rPr>
              <a:t> additional effect on positive growth surprise in shock years, confirming the unconditional tests</a:t>
            </a:r>
          </a:p>
          <a:p>
            <a:pPr>
              <a:lnSpc>
                <a:spcPct val="120000"/>
              </a:lnSpc>
              <a:spcAft>
                <a:spcPts val="1200"/>
              </a:spcAft>
            </a:pPr>
            <a:endParaRPr lang="nl-NL" sz="1600"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6" name="Tekstvak 3">
                <a:extLst>
                  <a:ext uri="{FF2B5EF4-FFF2-40B4-BE49-F238E27FC236}">
                    <a16:creationId xmlns:a16="http://schemas.microsoft.com/office/drawing/2014/main" id="{4ED6076C-5ED2-F560-9ECC-68A359BFC0CA}"/>
                  </a:ext>
                </a:extLst>
              </p:cNvPr>
              <p:cNvSpPr txBox="1"/>
              <p:nvPr/>
            </p:nvSpPr>
            <p:spPr>
              <a:xfrm>
                <a:off x="197589" y="4744958"/>
                <a:ext cx="8664691" cy="1453924"/>
              </a:xfrm>
              <a:prstGeom prst="rect">
                <a:avLst/>
              </a:prstGeom>
              <a:noFill/>
            </p:spPr>
            <p:txBody>
              <a:bodyPr wrap="square" rtlCol="0">
                <a:spAutoFit/>
              </a:bodyPr>
              <a:lstStyle/>
              <a:p>
                <a:pPr algn="just">
                  <a:defRPr/>
                </a:pPr>
                <a:r>
                  <a:rPr lang="nl-NL" sz="1100" noProof="1">
                    <a:solidFill>
                      <a:srgbClr val="002060"/>
                    </a:solidFill>
                  </a:rPr>
                  <a:t>Average marginal effect (AME) of 1 stdev change of ICT/AI variable. ***, **, * indicate 1%, 5%, 10% significance. Standard errors based on country-clustered sandwich covariance matrix (robust to heteroscedasticity and within country dependence, so countries (clusters) are assumed independent of each other). </a:t>
                </a:r>
                <a:r>
                  <a:rPr lang="en-US" sz="1100" noProof="1">
                    <a:solidFill>
                      <a:srgbClr val="002060"/>
                    </a:solidFill>
                  </a:rPr>
                  <a:t>Explanatory variables are standardised and included one period lagged (to address endogeneity concerns and numerator effects in the ratios based on GDP as numerator). In each equation, one of the AI/ICT-related variables is included in </a:t>
                </a:r>
                <a14:m>
                  <m:oMath xmlns:m="http://schemas.openxmlformats.org/officeDocument/2006/math">
                    <m:sSub>
                      <m:sSubPr>
                        <m:ctrlPr>
                          <a:rPr lang="en-US" sz="1100" i="1" noProof="1">
                            <a:latin typeface="Cambria Math" panose="02040503050406030204" pitchFamily="18" charset="0"/>
                            <a:ea typeface="Verdana" panose="020B0604030504040204" pitchFamily="34" charset="0"/>
                          </a:rPr>
                        </m:ctrlPr>
                      </m:sSubPr>
                      <m:e>
                        <m:r>
                          <a:rPr lang="en-US" sz="1100" i="1" noProof="1">
                            <a:latin typeface="Cambria Math" panose="02040503050406030204" pitchFamily="18" charset="0"/>
                            <a:ea typeface="Verdana" panose="020B0604030504040204" pitchFamily="34" charset="0"/>
                          </a:rPr>
                          <m:t>𝑋</m:t>
                        </m:r>
                      </m:e>
                      <m:sub>
                        <m:r>
                          <a:rPr lang="en-US" sz="1100" i="1" noProof="1">
                            <a:latin typeface="Cambria Math" panose="02040503050406030204" pitchFamily="18" charset="0"/>
                            <a:ea typeface="Verdana" panose="020B0604030504040204" pitchFamily="34" charset="0"/>
                          </a:rPr>
                          <m:t>𝑖</m:t>
                        </m:r>
                        <m:r>
                          <a:rPr lang="en-US" sz="1100" i="1" noProof="1">
                            <a:latin typeface="Cambria Math" panose="02040503050406030204" pitchFamily="18" charset="0"/>
                            <a:ea typeface="Verdana" panose="020B0604030504040204" pitchFamily="34" charset="0"/>
                          </a:rPr>
                          <m:t>,</m:t>
                        </m:r>
                        <m:r>
                          <a:rPr lang="en-US" sz="1100" i="1" noProof="1">
                            <a:latin typeface="Cambria Math" panose="02040503050406030204" pitchFamily="18" charset="0"/>
                            <a:ea typeface="Verdana" panose="020B0604030504040204" pitchFamily="34" charset="0"/>
                          </a:rPr>
                          <m:t>𝑡</m:t>
                        </m:r>
                      </m:sub>
                    </m:sSub>
                    <m:r>
                      <a:rPr lang="en-US" sz="1100" b="0" i="0" noProof="1" smtClean="0">
                        <a:latin typeface="Cambria Math" panose="02040503050406030204" pitchFamily="18" charset="0"/>
                        <a:ea typeface="Verdana" panose="020B0604030504040204" pitchFamily="34" charset="0"/>
                      </a:rPr>
                      <m:t>.</m:t>
                    </m:r>
                  </m:oMath>
                </a14:m>
                <a:r>
                  <a:rPr lang="en-US" sz="1100" noProof="1">
                    <a:solidFill>
                      <a:srgbClr val="002060"/>
                    </a:solidFill>
                  </a:rPr>
                  <a:t> As control variables are included i) state aid as ratio of GDP (contemporaneous value of state aid and one period lagged GDP, source </a:t>
                </a:r>
                <a:r>
                  <a:rPr lang="en-US" sz="1100" noProof="1">
                    <a:solidFill>
                      <a:srgbClr val="002060"/>
                    </a:solidFill>
                    <a:hlinkClick r:id="rId3"/>
                  </a:rPr>
                  <a:t>Eurostat</a:t>
                </a:r>
                <a:r>
                  <a:rPr lang="en-US" sz="1100" noProof="1">
                    <a:solidFill>
                      <a:srgbClr val="002060"/>
                    </a:solidFill>
                  </a:rPr>
                  <a:t>); ii) trade openness (exports + imports over GDP, source Worldbank); iii) forecast-vintage controls, with a dummy for Autumn forecasts. a dummy for t+1 forecasts and for their interaction. </a:t>
                </a:r>
                <a:endParaRPr lang="nl-NL" sz="1100" noProof="1">
                  <a:solidFill>
                    <a:srgbClr val="002060"/>
                  </a:solidFill>
                </a:endParaRPr>
              </a:p>
            </p:txBody>
          </p:sp>
        </mc:Choice>
        <mc:Fallback xmlns="">
          <p:sp>
            <p:nvSpPr>
              <p:cNvPr id="6" name="Tekstvak 3">
                <a:extLst>
                  <a:ext uri="{FF2B5EF4-FFF2-40B4-BE49-F238E27FC236}">
                    <a16:creationId xmlns:a16="http://schemas.microsoft.com/office/drawing/2014/main" id="{4ED6076C-5ED2-F560-9ECC-68A359BFC0CA}"/>
                  </a:ext>
                </a:extLst>
              </p:cNvPr>
              <p:cNvSpPr txBox="1">
                <a:spLocks noRot="1" noChangeAspect="1" noMove="1" noResize="1" noEditPoints="1" noAdjustHandles="1" noChangeArrowheads="1" noChangeShapeType="1" noTextEdit="1"/>
              </p:cNvSpPr>
              <p:nvPr/>
            </p:nvSpPr>
            <p:spPr>
              <a:xfrm>
                <a:off x="197589" y="4744958"/>
                <a:ext cx="8664691" cy="1453924"/>
              </a:xfrm>
              <a:prstGeom prst="rect">
                <a:avLst/>
              </a:prstGeom>
              <a:blipFill>
                <a:blip r:embed="rId4"/>
                <a:stretch>
                  <a:fillRect b="-167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CC406C6F-97A4-2854-9FCD-FD08F187902C}"/>
              </a:ext>
            </a:extLst>
          </p:cNvPr>
          <p:cNvPicPr>
            <a:picLocks noChangeAspect="1"/>
          </p:cNvPicPr>
          <p:nvPr/>
        </p:nvPicPr>
        <p:blipFill>
          <a:blip r:embed="rId5"/>
          <a:stretch>
            <a:fillRect/>
          </a:stretch>
        </p:blipFill>
        <p:spPr>
          <a:xfrm>
            <a:off x="3441776" y="2435733"/>
            <a:ext cx="5136134" cy="2169414"/>
          </a:xfrm>
          <a:prstGeom prst="rect">
            <a:avLst/>
          </a:prstGeom>
        </p:spPr>
      </p:pic>
      <p:pic>
        <p:nvPicPr>
          <p:cNvPr id="5" name="Picture 4">
            <a:extLst>
              <a:ext uri="{FF2B5EF4-FFF2-40B4-BE49-F238E27FC236}">
                <a16:creationId xmlns:a16="http://schemas.microsoft.com/office/drawing/2014/main" id="{E062AC67-D726-4D45-300A-EB28E70BA46D}"/>
              </a:ext>
            </a:extLst>
          </p:cNvPr>
          <p:cNvPicPr>
            <a:picLocks noChangeAspect="1"/>
          </p:cNvPicPr>
          <p:nvPr/>
        </p:nvPicPr>
        <p:blipFill>
          <a:blip r:embed="rId6"/>
          <a:stretch>
            <a:fillRect/>
          </a:stretch>
        </p:blipFill>
        <p:spPr>
          <a:xfrm>
            <a:off x="448818" y="2435733"/>
            <a:ext cx="3077972" cy="2169414"/>
          </a:xfrm>
          <a:prstGeom prst="rect">
            <a:avLst/>
          </a:prstGeom>
        </p:spPr>
      </p:pic>
    </p:spTree>
    <p:extLst>
      <p:ext uri="{BB962C8B-B14F-4D97-AF65-F5344CB8AC3E}">
        <p14:creationId xmlns:p14="http://schemas.microsoft.com/office/powerpoint/2010/main" val="909146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21DBA-7690-8D1C-0099-C415D51B024D}"/>
            </a:ext>
          </a:extLst>
        </p:cNvPr>
        <p:cNvGrpSpPr/>
        <p:nvPr/>
      </p:nvGrpSpPr>
      <p:grpSpPr>
        <a:xfrm>
          <a:off x="0" y="0"/>
          <a:ext cx="0" cy="0"/>
          <a:chOff x="0" y="0"/>
          <a:chExt cx="0" cy="0"/>
        </a:xfrm>
      </p:grpSpPr>
      <p:sp>
        <p:nvSpPr>
          <p:cNvPr id="9" name="Titel 1">
            <a:extLst>
              <a:ext uri="{FF2B5EF4-FFF2-40B4-BE49-F238E27FC236}">
                <a16:creationId xmlns:a16="http://schemas.microsoft.com/office/drawing/2014/main" id="{B1A8A21F-73A6-21A9-7607-658345AEC559}"/>
              </a:ext>
            </a:extLst>
          </p:cNvPr>
          <p:cNvSpPr>
            <a:spLocks noGrp="1"/>
          </p:cNvSpPr>
          <p:nvPr>
            <p:ph type="title"/>
          </p:nvPr>
        </p:nvSpPr>
        <p:spPr>
          <a:xfrm>
            <a:off x="0" y="0"/>
            <a:ext cx="9144000" cy="566928"/>
          </a:xfrm>
          <a:solidFill>
            <a:srgbClr val="44287F"/>
          </a:solidFill>
        </p:spPr>
        <p:txBody>
          <a:bodyPr anchor="ctr"/>
          <a:lstStyle/>
          <a:p>
            <a:pPr algn="ctr">
              <a:lnSpc>
                <a:spcPct val="100000"/>
              </a:lnSpc>
            </a:pPr>
            <a:r>
              <a:rPr lang="en-US" sz="2400" noProof="1">
                <a:solidFill>
                  <a:schemeClr val="bg1"/>
                </a:solidFill>
              </a:rPr>
              <a:t>Correlated random-effects probit models (CRE)</a:t>
            </a:r>
          </a:p>
        </p:txBody>
      </p:sp>
      <mc:AlternateContent xmlns:mc="http://schemas.openxmlformats.org/markup-compatibility/2006">
        <mc:Choice xmlns:a14="http://schemas.microsoft.com/office/drawing/2010/main" Requires="a14">
          <p:sp>
            <p:nvSpPr>
              <p:cNvPr id="2" name="Content Placeholder 2">
                <a:extLst>
                  <a:ext uri="{FF2B5EF4-FFF2-40B4-BE49-F238E27FC236}">
                    <a16:creationId xmlns:a16="http://schemas.microsoft.com/office/drawing/2014/main" id="{4E2FFC46-D6F5-41BF-DECB-9FA98C0F56DD}"/>
                  </a:ext>
                </a:extLst>
              </p:cNvPr>
              <p:cNvSpPr>
                <a:spLocks noGrp="1"/>
              </p:cNvSpPr>
              <p:nvPr>
                <p:ph idx="1"/>
              </p:nvPr>
            </p:nvSpPr>
            <p:spPr>
              <a:xfrm>
                <a:off x="310896" y="877824"/>
                <a:ext cx="8723376" cy="6364224"/>
              </a:xfrm>
            </p:spPr>
            <p:txBody>
              <a:bodyPr>
                <a:normAutofit fontScale="85000" lnSpcReduction="10000"/>
              </a:bodyPr>
              <a:lstStyle/>
              <a:p>
                <a:pPr>
                  <a:lnSpc>
                    <a:spcPct val="120000"/>
                  </a:lnSpc>
                  <a:spcAft>
                    <a:spcPts val="300"/>
                  </a:spcAft>
                </a:pPr>
                <a:r>
                  <a:rPr lang="en-GB" sz="2400" noProof="1">
                    <a:latin typeface="Verdana" panose="020B0604030504040204" pitchFamily="34" charset="0"/>
                    <a:ea typeface="Verdana" panose="020B0604030504040204" pitchFamily="34" charset="0"/>
                  </a:rPr>
                  <a:t>1. Average relationship (</a:t>
                </a:r>
                <a14:m>
                  <m:oMath xmlns:m="http://schemas.openxmlformats.org/officeDocument/2006/math">
                    <m:r>
                      <a:rPr lang="en-GB" sz="2400" i="1" noProof="1" smtClean="0">
                        <a:latin typeface="Cambria Math" panose="02040503050406030204" pitchFamily="18" charset="0"/>
                        <a:ea typeface="Cambria Math" panose="02040503050406030204" pitchFamily="18" charset="0"/>
                      </a:rPr>
                      <m:t>𝛽</m:t>
                    </m:r>
                  </m:oMath>
                </a14:m>
                <a:r>
                  <a:rPr lang="en-GB" sz="2400" noProof="1">
                    <a:latin typeface="Verdana" panose="020B0604030504040204" pitchFamily="34" charset="0"/>
                    <a:ea typeface="Verdana" panose="020B0604030504040204" pitchFamily="34" charset="0"/>
                  </a:rPr>
                  <a:t>) with ICT/AI in all years</a:t>
                </a:r>
              </a:p>
              <a:p>
                <a:pPr>
                  <a:lnSpc>
                    <a:spcPct val="120000"/>
                  </a:lnSpc>
                  <a:spcAft>
                    <a:spcPts val="300"/>
                  </a:spcAft>
                </a:pPr>
                <a:r>
                  <a:rPr lang="en-GB" sz="2400" b="0" noProof="1">
                    <a:solidFill>
                      <a:schemeClr val="tx1"/>
                    </a:solidFill>
                    <a:ea typeface="Verdana" panose="020B0604030504040204" pitchFamily="34" charset="0"/>
                  </a:rPr>
                  <a:t>	</a:t>
                </a:r>
                <a14:m>
                  <m:oMath xmlns:m="http://schemas.openxmlformats.org/officeDocument/2006/math">
                    <m:sSub>
                      <m:sSubPr>
                        <m:ctrlPr>
                          <a:rPr lang="en-GB" sz="2600" b="0" i="1" noProof="1" smtClean="0">
                            <a:solidFill>
                              <a:schemeClr val="tx1"/>
                            </a:solidFill>
                            <a:latin typeface="Cambria Math" panose="02040503050406030204" pitchFamily="18" charset="0"/>
                            <a:ea typeface="Verdana" panose="020B0604030504040204" pitchFamily="34" charset="0"/>
                          </a:rPr>
                        </m:ctrlPr>
                      </m:sSubPr>
                      <m:e>
                        <m:r>
                          <a:rPr lang="en-GB" sz="2600" b="0" i="1" noProof="1" smtClean="0">
                            <a:solidFill>
                              <a:schemeClr val="tx1"/>
                            </a:solidFill>
                            <a:latin typeface="Cambria Math" panose="02040503050406030204" pitchFamily="18" charset="0"/>
                            <a:ea typeface="Verdana" panose="020B0604030504040204" pitchFamily="34" charset="0"/>
                          </a:rPr>
                          <m:t>𝑃</m:t>
                        </m:r>
                        <m:r>
                          <a:rPr lang="en-GB" sz="2600" b="0" i="1" noProof="1" smtClean="0">
                            <a:solidFill>
                              <a:schemeClr val="tx1"/>
                            </a:solidFill>
                            <a:latin typeface="Cambria Math" panose="02040503050406030204" pitchFamily="18" charset="0"/>
                            <a:ea typeface="Verdana" panose="020B0604030504040204" pitchFamily="34" charset="0"/>
                          </a:rPr>
                          <m:t>(</m:t>
                        </m:r>
                        <m:r>
                          <a:rPr lang="en-GB" sz="2600" b="0" i="1" noProof="1" smtClean="0">
                            <a:solidFill>
                              <a:schemeClr val="tx1"/>
                            </a:solidFill>
                            <a:latin typeface="Cambria Math" panose="02040503050406030204" pitchFamily="18" charset="0"/>
                            <a:ea typeface="Verdana" panose="020B0604030504040204" pitchFamily="34" charset="0"/>
                          </a:rPr>
                          <m:t>𝑆</m:t>
                        </m:r>
                      </m:e>
                      <m:sub>
                        <m:r>
                          <a:rPr lang="en-GB" sz="2600" b="0" i="1" noProof="1" smtClean="0">
                            <a:solidFill>
                              <a:schemeClr val="tx1"/>
                            </a:solidFill>
                            <a:latin typeface="Cambria Math" panose="02040503050406030204" pitchFamily="18" charset="0"/>
                            <a:ea typeface="Verdana" panose="020B0604030504040204" pitchFamily="34" charset="0"/>
                          </a:rPr>
                          <m:t>𝑖</m:t>
                        </m:r>
                        <m:r>
                          <a:rPr lang="en-GB" sz="2600" b="0" i="1" noProof="1" smtClean="0">
                            <a:solidFill>
                              <a:schemeClr val="tx1"/>
                            </a:solidFill>
                            <a:latin typeface="Cambria Math" panose="02040503050406030204" pitchFamily="18" charset="0"/>
                            <a:ea typeface="Verdana" panose="020B0604030504040204" pitchFamily="34" charset="0"/>
                          </a:rPr>
                          <m:t>,</m:t>
                        </m:r>
                        <m:r>
                          <a:rPr lang="en-GB" sz="2600" b="0" i="1" noProof="1" smtClean="0">
                            <a:solidFill>
                              <a:schemeClr val="tx1"/>
                            </a:solidFill>
                            <a:latin typeface="Cambria Math" panose="02040503050406030204" pitchFamily="18" charset="0"/>
                            <a:ea typeface="Verdana" panose="020B0604030504040204" pitchFamily="34" charset="0"/>
                          </a:rPr>
                          <m:t>𝑡</m:t>
                        </m:r>
                      </m:sub>
                    </m:sSub>
                    <m:r>
                      <a:rPr lang="en-GB" sz="2600" b="0" i="1" noProof="1" smtClean="0">
                        <a:solidFill>
                          <a:schemeClr val="tx1"/>
                        </a:solidFill>
                        <a:latin typeface="Cambria Math" panose="02040503050406030204" pitchFamily="18" charset="0"/>
                        <a:ea typeface="Verdana" panose="020B0604030504040204" pitchFamily="34" charset="0"/>
                      </a:rPr>
                      <m:t>=1| </m:t>
                    </m:r>
                    <m:r>
                      <a:rPr lang="en-GB" sz="2600" b="0" i="1" noProof="1" smtClean="0">
                        <a:solidFill>
                          <a:schemeClr val="tx1"/>
                        </a:solidFill>
                        <a:latin typeface="Cambria Math" panose="02040503050406030204" pitchFamily="18" charset="0"/>
                        <a:ea typeface="Verdana" panose="020B0604030504040204" pitchFamily="34" charset="0"/>
                      </a:rPr>
                      <m:t>𝑋</m:t>
                    </m:r>
                    <m:r>
                      <a:rPr lang="en-GB" sz="2600" b="0" i="1" noProof="1" smtClean="0">
                        <a:solidFill>
                          <a:schemeClr val="tx1"/>
                        </a:solidFill>
                        <a:latin typeface="Cambria Math" panose="02040503050406030204" pitchFamily="18" charset="0"/>
                        <a:ea typeface="Verdana" panose="020B0604030504040204" pitchFamily="34" charset="0"/>
                      </a:rPr>
                      <m:t>, </m:t>
                    </m:r>
                    <m:r>
                      <a:rPr lang="en-GB" sz="2600" b="0" i="1" noProof="1" smtClean="0">
                        <a:solidFill>
                          <a:schemeClr val="tx1"/>
                        </a:solidFill>
                        <a:latin typeface="Cambria Math" panose="02040503050406030204" pitchFamily="18" charset="0"/>
                        <a:ea typeface="Verdana" panose="020B0604030504040204" pitchFamily="34" charset="0"/>
                      </a:rPr>
                      <m:t>𝑍</m:t>
                    </m:r>
                    <m:r>
                      <a:rPr lang="en-GB" sz="2600" b="0" i="1" noProof="1" smtClean="0">
                        <a:solidFill>
                          <a:schemeClr val="tx1"/>
                        </a:solidFill>
                        <a:latin typeface="Cambria Math" panose="02040503050406030204" pitchFamily="18" charset="0"/>
                        <a:ea typeface="Verdana" panose="020B0604030504040204" pitchFamily="34" charset="0"/>
                      </a:rPr>
                      <m:t>,</m:t>
                    </m:r>
                    <m:sSub>
                      <m:sSubPr>
                        <m:ctrlPr>
                          <a:rPr lang="en-GB" sz="2800" i="1" noProof="1" dirty="0">
                            <a:latin typeface="Cambria Math" panose="02040503050406030204" pitchFamily="18" charset="0"/>
                            <a:ea typeface="Cambria Math" panose="02040503050406030204" pitchFamily="18" charset="0"/>
                          </a:rPr>
                        </m:ctrlPr>
                      </m:sSubPr>
                      <m:e>
                        <m:r>
                          <a:rPr lang="en-GB" sz="2800" i="1" noProof="1" dirty="0">
                            <a:latin typeface="Cambria Math" panose="02040503050406030204" pitchFamily="18" charset="0"/>
                            <a:ea typeface="Cambria Math" panose="02040503050406030204" pitchFamily="18" charset="0"/>
                          </a:rPr>
                          <m:t>𝛼</m:t>
                        </m:r>
                      </m:e>
                      <m:sub>
                        <m:r>
                          <a:rPr lang="en-GB" sz="2600" i="1" noProof="1" smtClean="0">
                            <a:latin typeface="Cambria Math" panose="02040503050406030204" pitchFamily="18" charset="0"/>
                            <a:ea typeface="Verdana" panose="020B0604030504040204" pitchFamily="34" charset="0"/>
                          </a:rPr>
                          <m:t>𝑖</m:t>
                        </m:r>
                      </m:sub>
                    </m:sSub>
                    <m:r>
                      <a:rPr lang="en-GB" sz="2600" b="0" i="1" noProof="1" smtClean="0">
                        <a:latin typeface="Cambria Math" panose="02040503050406030204" pitchFamily="18" charset="0"/>
                        <a:ea typeface="Verdana" panose="020B0604030504040204" pitchFamily="34" charset="0"/>
                      </a:rPr>
                      <m:t>)</m:t>
                    </m:r>
                    <m:r>
                      <a:rPr lang="en-GB" sz="2600" i="1" noProof="1" smtClean="0">
                        <a:solidFill>
                          <a:schemeClr val="tx1"/>
                        </a:solidFill>
                        <a:latin typeface="Cambria Math" panose="02040503050406030204" pitchFamily="18" charset="0"/>
                        <a:ea typeface="Verdana" panose="020B0604030504040204" pitchFamily="34" charset="0"/>
                      </a:rPr>
                      <m:t>=</m:t>
                    </m:r>
                    <m:r>
                      <a:rPr lang="en-GB" sz="2800" i="1" noProof="1" dirty="0">
                        <a:latin typeface="Cambria Math" panose="02040503050406030204" pitchFamily="18" charset="0"/>
                        <a:ea typeface="Cambria Math" panose="02040503050406030204" pitchFamily="18" charset="0"/>
                      </a:rPr>
                      <m:t>𝛼</m:t>
                    </m:r>
                  </m:oMath>
                </a14:m>
                <a:r>
                  <a:rPr lang="en-GB" sz="2600" noProof="1">
                    <a:latin typeface="Cambria Math" panose="02040503050406030204" pitchFamily="18" charset="0"/>
                    <a:ea typeface="Cambria Math" panose="02040503050406030204" pitchFamily="18" charset="0"/>
                  </a:rPr>
                  <a:t> +</a:t>
                </a:r>
                <a14:m>
                  <m:oMath xmlns:m="http://schemas.openxmlformats.org/officeDocument/2006/math">
                    <m:r>
                      <a:rPr lang="en-US" sz="2600" b="0" i="0" noProof="1" smtClean="0">
                        <a:latin typeface="Cambria Math" panose="02040503050406030204" pitchFamily="18" charset="0"/>
                        <a:ea typeface="Cambria Math" panose="02040503050406030204" pitchFamily="18" charset="0"/>
                      </a:rPr>
                      <m:t> </m:t>
                    </m:r>
                    <m:sSub>
                      <m:sSubPr>
                        <m:ctrlPr>
                          <a:rPr lang="en-GB" sz="2800" i="1" noProof="1" dirty="0">
                            <a:latin typeface="Cambria Math" panose="02040503050406030204" pitchFamily="18" charset="0"/>
                            <a:ea typeface="Cambria Math" panose="02040503050406030204" pitchFamily="18" charset="0"/>
                          </a:rPr>
                        </m:ctrlPr>
                      </m:sSubPr>
                      <m:e>
                        <m:r>
                          <a:rPr lang="en-GB" sz="2800" i="1" noProof="1" dirty="0">
                            <a:latin typeface="Cambria Math" panose="02040503050406030204" pitchFamily="18" charset="0"/>
                            <a:ea typeface="Cambria Math" panose="02040503050406030204" pitchFamily="18" charset="0"/>
                          </a:rPr>
                          <m:t>𝛼</m:t>
                        </m:r>
                      </m:e>
                      <m:sub>
                        <m:r>
                          <a:rPr lang="en-GB" sz="2600" i="1" noProof="1" smtClean="0">
                            <a:latin typeface="Cambria Math" panose="02040503050406030204" pitchFamily="18" charset="0"/>
                            <a:ea typeface="Verdana" panose="020B0604030504040204" pitchFamily="34" charset="0"/>
                          </a:rPr>
                          <m:t>𝑖</m:t>
                        </m:r>
                      </m:sub>
                    </m:sSub>
                    <m:r>
                      <a:rPr lang="en-GB" sz="2600" b="0" i="1" noProof="1" smtClean="0">
                        <a:latin typeface="Cambria Math" panose="02040503050406030204" pitchFamily="18" charset="0"/>
                        <a:ea typeface="Verdana" panose="020B0604030504040204" pitchFamily="34" charset="0"/>
                      </a:rPr>
                      <m:t> +</m:t>
                    </m:r>
                  </m:oMath>
                </a14:m>
                <a:r>
                  <a:rPr lang="en-GB" sz="2600" noProof="1">
                    <a:ea typeface="Cambria Math" panose="02040503050406030204" pitchFamily="18" charset="0"/>
                  </a:rPr>
                  <a:t> </a:t>
                </a:r>
                <a14:m>
                  <m:oMath xmlns:m="http://schemas.openxmlformats.org/officeDocument/2006/math">
                    <m:sSub>
                      <m:sSubPr>
                        <m:ctrlPr>
                          <a:rPr lang="en-GB" sz="2600" i="1" noProof="1" smtClean="0">
                            <a:latin typeface="Cambria Math" panose="02040503050406030204" pitchFamily="18" charset="0"/>
                            <a:ea typeface="Cambria Math" panose="02040503050406030204" pitchFamily="18" charset="0"/>
                          </a:rPr>
                        </m:ctrlPr>
                      </m:sSubPr>
                      <m:e>
                        <m:r>
                          <a:rPr lang="en-GB" sz="2600" i="1" noProof="1" smtClean="0">
                            <a:latin typeface="Cambria Math" panose="02040503050406030204" pitchFamily="18" charset="0"/>
                            <a:ea typeface="Cambria Math" panose="02040503050406030204" pitchFamily="18" charset="0"/>
                          </a:rPr>
                          <m:t>𝜏</m:t>
                        </m:r>
                      </m:e>
                      <m:sub>
                        <m:r>
                          <a:rPr lang="en-GB" sz="2600" b="0" i="1" noProof="1" smtClean="0">
                            <a:latin typeface="Cambria Math" panose="02040503050406030204" pitchFamily="18" charset="0"/>
                            <a:ea typeface="Verdana" panose="020B0604030504040204" pitchFamily="34" charset="0"/>
                          </a:rPr>
                          <m:t>𝑡</m:t>
                        </m:r>
                      </m:sub>
                    </m:sSub>
                    <m:r>
                      <a:rPr lang="en-GB" sz="2600" b="0" i="1" noProof="1" smtClean="0">
                        <a:latin typeface="Cambria Math" panose="02040503050406030204" pitchFamily="18" charset="0"/>
                        <a:ea typeface="Verdana" panose="020B0604030504040204" pitchFamily="34" charset="0"/>
                      </a:rPr>
                      <m:t>+ </m:t>
                    </m:r>
                    <m:sSub>
                      <m:sSubPr>
                        <m:ctrlPr>
                          <a:rPr lang="en-GB" sz="2600" i="1" noProof="1" smtClean="0">
                            <a:latin typeface="Cambria Math" panose="02040503050406030204" pitchFamily="18" charset="0"/>
                            <a:ea typeface="Cambria Math" panose="02040503050406030204" pitchFamily="18" charset="0"/>
                          </a:rPr>
                        </m:ctrlPr>
                      </m:sSubPr>
                      <m:e>
                        <m:r>
                          <a:rPr lang="en-GB" sz="2600" i="1" noProof="1" smtClean="0">
                            <a:latin typeface="Cambria Math" panose="02040503050406030204" pitchFamily="18" charset="0"/>
                            <a:ea typeface="Cambria Math" panose="02040503050406030204" pitchFamily="18" charset="0"/>
                          </a:rPr>
                          <m:t>𝛽</m:t>
                        </m:r>
                      </m:e>
                      <m:sub>
                        <m:r>
                          <a:rPr lang="en-GB" sz="2600" b="0" i="1" noProof="1" smtClean="0">
                            <a:latin typeface="Cambria Math" panose="02040503050406030204" pitchFamily="18" charset="0"/>
                            <a:ea typeface="Verdana" panose="020B0604030504040204" pitchFamily="34" charset="0"/>
                          </a:rPr>
                          <m:t>𝑤</m:t>
                        </m:r>
                      </m:sub>
                    </m:sSub>
                    <m:sSubSup>
                      <m:sSubSupPr>
                        <m:ctrlPr>
                          <a:rPr lang="en-GB" sz="2600" b="0" i="1" noProof="1" smtClean="0">
                            <a:latin typeface="Cambria Math" panose="02040503050406030204" pitchFamily="18" charset="0"/>
                            <a:ea typeface="Verdana" panose="020B0604030504040204" pitchFamily="34" charset="0"/>
                          </a:rPr>
                        </m:ctrlPr>
                      </m:sSubSupPr>
                      <m:e>
                        <m:r>
                          <a:rPr lang="en-GB" sz="2600" b="0" i="1" noProof="1" smtClean="0">
                            <a:latin typeface="Cambria Math" panose="02040503050406030204" pitchFamily="18" charset="0"/>
                            <a:ea typeface="Verdana" panose="020B0604030504040204" pitchFamily="34" charset="0"/>
                          </a:rPr>
                          <m:t> </m:t>
                        </m:r>
                        <m:r>
                          <a:rPr lang="en-GB" sz="2600" b="0" i="1" noProof="1" smtClean="0">
                            <a:latin typeface="Cambria Math" panose="02040503050406030204" pitchFamily="18" charset="0"/>
                            <a:ea typeface="Verdana" panose="020B0604030504040204" pitchFamily="34" charset="0"/>
                          </a:rPr>
                          <m:t>𝑋</m:t>
                        </m:r>
                      </m:e>
                      <m:sub>
                        <m:r>
                          <a:rPr lang="en-GB" sz="2600" i="1" noProof="1" smtClean="0">
                            <a:latin typeface="Cambria Math" panose="02040503050406030204" pitchFamily="18" charset="0"/>
                            <a:ea typeface="Verdana" panose="020B0604030504040204" pitchFamily="34" charset="0"/>
                          </a:rPr>
                          <m:t>𝑖</m:t>
                        </m:r>
                        <m:r>
                          <a:rPr lang="en-GB" sz="2600" i="1" noProof="1" smtClean="0">
                            <a:latin typeface="Cambria Math" panose="02040503050406030204" pitchFamily="18" charset="0"/>
                            <a:ea typeface="Verdana" panose="020B0604030504040204" pitchFamily="34" charset="0"/>
                          </a:rPr>
                          <m:t>,</m:t>
                        </m:r>
                        <m:r>
                          <a:rPr lang="en-GB" sz="2600" i="1" noProof="1" smtClean="0">
                            <a:latin typeface="Cambria Math" panose="02040503050406030204" pitchFamily="18" charset="0"/>
                            <a:ea typeface="Verdana" panose="020B0604030504040204" pitchFamily="34" charset="0"/>
                          </a:rPr>
                          <m:t>𝑡</m:t>
                        </m:r>
                        <m:r>
                          <a:rPr lang="en-GB" sz="2600" i="1" noProof="1" smtClean="0">
                            <a:latin typeface="Cambria Math" panose="02040503050406030204" pitchFamily="18" charset="0"/>
                            <a:ea typeface="Verdana" panose="020B0604030504040204" pitchFamily="34" charset="0"/>
                          </a:rPr>
                          <m:t>−1</m:t>
                        </m:r>
                      </m:sub>
                      <m:sup>
                        <m:r>
                          <a:rPr lang="en-GB" sz="2600" b="0" i="1" noProof="1" smtClean="0">
                            <a:latin typeface="Cambria Math" panose="02040503050406030204" pitchFamily="18" charset="0"/>
                            <a:ea typeface="Verdana" panose="020B0604030504040204" pitchFamily="34" charset="0"/>
                          </a:rPr>
                          <m:t>𝑤</m:t>
                        </m:r>
                      </m:sup>
                    </m:sSubSup>
                    <m:r>
                      <a:rPr lang="en-GB" sz="2600" b="0" i="1" noProof="1" smtClean="0">
                        <a:latin typeface="Cambria Math" panose="02040503050406030204" pitchFamily="18" charset="0"/>
                        <a:ea typeface="Verdana" panose="020B0604030504040204" pitchFamily="34" charset="0"/>
                      </a:rPr>
                      <m:t>+</m:t>
                    </m:r>
                    <m:sSub>
                      <m:sSubPr>
                        <m:ctrlPr>
                          <a:rPr lang="en-GB" sz="2600" i="1" noProof="1" smtClean="0">
                            <a:latin typeface="Cambria Math" panose="02040503050406030204" pitchFamily="18" charset="0"/>
                            <a:ea typeface="Cambria Math" panose="02040503050406030204" pitchFamily="18" charset="0"/>
                          </a:rPr>
                        </m:ctrlPr>
                      </m:sSubPr>
                      <m:e>
                        <m:r>
                          <a:rPr lang="en-GB" sz="2600" i="1" noProof="1" smtClean="0">
                            <a:latin typeface="Cambria Math" panose="02040503050406030204" pitchFamily="18" charset="0"/>
                            <a:ea typeface="Cambria Math" panose="02040503050406030204" pitchFamily="18" charset="0"/>
                          </a:rPr>
                          <m:t>𝛽</m:t>
                        </m:r>
                      </m:e>
                      <m:sub>
                        <m:r>
                          <a:rPr lang="en-GB" sz="2600" b="0" i="1" noProof="1" smtClean="0">
                            <a:latin typeface="Cambria Math" panose="02040503050406030204" pitchFamily="18" charset="0"/>
                            <a:ea typeface="Verdana" panose="020B0604030504040204" pitchFamily="34" charset="0"/>
                          </a:rPr>
                          <m:t>𝐵</m:t>
                        </m:r>
                      </m:sub>
                    </m:sSub>
                    <m:r>
                      <a:rPr lang="en-GB" sz="2600" b="0" i="1" noProof="1" smtClean="0">
                        <a:latin typeface="Cambria Math" panose="02040503050406030204" pitchFamily="18" charset="0"/>
                        <a:ea typeface="Verdana" panose="020B0604030504040204" pitchFamily="34" charset="0"/>
                      </a:rPr>
                      <m:t> </m:t>
                    </m:r>
                    <m:sSubSup>
                      <m:sSubSupPr>
                        <m:ctrlPr>
                          <a:rPr lang="en-GB" sz="2600" i="1" noProof="1" smtClean="0">
                            <a:latin typeface="Cambria Math" panose="02040503050406030204" pitchFamily="18" charset="0"/>
                            <a:ea typeface="Verdana" panose="020B0604030504040204" pitchFamily="34" charset="0"/>
                          </a:rPr>
                        </m:ctrlPr>
                      </m:sSubSupPr>
                      <m:e>
                        <m:r>
                          <a:rPr lang="en-GB" sz="2600" i="1" noProof="1" smtClean="0">
                            <a:latin typeface="Cambria Math" panose="02040503050406030204" pitchFamily="18" charset="0"/>
                            <a:ea typeface="Verdana" panose="020B0604030504040204" pitchFamily="34" charset="0"/>
                          </a:rPr>
                          <m:t>𝑋</m:t>
                        </m:r>
                      </m:e>
                      <m:sub>
                        <m:r>
                          <a:rPr lang="en-GB" sz="2600" i="1" noProof="1" smtClean="0">
                            <a:latin typeface="Cambria Math" panose="02040503050406030204" pitchFamily="18" charset="0"/>
                            <a:ea typeface="Verdana" panose="020B0604030504040204" pitchFamily="34" charset="0"/>
                          </a:rPr>
                          <m:t>𝑖</m:t>
                        </m:r>
                      </m:sub>
                      <m:sup>
                        <m:r>
                          <a:rPr lang="en-GB" sz="2600" b="0" i="1" noProof="1" smtClean="0">
                            <a:latin typeface="Cambria Math" panose="02040503050406030204" pitchFamily="18" charset="0"/>
                            <a:ea typeface="Verdana" panose="020B0604030504040204" pitchFamily="34" charset="0"/>
                          </a:rPr>
                          <m:t>𝐵</m:t>
                        </m:r>
                      </m:sup>
                    </m:sSubSup>
                  </m:oMath>
                </a14:m>
                <a:endParaRPr lang="en-GB" sz="2600" i="1" noProof="1">
                  <a:latin typeface="Cambria Math" panose="02040503050406030204" pitchFamily="18" charset="0"/>
                  <a:ea typeface="Verdana" panose="020B0604030504040204" pitchFamily="34" charset="0"/>
                </a:endParaRPr>
              </a:p>
              <a:p>
                <a:pPr>
                  <a:lnSpc>
                    <a:spcPct val="120000"/>
                  </a:lnSpc>
                  <a:spcAft>
                    <a:spcPts val="300"/>
                  </a:spcAft>
                </a:pPr>
                <a14:m>
                  <m:oMathPara xmlns:m="http://schemas.openxmlformats.org/officeDocument/2006/math">
                    <m:oMath>
                      <m:r>
                        <a:rPr lang="en-GB" sz="2600" i="1" noProof="1" smtClean="0">
                          <a:latin typeface="Cambria Math" panose="02040503050406030204" pitchFamily="18" charset="0"/>
                          <a:ea typeface="Verdana" panose="020B0604030504040204" pitchFamily="34" charset="0"/>
                        </a:rPr>
                        <m:t>+</m:t>
                      </m:r>
                      <m:r>
                        <a:rPr lang="en-GB" sz="2600" b="0" i="1" noProof="1" smtClean="0">
                          <a:latin typeface="Cambria Math" panose="02040503050406030204" pitchFamily="18" charset="0"/>
                          <a:ea typeface="Verdana" panose="020B0604030504040204" pitchFamily="34" charset="0"/>
                        </a:rPr>
                        <m:t> </m:t>
                      </m:r>
                      <m:sSubSup>
                        <m:sSubSupPr>
                          <m:ctrlPr>
                            <a:rPr lang="en-GB" sz="2600" i="1" noProof="1" smtClean="0">
                              <a:latin typeface="Cambria Math" panose="02040503050406030204" pitchFamily="18" charset="0"/>
                              <a:ea typeface="Cambria Math" panose="02040503050406030204" pitchFamily="18" charset="0"/>
                            </a:rPr>
                          </m:ctrlPr>
                        </m:sSubSupPr>
                        <m:e>
                          <m:r>
                            <a:rPr lang="en-GB" sz="2600" i="1" noProof="1" smtClean="0">
                              <a:latin typeface="Cambria Math" panose="02040503050406030204" pitchFamily="18" charset="0"/>
                              <a:ea typeface="Cambria Math" panose="02040503050406030204" pitchFamily="18" charset="0"/>
                            </a:rPr>
                            <m:t>𝜑</m:t>
                          </m:r>
                        </m:e>
                        <m:sub>
                          <m:r>
                            <a:rPr lang="en-GB" sz="2600" b="0" i="1" noProof="1" smtClean="0">
                              <a:latin typeface="Cambria Math" panose="02040503050406030204" pitchFamily="18" charset="0"/>
                              <a:ea typeface="Verdana" panose="020B0604030504040204" pitchFamily="34" charset="0"/>
                            </a:rPr>
                            <m:t>𝑤</m:t>
                          </m:r>
                        </m:sub>
                        <m:sup>
                          <m:r>
                            <a:rPr lang="en-GB" sz="2600" b="0" i="1" noProof="1" smtClean="0">
                              <a:latin typeface="Cambria Math" panose="02040503050406030204" pitchFamily="18" charset="0"/>
                              <a:ea typeface="Verdana" panose="020B0604030504040204" pitchFamily="34" charset="0"/>
                            </a:rPr>
                            <m:t>′</m:t>
                          </m:r>
                        </m:sup>
                      </m:sSubSup>
                      <m:sSubSup>
                        <m:sSubSupPr>
                          <m:ctrlPr>
                            <a:rPr lang="en-GB" sz="2600" b="0" i="1" noProof="1" smtClean="0">
                              <a:latin typeface="Cambria Math" panose="02040503050406030204" pitchFamily="18" charset="0"/>
                              <a:ea typeface="Verdana" panose="020B0604030504040204" pitchFamily="34" charset="0"/>
                            </a:rPr>
                          </m:ctrlPr>
                        </m:sSubSupPr>
                        <m:e>
                          <m:r>
                            <a:rPr lang="en-GB" sz="2600" b="0" i="1" noProof="1" smtClean="0">
                              <a:latin typeface="Cambria Math" panose="02040503050406030204" pitchFamily="18" charset="0"/>
                              <a:ea typeface="Verdana" panose="020B0604030504040204" pitchFamily="34" charset="0"/>
                            </a:rPr>
                            <m:t> </m:t>
                          </m:r>
                          <m:r>
                            <a:rPr lang="en-GB" sz="2600" b="0" i="1" noProof="1" smtClean="0">
                              <a:latin typeface="Cambria Math" panose="02040503050406030204" pitchFamily="18" charset="0"/>
                              <a:ea typeface="Verdana" panose="020B0604030504040204" pitchFamily="34" charset="0"/>
                            </a:rPr>
                            <m:t>𝑍</m:t>
                          </m:r>
                        </m:e>
                        <m:sub>
                          <m:r>
                            <a:rPr lang="en-GB" sz="2600" i="1" noProof="1" smtClean="0">
                              <a:latin typeface="Cambria Math" panose="02040503050406030204" pitchFamily="18" charset="0"/>
                              <a:ea typeface="Verdana" panose="020B0604030504040204" pitchFamily="34" charset="0"/>
                            </a:rPr>
                            <m:t>𝑖</m:t>
                          </m:r>
                          <m:r>
                            <a:rPr lang="en-GB" sz="2600" i="1" noProof="1" smtClean="0">
                              <a:latin typeface="Cambria Math" panose="02040503050406030204" pitchFamily="18" charset="0"/>
                              <a:ea typeface="Verdana" panose="020B0604030504040204" pitchFamily="34" charset="0"/>
                            </a:rPr>
                            <m:t>,</m:t>
                          </m:r>
                          <m:r>
                            <a:rPr lang="en-GB" sz="2600" i="1" noProof="1" smtClean="0">
                              <a:latin typeface="Cambria Math" panose="02040503050406030204" pitchFamily="18" charset="0"/>
                              <a:ea typeface="Verdana" panose="020B0604030504040204" pitchFamily="34" charset="0"/>
                            </a:rPr>
                            <m:t>𝑡</m:t>
                          </m:r>
                          <m:r>
                            <a:rPr lang="en-GB" sz="2600" i="1" noProof="1" smtClean="0">
                              <a:latin typeface="Cambria Math" panose="02040503050406030204" pitchFamily="18" charset="0"/>
                              <a:ea typeface="Verdana" panose="020B0604030504040204" pitchFamily="34" charset="0"/>
                            </a:rPr>
                            <m:t>−1</m:t>
                          </m:r>
                        </m:sub>
                        <m:sup>
                          <m:r>
                            <a:rPr lang="en-GB" sz="2600" i="1" noProof="1" smtClean="0">
                              <a:latin typeface="Cambria Math" panose="02040503050406030204" pitchFamily="18" charset="0"/>
                              <a:ea typeface="Verdana" panose="020B0604030504040204" pitchFamily="34" charset="0"/>
                            </a:rPr>
                            <m:t>𝑤</m:t>
                          </m:r>
                        </m:sup>
                      </m:sSubSup>
                      <m:r>
                        <a:rPr lang="en-GB" sz="2600" i="1" noProof="1" smtClean="0">
                          <a:latin typeface="Cambria Math" panose="02040503050406030204" pitchFamily="18" charset="0"/>
                          <a:ea typeface="Verdana" panose="020B0604030504040204" pitchFamily="34" charset="0"/>
                        </a:rPr>
                        <m:t>+</m:t>
                      </m:r>
                      <m:sSubSup>
                        <m:sSubSupPr>
                          <m:ctrlPr>
                            <a:rPr lang="en-GB" sz="2600" i="1" noProof="1" smtClean="0">
                              <a:latin typeface="Cambria Math" panose="02040503050406030204" pitchFamily="18" charset="0"/>
                              <a:ea typeface="Cambria Math" panose="02040503050406030204" pitchFamily="18" charset="0"/>
                            </a:rPr>
                          </m:ctrlPr>
                        </m:sSubSupPr>
                        <m:e>
                          <m:r>
                            <a:rPr lang="en-GB" sz="2600" i="1" noProof="1" smtClean="0">
                              <a:latin typeface="Cambria Math" panose="02040503050406030204" pitchFamily="18" charset="0"/>
                              <a:ea typeface="Cambria Math" panose="02040503050406030204" pitchFamily="18" charset="0"/>
                            </a:rPr>
                            <m:t>𝜑</m:t>
                          </m:r>
                        </m:e>
                        <m:sub>
                          <m:r>
                            <a:rPr lang="en-GB" sz="2600" b="0" i="1" noProof="1" smtClean="0">
                              <a:latin typeface="Cambria Math" panose="02040503050406030204" pitchFamily="18" charset="0"/>
                              <a:ea typeface="Verdana" panose="020B0604030504040204" pitchFamily="34" charset="0"/>
                            </a:rPr>
                            <m:t>𝐵</m:t>
                          </m:r>
                        </m:sub>
                        <m:sup>
                          <m:r>
                            <a:rPr lang="en-GB" sz="2600" i="1" noProof="1" smtClean="0">
                              <a:latin typeface="Cambria Math" panose="02040503050406030204" pitchFamily="18" charset="0"/>
                              <a:ea typeface="Verdana" panose="020B0604030504040204" pitchFamily="34" charset="0"/>
                            </a:rPr>
                            <m:t>′</m:t>
                          </m:r>
                        </m:sup>
                      </m:sSubSup>
                      <m:sSubSup>
                        <m:sSubSupPr>
                          <m:ctrlPr>
                            <a:rPr lang="en-GB" sz="2600" b="0" i="1" noProof="1" smtClean="0">
                              <a:latin typeface="Cambria Math" panose="02040503050406030204" pitchFamily="18" charset="0"/>
                              <a:ea typeface="Verdana" panose="020B0604030504040204" pitchFamily="34" charset="0"/>
                            </a:rPr>
                          </m:ctrlPr>
                        </m:sSubSupPr>
                        <m:e>
                          <m:r>
                            <a:rPr lang="en-GB" sz="2600" b="0" i="1" noProof="1" smtClean="0">
                              <a:latin typeface="Cambria Math" panose="02040503050406030204" pitchFamily="18" charset="0"/>
                              <a:ea typeface="Verdana" panose="020B0604030504040204" pitchFamily="34" charset="0"/>
                            </a:rPr>
                            <m:t> </m:t>
                          </m:r>
                          <m:r>
                            <a:rPr lang="en-GB" sz="2600" b="0" i="1" noProof="1" smtClean="0">
                              <a:latin typeface="Cambria Math" panose="02040503050406030204" pitchFamily="18" charset="0"/>
                              <a:ea typeface="Verdana" panose="020B0604030504040204" pitchFamily="34" charset="0"/>
                            </a:rPr>
                            <m:t>𝑍</m:t>
                          </m:r>
                        </m:e>
                        <m:sub>
                          <m:r>
                            <a:rPr lang="en-GB" sz="2600" i="1" noProof="1" smtClean="0">
                              <a:latin typeface="Cambria Math" panose="02040503050406030204" pitchFamily="18" charset="0"/>
                              <a:ea typeface="Verdana" panose="020B0604030504040204" pitchFamily="34" charset="0"/>
                            </a:rPr>
                            <m:t>𝑖</m:t>
                          </m:r>
                        </m:sub>
                        <m:sup>
                          <m:r>
                            <a:rPr lang="en-GB" sz="2600" i="1" noProof="1" smtClean="0">
                              <a:latin typeface="Cambria Math" panose="02040503050406030204" pitchFamily="18" charset="0"/>
                              <a:ea typeface="Verdana" panose="020B0604030504040204" pitchFamily="34" charset="0"/>
                            </a:rPr>
                            <m:t>𝐵</m:t>
                          </m:r>
                        </m:sup>
                      </m:sSubSup>
                      <m:r>
                        <a:rPr lang="en-GB" sz="2600" i="1" noProof="1" smtClean="0">
                          <a:latin typeface="Cambria Math" panose="02040503050406030204" pitchFamily="18" charset="0"/>
                          <a:ea typeface="Verdana" panose="020B0604030504040204" pitchFamily="34" charset="0"/>
                        </a:rPr>
                        <m:t>+</m:t>
                      </m:r>
                      <m:r>
                        <m:rPr>
                          <m:nor/>
                        </m:rPr>
                        <a:rPr lang="en-GB" sz="2600" i="0" noProof="1" smtClean="0">
                          <a:ea typeface="Cambria Math" panose="02040503050406030204" pitchFamily="18" charset="0"/>
                        </a:rPr>
                        <m:t> </m:t>
                      </m:r>
                      <m:sSub>
                        <m:sSubPr>
                          <m:ctrlPr>
                            <a:rPr lang="en-GB" sz="2600" i="1" noProof="1" smtClean="0">
                              <a:latin typeface="Cambria Math" panose="02040503050406030204" pitchFamily="18" charset="0"/>
                              <a:ea typeface="Cambria Math" panose="02040503050406030204" pitchFamily="18" charset="0"/>
                            </a:rPr>
                          </m:ctrlPr>
                        </m:sSubPr>
                        <m:e>
                          <m:r>
                            <a:rPr lang="en-GB" sz="2600" i="1" noProof="1" smtClean="0">
                              <a:latin typeface="Cambria Math" panose="02040503050406030204" pitchFamily="18" charset="0"/>
                              <a:ea typeface="Cambria Math" panose="02040503050406030204" pitchFamily="18" charset="0"/>
                            </a:rPr>
                            <m:t>𝜀</m:t>
                          </m:r>
                        </m:e>
                        <m:sub>
                          <m:r>
                            <a:rPr lang="en-GB" sz="2600" b="0" i="1" noProof="1" smtClean="0">
                              <a:latin typeface="Cambria Math" panose="02040503050406030204" pitchFamily="18" charset="0"/>
                              <a:ea typeface="Cambria Math" panose="02040503050406030204" pitchFamily="18" charset="0"/>
                            </a:rPr>
                            <m:t>𝑖</m:t>
                          </m:r>
                          <m:r>
                            <a:rPr lang="en-GB" sz="2600" b="0" i="1" noProof="1" smtClean="0">
                              <a:latin typeface="Cambria Math" panose="02040503050406030204" pitchFamily="18" charset="0"/>
                              <a:ea typeface="Cambria Math" panose="02040503050406030204" pitchFamily="18" charset="0"/>
                            </a:rPr>
                            <m:t>,</m:t>
                          </m:r>
                          <m:r>
                            <a:rPr lang="en-GB" sz="2600" i="1" noProof="1" smtClean="0">
                              <a:latin typeface="Cambria Math" panose="02040503050406030204" pitchFamily="18" charset="0"/>
                              <a:ea typeface="Verdana" panose="020B0604030504040204" pitchFamily="34" charset="0"/>
                            </a:rPr>
                            <m:t>𝑡</m:t>
                          </m:r>
                        </m:sub>
                      </m:sSub>
                    </m:oMath>
                  </m:oMathPara>
                </a14:m>
                <a:endParaRPr lang="en-GB" sz="2600" noProof="1">
                  <a:solidFill>
                    <a:schemeClr val="tx1"/>
                  </a:solidFill>
                  <a:latin typeface="Verdana" panose="020B0604030504040204" pitchFamily="34" charset="0"/>
                  <a:ea typeface="Verdana" panose="020B0604030504040204" pitchFamily="34" charset="0"/>
                </a:endParaRPr>
              </a:p>
              <a:p>
                <a:pPr>
                  <a:lnSpc>
                    <a:spcPct val="120000"/>
                  </a:lnSpc>
                  <a:spcAft>
                    <a:spcPts val="300"/>
                  </a:spcAft>
                </a:pPr>
                <a:endParaRPr lang="en-GB" sz="1800" noProof="1">
                  <a:latin typeface="Verdana" panose="020B0604030504040204" pitchFamily="34" charset="0"/>
                  <a:ea typeface="Verdana" panose="020B0604030504040204" pitchFamily="34" charset="0"/>
                </a:endParaRPr>
              </a:p>
              <a:p>
                <a:pPr>
                  <a:lnSpc>
                    <a:spcPct val="120000"/>
                  </a:lnSpc>
                  <a:spcAft>
                    <a:spcPts val="300"/>
                  </a:spcAft>
                </a:pPr>
                <a:r>
                  <a:rPr lang="en-GB" sz="2400" noProof="1">
                    <a:latin typeface="Verdana" panose="020B0604030504040204" pitchFamily="34" charset="0"/>
                    <a:ea typeface="Verdana" panose="020B0604030504040204" pitchFamily="34" charset="0"/>
                  </a:rPr>
                  <a:t>2. Additional effect (</a:t>
                </a:r>
                <a14:m>
                  <m:oMath xmlns:m="http://schemas.openxmlformats.org/officeDocument/2006/math">
                    <m:r>
                      <a:rPr lang="en-GB" sz="2400" i="1" noProof="1" smtClean="0">
                        <a:latin typeface="Cambria Math" panose="02040503050406030204" pitchFamily="18" charset="0"/>
                        <a:ea typeface="Cambria Math" panose="02040503050406030204" pitchFamily="18" charset="0"/>
                      </a:rPr>
                      <m:t>𝛾</m:t>
                    </m:r>
                  </m:oMath>
                </a14:m>
                <a:r>
                  <a:rPr lang="en-GB" sz="2400" noProof="1">
                    <a:latin typeface="Verdana" panose="020B0604030504040204" pitchFamily="34" charset="0"/>
                    <a:ea typeface="Verdana" panose="020B0604030504040204" pitchFamily="34" charset="0"/>
                  </a:rPr>
                  <a:t>) of ICT/AI in shock years</a:t>
                </a:r>
              </a:p>
              <a:p>
                <a:pPr>
                  <a:lnSpc>
                    <a:spcPct val="120000"/>
                  </a:lnSpc>
                  <a:spcAft>
                    <a:spcPts val="300"/>
                  </a:spcAft>
                </a:pPr>
                <a:r>
                  <a:rPr lang="en-GB" sz="2400" noProof="1">
                    <a:latin typeface="Verdana" panose="020B0604030504040204" pitchFamily="34" charset="0"/>
                    <a:ea typeface="Verdana" panose="020B0604030504040204" pitchFamily="34" charset="0"/>
                  </a:rPr>
                  <a:t>	 </a:t>
                </a:r>
                <a14:m>
                  <m:oMath xmlns:m="http://schemas.openxmlformats.org/officeDocument/2006/math">
                    <m:sSub>
                      <m:sSubPr>
                        <m:ctrlPr>
                          <a:rPr lang="en-GB" sz="2600" i="1" noProof="1" smtClean="0">
                            <a:latin typeface="Cambria Math" panose="02040503050406030204" pitchFamily="18" charset="0"/>
                            <a:ea typeface="Verdana" panose="020B0604030504040204" pitchFamily="34" charset="0"/>
                          </a:rPr>
                        </m:ctrlPr>
                      </m:sSubPr>
                      <m:e>
                        <m:r>
                          <a:rPr lang="en-GB" sz="2600" i="1" noProof="1" smtClean="0">
                            <a:latin typeface="Cambria Math" panose="02040503050406030204" pitchFamily="18" charset="0"/>
                            <a:ea typeface="Verdana" panose="020B0604030504040204" pitchFamily="34" charset="0"/>
                          </a:rPr>
                          <m:t>𝑃</m:t>
                        </m:r>
                        <m:r>
                          <a:rPr lang="en-GB" sz="2600" i="1" noProof="1" smtClean="0">
                            <a:latin typeface="Cambria Math" panose="02040503050406030204" pitchFamily="18" charset="0"/>
                            <a:ea typeface="Verdana" panose="020B0604030504040204" pitchFamily="34" charset="0"/>
                          </a:rPr>
                          <m:t>(</m:t>
                        </m:r>
                        <m:r>
                          <a:rPr lang="en-GB" sz="2600" i="1" noProof="1" smtClean="0">
                            <a:latin typeface="Cambria Math" panose="02040503050406030204" pitchFamily="18" charset="0"/>
                            <a:ea typeface="Verdana" panose="020B0604030504040204" pitchFamily="34" charset="0"/>
                          </a:rPr>
                          <m:t>𝑆</m:t>
                        </m:r>
                      </m:e>
                      <m:sub>
                        <m:r>
                          <a:rPr lang="en-GB" sz="2600" i="1" noProof="1" smtClean="0">
                            <a:latin typeface="Cambria Math" panose="02040503050406030204" pitchFamily="18" charset="0"/>
                            <a:ea typeface="Verdana" panose="020B0604030504040204" pitchFamily="34" charset="0"/>
                          </a:rPr>
                          <m:t>𝑖</m:t>
                        </m:r>
                        <m:r>
                          <a:rPr lang="en-GB" sz="2600" i="1" noProof="1" smtClean="0">
                            <a:latin typeface="Cambria Math" panose="02040503050406030204" pitchFamily="18" charset="0"/>
                            <a:ea typeface="Verdana" panose="020B0604030504040204" pitchFamily="34" charset="0"/>
                          </a:rPr>
                          <m:t>,</m:t>
                        </m:r>
                        <m:r>
                          <a:rPr lang="en-GB" sz="2600" i="1" noProof="1" smtClean="0">
                            <a:latin typeface="Cambria Math" panose="02040503050406030204" pitchFamily="18" charset="0"/>
                            <a:ea typeface="Verdana" panose="020B0604030504040204" pitchFamily="34" charset="0"/>
                          </a:rPr>
                          <m:t>𝑡</m:t>
                        </m:r>
                      </m:sub>
                    </m:sSub>
                    <m:r>
                      <a:rPr lang="en-GB" sz="2600" i="1" noProof="1" smtClean="0">
                        <a:latin typeface="Cambria Math" panose="02040503050406030204" pitchFamily="18" charset="0"/>
                        <a:ea typeface="Verdana" panose="020B0604030504040204" pitchFamily="34" charset="0"/>
                      </a:rPr>
                      <m:t>=1| </m:t>
                    </m:r>
                    <m:r>
                      <a:rPr lang="en-GB" sz="2600" i="1" noProof="1" smtClean="0">
                        <a:latin typeface="Cambria Math" panose="02040503050406030204" pitchFamily="18" charset="0"/>
                        <a:ea typeface="Verdana" panose="020B0604030504040204" pitchFamily="34" charset="0"/>
                      </a:rPr>
                      <m:t>𝑋</m:t>
                    </m:r>
                    <m:r>
                      <a:rPr lang="en-GB" sz="2600" i="1" noProof="1" smtClean="0">
                        <a:latin typeface="Cambria Math" panose="02040503050406030204" pitchFamily="18" charset="0"/>
                        <a:ea typeface="Verdana" panose="020B0604030504040204" pitchFamily="34" charset="0"/>
                      </a:rPr>
                      <m:t>, </m:t>
                    </m:r>
                    <m:r>
                      <a:rPr lang="en-GB" sz="2600" i="1" noProof="1" smtClean="0">
                        <a:latin typeface="Cambria Math" panose="02040503050406030204" pitchFamily="18" charset="0"/>
                        <a:ea typeface="Verdana" panose="020B0604030504040204" pitchFamily="34" charset="0"/>
                      </a:rPr>
                      <m:t>𝑍</m:t>
                    </m:r>
                    <m:r>
                      <a:rPr lang="en-GB" sz="2600" i="1" noProof="1" smtClean="0">
                        <a:latin typeface="Cambria Math" panose="02040503050406030204" pitchFamily="18" charset="0"/>
                        <a:ea typeface="Verdana" panose="020B0604030504040204" pitchFamily="34" charset="0"/>
                      </a:rPr>
                      <m:t>,</m:t>
                    </m:r>
                    <m:r>
                      <a:rPr lang="en-GB" sz="2600" b="0" i="1" noProof="1" smtClean="0">
                        <a:latin typeface="Cambria Math" panose="02040503050406030204" pitchFamily="18" charset="0"/>
                        <a:ea typeface="Verdana" panose="020B0604030504040204" pitchFamily="34" charset="0"/>
                      </a:rPr>
                      <m:t>𝑌</m:t>
                    </m:r>
                    <m:r>
                      <a:rPr lang="en-GB" sz="2600" b="0" i="1" noProof="1" smtClean="0">
                        <a:latin typeface="Cambria Math" panose="02040503050406030204" pitchFamily="18" charset="0"/>
                        <a:ea typeface="Verdana" panose="020B0604030504040204" pitchFamily="34" charset="0"/>
                      </a:rPr>
                      <m:t>,</m:t>
                    </m:r>
                    <m:sSub>
                      <m:sSubPr>
                        <m:ctrlPr>
                          <a:rPr lang="en-GB" sz="2800" i="1" noProof="1" dirty="0">
                            <a:latin typeface="Cambria Math" panose="02040503050406030204" pitchFamily="18" charset="0"/>
                            <a:ea typeface="Cambria Math" panose="02040503050406030204" pitchFamily="18" charset="0"/>
                          </a:rPr>
                        </m:ctrlPr>
                      </m:sSubPr>
                      <m:e>
                        <m:r>
                          <a:rPr lang="en-GB" sz="2800" i="1" noProof="1" dirty="0">
                            <a:latin typeface="Cambria Math" panose="02040503050406030204" pitchFamily="18" charset="0"/>
                            <a:ea typeface="Cambria Math" panose="02040503050406030204" pitchFamily="18" charset="0"/>
                          </a:rPr>
                          <m:t>𝛼</m:t>
                        </m:r>
                      </m:e>
                      <m:sub>
                        <m:r>
                          <a:rPr lang="en-GB" sz="2600" i="1" noProof="1" smtClean="0">
                            <a:latin typeface="Cambria Math" panose="02040503050406030204" pitchFamily="18" charset="0"/>
                            <a:ea typeface="Verdana" panose="020B0604030504040204" pitchFamily="34" charset="0"/>
                          </a:rPr>
                          <m:t>𝑖</m:t>
                        </m:r>
                      </m:sub>
                    </m:sSub>
                    <m:r>
                      <a:rPr lang="en-GB" sz="2600" i="1" noProof="1" smtClean="0">
                        <a:latin typeface="Cambria Math" panose="02040503050406030204" pitchFamily="18" charset="0"/>
                        <a:ea typeface="Verdana" panose="020B0604030504040204" pitchFamily="34" charset="0"/>
                      </a:rPr>
                      <m:t>)=</m:t>
                    </m:r>
                  </m:oMath>
                </a14:m>
                <a:r>
                  <a:rPr lang="en-GB" sz="2600" noProof="1">
                    <a:ea typeface="Verdana" panose="020B0604030504040204" pitchFamily="34" charset="0"/>
                  </a:rPr>
                  <a:t> ... </a:t>
                </a:r>
                <a14:m>
                  <m:oMath xmlns:m="http://schemas.openxmlformats.org/officeDocument/2006/math">
                    <m:r>
                      <a:rPr lang="en-GB" sz="2600" i="1" noProof="1" smtClean="0">
                        <a:latin typeface="Cambria Math" panose="02040503050406030204" pitchFamily="18" charset="0"/>
                        <a:ea typeface="Verdana" panose="020B0604030504040204" pitchFamily="34" charset="0"/>
                      </a:rPr>
                      <m:t>+</m:t>
                    </m:r>
                    <m:r>
                      <a:rPr lang="en-GB" sz="2600" b="0" i="1" noProof="1" smtClean="0">
                        <a:latin typeface="Cambria Math" panose="02040503050406030204" pitchFamily="18" charset="0"/>
                        <a:ea typeface="Verdana" panose="020B0604030504040204" pitchFamily="34" charset="0"/>
                      </a:rPr>
                      <m:t> </m:t>
                    </m:r>
                    <m:sSubSup>
                      <m:sSubSupPr>
                        <m:ctrlPr>
                          <a:rPr lang="en-GB" sz="2600" i="1" noProof="1" smtClean="0">
                            <a:latin typeface="Cambria Math" panose="02040503050406030204" pitchFamily="18" charset="0"/>
                            <a:ea typeface="Cambria Math" panose="02040503050406030204" pitchFamily="18" charset="0"/>
                          </a:rPr>
                        </m:ctrlPr>
                      </m:sSubSupPr>
                      <m:e>
                        <m:r>
                          <a:rPr lang="en-GB" sz="2600" i="1" noProof="1" smtClean="0">
                            <a:latin typeface="Cambria Math" panose="02040503050406030204" pitchFamily="18" charset="0"/>
                            <a:ea typeface="Cambria Math" panose="02040503050406030204" pitchFamily="18" charset="0"/>
                          </a:rPr>
                          <m:t>𝛾</m:t>
                        </m:r>
                      </m:e>
                      <m:sub>
                        <m:r>
                          <a:rPr lang="en-GB" sz="2600" i="1" noProof="1" smtClean="0">
                            <a:latin typeface="Cambria Math" panose="02040503050406030204" pitchFamily="18" charset="0"/>
                            <a:ea typeface="Verdana" panose="020B0604030504040204" pitchFamily="34" charset="0"/>
                          </a:rPr>
                          <m:t>𝑤</m:t>
                        </m:r>
                      </m:sub>
                      <m:sup>
                        <m:r>
                          <a:rPr lang="en-GB" sz="2600" i="1" noProof="1" smtClean="0">
                            <a:latin typeface="Cambria Math" panose="02040503050406030204" pitchFamily="18" charset="0"/>
                            <a:ea typeface="Verdana" panose="020B0604030504040204" pitchFamily="34" charset="0"/>
                          </a:rPr>
                          <m:t>′</m:t>
                        </m:r>
                      </m:sup>
                    </m:sSubSup>
                    <m:sSubSup>
                      <m:sSubSupPr>
                        <m:ctrlPr>
                          <a:rPr lang="en-GB" sz="2600" i="1" noProof="1" smtClean="0">
                            <a:latin typeface="Cambria Math" panose="02040503050406030204" pitchFamily="18" charset="0"/>
                            <a:ea typeface="Verdana" panose="020B0604030504040204" pitchFamily="34" charset="0"/>
                          </a:rPr>
                        </m:ctrlPr>
                      </m:sSubSupPr>
                      <m:e>
                        <m:r>
                          <a:rPr lang="en-GB" sz="2600" i="1" noProof="1" smtClean="0">
                            <a:latin typeface="Cambria Math" panose="02040503050406030204" pitchFamily="18" charset="0"/>
                            <a:ea typeface="Verdana" panose="020B0604030504040204" pitchFamily="34" charset="0"/>
                          </a:rPr>
                          <m:t> </m:t>
                        </m:r>
                        <m:r>
                          <a:rPr lang="en-GB" sz="2600" b="0" i="1" noProof="1" smtClean="0">
                            <a:latin typeface="Cambria Math" panose="02040503050406030204" pitchFamily="18" charset="0"/>
                            <a:ea typeface="Verdana" panose="020B0604030504040204" pitchFamily="34" charset="0"/>
                          </a:rPr>
                          <m:t>𝑌</m:t>
                        </m:r>
                      </m:e>
                      <m:sub>
                        <m:r>
                          <a:rPr lang="en-GB" sz="2600" i="1" noProof="1" smtClean="0">
                            <a:latin typeface="Cambria Math" panose="02040503050406030204" pitchFamily="18" charset="0"/>
                            <a:ea typeface="Verdana" panose="020B0604030504040204" pitchFamily="34" charset="0"/>
                          </a:rPr>
                          <m:t>𝑖</m:t>
                        </m:r>
                        <m:r>
                          <a:rPr lang="en-GB" sz="2600" i="1" noProof="1" smtClean="0">
                            <a:latin typeface="Cambria Math" panose="02040503050406030204" pitchFamily="18" charset="0"/>
                            <a:ea typeface="Verdana" panose="020B0604030504040204" pitchFamily="34" charset="0"/>
                          </a:rPr>
                          <m:t>,</m:t>
                        </m:r>
                        <m:r>
                          <a:rPr lang="en-GB" sz="2600" i="1" noProof="1" smtClean="0">
                            <a:latin typeface="Cambria Math" panose="02040503050406030204" pitchFamily="18" charset="0"/>
                            <a:ea typeface="Verdana" panose="020B0604030504040204" pitchFamily="34" charset="0"/>
                          </a:rPr>
                          <m:t>𝑡</m:t>
                        </m:r>
                        <m:r>
                          <a:rPr lang="en-GB" sz="2600" i="1" noProof="1" smtClean="0">
                            <a:latin typeface="Cambria Math" panose="02040503050406030204" pitchFamily="18" charset="0"/>
                            <a:ea typeface="Verdana" panose="020B0604030504040204" pitchFamily="34" charset="0"/>
                          </a:rPr>
                          <m:t>−1</m:t>
                        </m:r>
                      </m:sub>
                      <m:sup>
                        <m:r>
                          <a:rPr lang="en-GB" sz="2600" i="1" noProof="1" smtClean="0">
                            <a:latin typeface="Cambria Math" panose="02040503050406030204" pitchFamily="18" charset="0"/>
                            <a:ea typeface="Verdana" panose="020B0604030504040204" pitchFamily="34" charset="0"/>
                          </a:rPr>
                          <m:t>𝑤</m:t>
                        </m:r>
                      </m:sup>
                    </m:sSubSup>
                    <m:r>
                      <a:rPr lang="en-GB" sz="2600" b="0" i="1" noProof="1" smtClean="0">
                        <a:latin typeface="Cambria Math" panose="02040503050406030204" pitchFamily="18" charset="0"/>
                        <a:ea typeface="Verdana" panose="020B0604030504040204" pitchFamily="34" charset="0"/>
                      </a:rPr>
                      <m:t> </m:t>
                    </m:r>
                    <m:r>
                      <a:rPr lang="en-GB" sz="2600" i="1" noProof="1" smtClean="0">
                        <a:latin typeface="Cambria Math" panose="02040503050406030204" pitchFamily="18" charset="0"/>
                        <a:ea typeface="Verdana" panose="020B0604030504040204" pitchFamily="34" charset="0"/>
                      </a:rPr>
                      <m:t>+</m:t>
                    </m:r>
                    <m:r>
                      <a:rPr lang="en-GB" sz="2600" b="0" i="1" noProof="1" smtClean="0">
                        <a:latin typeface="Cambria Math" panose="02040503050406030204" pitchFamily="18" charset="0"/>
                        <a:ea typeface="Verdana" panose="020B0604030504040204" pitchFamily="34" charset="0"/>
                      </a:rPr>
                      <m:t> </m:t>
                    </m:r>
                    <m:sSubSup>
                      <m:sSubSupPr>
                        <m:ctrlPr>
                          <a:rPr lang="en-GB" sz="2600" i="1" noProof="1" smtClean="0">
                            <a:latin typeface="Cambria Math" panose="02040503050406030204" pitchFamily="18" charset="0"/>
                            <a:ea typeface="Cambria Math" panose="02040503050406030204" pitchFamily="18" charset="0"/>
                          </a:rPr>
                        </m:ctrlPr>
                      </m:sSubSupPr>
                      <m:e>
                        <m:r>
                          <a:rPr lang="en-GB" sz="2600" i="1" noProof="1" smtClean="0">
                            <a:latin typeface="Cambria Math" panose="02040503050406030204" pitchFamily="18" charset="0"/>
                            <a:ea typeface="Cambria Math" panose="02040503050406030204" pitchFamily="18" charset="0"/>
                          </a:rPr>
                          <m:t>𝛾</m:t>
                        </m:r>
                      </m:e>
                      <m:sub>
                        <m:r>
                          <a:rPr lang="en-GB" sz="2600" i="1" noProof="1" smtClean="0">
                            <a:latin typeface="Cambria Math" panose="02040503050406030204" pitchFamily="18" charset="0"/>
                            <a:ea typeface="Verdana" panose="020B0604030504040204" pitchFamily="34" charset="0"/>
                          </a:rPr>
                          <m:t>𝐵</m:t>
                        </m:r>
                      </m:sub>
                      <m:sup>
                        <m:r>
                          <a:rPr lang="en-GB" sz="2600" i="1" noProof="1" smtClean="0">
                            <a:latin typeface="Cambria Math" panose="02040503050406030204" pitchFamily="18" charset="0"/>
                            <a:ea typeface="Verdana" panose="020B0604030504040204" pitchFamily="34" charset="0"/>
                          </a:rPr>
                          <m:t>′</m:t>
                        </m:r>
                      </m:sup>
                    </m:sSubSup>
                    <m:sSubSup>
                      <m:sSubSupPr>
                        <m:ctrlPr>
                          <a:rPr lang="en-GB" sz="2600" i="1" noProof="1" smtClean="0">
                            <a:latin typeface="Cambria Math" panose="02040503050406030204" pitchFamily="18" charset="0"/>
                            <a:ea typeface="Verdana" panose="020B0604030504040204" pitchFamily="34" charset="0"/>
                          </a:rPr>
                        </m:ctrlPr>
                      </m:sSubSupPr>
                      <m:e>
                        <m:r>
                          <a:rPr lang="en-GB" sz="2600" i="1" noProof="1" smtClean="0">
                            <a:latin typeface="Cambria Math" panose="02040503050406030204" pitchFamily="18" charset="0"/>
                            <a:ea typeface="Verdana" panose="020B0604030504040204" pitchFamily="34" charset="0"/>
                          </a:rPr>
                          <m:t> </m:t>
                        </m:r>
                        <m:r>
                          <a:rPr lang="en-GB" sz="2600" b="0" i="1" noProof="1" smtClean="0">
                            <a:latin typeface="Cambria Math" panose="02040503050406030204" pitchFamily="18" charset="0"/>
                            <a:ea typeface="Verdana" panose="020B0604030504040204" pitchFamily="34" charset="0"/>
                          </a:rPr>
                          <m:t>𝑌</m:t>
                        </m:r>
                      </m:e>
                      <m:sub>
                        <m:r>
                          <a:rPr lang="en-GB" sz="2600" i="1" noProof="1" smtClean="0">
                            <a:latin typeface="Cambria Math" panose="02040503050406030204" pitchFamily="18" charset="0"/>
                            <a:ea typeface="Verdana" panose="020B0604030504040204" pitchFamily="34" charset="0"/>
                          </a:rPr>
                          <m:t>𝑖</m:t>
                        </m:r>
                      </m:sub>
                      <m:sup>
                        <m:r>
                          <a:rPr lang="en-GB" sz="2600" i="1" noProof="1" smtClean="0">
                            <a:latin typeface="Cambria Math" panose="02040503050406030204" pitchFamily="18" charset="0"/>
                            <a:ea typeface="Verdana" panose="020B0604030504040204" pitchFamily="34" charset="0"/>
                          </a:rPr>
                          <m:t>𝐵</m:t>
                        </m:r>
                      </m:sup>
                    </m:sSubSup>
                    <m:r>
                      <a:rPr lang="en-GB" sz="2600" b="0" i="1" noProof="1" smtClean="0">
                        <a:latin typeface="Cambria Math" panose="02040503050406030204" pitchFamily="18" charset="0"/>
                        <a:ea typeface="Verdana" panose="020B0604030504040204" pitchFamily="34" charset="0"/>
                      </a:rPr>
                      <m:t> </m:t>
                    </m:r>
                  </m:oMath>
                </a14:m>
                <a:r>
                  <a:rPr lang="en-GB" sz="2600" noProof="1">
                    <a:latin typeface="Verdana" panose="020B0604030504040204" pitchFamily="34" charset="0"/>
                    <a:ea typeface="Verdana" panose="020B0604030504040204" pitchFamily="34" charset="0"/>
                  </a:rPr>
                  <a:t>…</a:t>
                </a:r>
              </a:p>
              <a:p>
                <a:pPr>
                  <a:lnSpc>
                    <a:spcPct val="120000"/>
                  </a:lnSpc>
                  <a:spcAft>
                    <a:spcPts val="300"/>
                  </a:spcAft>
                </a:pPr>
                <a:endParaRPr lang="en-GB" sz="2000" noProof="1">
                  <a:latin typeface="Verdana" panose="020B0604030504040204" pitchFamily="34" charset="0"/>
                  <a:ea typeface="Verdana" panose="020B0604030504040204" pitchFamily="34" charset="0"/>
                </a:endParaRPr>
              </a:p>
              <a:p>
                <a:pPr>
                  <a:lnSpc>
                    <a:spcPct val="120000"/>
                  </a:lnSpc>
                  <a:spcAft>
                    <a:spcPts val="300"/>
                  </a:spcAft>
                </a:pPr>
                <a:r>
                  <a:rPr lang="en-GB" sz="2400" noProof="1">
                    <a:latin typeface="Verdana" panose="020B0604030504040204" pitchFamily="34" charset="0"/>
                    <a:ea typeface="Verdana" panose="020B0604030504040204" pitchFamily="34" charset="0"/>
                  </a:rPr>
                  <a:t>3. Additional effect (</a:t>
                </a:r>
                <a14:m>
                  <m:oMath xmlns:m="http://schemas.openxmlformats.org/officeDocument/2006/math">
                    <m:r>
                      <a:rPr lang="en-GB" sz="2400" noProof="1" smtClean="0">
                        <a:latin typeface="Cambria Math" panose="02040503050406030204" pitchFamily="18" charset="0"/>
                        <a:ea typeface="Verdana" panose="020B0604030504040204" pitchFamily="34" charset="0"/>
                      </a:rPr>
                      <m:t>𝛾</m:t>
                    </m:r>
                  </m:oMath>
                </a14:m>
                <a:r>
                  <a:rPr lang="en-GB" sz="2400" noProof="1">
                    <a:latin typeface="Verdana" panose="020B0604030504040204" pitchFamily="34" charset="0"/>
                    <a:ea typeface="Verdana" panose="020B0604030504040204" pitchFamily="34" charset="0"/>
                  </a:rPr>
                  <a:t>) specific to high ICT/AI in shock years</a:t>
                </a:r>
              </a:p>
              <a:p>
                <a:pPr>
                  <a:lnSpc>
                    <a:spcPct val="120000"/>
                  </a:lnSpc>
                  <a:spcAft>
                    <a:spcPts val="300"/>
                  </a:spcAft>
                </a:pPr>
                <a:r>
                  <a:rPr lang="en-GB" sz="2000" noProof="1">
                    <a:latin typeface="Verdana" panose="020B0604030504040204" pitchFamily="34" charset="0"/>
                    <a:ea typeface="Verdana" panose="020B0604030504040204" pitchFamily="34" charset="0"/>
                  </a:rPr>
                  <a:t>	</a:t>
                </a:r>
                <a:r>
                  <a:rPr lang="en-GB" sz="2200" noProof="1">
                    <a:latin typeface="Verdana" panose="020B0604030504040204" pitchFamily="34" charset="0"/>
                    <a:ea typeface="Verdana" panose="020B0604030504040204" pitchFamily="34" charset="0"/>
                  </a:rPr>
                  <a:t> </a:t>
                </a:r>
                <a14:m>
                  <m:oMath xmlns:m="http://schemas.openxmlformats.org/officeDocument/2006/math">
                    <m:sSub>
                      <m:sSubPr>
                        <m:ctrlPr>
                          <a:rPr lang="en-GB" sz="2600" i="1" noProof="1" smtClean="0">
                            <a:latin typeface="Cambria Math" panose="02040503050406030204" pitchFamily="18" charset="0"/>
                            <a:ea typeface="Verdana" panose="020B0604030504040204" pitchFamily="34" charset="0"/>
                          </a:rPr>
                        </m:ctrlPr>
                      </m:sSubPr>
                      <m:e>
                        <m:r>
                          <a:rPr lang="en-GB" sz="2600" i="1" noProof="1" smtClean="0">
                            <a:latin typeface="Cambria Math" panose="02040503050406030204" pitchFamily="18" charset="0"/>
                            <a:ea typeface="Verdana" panose="020B0604030504040204" pitchFamily="34" charset="0"/>
                          </a:rPr>
                          <m:t>𝑃</m:t>
                        </m:r>
                        <m:r>
                          <a:rPr lang="en-GB" sz="2600" i="1" noProof="1" smtClean="0">
                            <a:latin typeface="Cambria Math" panose="02040503050406030204" pitchFamily="18" charset="0"/>
                            <a:ea typeface="Verdana" panose="020B0604030504040204" pitchFamily="34" charset="0"/>
                          </a:rPr>
                          <m:t>(</m:t>
                        </m:r>
                        <m:r>
                          <a:rPr lang="en-GB" sz="2600" i="1" noProof="1" smtClean="0">
                            <a:latin typeface="Cambria Math" panose="02040503050406030204" pitchFamily="18" charset="0"/>
                            <a:ea typeface="Verdana" panose="020B0604030504040204" pitchFamily="34" charset="0"/>
                          </a:rPr>
                          <m:t>𝑆</m:t>
                        </m:r>
                      </m:e>
                      <m:sub>
                        <m:r>
                          <a:rPr lang="en-GB" sz="2600" i="1" noProof="1" smtClean="0">
                            <a:latin typeface="Cambria Math" panose="02040503050406030204" pitchFamily="18" charset="0"/>
                            <a:ea typeface="Verdana" panose="020B0604030504040204" pitchFamily="34" charset="0"/>
                          </a:rPr>
                          <m:t>𝑖</m:t>
                        </m:r>
                        <m:r>
                          <a:rPr lang="en-GB" sz="2600" i="1" noProof="1" smtClean="0">
                            <a:latin typeface="Cambria Math" panose="02040503050406030204" pitchFamily="18" charset="0"/>
                            <a:ea typeface="Verdana" panose="020B0604030504040204" pitchFamily="34" charset="0"/>
                          </a:rPr>
                          <m:t>,</m:t>
                        </m:r>
                        <m:r>
                          <a:rPr lang="en-GB" sz="2600" i="1" noProof="1" smtClean="0">
                            <a:latin typeface="Cambria Math" panose="02040503050406030204" pitchFamily="18" charset="0"/>
                            <a:ea typeface="Verdana" panose="020B0604030504040204" pitchFamily="34" charset="0"/>
                          </a:rPr>
                          <m:t>𝑡</m:t>
                        </m:r>
                      </m:sub>
                    </m:sSub>
                    <m:r>
                      <a:rPr lang="en-GB" sz="2600" i="1" noProof="1" smtClean="0">
                        <a:latin typeface="Cambria Math" panose="02040503050406030204" pitchFamily="18" charset="0"/>
                        <a:ea typeface="Verdana" panose="020B0604030504040204" pitchFamily="34" charset="0"/>
                      </a:rPr>
                      <m:t>=1| </m:t>
                    </m:r>
                    <m:r>
                      <a:rPr lang="en-GB" sz="2600" i="1" noProof="1" smtClean="0">
                        <a:latin typeface="Cambria Math" panose="02040503050406030204" pitchFamily="18" charset="0"/>
                        <a:ea typeface="Verdana" panose="020B0604030504040204" pitchFamily="34" charset="0"/>
                      </a:rPr>
                      <m:t>𝑋</m:t>
                    </m:r>
                    <m:r>
                      <a:rPr lang="en-GB" sz="2600" i="1" noProof="1" smtClean="0">
                        <a:latin typeface="Cambria Math" panose="02040503050406030204" pitchFamily="18" charset="0"/>
                        <a:ea typeface="Verdana" panose="020B0604030504040204" pitchFamily="34" charset="0"/>
                      </a:rPr>
                      <m:t>, </m:t>
                    </m:r>
                    <m:r>
                      <a:rPr lang="en-GB" sz="2600" i="1" noProof="1" smtClean="0">
                        <a:latin typeface="Cambria Math" panose="02040503050406030204" pitchFamily="18" charset="0"/>
                        <a:ea typeface="Verdana" panose="020B0604030504040204" pitchFamily="34" charset="0"/>
                      </a:rPr>
                      <m:t>𝑍</m:t>
                    </m:r>
                    <m:r>
                      <a:rPr lang="en-GB" sz="2600" i="1" noProof="1" smtClean="0">
                        <a:latin typeface="Cambria Math" panose="02040503050406030204" pitchFamily="18" charset="0"/>
                        <a:ea typeface="Verdana" panose="020B0604030504040204" pitchFamily="34" charset="0"/>
                      </a:rPr>
                      <m:t>,</m:t>
                    </m:r>
                    <m:sSup>
                      <m:sSupPr>
                        <m:ctrlPr>
                          <a:rPr lang="en-GB" sz="2600" b="0" i="1" noProof="1" smtClean="0">
                            <a:latin typeface="Cambria Math" panose="02040503050406030204" pitchFamily="18" charset="0"/>
                            <a:ea typeface="Verdana" panose="020B0604030504040204" pitchFamily="34" charset="0"/>
                          </a:rPr>
                        </m:ctrlPr>
                      </m:sSupPr>
                      <m:e>
                        <m:r>
                          <a:rPr lang="en-GB" sz="2600" b="0" i="1" noProof="1" smtClean="0">
                            <a:latin typeface="Cambria Math" panose="02040503050406030204" pitchFamily="18" charset="0"/>
                            <a:ea typeface="Verdana" panose="020B0604030504040204" pitchFamily="34" charset="0"/>
                          </a:rPr>
                          <m:t>𝑌</m:t>
                        </m:r>
                      </m:e>
                      <m:sup>
                        <m:r>
                          <a:rPr lang="en-GB" sz="2600" b="0" i="1" noProof="1" smtClean="0">
                            <a:latin typeface="Cambria Math" panose="02040503050406030204" pitchFamily="18" charset="0"/>
                            <a:ea typeface="Verdana" panose="020B0604030504040204" pitchFamily="34" charset="0"/>
                          </a:rPr>
                          <m:t>ℎ𝑖𝑔ℎ</m:t>
                        </m:r>
                      </m:sup>
                    </m:sSup>
                    <m:r>
                      <a:rPr lang="en-GB" sz="2600" b="0" i="1" noProof="1" smtClean="0">
                        <a:latin typeface="Cambria Math" panose="02040503050406030204" pitchFamily="18" charset="0"/>
                        <a:ea typeface="Verdana" panose="020B0604030504040204" pitchFamily="34" charset="0"/>
                      </a:rPr>
                      <m:t>,</m:t>
                    </m:r>
                    <m:sSub>
                      <m:sSubPr>
                        <m:ctrlPr>
                          <a:rPr lang="en-GB" sz="2600" i="1" noProof="1">
                            <a:latin typeface="Cambria Math" panose="02040503050406030204" pitchFamily="18" charset="0"/>
                            <a:ea typeface="Cambria Math" panose="02040503050406030204" pitchFamily="18" charset="0"/>
                          </a:rPr>
                        </m:ctrlPr>
                      </m:sSubPr>
                      <m:e>
                        <m:r>
                          <a:rPr lang="en-GB" sz="2600" i="1" noProof="1">
                            <a:latin typeface="Cambria Math" panose="02040503050406030204" pitchFamily="18" charset="0"/>
                            <a:ea typeface="Cambria Math" panose="02040503050406030204" pitchFamily="18" charset="0"/>
                          </a:rPr>
                          <m:t>𝛼</m:t>
                        </m:r>
                      </m:e>
                      <m:sub>
                        <m:r>
                          <a:rPr lang="en-GB" sz="2600" i="1" noProof="1" smtClean="0">
                            <a:latin typeface="Cambria Math" panose="02040503050406030204" pitchFamily="18" charset="0"/>
                            <a:ea typeface="Verdana" panose="020B0604030504040204" pitchFamily="34" charset="0"/>
                          </a:rPr>
                          <m:t>𝑖</m:t>
                        </m:r>
                      </m:sub>
                    </m:sSub>
                    <m:r>
                      <a:rPr lang="en-GB" sz="2600" i="1" noProof="1" smtClean="0">
                        <a:latin typeface="Cambria Math" panose="02040503050406030204" pitchFamily="18" charset="0"/>
                        <a:ea typeface="Verdana" panose="020B0604030504040204" pitchFamily="34" charset="0"/>
                      </a:rPr>
                      <m:t>)=</m:t>
                    </m:r>
                  </m:oMath>
                </a14:m>
                <a:r>
                  <a:rPr lang="en-GB" sz="2600" i="1" noProof="1">
                    <a:latin typeface="Cambria Math" panose="02040503050406030204" pitchFamily="18" charset="0"/>
                    <a:ea typeface="Verdana" panose="020B0604030504040204" pitchFamily="34" charset="0"/>
                  </a:rPr>
                  <a:t>  ... </a:t>
                </a:r>
                <a14:m>
                  <m:oMath xmlns:m="http://schemas.openxmlformats.org/officeDocument/2006/math">
                    <m:r>
                      <a:rPr lang="en-GB" sz="2600" i="1" noProof="1" smtClean="0">
                        <a:latin typeface="Cambria Math" panose="02040503050406030204" pitchFamily="18" charset="0"/>
                        <a:ea typeface="Verdana" panose="020B0604030504040204" pitchFamily="34" charset="0"/>
                      </a:rPr>
                      <m:t>+ </m:t>
                    </m:r>
                    <m:sSubSup>
                      <m:sSubSupPr>
                        <m:ctrlPr>
                          <a:rPr lang="en-GB" sz="2600" i="1" noProof="1" smtClean="0">
                            <a:latin typeface="Cambria Math" panose="02040503050406030204" pitchFamily="18" charset="0"/>
                            <a:ea typeface="Verdana" panose="020B0604030504040204" pitchFamily="34" charset="0"/>
                          </a:rPr>
                        </m:ctrlPr>
                      </m:sSubSupPr>
                      <m:e>
                        <m:r>
                          <a:rPr lang="en-GB" sz="2600" i="1" noProof="1" smtClean="0">
                            <a:latin typeface="Cambria Math" panose="02040503050406030204" pitchFamily="18" charset="0"/>
                            <a:ea typeface="Verdana" panose="020B0604030504040204" pitchFamily="34" charset="0"/>
                          </a:rPr>
                          <m:t>𝛾</m:t>
                        </m:r>
                      </m:e>
                      <m:sub>
                        <m:r>
                          <a:rPr lang="en-GB" sz="2600" i="1" noProof="1" smtClean="0">
                            <a:latin typeface="Cambria Math" panose="02040503050406030204" pitchFamily="18" charset="0"/>
                            <a:ea typeface="Verdana" panose="020B0604030504040204" pitchFamily="34" charset="0"/>
                          </a:rPr>
                          <m:t>𝑤</m:t>
                        </m:r>
                      </m:sub>
                      <m:sup>
                        <m:r>
                          <a:rPr lang="en-GB" sz="2600" i="1" noProof="1" smtClean="0">
                            <a:latin typeface="Cambria Math" panose="02040503050406030204" pitchFamily="18" charset="0"/>
                            <a:ea typeface="Verdana" panose="020B0604030504040204" pitchFamily="34" charset="0"/>
                          </a:rPr>
                          <m:t>′</m:t>
                        </m:r>
                      </m:sup>
                    </m:sSubSup>
                    <m:sSubSup>
                      <m:sSubSupPr>
                        <m:ctrlPr>
                          <a:rPr lang="en-GB" sz="2600" b="0" i="1" noProof="1" smtClean="0">
                            <a:latin typeface="Cambria Math" panose="02040503050406030204" pitchFamily="18" charset="0"/>
                            <a:ea typeface="Verdana" panose="020B0604030504040204" pitchFamily="34" charset="0"/>
                          </a:rPr>
                        </m:ctrlPr>
                      </m:sSubSupPr>
                      <m:e>
                        <m:r>
                          <a:rPr lang="en-GB" sz="2600" b="0" i="1" noProof="1" smtClean="0">
                            <a:latin typeface="Cambria Math" panose="02040503050406030204" pitchFamily="18" charset="0"/>
                            <a:ea typeface="Verdana" panose="020B0604030504040204" pitchFamily="34" charset="0"/>
                          </a:rPr>
                          <m:t> </m:t>
                        </m:r>
                        <m:r>
                          <a:rPr lang="en-GB" sz="2600" b="0" i="1" noProof="1" smtClean="0">
                            <a:latin typeface="Cambria Math" panose="02040503050406030204" pitchFamily="18" charset="0"/>
                            <a:ea typeface="Verdana" panose="020B0604030504040204" pitchFamily="34" charset="0"/>
                          </a:rPr>
                          <m:t>𝑌</m:t>
                        </m:r>
                      </m:e>
                      <m:sub>
                        <m:r>
                          <a:rPr lang="en-GB" sz="2600" i="1" noProof="1" smtClean="0">
                            <a:latin typeface="Cambria Math" panose="02040503050406030204" pitchFamily="18" charset="0"/>
                            <a:ea typeface="Verdana" panose="020B0604030504040204" pitchFamily="34" charset="0"/>
                          </a:rPr>
                          <m:t>𝑖</m:t>
                        </m:r>
                        <m:r>
                          <a:rPr lang="en-GB" sz="2600" i="1" noProof="1" smtClean="0">
                            <a:latin typeface="Cambria Math" panose="02040503050406030204" pitchFamily="18" charset="0"/>
                            <a:ea typeface="Verdana" panose="020B0604030504040204" pitchFamily="34" charset="0"/>
                          </a:rPr>
                          <m:t>,</m:t>
                        </m:r>
                        <m:r>
                          <a:rPr lang="en-GB" sz="2600" i="1" noProof="1" smtClean="0">
                            <a:latin typeface="Cambria Math" panose="02040503050406030204" pitchFamily="18" charset="0"/>
                            <a:ea typeface="Verdana" panose="020B0604030504040204" pitchFamily="34" charset="0"/>
                          </a:rPr>
                          <m:t>𝑡</m:t>
                        </m:r>
                        <m:r>
                          <a:rPr lang="en-GB" sz="2600" i="1" noProof="1" smtClean="0">
                            <a:latin typeface="Cambria Math" panose="02040503050406030204" pitchFamily="18" charset="0"/>
                            <a:ea typeface="Verdana" panose="020B0604030504040204" pitchFamily="34" charset="0"/>
                          </a:rPr>
                          <m:t>−1</m:t>
                        </m:r>
                      </m:sub>
                      <m:sup>
                        <m:r>
                          <a:rPr lang="en-GB" sz="2600" b="0" i="1" noProof="1" smtClean="0">
                            <a:latin typeface="Cambria Math" panose="02040503050406030204" pitchFamily="18" charset="0"/>
                            <a:ea typeface="Verdana" panose="020B0604030504040204" pitchFamily="34" charset="0"/>
                          </a:rPr>
                          <m:t>𝑤</m:t>
                        </m:r>
                        <m:r>
                          <a:rPr lang="en-GB" sz="2600" b="0" i="1" noProof="1" smtClean="0">
                            <a:latin typeface="Cambria Math" panose="02040503050406030204" pitchFamily="18" charset="0"/>
                            <a:ea typeface="Verdana" panose="020B0604030504040204" pitchFamily="34" charset="0"/>
                          </a:rPr>
                          <m:t>,  </m:t>
                        </m:r>
                        <m:r>
                          <a:rPr lang="en-GB" sz="2600" i="1" noProof="1" smtClean="0">
                            <a:latin typeface="Cambria Math" panose="02040503050406030204" pitchFamily="18" charset="0"/>
                            <a:ea typeface="Verdana" panose="020B0604030504040204" pitchFamily="34" charset="0"/>
                          </a:rPr>
                          <m:t>ℎ𝑖𝑔ℎ</m:t>
                        </m:r>
                      </m:sup>
                    </m:sSubSup>
                    <m:r>
                      <a:rPr lang="en-GB" sz="2600" i="1" noProof="1" smtClean="0">
                        <a:latin typeface="Cambria Math" panose="02040503050406030204" pitchFamily="18" charset="0"/>
                        <a:ea typeface="Verdana" panose="020B0604030504040204" pitchFamily="34" charset="0"/>
                      </a:rPr>
                      <m:t>+</m:t>
                    </m:r>
                    <m:r>
                      <a:rPr lang="en-GB" sz="2600" b="0" i="1" noProof="1" smtClean="0">
                        <a:latin typeface="Cambria Math" panose="02040503050406030204" pitchFamily="18" charset="0"/>
                        <a:ea typeface="Verdana" panose="020B0604030504040204" pitchFamily="34" charset="0"/>
                      </a:rPr>
                      <m:t> </m:t>
                    </m:r>
                    <m:sSubSup>
                      <m:sSubSupPr>
                        <m:ctrlPr>
                          <a:rPr lang="en-GB" sz="2600" i="1" noProof="1" smtClean="0">
                            <a:latin typeface="Cambria Math" panose="02040503050406030204" pitchFamily="18" charset="0"/>
                            <a:ea typeface="Verdana" panose="020B0604030504040204" pitchFamily="34" charset="0"/>
                          </a:rPr>
                        </m:ctrlPr>
                      </m:sSubSupPr>
                      <m:e>
                        <m:r>
                          <a:rPr lang="en-GB" sz="2600" i="1" noProof="1" smtClean="0">
                            <a:latin typeface="Cambria Math" panose="02040503050406030204" pitchFamily="18" charset="0"/>
                            <a:ea typeface="Verdana" panose="020B0604030504040204" pitchFamily="34" charset="0"/>
                          </a:rPr>
                          <m:t>𝛾</m:t>
                        </m:r>
                      </m:e>
                      <m:sub>
                        <m:r>
                          <a:rPr lang="en-GB" sz="2600" b="0" i="1" noProof="1" smtClean="0">
                            <a:latin typeface="Cambria Math" panose="02040503050406030204" pitchFamily="18" charset="0"/>
                            <a:ea typeface="Verdana" panose="020B0604030504040204" pitchFamily="34" charset="0"/>
                          </a:rPr>
                          <m:t>𝐵</m:t>
                        </m:r>
                      </m:sub>
                      <m:sup>
                        <m:r>
                          <a:rPr lang="en-GB" sz="2600" i="1" noProof="1" smtClean="0">
                            <a:latin typeface="Cambria Math" panose="02040503050406030204" pitchFamily="18" charset="0"/>
                            <a:ea typeface="Verdana" panose="020B0604030504040204" pitchFamily="34" charset="0"/>
                          </a:rPr>
                          <m:t>′</m:t>
                        </m:r>
                      </m:sup>
                    </m:sSubSup>
                    <m:sSubSup>
                      <m:sSubSupPr>
                        <m:ctrlPr>
                          <a:rPr lang="en-GB" sz="2600" i="1" noProof="1" smtClean="0">
                            <a:latin typeface="Cambria Math" panose="02040503050406030204" pitchFamily="18" charset="0"/>
                            <a:ea typeface="Verdana" panose="020B0604030504040204" pitchFamily="34" charset="0"/>
                          </a:rPr>
                        </m:ctrlPr>
                      </m:sSubSupPr>
                      <m:e>
                        <m:r>
                          <a:rPr lang="en-GB" sz="2600" i="1" noProof="1" smtClean="0">
                            <a:latin typeface="Cambria Math" panose="02040503050406030204" pitchFamily="18" charset="0"/>
                            <a:ea typeface="Verdana" panose="020B0604030504040204" pitchFamily="34" charset="0"/>
                          </a:rPr>
                          <m:t> </m:t>
                        </m:r>
                        <m:r>
                          <a:rPr lang="en-GB" sz="2600" i="1" noProof="1" smtClean="0">
                            <a:latin typeface="Cambria Math" panose="02040503050406030204" pitchFamily="18" charset="0"/>
                            <a:ea typeface="Verdana" panose="020B0604030504040204" pitchFamily="34" charset="0"/>
                          </a:rPr>
                          <m:t>𝑌</m:t>
                        </m:r>
                      </m:e>
                      <m:sub>
                        <m:r>
                          <a:rPr lang="en-GB" sz="2600" i="1" noProof="1" smtClean="0">
                            <a:latin typeface="Cambria Math" panose="02040503050406030204" pitchFamily="18" charset="0"/>
                            <a:ea typeface="Verdana" panose="020B0604030504040204" pitchFamily="34" charset="0"/>
                          </a:rPr>
                          <m:t>𝑖</m:t>
                        </m:r>
                        <m:r>
                          <a:rPr lang="en-GB" sz="2600" i="1" noProof="1" smtClean="0">
                            <a:latin typeface="Cambria Math" panose="02040503050406030204" pitchFamily="18" charset="0"/>
                            <a:ea typeface="Verdana" panose="020B0604030504040204" pitchFamily="34" charset="0"/>
                          </a:rPr>
                          <m:t>,</m:t>
                        </m:r>
                        <m:r>
                          <a:rPr lang="en-GB" sz="2600" i="1" noProof="1" smtClean="0">
                            <a:latin typeface="Cambria Math" panose="02040503050406030204" pitchFamily="18" charset="0"/>
                            <a:ea typeface="Verdana" panose="020B0604030504040204" pitchFamily="34" charset="0"/>
                          </a:rPr>
                          <m:t>𝑡</m:t>
                        </m:r>
                        <m:r>
                          <a:rPr lang="en-GB" sz="2600" i="1" noProof="1" smtClean="0">
                            <a:latin typeface="Cambria Math" panose="02040503050406030204" pitchFamily="18" charset="0"/>
                            <a:ea typeface="Verdana" panose="020B0604030504040204" pitchFamily="34" charset="0"/>
                          </a:rPr>
                          <m:t>−1</m:t>
                        </m:r>
                      </m:sub>
                      <m:sup>
                        <m:r>
                          <a:rPr lang="en-GB" sz="2600" b="0" i="1" noProof="1" smtClean="0">
                            <a:latin typeface="Cambria Math" panose="02040503050406030204" pitchFamily="18" charset="0"/>
                            <a:ea typeface="Verdana" panose="020B0604030504040204" pitchFamily="34" charset="0"/>
                          </a:rPr>
                          <m:t>𝐵</m:t>
                        </m:r>
                        <m:r>
                          <a:rPr lang="en-GB" sz="2600" i="1" noProof="1" smtClean="0">
                            <a:latin typeface="Cambria Math" panose="02040503050406030204" pitchFamily="18" charset="0"/>
                            <a:ea typeface="Verdana" panose="020B0604030504040204" pitchFamily="34" charset="0"/>
                          </a:rPr>
                          <m:t>,  </m:t>
                        </m:r>
                        <m:r>
                          <a:rPr lang="en-GB" sz="2600" i="1" noProof="1" smtClean="0">
                            <a:latin typeface="Cambria Math" panose="02040503050406030204" pitchFamily="18" charset="0"/>
                            <a:ea typeface="Verdana" panose="020B0604030504040204" pitchFamily="34" charset="0"/>
                          </a:rPr>
                          <m:t>ℎ𝑖𝑔ℎ</m:t>
                        </m:r>
                      </m:sup>
                    </m:sSubSup>
                  </m:oMath>
                </a14:m>
                <a:r>
                  <a:rPr lang="en-GB" sz="2600" i="1" noProof="1">
                    <a:latin typeface="Cambria Math" panose="02040503050406030204" pitchFamily="18" charset="0"/>
                    <a:ea typeface="Verdana" panose="020B0604030504040204" pitchFamily="34" charset="0"/>
                  </a:rPr>
                  <a:t>…</a:t>
                </a:r>
              </a:p>
              <a:p>
                <a:pPr>
                  <a:lnSpc>
                    <a:spcPct val="120000"/>
                  </a:lnSpc>
                  <a:spcAft>
                    <a:spcPts val="300"/>
                  </a:spcAft>
                </a:pPr>
                <a:endParaRPr lang="en-GB" sz="2200" noProof="1">
                  <a:solidFill>
                    <a:schemeClr val="tx1"/>
                  </a:solidFill>
                  <a:latin typeface="Verdana" panose="020B0604030504040204" pitchFamily="34" charset="0"/>
                  <a:ea typeface="Verdana" panose="020B0604030504040204" pitchFamily="34" charset="0"/>
                </a:endParaRPr>
              </a:p>
              <a:p>
                <a:pPr>
                  <a:lnSpc>
                    <a:spcPct val="120000"/>
                  </a:lnSpc>
                  <a:spcAft>
                    <a:spcPts val="1200"/>
                  </a:spcAft>
                </a:pPr>
                <a14:m>
                  <m:oMath xmlns:m="http://schemas.openxmlformats.org/officeDocument/2006/math">
                    <m:sSub>
                      <m:sSubPr>
                        <m:ctrlPr>
                          <a:rPr lang="en-GB" sz="1900" b="0" i="1" noProof="1" smtClean="0">
                            <a:solidFill>
                              <a:schemeClr val="tx1"/>
                            </a:solidFill>
                            <a:latin typeface="Cambria Math" panose="02040503050406030204" pitchFamily="18" charset="0"/>
                            <a:ea typeface="Verdana" panose="020B0604030504040204" pitchFamily="34" charset="0"/>
                          </a:rPr>
                        </m:ctrlPr>
                      </m:sSubPr>
                      <m:e>
                        <m:r>
                          <a:rPr lang="en-GB" sz="1900" b="0" i="1" noProof="1" smtClean="0">
                            <a:solidFill>
                              <a:schemeClr val="tx1"/>
                            </a:solidFill>
                            <a:latin typeface="Cambria Math" panose="02040503050406030204" pitchFamily="18" charset="0"/>
                            <a:ea typeface="Verdana" panose="020B0604030504040204" pitchFamily="34" charset="0"/>
                          </a:rPr>
                          <m:t>𝑆</m:t>
                        </m:r>
                      </m:e>
                      <m:sub>
                        <m:r>
                          <a:rPr lang="en-GB" sz="1900" i="1" noProof="1" smtClean="0">
                            <a:solidFill>
                              <a:schemeClr val="tx1"/>
                            </a:solidFill>
                            <a:latin typeface="Cambria Math" panose="02040503050406030204" pitchFamily="18" charset="0"/>
                            <a:ea typeface="Verdana" panose="020B0604030504040204" pitchFamily="34" charset="0"/>
                          </a:rPr>
                          <m:t>𝑖</m:t>
                        </m:r>
                        <m:r>
                          <a:rPr lang="en-GB" sz="1900" i="1" noProof="1" smtClean="0">
                            <a:solidFill>
                              <a:schemeClr val="tx1"/>
                            </a:solidFill>
                            <a:latin typeface="Cambria Math" panose="02040503050406030204" pitchFamily="18" charset="0"/>
                            <a:ea typeface="Verdana" panose="020B0604030504040204" pitchFamily="34" charset="0"/>
                          </a:rPr>
                          <m:t>,</m:t>
                        </m:r>
                        <m:r>
                          <a:rPr lang="en-GB" sz="1900" i="1" noProof="1" smtClean="0">
                            <a:solidFill>
                              <a:schemeClr val="tx1"/>
                            </a:solidFill>
                            <a:latin typeface="Cambria Math" panose="02040503050406030204" pitchFamily="18" charset="0"/>
                            <a:ea typeface="Verdana" panose="020B0604030504040204" pitchFamily="34" charset="0"/>
                          </a:rPr>
                          <m:t>𝑡</m:t>
                        </m:r>
                      </m:sub>
                    </m:sSub>
                    <m:r>
                      <a:rPr lang="en-GB" sz="1900" b="0" i="1" noProof="1" smtClean="0">
                        <a:solidFill>
                          <a:schemeClr val="tx1"/>
                        </a:solidFill>
                        <a:latin typeface="Cambria Math" panose="02040503050406030204" pitchFamily="18" charset="0"/>
                        <a:ea typeface="Verdana" panose="020B0604030504040204" pitchFamily="34" charset="0"/>
                      </a:rPr>
                      <m:t>=1 </m:t>
                    </m:r>
                    <m:r>
                      <a:rPr lang="en-GB" sz="1900" b="0" i="0" noProof="1" smtClean="0">
                        <a:solidFill>
                          <a:schemeClr val="tx1"/>
                        </a:solidFill>
                        <a:latin typeface="Cambria Math" panose="02040503050406030204" pitchFamily="18" charset="0"/>
                        <a:ea typeface="Verdana" panose="020B0604030504040204" pitchFamily="34" charset="0"/>
                      </a:rPr>
                      <m:t> </m:t>
                    </m:r>
                  </m:oMath>
                </a14:m>
                <a:r>
                  <a:rPr lang="en-GB" sz="1900" dirty="0">
                    <a:solidFill>
                      <a:schemeClr val="tx1"/>
                    </a:solidFill>
                  </a:rPr>
                  <a:t>if growth surprise &gt;0 (otherwise 0)</a:t>
                </a:r>
                <a:r>
                  <a:rPr lang="en-GB" sz="1900" dirty="0"/>
                  <a:t>; </a:t>
                </a:r>
                <a14:m>
                  <m:oMath xmlns:m="http://schemas.openxmlformats.org/officeDocument/2006/math">
                    <m:sSub>
                      <m:sSubPr>
                        <m:ctrlPr>
                          <a:rPr lang="en-GB" sz="1900" i="1" noProof="1" smtClean="0">
                            <a:latin typeface="Cambria Math" panose="02040503050406030204" pitchFamily="18" charset="0"/>
                            <a:ea typeface="Verdana" panose="020B0604030504040204" pitchFamily="34" charset="0"/>
                          </a:rPr>
                        </m:ctrlPr>
                      </m:sSubPr>
                      <m:e>
                        <m:r>
                          <a:rPr lang="en-GB" sz="1900" i="1" noProof="1" smtClean="0">
                            <a:latin typeface="Cambria Math" panose="02040503050406030204" pitchFamily="18" charset="0"/>
                            <a:ea typeface="Verdana" panose="020B0604030504040204" pitchFamily="34" charset="0"/>
                          </a:rPr>
                          <m:t>𝑋</m:t>
                        </m:r>
                      </m:e>
                      <m:sub>
                        <m:r>
                          <a:rPr lang="en-GB" sz="1900" i="1" noProof="1" smtClean="0">
                            <a:latin typeface="Cambria Math" panose="02040503050406030204" pitchFamily="18" charset="0"/>
                            <a:ea typeface="Verdana" panose="020B0604030504040204" pitchFamily="34" charset="0"/>
                          </a:rPr>
                          <m:t>𝑖</m:t>
                        </m:r>
                        <m:r>
                          <a:rPr lang="en-GB" sz="1900" i="1" noProof="1" smtClean="0">
                            <a:latin typeface="Cambria Math" panose="02040503050406030204" pitchFamily="18" charset="0"/>
                            <a:ea typeface="Verdana" panose="020B0604030504040204" pitchFamily="34" charset="0"/>
                          </a:rPr>
                          <m:t>,</m:t>
                        </m:r>
                        <m:r>
                          <a:rPr lang="en-GB" sz="1900" i="1" noProof="1" smtClean="0">
                            <a:latin typeface="Cambria Math" panose="02040503050406030204" pitchFamily="18" charset="0"/>
                            <a:ea typeface="Verdana" panose="020B0604030504040204" pitchFamily="34" charset="0"/>
                          </a:rPr>
                          <m:t>𝑡</m:t>
                        </m:r>
                      </m:sub>
                    </m:sSub>
                  </m:oMath>
                </a14:m>
                <a:r>
                  <a:rPr lang="en-GB" sz="1900" dirty="0">
                    <a:solidFill>
                      <a:schemeClr val="tx1"/>
                    </a:solidFill>
                  </a:rPr>
                  <a:t> is ICT/AI-related variable</a:t>
                </a:r>
              </a:p>
              <a:p>
                <a:pPr>
                  <a:lnSpc>
                    <a:spcPct val="120000"/>
                  </a:lnSpc>
                  <a:spcAft>
                    <a:spcPts val="1200"/>
                  </a:spcAft>
                </a:pPr>
                <a14:m>
                  <m:oMath xmlns:m="http://schemas.openxmlformats.org/officeDocument/2006/math">
                    <m:sSub>
                      <m:sSubPr>
                        <m:ctrlPr>
                          <a:rPr lang="en-GB" sz="1900" i="1" noProof="1" smtClean="0">
                            <a:latin typeface="Cambria Math" panose="02040503050406030204" pitchFamily="18" charset="0"/>
                            <a:ea typeface="Cambria Math" panose="02040503050406030204" pitchFamily="18" charset="0"/>
                          </a:rPr>
                        </m:ctrlPr>
                      </m:sSubPr>
                      <m:e>
                        <m:r>
                          <a:rPr lang="en-GB" sz="1900" i="1" noProof="1" smtClean="0">
                            <a:latin typeface="Cambria Math" panose="02040503050406030204" pitchFamily="18" charset="0"/>
                            <a:ea typeface="Cambria Math" panose="02040503050406030204" pitchFamily="18" charset="0"/>
                          </a:rPr>
                          <m:t>𝛽</m:t>
                        </m:r>
                      </m:e>
                      <m:sub>
                        <m:r>
                          <a:rPr lang="en-GB" sz="1900" i="1" noProof="1" smtClean="0">
                            <a:latin typeface="Cambria Math" panose="02040503050406030204" pitchFamily="18" charset="0"/>
                            <a:ea typeface="Verdana" panose="020B0604030504040204" pitchFamily="34" charset="0"/>
                          </a:rPr>
                          <m:t>𝑤</m:t>
                        </m:r>
                      </m:sub>
                    </m:sSub>
                    <m:r>
                      <a:rPr lang="en-GB" sz="1900" i="1" noProof="1" smtClean="0">
                        <a:latin typeface="Cambria Math" panose="02040503050406030204" pitchFamily="18" charset="0"/>
                        <a:ea typeface="Verdana" panose="020B0604030504040204" pitchFamily="34" charset="0"/>
                      </a:rPr>
                      <m:t>=</m:t>
                    </m:r>
                  </m:oMath>
                </a14:m>
                <a:r>
                  <a:rPr lang="en-GB" sz="1900" noProof="1">
                    <a:ea typeface="Verdana" panose="020B0604030504040204" pitchFamily="34" charset="0"/>
                  </a:rPr>
                  <a:t> </a:t>
                </a:r>
                <a:r>
                  <a:rPr lang="en-GB" sz="1900" dirty="0"/>
                  <a:t>(within-country ICT/AI exposure coefficient); </a:t>
                </a:r>
                <a14:m>
                  <m:oMath xmlns:m="http://schemas.openxmlformats.org/officeDocument/2006/math">
                    <m:sSub>
                      <m:sSubPr>
                        <m:ctrlPr>
                          <a:rPr lang="en-GB" sz="1900" i="1" noProof="1" smtClean="0">
                            <a:latin typeface="Cambria Math" panose="02040503050406030204" pitchFamily="18" charset="0"/>
                            <a:ea typeface="Cambria Math" panose="02040503050406030204" pitchFamily="18" charset="0"/>
                          </a:rPr>
                        </m:ctrlPr>
                      </m:sSubPr>
                      <m:e>
                        <m:r>
                          <a:rPr lang="en-GB" sz="1900" i="1" noProof="1" smtClean="0">
                            <a:latin typeface="Cambria Math" panose="02040503050406030204" pitchFamily="18" charset="0"/>
                            <a:ea typeface="Cambria Math" panose="02040503050406030204" pitchFamily="18" charset="0"/>
                          </a:rPr>
                          <m:t>𝛽</m:t>
                        </m:r>
                      </m:e>
                      <m:sub>
                        <m:r>
                          <a:rPr lang="en-GB" sz="1900" i="1" noProof="1" smtClean="0">
                            <a:latin typeface="Cambria Math" panose="02040503050406030204" pitchFamily="18" charset="0"/>
                            <a:ea typeface="Verdana" panose="020B0604030504040204" pitchFamily="34" charset="0"/>
                          </a:rPr>
                          <m:t>𝐵</m:t>
                        </m:r>
                      </m:sub>
                    </m:sSub>
                  </m:oMath>
                </a14:m>
                <a:r>
                  <a:rPr lang="en-GB" sz="1900" dirty="0"/>
                  <a:t> (between-country coefficient)</a:t>
                </a:r>
                <a:endParaRPr lang="en-GB" sz="1900" dirty="0">
                  <a:solidFill>
                    <a:schemeClr val="tx1"/>
                  </a:solidFill>
                </a:endParaRPr>
              </a:p>
              <a:p>
                <a:pPr>
                  <a:lnSpc>
                    <a:spcPct val="120000"/>
                  </a:lnSpc>
                  <a:spcAft>
                    <a:spcPts val="1200"/>
                  </a:spcAft>
                </a:pPr>
                <a14:m>
                  <m:oMath xmlns:m="http://schemas.openxmlformats.org/officeDocument/2006/math">
                    <m:sSubSup>
                      <m:sSubSupPr>
                        <m:ctrlPr>
                          <a:rPr lang="en-GB" sz="1900" i="1" noProof="1" smtClean="0">
                            <a:latin typeface="Cambria Math" panose="02040503050406030204" pitchFamily="18" charset="0"/>
                            <a:ea typeface="Verdana" panose="020B0604030504040204" pitchFamily="34" charset="0"/>
                          </a:rPr>
                        </m:ctrlPr>
                      </m:sSubSupPr>
                      <m:e>
                        <m:r>
                          <a:rPr lang="en-GB" sz="1900" i="1" noProof="1" smtClean="0">
                            <a:latin typeface="Cambria Math" panose="02040503050406030204" pitchFamily="18" charset="0"/>
                            <a:ea typeface="Verdana" panose="020B0604030504040204" pitchFamily="34" charset="0"/>
                          </a:rPr>
                          <m:t> </m:t>
                        </m:r>
                        <m:r>
                          <a:rPr lang="en-GB" sz="1900" i="1" noProof="1" smtClean="0">
                            <a:latin typeface="Cambria Math" panose="02040503050406030204" pitchFamily="18" charset="0"/>
                            <a:ea typeface="Verdana" panose="020B0604030504040204" pitchFamily="34" charset="0"/>
                          </a:rPr>
                          <m:t>𝑋</m:t>
                        </m:r>
                      </m:e>
                      <m:sub>
                        <m:r>
                          <a:rPr lang="en-GB" sz="1900" i="1" noProof="1" smtClean="0">
                            <a:latin typeface="Cambria Math" panose="02040503050406030204" pitchFamily="18" charset="0"/>
                            <a:ea typeface="Verdana" panose="020B0604030504040204" pitchFamily="34" charset="0"/>
                          </a:rPr>
                          <m:t>𝑖</m:t>
                        </m:r>
                        <m:r>
                          <a:rPr lang="en-GB" sz="1900" i="1" noProof="1" smtClean="0">
                            <a:latin typeface="Cambria Math" panose="02040503050406030204" pitchFamily="18" charset="0"/>
                            <a:ea typeface="Verdana" panose="020B0604030504040204" pitchFamily="34" charset="0"/>
                          </a:rPr>
                          <m:t>,</m:t>
                        </m:r>
                        <m:r>
                          <a:rPr lang="en-GB" sz="1900" i="1" noProof="1" smtClean="0">
                            <a:latin typeface="Cambria Math" panose="02040503050406030204" pitchFamily="18" charset="0"/>
                            <a:ea typeface="Verdana" panose="020B0604030504040204" pitchFamily="34" charset="0"/>
                          </a:rPr>
                          <m:t>𝑡</m:t>
                        </m:r>
                        <m:r>
                          <a:rPr lang="en-GB" sz="1900" i="1" noProof="1" smtClean="0">
                            <a:latin typeface="Cambria Math" panose="02040503050406030204" pitchFamily="18" charset="0"/>
                            <a:ea typeface="Verdana" panose="020B0604030504040204" pitchFamily="34" charset="0"/>
                          </a:rPr>
                          <m:t>−1</m:t>
                        </m:r>
                      </m:sub>
                      <m:sup>
                        <m:r>
                          <a:rPr lang="en-GB" sz="1900" i="1" noProof="1" smtClean="0">
                            <a:latin typeface="Cambria Math" panose="02040503050406030204" pitchFamily="18" charset="0"/>
                            <a:ea typeface="Verdana" panose="020B0604030504040204" pitchFamily="34" charset="0"/>
                          </a:rPr>
                          <m:t>𝑤</m:t>
                        </m:r>
                      </m:sup>
                    </m:sSubSup>
                    <m:r>
                      <a:rPr lang="en-GB" sz="1900" b="0" i="1" noProof="1" smtClean="0">
                        <a:latin typeface="Cambria Math" panose="02040503050406030204" pitchFamily="18" charset="0"/>
                        <a:ea typeface="Verdana" panose="020B0604030504040204" pitchFamily="34" charset="0"/>
                      </a:rPr>
                      <m:t>=</m:t>
                    </m:r>
                  </m:oMath>
                </a14:m>
                <a:r>
                  <a:rPr lang="en-GB" sz="1900" noProof="1">
                    <a:ea typeface="Verdana" panose="020B0604030504040204" pitchFamily="34" charset="0"/>
                  </a:rPr>
                  <a:t> </a:t>
                </a:r>
                <a14:m>
                  <m:oMath xmlns:m="http://schemas.openxmlformats.org/officeDocument/2006/math">
                    <m:sSub>
                      <m:sSubPr>
                        <m:ctrlPr>
                          <a:rPr lang="en-GB" sz="1900" i="1" noProof="1" smtClean="0">
                            <a:latin typeface="Cambria Math" panose="02040503050406030204" pitchFamily="18" charset="0"/>
                            <a:ea typeface="Verdana" panose="020B0604030504040204" pitchFamily="34" charset="0"/>
                          </a:rPr>
                        </m:ctrlPr>
                      </m:sSubPr>
                      <m:e>
                        <m:r>
                          <a:rPr lang="en-GB" sz="1900" i="1" noProof="1" smtClean="0">
                            <a:latin typeface="Cambria Math" panose="02040503050406030204" pitchFamily="18" charset="0"/>
                            <a:ea typeface="Verdana" panose="020B0604030504040204" pitchFamily="34" charset="0"/>
                          </a:rPr>
                          <m:t>𝑋</m:t>
                        </m:r>
                      </m:e>
                      <m:sub>
                        <m:r>
                          <a:rPr lang="en-GB" sz="1900" i="1" noProof="1" smtClean="0">
                            <a:latin typeface="Cambria Math" panose="02040503050406030204" pitchFamily="18" charset="0"/>
                            <a:ea typeface="Verdana" panose="020B0604030504040204" pitchFamily="34" charset="0"/>
                          </a:rPr>
                          <m:t>𝑖</m:t>
                        </m:r>
                        <m:r>
                          <a:rPr lang="en-GB" sz="1900" i="1" noProof="1" smtClean="0">
                            <a:latin typeface="Cambria Math" panose="02040503050406030204" pitchFamily="18" charset="0"/>
                            <a:ea typeface="Verdana" panose="020B0604030504040204" pitchFamily="34" charset="0"/>
                          </a:rPr>
                          <m:t>,</m:t>
                        </m:r>
                        <m:r>
                          <a:rPr lang="en-GB" sz="1900" i="1" noProof="1" smtClean="0">
                            <a:latin typeface="Cambria Math" panose="02040503050406030204" pitchFamily="18" charset="0"/>
                            <a:ea typeface="Verdana" panose="020B0604030504040204" pitchFamily="34" charset="0"/>
                          </a:rPr>
                          <m:t>𝑡</m:t>
                        </m:r>
                        <m:r>
                          <a:rPr lang="en-GB" sz="1900" b="0" i="1" noProof="1" smtClean="0">
                            <a:latin typeface="Cambria Math" panose="02040503050406030204" pitchFamily="18" charset="0"/>
                            <a:ea typeface="Verdana" panose="020B0604030504040204" pitchFamily="34" charset="0"/>
                          </a:rPr>
                          <m:t>−1</m:t>
                        </m:r>
                      </m:sub>
                    </m:sSub>
                    <m:r>
                      <a:rPr lang="en-GB" sz="1900" b="0" i="1" noProof="1" smtClean="0">
                        <a:latin typeface="Cambria Math" panose="02040503050406030204" pitchFamily="18" charset="0"/>
                        <a:ea typeface="Verdana" panose="020B0604030504040204" pitchFamily="34" charset="0"/>
                      </a:rPr>
                      <m:t>−</m:t>
                    </m:r>
                    <m:r>
                      <a:rPr lang="en-GB" sz="1900" i="1" noProof="1" smtClean="0">
                        <a:latin typeface="Cambria Math" panose="02040503050406030204" pitchFamily="18" charset="0"/>
                        <a:ea typeface="Verdana" panose="020B0604030504040204" pitchFamily="34" charset="0"/>
                      </a:rPr>
                      <m:t> </m:t>
                    </m:r>
                    <m:acc>
                      <m:accPr>
                        <m:chr m:val="̅"/>
                        <m:ctrlPr>
                          <a:rPr lang="en-GB" sz="1900" b="0" i="1" noProof="1" smtClean="0">
                            <a:latin typeface="Cambria Math" panose="02040503050406030204" pitchFamily="18" charset="0"/>
                            <a:ea typeface="Verdana" panose="020B0604030504040204" pitchFamily="34" charset="0"/>
                          </a:rPr>
                        </m:ctrlPr>
                      </m:accPr>
                      <m:e>
                        <m:sSub>
                          <m:sSubPr>
                            <m:ctrlPr>
                              <a:rPr lang="en-GB" sz="1900" b="0" i="1" noProof="1" smtClean="0">
                                <a:latin typeface="Cambria Math" panose="02040503050406030204" pitchFamily="18" charset="0"/>
                                <a:ea typeface="Verdana" panose="020B0604030504040204" pitchFamily="34" charset="0"/>
                              </a:rPr>
                            </m:ctrlPr>
                          </m:sSubPr>
                          <m:e>
                            <m:r>
                              <a:rPr lang="en-GB" sz="1900" b="0" i="1" noProof="1" smtClean="0">
                                <a:latin typeface="Cambria Math" panose="02040503050406030204" pitchFamily="18" charset="0"/>
                                <a:ea typeface="Verdana" panose="020B0604030504040204" pitchFamily="34" charset="0"/>
                              </a:rPr>
                              <m:t>𝑋</m:t>
                            </m:r>
                          </m:e>
                          <m:sub>
                            <m:r>
                              <a:rPr lang="en-GB" sz="1900" b="0" i="1" noProof="1" smtClean="0">
                                <a:latin typeface="Cambria Math" panose="02040503050406030204" pitchFamily="18" charset="0"/>
                                <a:ea typeface="Verdana" panose="020B0604030504040204" pitchFamily="34" charset="0"/>
                              </a:rPr>
                              <m:t>𝑖</m:t>
                            </m:r>
                          </m:sub>
                        </m:sSub>
                      </m:e>
                    </m:acc>
                    <m:r>
                      <a:rPr lang="en-GB" sz="1900" b="0" i="0" noProof="1" smtClean="0">
                        <a:latin typeface="Cambria Math" panose="02040503050406030204" pitchFamily="18" charset="0"/>
                        <a:ea typeface="Verdana" panose="020B0604030504040204" pitchFamily="34" charset="0"/>
                      </a:rPr>
                      <m:t> </m:t>
                    </m:r>
                  </m:oMath>
                </a14:m>
                <a:r>
                  <a:rPr lang="en-GB" sz="1900" dirty="0"/>
                  <a:t>(within-country change)</a:t>
                </a:r>
                <a:r>
                  <a:rPr lang="en-GB" sz="1900" dirty="0">
                    <a:solidFill>
                      <a:schemeClr val="tx1"/>
                    </a:solidFill>
                  </a:rPr>
                  <a:t>; </a:t>
                </a:r>
                <a14:m>
                  <m:oMath xmlns:m="http://schemas.openxmlformats.org/officeDocument/2006/math">
                    <m:sSubSup>
                      <m:sSubSupPr>
                        <m:ctrlPr>
                          <a:rPr lang="en-GB" sz="1900" b="0" i="1" noProof="1" smtClean="0">
                            <a:latin typeface="Cambria Math" panose="02040503050406030204" pitchFamily="18" charset="0"/>
                            <a:ea typeface="Verdana" panose="020B0604030504040204" pitchFamily="34" charset="0"/>
                          </a:rPr>
                        </m:ctrlPr>
                      </m:sSubSupPr>
                      <m:e>
                        <m:r>
                          <a:rPr lang="en-GB" sz="1900" b="0" i="1" noProof="1" smtClean="0">
                            <a:latin typeface="Cambria Math" panose="02040503050406030204" pitchFamily="18" charset="0"/>
                            <a:ea typeface="Verdana" panose="020B0604030504040204" pitchFamily="34" charset="0"/>
                          </a:rPr>
                          <m:t> </m:t>
                        </m:r>
                        <m:r>
                          <a:rPr lang="en-GB" sz="1900" i="1" noProof="1" smtClean="0">
                            <a:latin typeface="Cambria Math" panose="02040503050406030204" pitchFamily="18" charset="0"/>
                            <a:ea typeface="Verdana" panose="020B0604030504040204" pitchFamily="34" charset="0"/>
                          </a:rPr>
                          <m:t> </m:t>
                        </m:r>
                        <m:r>
                          <a:rPr lang="en-GB" sz="1900" i="1" noProof="1" smtClean="0">
                            <a:latin typeface="Cambria Math" panose="02040503050406030204" pitchFamily="18" charset="0"/>
                            <a:ea typeface="Verdana" panose="020B0604030504040204" pitchFamily="34" charset="0"/>
                          </a:rPr>
                          <m:t>𝑋</m:t>
                        </m:r>
                      </m:e>
                      <m:sub>
                        <m:r>
                          <a:rPr lang="en-GB" sz="1900" i="1" noProof="1" smtClean="0">
                            <a:latin typeface="Cambria Math" panose="02040503050406030204" pitchFamily="18" charset="0"/>
                            <a:ea typeface="Verdana" panose="020B0604030504040204" pitchFamily="34" charset="0"/>
                          </a:rPr>
                          <m:t>𝑖</m:t>
                        </m:r>
                      </m:sub>
                      <m:sup>
                        <m:r>
                          <a:rPr lang="en-GB" sz="1900" b="0" i="1" noProof="1" smtClean="0">
                            <a:latin typeface="Cambria Math" panose="02040503050406030204" pitchFamily="18" charset="0"/>
                            <a:ea typeface="Verdana" panose="020B0604030504040204" pitchFamily="34" charset="0"/>
                          </a:rPr>
                          <m:t>𝐵</m:t>
                        </m:r>
                      </m:sup>
                    </m:sSubSup>
                    <m:r>
                      <a:rPr lang="en-GB" sz="1900" i="1" noProof="1" smtClean="0">
                        <a:latin typeface="Cambria Math" panose="02040503050406030204" pitchFamily="18" charset="0"/>
                        <a:ea typeface="Verdana" panose="020B0604030504040204" pitchFamily="34" charset="0"/>
                      </a:rPr>
                      <m:t>=</m:t>
                    </m:r>
                  </m:oMath>
                </a14:m>
                <a:r>
                  <a:rPr lang="en-GB" sz="1900" noProof="1">
                    <a:ea typeface="Verdana" panose="020B0604030504040204" pitchFamily="34" charset="0"/>
                  </a:rPr>
                  <a:t> </a:t>
                </a:r>
                <a14:m>
                  <m:oMath xmlns:m="http://schemas.openxmlformats.org/officeDocument/2006/math">
                    <m:acc>
                      <m:accPr>
                        <m:chr m:val="̅"/>
                        <m:ctrlPr>
                          <a:rPr lang="en-GB" sz="1900" i="1" noProof="1" smtClean="0">
                            <a:latin typeface="Cambria Math" panose="02040503050406030204" pitchFamily="18" charset="0"/>
                            <a:ea typeface="Verdana" panose="020B0604030504040204" pitchFamily="34" charset="0"/>
                          </a:rPr>
                        </m:ctrlPr>
                      </m:accPr>
                      <m:e>
                        <m:sSub>
                          <m:sSubPr>
                            <m:ctrlPr>
                              <a:rPr lang="en-GB" sz="1900" i="1" noProof="1" smtClean="0">
                                <a:latin typeface="Cambria Math" panose="02040503050406030204" pitchFamily="18" charset="0"/>
                                <a:ea typeface="Verdana" panose="020B0604030504040204" pitchFamily="34" charset="0"/>
                              </a:rPr>
                            </m:ctrlPr>
                          </m:sSubPr>
                          <m:e>
                            <m:r>
                              <a:rPr lang="en-GB" sz="1900" i="1" noProof="1" smtClean="0">
                                <a:latin typeface="Cambria Math" panose="02040503050406030204" pitchFamily="18" charset="0"/>
                                <a:ea typeface="Verdana" panose="020B0604030504040204" pitchFamily="34" charset="0"/>
                              </a:rPr>
                              <m:t>𝑋</m:t>
                            </m:r>
                          </m:e>
                          <m:sub>
                            <m:r>
                              <a:rPr lang="en-GB" sz="1900" i="1" noProof="1" smtClean="0">
                                <a:latin typeface="Cambria Math" panose="02040503050406030204" pitchFamily="18" charset="0"/>
                                <a:ea typeface="Verdana" panose="020B0604030504040204" pitchFamily="34" charset="0"/>
                              </a:rPr>
                              <m:t>𝑖</m:t>
                            </m:r>
                          </m:sub>
                        </m:sSub>
                      </m:e>
                    </m:acc>
                  </m:oMath>
                </a14:m>
                <a:r>
                  <a:rPr lang="en-GB" sz="1900" dirty="0"/>
                  <a:t> (between-country differences)</a:t>
                </a:r>
              </a:p>
              <a:p>
                <a:pPr>
                  <a:lnSpc>
                    <a:spcPct val="120000"/>
                  </a:lnSpc>
                  <a:spcAft>
                    <a:spcPts val="1200"/>
                  </a:spcAft>
                </a:pPr>
                <a:r>
                  <a:rPr lang="en-GB" sz="1900" dirty="0"/>
                  <a:t>		</a:t>
                </a:r>
                <a14:m>
                  <m:oMath xmlns:m="http://schemas.openxmlformats.org/officeDocument/2006/math">
                    <m:sSub>
                      <m:sSubPr>
                        <m:ctrlPr>
                          <a:rPr lang="en-GB" sz="1900" b="0" i="1" noProof="1" smtClean="0">
                            <a:latin typeface="Cambria Math" panose="02040503050406030204" pitchFamily="18" charset="0"/>
                            <a:ea typeface="Verdana" panose="020B0604030504040204" pitchFamily="34" charset="0"/>
                          </a:rPr>
                        </m:ctrlPr>
                      </m:sSubPr>
                      <m:e>
                        <m:r>
                          <a:rPr lang="en-GB" sz="1900" b="0" i="1" noProof="1" smtClean="0">
                            <a:latin typeface="Cambria Math" panose="02040503050406030204" pitchFamily="18" charset="0"/>
                            <a:ea typeface="Verdana" panose="020B0604030504040204" pitchFamily="34" charset="0"/>
                          </a:rPr>
                          <m:t>𝑌</m:t>
                        </m:r>
                      </m:e>
                      <m:sub>
                        <m:r>
                          <a:rPr lang="en-GB" sz="1900" i="1" noProof="1" smtClean="0">
                            <a:latin typeface="Cambria Math" panose="02040503050406030204" pitchFamily="18" charset="0"/>
                            <a:ea typeface="Verdana" panose="020B0604030504040204" pitchFamily="34" charset="0"/>
                          </a:rPr>
                          <m:t>𝑖</m:t>
                        </m:r>
                        <m:r>
                          <a:rPr lang="en-GB" sz="1900" i="1" noProof="1" smtClean="0">
                            <a:latin typeface="Cambria Math" panose="02040503050406030204" pitchFamily="18" charset="0"/>
                            <a:ea typeface="Verdana" panose="020B0604030504040204" pitchFamily="34" charset="0"/>
                          </a:rPr>
                          <m:t>,</m:t>
                        </m:r>
                        <m:r>
                          <a:rPr lang="en-GB" sz="1900" i="1" noProof="1" smtClean="0">
                            <a:latin typeface="Cambria Math" panose="02040503050406030204" pitchFamily="18" charset="0"/>
                            <a:ea typeface="Verdana" panose="020B0604030504040204" pitchFamily="34" charset="0"/>
                          </a:rPr>
                          <m:t>𝑡</m:t>
                        </m:r>
                        <m:r>
                          <a:rPr lang="en-GB" sz="1900" i="1" noProof="1" smtClean="0">
                            <a:latin typeface="Cambria Math" panose="02040503050406030204" pitchFamily="18" charset="0"/>
                            <a:ea typeface="Verdana" panose="020B0604030504040204" pitchFamily="34" charset="0"/>
                          </a:rPr>
                          <m:t>−1</m:t>
                        </m:r>
                      </m:sub>
                    </m:sSub>
                    <m:r>
                      <a:rPr lang="en-GB" sz="1900" b="0" i="1" noProof="1" smtClean="0">
                        <a:latin typeface="Cambria Math" panose="02040503050406030204" pitchFamily="18" charset="0"/>
                        <a:ea typeface="Verdana" panose="020B0604030504040204" pitchFamily="34" charset="0"/>
                      </a:rPr>
                      <m:t>= </m:t>
                    </m:r>
                    <m:sSub>
                      <m:sSubPr>
                        <m:ctrlPr>
                          <a:rPr lang="en-GB" sz="1900" i="1" noProof="1" smtClean="0">
                            <a:latin typeface="Cambria Math" panose="02040503050406030204" pitchFamily="18" charset="0"/>
                            <a:ea typeface="Verdana" panose="020B0604030504040204" pitchFamily="34" charset="0"/>
                          </a:rPr>
                        </m:ctrlPr>
                      </m:sSubPr>
                      <m:e>
                        <m:r>
                          <a:rPr lang="en-GB" sz="1900" i="1" noProof="1" smtClean="0">
                            <a:latin typeface="Cambria Math" panose="02040503050406030204" pitchFamily="18" charset="0"/>
                            <a:ea typeface="Verdana" panose="020B0604030504040204" pitchFamily="34" charset="0"/>
                          </a:rPr>
                          <m:t>𝑋</m:t>
                        </m:r>
                      </m:e>
                      <m:sub>
                        <m:r>
                          <a:rPr lang="en-GB" sz="1900" i="1" noProof="1" smtClean="0">
                            <a:latin typeface="Cambria Math" panose="02040503050406030204" pitchFamily="18" charset="0"/>
                            <a:ea typeface="Verdana" panose="020B0604030504040204" pitchFamily="34" charset="0"/>
                          </a:rPr>
                          <m:t>𝑖</m:t>
                        </m:r>
                        <m:r>
                          <a:rPr lang="en-GB" sz="1900" i="1" noProof="1" smtClean="0">
                            <a:latin typeface="Cambria Math" panose="02040503050406030204" pitchFamily="18" charset="0"/>
                            <a:ea typeface="Verdana" panose="020B0604030504040204" pitchFamily="34" charset="0"/>
                          </a:rPr>
                          <m:t>,</m:t>
                        </m:r>
                        <m:r>
                          <a:rPr lang="en-GB" sz="1900" i="1" noProof="1" smtClean="0">
                            <a:latin typeface="Cambria Math" panose="02040503050406030204" pitchFamily="18" charset="0"/>
                            <a:ea typeface="Verdana" panose="020B0604030504040204" pitchFamily="34" charset="0"/>
                          </a:rPr>
                          <m:t>𝑡</m:t>
                        </m:r>
                        <m:r>
                          <a:rPr lang="en-GB" sz="1900" i="1" noProof="1" smtClean="0">
                            <a:latin typeface="Cambria Math" panose="02040503050406030204" pitchFamily="18" charset="0"/>
                            <a:ea typeface="Verdana" panose="020B0604030504040204" pitchFamily="34" charset="0"/>
                          </a:rPr>
                          <m:t>−1</m:t>
                        </m:r>
                      </m:sub>
                    </m:sSub>
                    <m:sSub>
                      <m:sSubPr>
                        <m:ctrlPr>
                          <a:rPr lang="en-GB" sz="1900" i="1" noProof="1" smtClean="0">
                            <a:latin typeface="Cambria Math" panose="02040503050406030204" pitchFamily="18" charset="0"/>
                            <a:ea typeface="Verdana" panose="020B0604030504040204" pitchFamily="34" charset="0"/>
                          </a:rPr>
                        </m:ctrlPr>
                      </m:sSubPr>
                      <m:e>
                        <m:r>
                          <a:rPr lang="en-GB" sz="1900" i="1" noProof="1" smtClean="0">
                            <a:latin typeface="Cambria Math" panose="02040503050406030204" pitchFamily="18" charset="0"/>
                            <a:ea typeface="Verdana" panose="020B0604030504040204" pitchFamily="34" charset="0"/>
                          </a:rPr>
                          <m:t>𝐷</m:t>
                        </m:r>
                      </m:e>
                      <m:sub>
                        <m:r>
                          <a:rPr lang="en-GB" sz="1900" i="1" noProof="1" smtClean="0">
                            <a:latin typeface="Cambria Math" panose="02040503050406030204" pitchFamily="18" charset="0"/>
                            <a:ea typeface="Verdana" panose="020B0604030504040204" pitchFamily="34" charset="0"/>
                          </a:rPr>
                          <m:t>𝑡</m:t>
                        </m:r>
                      </m:sub>
                    </m:sSub>
                  </m:oMath>
                </a14:m>
                <a:r>
                  <a:rPr lang="en-GB" sz="1900" noProof="1"/>
                  <a:t> ;    </a:t>
                </a:r>
                <a14:m>
                  <m:oMath xmlns:m="http://schemas.openxmlformats.org/officeDocument/2006/math">
                    <m:sSubSup>
                      <m:sSubSupPr>
                        <m:ctrlPr>
                          <a:rPr lang="en-GB" sz="1900" i="1" noProof="1" smtClean="0">
                            <a:latin typeface="Cambria Math" panose="02040503050406030204" pitchFamily="18" charset="0"/>
                            <a:ea typeface="Verdana" panose="020B0604030504040204" pitchFamily="34" charset="0"/>
                          </a:rPr>
                        </m:ctrlPr>
                      </m:sSubSupPr>
                      <m:e>
                        <m:r>
                          <a:rPr lang="en-GB" sz="1900" i="1" noProof="1" smtClean="0">
                            <a:latin typeface="Cambria Math" panose="02040503050406030204" pitchFamily="18" charset="0"/>
                            <a:ea typeface="Verdana" panose="020B0604030504040204" pitchFamily="34" charset="0"/>
                          </a:rPr>
                          <m:t> </m:t>
                        </m:r>
                        <m:r>
                          <a:rPr lang="en-GB" sz="1900" i="1" noProof="1" smtClean="0">
                            <a:latin typeface="Cambria Math" panose="02040503050406030204" pitchFamily="18" charset="0"/>
                            <a:ea typeface="Verdana" panose="020B0604030504040204" pitchFamily="34" charset="0"/>
                          </a:rPr>
                          <m:t>𝑌</m:t>
                        </m:r>
                      </m:e>
                      <m:sub>
                        <m:r>
                          <a:rPr lang="en-GB" sz="1900" i="1" noProof="1" smtClean="0">
                            <a:latin typeface="Cambria Math" panose="02040503050406030204" pitchFamily="18" charset="0"/>
                            <a:ea typeface="Verdana" panose="020B0604030504040204" pitchFamily="34" charset="0"/>
                          </a:rPr>
                          <m:t>𝑖</m:t>
                        </m:r>
                        <m:r>
                          <a:rPr lang="en-GB" sz="1900" i="1" noProof="1" smtClean="0">
                            <a:latin typeface="Cambria Math" panose="02040503050406030204" pitchFamily="18" charset="0"/>
                            <a:ea typeface="Verdana" panose="020B0604030504040204" pitchFamily="34" charset="0"/>
                          </a:rPr>
                          <m:t>,</m:t>
                        </m:r>
                        <m:r>
                          <a:rPr lang="en-GB" sz="1900" i="1" noProof="1" smtClean="0">
                            <a:latin typeface="Cambria Math" panose="02040503050406030204" pitchFamily="18" charset="0"/>
                            <a:ea typeface="Verdana" panose="020B0604030504040204" pitchFamily="34" charset="0"/>
                          </a:rPr>
                          <m:t>𝑡</m:t>
                        </m:r>
                        <m:r>
                          <a:rPr lang="en-GB" sz="1900" i="1" noProof="1" smtClean="0">
                            <a:latin typeface="Cambria Math" panose="02040503050406030204" pitchFamily="18" charset="0"/>
                            <a:ea typeface="Verdana" panose="020B0604030504040204" pitchFamily="34" charset="0"/>
                          </a:rPr>
                          <m:t>−1</m:t>
                        </m:r>
                      </m:sub>
                      <m:sup>
                        <m:r>
                          <a:rPr lang="en-GB" sz="1900" i="1" noProof="1" smtClean="0">
                            <a:latin typeface="Cambria Math" panose="02040503050406030204" pitchFamily="18" charset="0"/>
                            <a:ea typeface="Verdana" panose="020B0604030504040204" pitchFamily="34" charset="0"/>
                          </a:rPr>
                          <m:t>𝑤</m:t>
                        </m:r>
                      </m:sup>
                    </m:sSubSup>
                    <m:sSub>
                      <m:sSubPr>
                        <m:ctrlPr>
                          <a:rPr lang="en-GB" sz="1900" b="0" i="1" noProof="1" smtClean="0">
                            <a:latin typeface="Cambria Math" panose="02040503050406030204" pitchFamily="18" charset="0"/>
                            <a:ea typeface="Verdana" panose="020B0604030504040204" pitchFamily="34" charset="0"/>
                          </a:rPr>
                        </m:ctrlPr>
                      </m:sSubPr>
                      <m:e>
                        <m:r>
                          <a:rPr lang="en-GB" sz="1900" b="0" i="1" noProof="1" smtClean="0">
                            <a:latin typeface="Cambria Math" panose="02040503050406030204" pitchFamily="18" charset="0"/>
                            <a:ea typeface="Verdana" panose="020B0604030504040204" pitchFamily="34" charset="0"/>
                          </a:rPr>
                          <m:t>=</m:t>
                        </m:r>
                        <m:r>
                          <a:rPr lang="en-GB" sz="1900" b="0" i="1" noProof="1" smtClean="0">
                            <a:latin typeface="Cambria Math" panose="02040503050406030204" pitchFamily="18" charset="0"/>
                            <a:ea typeface="Verdana" panose="020B0604030504040204" pitchFamily="34" charset="0"/>
                          </a:rPr>
                          <m:t>𝑌</m:t>
                        </m:r>
                      </m:e>
                      <m:sub>
                        <m:r>
                          <a:rPr lang="en-GB" sz="1900" i="1" noProof="1" smtClean="0">
                            <a:latin typeface="Cambria Math" panose="02040503050406030204" pitchFamily="18" charset="0"/>
                            <a:ea typeface="Verdana" panose="020B0604030504040204" pitchFamily="34" charset="0"/>
                          </a:rPr>
                          <m:t>𝑖</m:t>
                        </m:r>
                        <m:r>
                          <a:rPr lang="en-GB" sz="1900" i="1" noProof="1" smtClean="0">
                            <a:latin typeface="Cambria Math" panose="02040503050406030204" pitchFamily="18" charset="0"/>
                            <a:ea typeface="Verdana" panose="020B0604030504040204" pitchFamily="34" charset="0"/>
                          </a:rPr>
                          <m:t>,</m:t>
                        </m:r>
                        <m:r>
                          <a:rPr lang="en-GB" sz="1900" i="1" noProof="1" smtClean="0">
                            <a:latin typeface="Cambria Math" panose="02040503050406030204" pitchFamily="18" charset="0"/>
                            <a:ea typeface="Verdana" panose="020B0604030504040204" pitchFamily="34" charset="0"/>
                          </a:rPr>
                          <m:t>𝑡</m:t>
                        </m:r>
                        <m:r>
                          <a:rPr lang="en-GB" sz="1900" i="1" noProof="1" smtClean="0">
                            <a:latin typeface="Cambria Math" panose="02040503050406030204" pitchFamily="18" charset="0"/>
                            <a:ea typeface="Verdana" panose="020B0604030504040204" pitchFamily="34" charset="0"/>
                          </a:rPr>
                          <m:t>−1</m:t>
                        </m:r>
                      </m:sub>
                    </m:sSub>
                    <m:r>
                      <a:rPr lang="en-GB" sz="1900" i="1" noProof="1" smtClean="0">
                        <a:latin typeface="Cambria Math" panose="02040503050406030204" pitchFamily="18" charset="0"/>
                        <a:ea typeface="Verdana" panose="020B0604030504040204" pitchFamily="34" charset="0"/>
                      </a:rPr>
                      <m:t>−</m:t>
                    </m:r>
                    <m:acc>
                      <m:accPr>
                        <m:chr m:val="̅"/>
                        <m:ctrlPr>
                          <a:rPr lang="en-GB" sz="1900" i="1" noProof="1" smtClean="0">
                            <a:latin typeface="Cambria Math" panose="02040503050406030204" pitchFamily="18" charset="0"/>
                            <a:ea typeface="Verdana" panose="020B0604030504040204" pitchFamily="34" charset="0"/>
                          </a:rPr>
                        </m:ctrlPr>
                      </m:accPr>
                      <m:e>
                        <m:sSub>
                          <m:sSubPr>
                            <m:ctrlPr>
                              <a:rPr lang="en-GB" sz="1900" i="1" noProof="1" smtClean="0">
                                <a:latin typeface="Cambria Math" panose="02040503050406030204" pitchFamily="18" charset="0"/>
                                <a:ea typeface="Verdana" panose="020B0604030504040204" pitchFamily="34" charset="0"/>
                              </a:rPr>
                            </m:ctrlPr>
                          </m:sSubPr>
                          <m:e>
                            <m:r>
                              <a:rPr lang="en-GB" sz="1900" i="1" noProof="1" smtClean="0">
                                <a:latin typeface="Cambria Math" panose="02040503050406030204" pitchFamily="18" charset="0"/>
                                <a:ea typeface="Verdana" panose="020B0604030504040204" pitchFamily="34" charset="0"/>
                              </a:rPr>
                              <m:t>𝑌</m:t>
                            </m:r>
                          </m:e>
                          <m:sub>
                            <m:r>
                              <a:rPr lang="en-GB" sz="1900" i="1" noProof="1" smtClean="0">
                                <a:latin typeface="Cambria Math" panose="02040503050406030204" pitchFamily="18" charset="0"/>
                                <a:ea typeface="Verdana" panose="020B0604030504040204" pitchFamily="34" charset="0"/>
                              </a:rPr>
                              <m:t>𝑖</m:t>
                            </m:r>
                          </m:sub>
                        </m:sSub>
                      </m:e>
                    </m:acc>
                  </m:oMath>
                </a14:m>
                <a:r>
                  <a:rPr lang="en-GB" sz="1900" noProof="1"/>
                  <a:t> ;  </a:t>
                </a:r>
                <a14:m>
                  <m:oMath xmlns:m="http://schemas.openxmlformats.org/officeDocument/2006/math">
                    <m:sSubSup>
                      <m:sSubSupPr>
                        <m:ctrlPr>
                          <a:rPr lang="en-GB" sz="1900" i="1" noProof="1" smtClean="0">
                            <a:latin typeface="Cambria Math" panose="02040503050406030204" pitchFamily="18" charset="0"/>
                            <a:ea typeface="Verdana" panose="020B0604030504040204" pitchFamily="34" charset="0"/>
                          </a:rPr>
                        </m:ctrlPr>
                      </m:sSubSupPr>
                      <m:e>
                        <m:r>
                          <a:rPr lang="en-GB" sz="1900" i="1" noProof="1" smtClean="0">
                            <a:latin typeface="Cambria Math" panose="02040503050406030204" pitchFamily="18" charset="0"/>
                            <a:ea typeface="Verdana" panose="020B0604030504040204" pitchFamily="34" charset="0"/>
                          </a:rPr>
                          <m:t>  </m:t>
                        </m:r>
                        <m:r>
                          <a:rPr lang="en-GB" sz="1900" b="0" i="1" noProof="1" smtClean="0">
                            <a:latin typeface="Cambria Math" panose="02040503050406030204" pitchFamily="18" charset="0"/>
                            <a:ea typeface="Verdana" panose="020B0604030504040204" pitchFamily="34" charset="0"/>
                          </a:rPr>
                          <m:t>𝑌</m:t>
                        </m:r>
                      </m:e>
                      <m:sub>
                        <m:r>
                          <a:rPr lang="en-GB" sz="1900" i="1" noProof="1" smtClean="0">
                            <a:latin typeface="Cambria Math" panose="02040503050406030204" pitchFamily="18" charset="0"/>
                            <a:ea typeface="Verdana" panose="020B0604030504040204" pitchFamily="34" charset="0"/>
                          </a:rPr>
                          <m:t>𝑖</m:t>
                        </m:r>
                      </m:sub>
                      <m:sup>
                        <m:r>
                          <a:rPr lang="en-GB" sz="1900" i="1" noProof="1" smtClean="0">
                            <a:latin typeface="Cambria Math" panose="02040503050406030204" pitchFamily="18" charset="0"/>
                            <a:ea typeface="Verdana" panose="020B0604030504040204" pitchFamily="34" charset="0"/>
                          </a:rPr>
                          <m:t>𝐵</m:t>
                        </m:r>
                      </m:sup>
                    </m:sSubSup>
                    <m:r>
                      <a:rPr lang="en-GB" sz="1900" i="1" noProof="1" smtClean="0">
                        <a:latin typeface="Cambria Math" panose="02040503050406030204" pitchFamily="18" charset="0"/>
                        <a:ea typeface="Verdana" panose="020B0604030504040204" pitchFamily="34" charset="0"/>
                      </a:rPr>
                      <m:t>=</m:t>
                    </m:r>
                  </m:oMath>
                </a14:m>
                <a:r>
                  <a:rPr lang="en-GB" sz="1900" noProof="1">
                    <a:ea typeface="Verdana" panose="020B0604030504040204" pitchFamily="34" charset="0"/>
                  </a:rPr>
                  <a:t> </a:t>
                </a:r>
                <a14:m>
                  <m:oMath xmlns:m="http://schemas.openxmlformats.org/officeDocument/2006/math">
                    <m:acc>
                      <m:accPr>
                        <m:chr m:val="̅"/>
                        <m:ctrlPr>
                          <a:rPr lang="en-GB" sz="1900" b="0" i="1" noProof="1" smtClean="0">
                            <a:latin typeface="Cambria Math" panose="02040503050406030204" pitchFamily="18" charset="0"/>
                            <a:ea typeface="Verdana" panose="020B0604030504040204" pitchFamily="34" charset="0"/>
                          </a:rPr>
                        </m:ctrlPr>
                      </m:accPr>
                      <m:e>
                        <m:sSub>
                          <m:sSubPr>
                            <m:ctrlPr>
                              <a:rPr lang="en-GB" sz="1900" b="0" i="1" noProof="1" smtClean="0">
                                <a:latin typeface="Cambria Math" panose="02040503050406030204" pitchFamily="18" charset="0"/>
                                <a:ea typeface="Verdana" panose="020B0604030504040204" pitchFamily="34" charset="0"/>
                              </a:rPr>
                            </m:ctrlPr>
                          </m:sSubPr>
                          <m:e>
                            <m:r>
                              <a:rPr lang="en-GB" sz="1900" b="0" i="1" noProof="1" smtClean="0">
                                <a:latin typeface="Cambria Math" panose="02040503050406030204" pitchFamily="18" charset="0"/>
                                <a:ea typeface="Verdana" panose="020B0604030504040204" pitchFamily="34" charset="0"/>
                              </a:rPr>
                              <m:t>𝑌</m:t>
                            </m:r>
                          </m:e>
                          <m:sub>
                            <m:r>
                              <a:rPr lang="en-GB" sz="1900" i="1" noProof="1" smtClean="0">
                                <a:latin typeface="Cambria Math" panose="02040503050406030204" pitchFamily="18" charset="0"/>
                                <a:ea typeface="Verdana" panose="020B0604030504040204" pitchFamily="34" charset="0"/>
                              </a:rPr>
                              <m:t>𝑖</m:t>
                            </m:r>
                          </m:sub>
                        </m:sSub>
                      </m:e>
                    </m:acc>
                  </m:oMath>
                </a14:m>
                <a:r>
                  <a:rPr lang="en-GB" sz="1900" noProof="1"/>
                  <a:t>	; </a:t>
                </a:r>
                <a14:m>
                  <m:oMath xmlns:m="http://schemas.openxmlformats.org/officeDocument/2006/math">
                    <m:sSub>
                      <m:sSubPr>
                        <m:ctrlPr>
                          <a:rPr lang="en-GB" sz="2000" i="1" noProof="1" dirty="0">
                            <a:latin typeface="Cambria Math" panose="02040503050406030204" pitchFamily="18" charset="0"/>
                            <a:ea typeface="Cambria Math" panose="02040503050406030204" pitchFamily="18" charset="0"/>
                          </a:rPr>
                        </m:ctrlPr>
                      </m:sSubPr>
                      <m:e>
                        <m:r>
                          <a:rPr lang="en-GB" sz="2000" i="1" noProof="1" dirty="0">
                            <a:latin typeface="Cambria Math" panose="02040503050406030204" pitchFamily="18" charset="0"/>
                            <a:ea typeface="Cambria Math" panose="02040503050406030204" pitchFamily="18" charset="0"/>
                          </a:rPr>
                          <m:t>𝛼</m:t>
                        </m:r>
                      </m:e>
                      <m:sub>
                        <m:r>
                          <a:rPr lang="en-GB" sz="2000" i="1" noProof="1">
                            <a:latin typeface="Cambria Math" panose="02040503050406030204" pitchFamily="18" charset="0"/>
                            <a:ea typeface="Verdana" panose="020B0604030504040204" pitchFamily="34" charset="0"/>
                          </a:rPr>
                          <m:t>𝑖</m:t>
                        </m:r>
                      </m:sub>
                    </m:sSub>
                  </m:oMath>
                </a14:m>
                <a:r>
                  <a:rPr lang="en-GB" sz="1900" noProof="1"/>
                  <a:t> is random effect</a:t>
                </a:r>
              </a:p>
              <a:p>
                <a:pPr>
                  <a:lnSpc>
                    <a:spcPct val="120000"/>
                  </a:lnSpc>
                  <a:spcAft>
                    <a:spcPts val="1200"/>
                  </a:spcAft>
                </a:pPr>
                <a:r>
                  <a:rPr lang="en-GB" sz="1800" dirty="0"/>
                  <a:t>		</a:t>
                </a:r>
                <a:endParaRPr lang="en-GB" sz="1800" dirty="0">
                  <a:solidFill>
                    <a:schemeClr val="tx1"/>
                  </a:solidFill>
                </a:endParaRPr>
              </a:p>
              <a:p>
                <a:pPr>
                  <a:lnSpc>
                    <a:spcPct val="120000"/>
                  </a:lnSpc>
                  <a:spcAft>
                    <a:spcPts val="1200"/>
                  </a:spcAft>
                </a:pPr>
                <a:endParaRPr lang="en-GB" sz="1800" dirty="0">
                  <a:solidFill>
                    <a:schemeClr val="tx1"/>
                  </a:solidFill>
                </a:endParaRPr>
              </a:p>
            </p:txBody>
          </p:sp>
        </mc:Choice>
        <mc:Fallback>
          <p:sp>
            <p:nvSpPr>
              <p:cNvPr id="2" name="Content Placeholder 2">
                <a:extLst>
                  <a:ext uri="{FF2B5EF4-FFF2-40B4-BE49-F238E27FC236}">
                    <a16:creationId xmlns:a16="http://schemas.microsoft.com/office/drawing/2014/main" id="{4E2FFC46-D6F5-41BF-DECB-9FA98C0F56DD}"/>
                  </a:ext>
                </a:extLst>
              </p:cNvPr>
              <p:cNvSpPr>
                <a:spLocks noGrp="1" noRot="1" noChangeAspect="1" noMove="1" noResize="1" noEditPoints="1" noAdjustHandles="1" noChangeArrowheads="1" noChangeShapeType="1" noTextEdit="1"/>
              </p:cNvSpPr>
              <p:nvPr>
                <p:ph idx="1"/>
              </p:nvPr>
            </p:nvSpPr>
            <p:spPr>
              <a:xfrm>
                <a:off x="310896" y="877824"/>
                <a:ext cx="8723376" cy="6364224"/>
              </a:xfrm>
              <a:blipFill>
                <a:blip r:embed="rId3"/>
                <a:stretch>
                  <a:fillRect l="-1747" t="-1245"/>
                </a:stretch>
              </a:blipFill>
            </p:spPr>
            <p:txBody>
              <a:bodyPr/>
              <a:lstStyle/>
              <a:p>
                <a:r>
                  <a:rPr lang="en-GB">
                    <a:noFill/>
                  </a:rPr>
                  <a:t> </a:t>
                </a:r>
              </a:p>
            </p:txBody>
          </p:sp>
        </mc:Fallback>
      </mc:AlternateContent>
    </p:spTree>
    <p:extLst>
      <p:ext uri="{BB962C8B-B14F-4D97-AF65-F5344CB8AC3E}">
        <p14:creationId xmlns:p14="http://schemas.microsoft.com/office/powerpoint/2010/main" val="3745319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EA225-5025-E775-0BD3-776D66DBA8A8}"/>
            </a:ext>
          </a:extLst>
        </p:cNvPr>
        <p:cNvGrpSpPr/>
        <p:nvPr/>
      </p:nvGrpSpPr>
      <p:grpSpPr>
        <a:xfrm>
          <a:off x="0" y="0"/>
          <a:ext cx="0" cy="0"/>
          <a:chOff x="0" y="0"/>
          <a:chExt cx="0" cy="0"/>
        </a:xfrm>
      </p:grpSpPr>
      <p:sp>
        <p:nvSpPr>
          <p:cNvPr id="9" name="Titel 1">
            <a:extLst>
              <a:ext uri="{FF2B5EF4-FFF2-40B4-BE49-F238E27FC236}">
                <a16:creationId xmlns:a16="http://schemas.microsoft.com/office/drawing/2014/main" id="{E303A361-90E1-35B2-AE64-2B40EE87BE60}"/>
              </a:ext>
            </a:extLst>
          </p:cNvPr>
          <p:cNvSpPr>
            <a:spLocks noGrp="1"/>
          </p:cNvSpPr>
          <p:nvPr>
            <p:ph type="title"/>
          </p:nvPr>
        </p:nvSpPr>
        <p:spPr>
          <a:xfrm>
            <a:off x="0" y="0"/>
            <a:ext cx="9144000" cy="566928"/>
          </a:xfrm>
          <a:solidFill>
            <a:srgbClr val="44287F"/>
          </a:solidFill>
        </p:spPr>
        <p:txBody>
          <a:bodyPr anchor="ctr"/>
          <a:lstStyle/>
          <a:p>
            <a:pPr algn="ctr">
              <a:lnSpc>
                <a:spcPct val="100000"/>
              </a:lnSpc>
            </a:pPr>
            <a:r>
              <a:rPr lang="en-US" sz="2400" noProof="1">
                <a:solidFill>
                  <a:schemeClr val="bg1"/>
                </a:solidFill>
              </a:rPr>
              <a:t>Results CRE probit models</a:t>
            </a:r>
          </a:p>
        </p:txBody>
      </p:sp>
      <p:sp>
        <p:nvSpPr>
          <p:cNvPr id="2" name="Content Placeholder 2">
            <a:extLst>
              <a:ext uri="{FF2B5EF4-FFF2-40B4-BE49-F238E27FC236}">
                <a16:creationId xmlns:a16="http://schemas.microsoft.com/office/drawing/2014/main" id="{A3001772-3E0A-65B5-1F29-4C5CF7BC0C4D}"/>
              </a:ext>
            </a:extLst>
          </p:cNvPr>
          <p:cNvSpPr>
            <a:spLocks noGrp="1"/>
          </p:cNvSpPr>
          <p:nvPr>
            <p:ph idx="1"/>
          </p:nvPr>
        </p:nvSpPr>
        <p:spPr>
          <a:xfrm>
            <a:off x="105536" y="1016441"/>
            <a:ext cx="8756744" cy="5679439"/>
          </a:xfrm>
        </p:spPr>
        <p:txBody>
          <a:bodyPr>
            <a:normAutofit/>
          </a:bodyPr>
          <a:lstStyle/>
          <a:p>
            <a:pPr marL="285750" indent="-285750">
              <a:lnSpc>
                <a:spcPct val="120000"/>
              </a:lnSpc>
              <a:spcAft>
                <a:spcPts val="1200"/>
              </a:spcAft>
              <a:buFont typeface="Arial" panose="020B0604020202020204" pitchFamily="34" charset="0"/>
              <a:buChar char="•"/>
            </a:pPr>
            <a:r>
              <a:rPr lang="en-US" sz="1800" noProof="1">
                <a:latin typeface="Verdana" panose="020B0604030504040204" pitchFamily="34" charset="0"/>
                <a:ea typeface="Verdana" panose="020B0604030504040204" pitchFamily="34" charset="0"/>
              </a:rPr>
              <a:t>ICT/AI-related investment </a:t>
            </a:r>
            <a:r>
              <a:rPr lang="en-US" sz="1800" noProof="1">
                <a:latin typeface="Arial" panose="020B0604020202020204" pitchFamily="34" charset="0"/>
                <a:ea typeface="Verdana" panose="020B0604030504040204" pitchFamily="34" charset="0"/>
                <a:cs typeface="Arial" panose="020B0604020202020204" pitchFamily="34" charset="0"/>
              </a:rPr>
              <a:t>→</a:t>
            </a:r>
            <a:r>
              <a:rPr lang="en-US" sz="1800" noProof="1">
                <a:latin typeface="Verdana" panose="020B0604030504040204" pitchFamily="34" charset="0"/>
                <a:ea typeface="Verdana" panose="020B0604030504040204" pitchFamily="34" charset="0"/>
              </a:rPr>
              <a:t> positive average effect on growth surprises</a:t>
            </a:r>
          </a:p>
          <a:p>
            <a:pPr marL="285750" indent="-285750">
              <a:lnSpc>
                <a:spcPct val="120000"/>
              </a:lnSpc>
              <a:spcAft>
                <a:spcPts val="1200"/>
              </a:spcAft>
              <a:buFont typeface="Arial" panose="020B0604020202020204" pitchFamily="34" charset="0"/>
              <a:buChar char="•"/>
            </a:pPr>
            <a:r>
              <a:rPr lang="en-US" sz="1800" noProof="1">
                <a:latin typeface="Verdana" panose="020B0604030504040204" pitchFamily="34" charset="0"/>
                <a:ea typeface="Verdana" panose="020B0604030504040204" pitchFamily="34" charset="0"/>
              </a:rPr>
              <a:t>ICT/AI-related trade exposure </a:t>
            </a:r>
            <a:r>
              <a:rPr lang="en-US" sz="1800" noProof="1">
                <a:latin typeface="Arial" panose="020B0604020202020204" pitchFamily="34" charset="0"/>
                <a:ea typeface="Verdana" panose="020B0604030504040204" pitchFamily="34" charset="0"/>
                <a:cs typeface="Arial" panose="020B0604020202020204" pitchFamily="34" charset="0"/>
              </a:rPr>
              <a:t>→</a:t>
            </a:r>
            <a:r>
              <a:rPr lang="en-US" sz="1800" noProof="1">
                <a:latin typeface="Verdana" panose="020B0604030504040204" pitchFamily="34" charset="0"/>
                <a:ea typeface="Verdana" panose="020B0604030504040204" pitchFamily="34" charset="0"/>
              </a:rPr>
              <a:t> additional effect on positive growth surprise in shock years, confirming the unconditional tests</a:t>
            </a:r>
          </a:p>
          <a:p>
            <a:pPr>
              <a:lnSpc>
                <a:spcPct val="120000"/>
              </a:lnSpc>
              <a:spcAft>
                <a:spcPts val="1200"/>
              </a:spcAft>
            </a:pPr>
            <a:endParaRPr lang="nl-NL" sz="1600"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6" name="Tekstvak 3">
                <a:extLst>
                  <a:ext uri="{FF2B5EF4-FFF2-40B4-BE49-F238E27FC236}">
                    <a16:creationId xmlns:a16="http://schemas.microsoft.com/office/drawing/2014/main" id="{A7CF6141-D8EB-7171-49B8-DB2C33D6D240}"/>
                  </a:ext>
                </a:extLst>
              </p:cNvPr>
              <p:cNvSpPr txBox="1"/>
              <p:nvPr/>
            </p:nvSpPr>
            <p:spPr>
              <a:xfrm>
                <a:off x="197589" y="4744958"/>
                <a:ext cx="8664691" cy="1453924"/>
              </a:xfrm>
              <a:prstGeom prst="rect">
                <a:avLst/>
              </a:prstGeom>
              <a:noFill/>
            </p:spPr>
            <p:txBody>
              <a:bodyPr wrap="square" rtlCol="0">
                <a:spAutoFit/>
              </a:bodyPr>
              <a:lstStyle/>
              <a:p>
                <a:pPr algn="just">
                  <a:defRPr/>
                </a:pPr>
                <a:r>
                  <a:rPr lang="nl-NL" sz="1100" noProof="1">
                    <a:solidFill>
                      <a:srgbClr val="002060"/>
                    </a:solidFill>
                  </a:rPr>
                  <a:t>Average marginal effect (AME) of 1 stdev change of ICT/AI variable. ***, **, * indicate 1%, 5%, 10% significance. Standard errors based on country-clustered sandwich covariance matrix (robust to heteroscedasticity and within country dependence, so countries (clusters) are assumed independent of each other). </a:t>
                </a:r>
                <a:r>
                  <a:rPr lang="en-US" sz="1100" noProof="1">
                    <a:solidFill>
                      <a:srgbClr val="002060"/>
                    </a:solidFill>
                  </a:rPr>
                  <a:t>Explanatory variables are standardised and included one period lagged (to address endogeneity concerns and numerator effects in the ratios based on GDP as numerator). In each equation, one of the AI/ICT-related variables is included in </a:t>
                </a:r>
                <a14:m>
                  <m:oMath xmlns:m="http://schemas.openxmlformats.org/officeDocument/2006/math">
                    <m:sSub>
                      <m:sSubPr>
                        <m:ctrlPr>
                          <a:rPr lang="en-US" sz="1100" i="1" noProof="1">
                            <a:latin typeface="Cambria Math" panose="02040503050406030204" pitchFamily="18" charset="0"/>
                            <a:ea typeface="Verdana" panose="020B0604030504040204" pitchFamily="34" charset="0"/>
                          </a:rPr>
                        </m:ctrlPr>
                      </m:sSubPr>
                      <m:e>
                        <m:r>
                          <a:rPr lang="en-US" sz="1100" i="1" noProof="1">
                            <a:latin typeface="Cambria Math" panose="02040503050406030204" pitchFamily="18" charset="0"/>
                            <a:ea typeface="Verdana" panose="020B0604030504040204" pitchFamily="34" charset="0"/>
                          </a:rPr>
                          <m:t>𝑋</m:t>
                        </m:r>
                      </m:e>
                      <m:sub>
                        <m:r>
                          <a:rPr lang="en-US" sz="1100" i="1" noProof="1">
                            <a:latin typeface="Cambria Math" panose="02040503050406030204" pitchFamily="18" charset="0"/>
                            <a:ea typeface="Verdana" panose="020B0604030504040204" pitchFamily="34" charset="0"/>
                          </a:rPr>
                          <m:t>𝑖</m:t>
                        </m:r>
                        <m:r>
                          <a:rPr lang="en-US" sz="1100" i="1" noProof="1">
                            <a:latin typeface="Cambria Math" panose="02040503050406030204" pitchFamily="18" charset="0"/>
                            <a:ea typeface="Verdana" panose="020B0604030504040204" pitchFamily="34" charset="0"/>
                          </a:rPr>
                          <m:t>,</m:t>
                        </m:r>
                        <m:r>
                          <a:rPr lang="en-US" sz="1100" i="1" noProof="1">
                            <a:latin typeface="Cambria Math" panose="02040503050406030204" pitchFamily="18" charset="0"/>
                            <a:ea typeface="Verdana" panose="020B0604030504040204" pitchFamily="34" charset="0"/>
                          </a:rPr>
                          <m:t>𝑡</m:t>
                        </m:r>
                      </m:sub>
                    </m:sSub>
                    <m:r>
                      <a:rPr lang="en-US" sz="1100" b="0" i="0" noProof="1" smtClean="0">
                        <a:latin typeface="Cambria Math" panose="02040503050406030204" pitchFamily="18" charset="0"/>
                        <a:ea typeface="Verdana" panose="020B0604030504040204" pitchFamily="34" charset="0"/>
                      </a:rPr>
                      <m:t>.</m:t>
                    </m:r>
                  </m:oMath>
                </a14:m>
                <a:r>
                  <a:rPr lang="en-US" sz="1100" noProof="1">
                    <a:solidFill>
                      <a:srgbClr val="002060"/>
                    </a:solidFill>
                  </a:rPr>
                  <a:t> As control variables are included i) state aid as ratio of GDP (contemporaneous value of state aid and one period lagged GDP, source </a:t>
                </a:r>
                <a:r>
                  <a:rPr lang="en-US" sz="1100" noProof="1">
                    <a:solidFill>
                      <a:srgbClr val="002060"/>
                    </a:solidFill>
                    <a:hlinkClick r:id="rId3"/>
                  </a:rPr>
                  <a:t>Eurostat</a:t>
                </a:r>
                <a:r>
                  <a:rPr lang="en-US" sz="1100" noProof="1">
                    <a:solidFill>
                      <a:srgbClr val="002060"/>
                    </a:solidFill>
                  </a:rPr>
                  <a:t>); ii) trade openness (exports + imports over GDP, source Worldbank); iii) forecast-vintage controls, with a dummy for Autumn forecasts. a dummy for t+1 forecasts and for their interaction. </a:t>
                </a:r>
                <a:endParaRPr lang="nl-NL" sz="1100" noProof="1">
                  <a:solidFill>
                    <a:srgbClr val="002060"/>
                  </a:solidFill>
                </a:endParaRPr>
              </a:p>
            </p:txBody>
          </p:sp>
        </mc:Choice>
        <mc:Fallback xmlns="">
          <p:sp>
            <p:nvSpPr>
              <p:cNvPr id="6" name="Tekstvak 3">
                <a:extLst>
                  <a:ext uri="{FF2B5EF4-FFF2-40B4-BE49-F238E27FC236}">
                    <a16:creationId xmlns:a16="http://schemas.microsoft.com/office/drawing/2014/main" id="{A7CF6141-D8EB-7171-49B8-DB2C33D6D240}"/>
                  </a:ext>
                </a:extLst>
              </p:cNvPr>
              <p:cNvSpPr txBox="1">
                <a:spLocks noRot="1" noChangeAspect="1" noMove="1" noResize="1" noEditPoints="1" noAdjustHandles="1" noChangeArrowheads="1" noChangeShapeType="1" noTextEdit="1"/>
              </p:cNvSpPr>
              <p:nvPr/>
            </p:nvSpPr>
            <p:spPr>
              <a:xfrm>
                <a:off x="197589" y="4744958"/>
                <a:ext cx="8664691" cy="1453924"/>
              </a:xfrm>
              <a:prstGeom prst="rect">
                <a:avLst/>
              </a:prstGeom>
              <a:blipFill>
                <a:blip r:embed="rId4"/>
                <a:stretch>
                  <a:fillRect b="-167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934FC63-0880-B9C7-3990-4C41059B0EE7}"/>
              </a:ext>
            </a:extLst>
          </p:cNvPr>
          <p:cNvPicPr>
            <a:picLocks noChangeAspect="1"/>
          </p:cNvPicPr>
          <p:nvPr/>
        </p:nvPicPr>
        <p:blipFill>
          <a:blip r:embed="rId5"/>
          <a:stretch>
            <a:fillRect/>
          </a:stretch>
        </p:blipFill>
        <p:spPr>
          <a:xfrm>
            <a:off x="512826" y="2435733"/>
            <a:ext cx="3077972" cy="2169414"/>
          </a:xfrm>
          <a:prstGeom prst="rect">
            <a:avLst/>
          </a:prstGeom>
        </p:spPr>
      </p:pic>
      <p:pic>
        <p:nvPicPr>
          <p:cNvPr id="3" name="Picture 2">
            <a:extLst>
              <a:ext uri="{FF2B5EF4-FFF2-40B4-BE49-F238E27FC236}">
                <a16:creationId xmlns:a16="http://schemas.microsoft.com/office/drawing/2014/main" id="{BA1AEE6B-C3CF-FAEB-FF58-BBA90707E8D1}"/>
              </a:ext>
            </a:extLst>
          </p:cNvPr>
          <p:cNvPicPr>
            <a:picLocks noChangeAspect="1"/>
          </p:cNvPicPr>
          <p:nvPr/>
        </p:nvPicPr>
        <p:blipFill>
          <a:blip r:embed="rId6"/>
          <a:stretch>
            <a:fillRect/>
          </a:stretch>
        </p:blipFill>
        <p:spPr>
          <a:xfrm>
            <a:off x="3525121" y="2435733"/>
            <a:ext cx="4858006" cy="2169415"/>
          </a:xfrm>
          <a:prstGeom prst="rect">
            <a:avLst/>
          </a:prstGeom>
        </p:spPr>
      </p:pic>
    </p:spTree>
    <p:extLst>
      <p:ext uri="{BB962C8B-B14F-4D97-AF65-F5344CB8AC3E}">
        <p14:creationId xmlns:p14="http://schemas.microsoft.com/office/powerpoint/2010/main" val="2790278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CD0D6-1CFA-E426-08B0-AF5055AC2BF0}"/>
            </a:ext>
          </a:extLst>
        </p:cNvPr>
        <p:cNvGrpSpPr/>
        <p:nvPr/>
      </p:nvGrpSpPr>
      <p:grpSpPr>
        <a:xfrm>
          <a:off x="0" y="0"/>
          <a:ext cx="0" cy="0"/>
          <a:chOff x="0" y="0"/>
          <a:chExt cx="0" cy="0"/>
        </a:xfrm>
      </p:grpSpPr>
      <p:sp>
        <p:nvSpPr>
          <p:cNvPr id="9" name="Titel 1">
            <a:extLst>
              <a:ext uri="{FF2B5EF4-FFF2-40B4-BE49-F238E27FC236}">
                <a16:creationId xmlns:a16="http://schemas.microsoft.com/office/drawing/2014/main" id="{2EDEA4FF-77B4-1210-0800-2B8BF9AA0C33}"/>
              </a:ext>
            </a:extLst>
          </p:cNvPr>
          <p:cNvSpPr>
            <a:spLocks noGrp="1"/>
          </p:cNvSpPr>
          <p:nvPr>
            <p:ph type="title"/>
          </p:nvPr>
        </p:nvSpPr>
        <p:spPr>
          <a:xfrm>
            <a:off x="0" y="0"/>
            <a:ext cx="9144000" cy="566928"/>
          </a:xfrm>
          <a:solidFill>
            <a:srgbClr val="44287F"/>
          </a:solidFill>
        </p:spPr>
        <p:txBody>
          <a:bodyPr anchor="ctr"/>
          <a:lstStyle/>
          <a:p>
            <a:pPr algn="ctr">
              <a:lnSpc>
                <a:spcPct val="100000"/>
              </a:lnSpc>
            </a:pPr>
            <a:r>
              <a:rPr lang="en-US" sz="2400" noProof="1">
                <a:solidFill>
                  <a:schemeClr val="bg1"/>
                </a:solidFill>
              </a:rPr>
              <a:t>Conclusions</a:t>
            </a:r>
          </a:p>
        </p:txBody>
      </p:sp>
      <p:sp>
        <p:nvSpPr>
          <p:cNvPr id="2" name="Content Placeholder 2">
            <a:extLst>
              <a:ext uri="{FF2B5EF4-FFF2-40B4-BE49-F238E27FC236}">
                <a16:creationId xmlns:a16="http://schemas.microsoft.com/office/drawing/2014/main" id="{EFBED4CC-73CB-5E21-890E-866BC0B3643A}"/>
              </a:ext>
            </a:extLst>
          </p:cNvPr>
          <p:cNvSpPr>
            <a:spLocks noGrp="1"/>
          </p:cNvSpPr>
          <p:nvPr>
            <p:ph idx="1"/>
          </p:nvPr>
        </p:nvSpPr>
        <p:spPr>
          <a:xfrm>
            <a:off x="281720" y="1072550"/>
            <a:ext cx="8396454" cy="5679439"/>
          </a:xfrm>
        </p:spPr>
        <p:txBody>
          <a:bodyPr>
            <a:normAutofit/>
          </a:bodyPr>
          <a:lstStyle/>
          <a:p>
            <a:pPr marL="285750" indent="-285750">
              <a:lnSpc>
                <a:spcPct val="120000"/>
              </a:lnSpc>
              <a:spcAft>
                <a:spcPts val="1200"/>
              </a:spcAft>
              <a:buFont typeface="Arial" panose="020B0604020202020204" pitchFamily="34" charset="0"/>
              <a:buChar char="•"/>
            </a:pPr>
            <a:r>
              <a:rPr lang="en-US" sz="2000" noProof="1">
                <a:latin typeface="Verdana" panose="020B0604030504040204" pitchFamily="34" charset="0"/>
                <a:ea typeface="Verdana" panose="020B0604030504040204" pitchFamily="34" charset="0"/>
              </a:rPr>
              <a:t>Positive growth surprises more common in shock years than in normal years, pointing to larger than expected resilience</a:t>
            </a:r>
          </a:p>
          <a:p>
            <a:pPr marL="285750" indent="-285750">
              <a:lnSpc>
                <a:spcPct val="120000"/>
              </a:lnSpc>
              <a:spcAft>
                <a:spcPts val="1200"/>
              </a:spcAft>
              <a:buFont typeface="Arial" panose="020B0604020202020204" pitchFamily="34" charset="0"/>
              <a:buChar char="•"/>
            </a:pPr>
            <a:endParaRPr lang="en-US" sz="2000" noProof="1">
              <a:latin typeface="Verdana" panose="020B0604030504040204" pitchFamily="34" charset="0"/>
              <a:ea typeface="Verdana" panose="020B0604030504040204" pitchFamily="34" charset="0"/>
            </a:endParaRPr>
          </a:p>
          <a:p>
            <a:pPr marL="285750" indent="-285750">
              <a:lnSpc>
                <a:spcPct val="120000"/>
              </a:lnSpc>
              <a:spcAft>
                <a:spcPts val="1200"/>
              </a:spcAft>
              <a:buFont typeface="Arial" panose="020B0604020202020204" pitchFamily="34" charset="0"/>
              <a:buChar char="•"/>
            </a:pPr>
            <a:r>
              <a:rPr lang="en-US" sz="2000" noProof="1">
                <a:latin typeface="Verdana" panose="020B0604030504040204" pitchFamily="34" charset="0"/>
                <a:ea typeface="Verdana" panose="020B0604030504040204" pitchFamily="34" charset="0"/>
              </a:rPr>
              <a:t>ICT/AI-related corporate investment matters in normal times</a:t>
            </a:r>
          </a:p>
          <a:p>
            <a:pPr marL="285750" indent="-285750">
              <a:lnSpc>
                <a:spcPct val="120000"/>
              </a:lnSpc>
              <a:spcAft>
                <a:spcPts val="1200"/>
              </a:spcAft>
              <a:buFont typeface="Arial" panose="020B0604020202020204" pitchFamily="34" charset="0"/>
              <a:buChar char="•"/>
            </a:pPr>
            <a:r>
              <a:rPr lang="en-US" sz="2000" noProof="1">
                <a:latin typeface="Verdana" panose="020B0604030504040204" pitchFamily="34" charset="0"/>
                <a:ea typeface="Verdana" panose="020B0604030504040204" pitchFamily="34" charset="0"/>
              </a:rPr>
              <a:t>AI equity investment does not play this role and even seems to be a relative disadvantage during shocks</a:t>
            </a:r>
          </a:p>
          <a:p>
            <a:pPr marL="285750" indent="-285750">
              <a:lnSpc>
                <a:spcPct val="120000"/>
              </a:lnSpc>
              <a:spcAft>
                <a:spcPts val="1200"/>
              </a:spcAft>
              <a:buFont typeface="Arial" panose="020B0604020202020204" pitchFamily="34" charset="0"/>
              <a:buChar char="•"/>
            </a:pPr>
            <a:r>
              <a:rPr lang="en-US" sz="2000" noProof="1">
                <a:latin typeface="Verdana" panose="020B0604030504040204" pitchFamily="34" charset="0"/>
                <a:ea typeface="Verdana" panose="020B0604030504040204" pitchFamily="34" charset="0"/>
              </a:rPr>
              <a:t>Trade exposure has been a resilience channel in shock years (AI-stock market correlation has not) …</a:t>
            </a:r>
          </a:p>
          <a:p>
            <a:pPr>
              <a:lnSpc>
                <a:spcPct val="120000"/>
              </a:lnSpc>
              <a:spcAft>
                <a:spcPts val="1200"/>
              </a:spcAft>
            </a:pPr>
            <a:r>
              <a:rPr lang="en-US" sz="2000" noProof="1">
                <a:latin typeface="Verdana" panose="020B0604030504040204" pitchFamily="34" charset="0"/>
                <a:ea typeface="Verdana" panose="020B0604030504040204" pitchFamily="34" charset="0"/>
              </a:rPr>
              <a:t>	… but </a:t>
            </a:r>
            <a:r>
              <a:rPr lang="en-US" sz="2000" noProof="1">
                <a:latin typeface="Verdana" panose="020B0604030504040204" pitchFamily="34" charset="0"/>
                <a:ea typeface="Verdana" panose="020B0604030504040204" pitchFamily="34" charset="0"/>
                <a:cs typeface="Arial" panose="020B0604020202020204" pitchFamily="34" charset="0"/>
              </a:rPr>
              <a:t>if a future shock would originate from the AI sector 	itself, high-tech trade exposure could turn from an 	advantage into a vulnerability</a:t>
            </a:r>
            <a:endParaRPr lang="en-US" sz="2000" noProof="1">
              <a:latin typeface="Verdana" panose="020B0604030504040204" pitchFamily="34" charset="0"/>
              <a:ea typeface="Verdana" panose="020B0604030504040204" pitchFamily="34" charset="0"/>
            </a:endParaRPr>
          </a:p>
          <a:p>
            <a:pPr marL="285750" indent="-285750">
              <a:lnSpc>
                <a:spcPct val="120000"/>
              </a:lnSpc>
              <a:spcAft>
                <a:spcPts val="1200"/>
              </a:spcAft>
              <a:buFont typeface="Arial" panose="020B0604020202020204" pitchFamily="34" charset="0"/>
              <a:buChar char="•"/>
            </a:pPr>
            <a:endParaRPr lang="en-US" sz="2000" noProof="1">
              <a:latin typeface="Verdana" panose="020B0604030504040204" pitchFamily="34" charset="0"/>
              <a:ea typeface="Verdana" panose="020B0604030504040204" pitchFamily="34" charset="0"/>
            </a:endParaRPr>
          </a:p>
          <a:p>
            <a:pPr marL="285750" indent="-285750">
              <a:lnSpc>
                <a:spcPct val="120000"/>
              </a:lnSpc>
              <a:spcAft>
                <a:spcPts val="1200"/>
              </a:spcAft>
              <a:buFont typeface="Arial" panose="020B0604020202020204" pitchFamily="34" charset="0"/>
              <a:buChar char="•"/>
            </a:pPr>
            <a:endParaRPr lang="en-US" sz="2000" noProof="1">
              <a:solidFill>
                <a:schemeClr val="accent1">
                  <a:lumMod val="50000"/>
                </a:schemeClr>
              </a:solidFill>
              <a:latin typeface="Verdana" panose="020B0604030504040204" pitchFamily="34" charset="0"/>
              <a:ea typeface="Verdana" panose="020B0604030504040204" pitchFamily="34" charset="0"/>
            </a:endParaRPr>
          </a:p>
          <a:p>
            <a:pPr marL="285750" indent="-285750">
              <a:lnSpc>
                <a:spcPct val="120000"/>
              </a:lnSpc>
              <a:spcAft>
                <a:spcPts val="1200"/>
              </a:spcAft>
              <a:buFont typeface="Arial" panose="020B0604020202020204" pitchFamily="34" charset="0"/>
              <a:buChar char="•"/>
            </a:pPr>
            <a:endParaRPr lang="en-US" sz="2000" noProof="1">
              <a:solidFill>
                <a:schemeClr val="accent1">
                  <a:lumMod val="50000"/>
                </a:schemeClr>
              </a:solidFill>
              <a:latin typeface="Verdana" panose="020B0604030504040204" pitchFamily="34" charset="0"/>
              <a:ea typeface="Verdana" panose="020B0604030504040204" pitchFamily="34" charset="0"/>
            </a:endParaRPr>
          </a:p>
          <a:p>
            <a:pPr>
              <a:lnSpc>
                <a:spcPct val="120000"/>
              </a:lnSpc>
              <a:spcAft>
                <a:spcPts val="1200"/>
              </a:spcAft>
            </a:pPr>
            <a:endParaRPr lang="nl-NL" sz="1600" dirty="0">
              <a:solidFill>
                <a:schemeClr val="accent1">
                  <a:lumMod val="50000"/>
                </a:schemeClr>
              </a:solidFill>
            </a:endParaRPr>
          </a:p>
        </p:txBody>
      </p:sp>
    </p:spTree>
    <p:extLst>
      <p:ext uri="{BB962C8B-B14F-4D97-AF65-F5344CB8AC3E}">
        <p14:creationId xmlns:p14="http://schemas.microsoft.com/office/powerpoint/2010/main" val="3777662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71139-22FF-EBBF-773A-91572EAD08B7}"/>
            </a:ext>
          </a:extLst>
        </p:cNvPr>
        <p:cNvGrpSpPr/>
        <p:nvPr/>
      </p:nvGrpSpPr>
      <p:grpSpPr>
        <a:xfrm>
          <a:off x="0" y="0"/>
          <a:ext cx="0" cy="0"/>
          <a:chOff x="0" y="0"/>
          <a:chExt cx="0" cy="0"/>
        </a:xfrm>
      </p:grpSpPr>
      <p:sp>
        <p:nvSpPr>
          <p:cNvPr id="9" name="Titel 1">
            <a:extLst>
              <a:ext uri="{FF2B5EF4-FFF2-40B4-BE49-F238E27FC236}">
                <a16:creationId xmlns:a16="http://schemas.microsoft.com/office/drawing/2014/main" id="{98F2D218-3382-A4F9-611C-8C2FC2F0440C}"/>
              </a:ext>
            </a:extLst>
          </p:cNvPr>
          <p:cNvSpPr>
            <a:spLocks noGrp="1"/>
          </p:cNvSpPr>
          <p:nvPr>
            <p:ph type="title"/>
          </p:nvPr>
        </p:nvSpPr>
        <p:spPr>
          <a:xfrm>
            <a:off x="0" y="0"/>
            <a:ext cx="9144000" cy="566928"/>
          </a:xfrm>
          <a:solidFill>
            <a:srgbClr val="44287F"/>
          </a:solidFill>
        </p:spPr>
        <p:txBody>
          <a:bodyPr anchor="ctr"/>
          <a:lstStyle/>
          <a:p>
            <a:pPr algn="ctr">
              <a:lnSpc>
                <a:spcPct val="100000"/>
              </a:lnSpc>
            </a:pPr>
            <a:r>
              <a:rPr lang="en-US" sz="2400" noProof="1">
                <a:solidFill>
                  <a:schemeClr val="bg1"/>
                </a:solidFill>
              </a:rPr>
              <a:t>Background slides</a:t>
            </a:r>
          </a:p>
        </p:txBody>
      </p:sp>
    </p:spTree>
    <p:extLst>
      <p:ext uri="{BB962C8B-B14F-4D97-AF65-F5344CB8AC3E}">
        <p14:creationId xmlns:p14="http://schemas.microsoft.com/office/powerpoint/2010/main" val="3666342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3FEDE-A68E-263C-78AD-8A94B89C1D6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A3DE4CC-1235-6A5B-5226-EACB34CDA045}"/>
              </a:ext>
            </a:extLst>
          </p:cNvPr>
          <p:cNvSpPr>
            <a:spLocks noGrp="1"/>
          </p:cNvSpPr>
          <p:nvPr>
            <p:ph type="title"/>
          </p:nvPr>
        </p:nvSpPr>
        <p:spPr>
          <a:xfrm>
            <a:off x="0" y="0"/>
            <a:ext cx="9144000" cy="557784"/>
          </a:xfrm>
          <a:solidFill>
            <a:srgbClr val="44287F"/>
          </a:solidFill>
        </p:spPr>
        <p:txBody>
          <a:bodyPr anchor="ctr"/>
          <a:lstStyle/>
          <a:p>
            <a:pPr algn="ctr"/>
            <a:r>
              <a:rPr lang="nl-NL" sz="2400" dirty="0">
                <a:solidFill>
                  <a:schemeClr val="bg1"/>
                </a:solidFill>
              </a:rPr>
              <a:t>Wild swings in semiconductor short-term </a:t>
            </a:r>
            <a:r>
              <a:rPr lang="nl-NL" sz="2400" dirty="0" err="1">
                <a:solidFill>
                  <a:schemeClr val="bg1"/>
                </a:solidFill>
              </a:rPr>
              <a:t>cycle</a:t>
            </a:r>
            <a:endParaRPr lang="nl-NL" sz="2400" dirty="0">
              <a:solidFill>
                <a:srgbClr val="FF0000"/>
              </a:solidFill>
            </a:endParaRPr>
          </a:p>
        </p:txBody>
      </p:sp>
      <p:sp>
        <p:nvSpPr>
          <p:cNvPr id="6" name="Content Placeholder 2">
            <a:extLst>
              <a:ext uri="{FF2B5EF4-FFF2-40B4-BE49-F238E27FC236}">
                <a16:creationId xmlns:a16="http://schemas.microsoft.com/office/drawing/2014/main" id="{1E8422D5-2452-DB5E-9929-FF6B42FB6722}"/>
              </a:ext>
            </a:extLst>
          </p:cNvPr>
          <p:cNvSpPr>
            <a:spLocks noGrp="1"/>
          </p:cNvSpPr>
          <p:nvPr>
            <p:ph idx="1"/>
          </p:nvPr>
        </p:nvSpPr>
        <p:spPr>
          <a:xfrm>
            <a:off x="146303" y="935391"/>
            <a:ext cx="2962657" cy="4989922"/>
          </a:xfrm>
        </p:spPr>
        <p:txBody>
          <a:bodyPr>
            <a:normAutofit/>
          </a:bodyPr>
          <a:lstStyle/>
          <a:p>
            <a:pPr marL="285750" indent="-285750">
              <a:lnSpc>
                <a:spcPct val="120000"/>
              </a:lnSpc>
              <a:spcAft>
                <a:spcPts val="1200"/>
              </a:spcAft>
              <a:buFont typeface="Arial" panose="020B0604020202020204" pitchFamily="34" charset="0"/>
              <a:buChar char="•"/>
            </a:pPr>
            <a:endParaRPr lang="en-US" sz="2000" noProof="1">
              <a:solidFill>
                <a:schemeClr val="accent1">
                  <a:lumMod val="50000"/>
                </a:schemeClr>
              </a:solidFill>
              <a:latin typeface="Verdana" panose="020B0604030504040204" pitchFamily="34" charset="0"/>
              <a:ea typeface="Verdana" panose="020B0604030504040204" pitchFamily="34" charset="0"/>
            </a:endParaRPr>
          </a:p>
          <a:p>
            <a:pPr marL="285750" indent="-285750">
              <a:lnSpc>
                <a:spcPct val="120000"/>
              </a:lnSpc>
              <a:spcAft>
                <a:spcPts val="1200"/>
              </a:spcAft>
              <a:buFont typeface="Arial" panose="020B0604020202020204" pitchFamily="34" charset="0"/>
              <a:buChar char="•"/>
            </a:pPr>
            <a:r>
              <a:rPr lang="en-US" sz="2000" noProof="1">
                <a:solidFill>
                  <a:schemeClr val="accent1">
                    <a:lumMod val="50000"/>
                  </a:schemeClr>
                </a:solidFill>
                <a:latin typeface="Verdana" panose="020B0604030504040204" pitchFamily="34" charset="0"/>
                <a:ea typeface="Verdana" panose="020B0604030504040204" pitchFamily="34" charset="0"/>
              </a:rPr>
              <a:t>Short-term semiconductor cycle more volatile than traditional stocks</a:t>
            </a:r>
          </a:p>
          <a:p>
            <a:pPr>
              <a:lnSpc>
                <a:spcPct val="120000"/>
              </a:lnSpc>
              <a:spcAft>
                <a:spcPts val="1200"/>
              </a:spcAft>
            </a:pPr>
            <a:endParaRPr lang="nl-NL" sz="1600" dirty="0">
              <a:solidFill>
                <a:schemeClr val="accent1">
                  <a:lumMod val="50000"/>
                </a:schemeClr>
              </a:solidFill>
            </a:endParaRPr>
          </a:p>
        </p:txBody>
      </p:sp>
      <p:sp>
        <p:nvSpPr>
          <p:cNvPr id="8" name="Tekstvak 3">
            <a:extLst>
              <a:ext uri="{FF2B5EF4-FFF2-40B4-BE49-F238E27FC236}">
                <a16:creationId xmlns:a16="http://schemas.microsoft.com/office/drawing/2014/main" id="{F8831F86-71DE-C3FE-B109-F7E9B5952F04}"/>
              </a:ext>
            </a:extLst>
          </p:cNvPr>
          <p:cNvSpPr txBox="1"/>
          <p:nvPr/>
        </p:nvSpPr>
        <p:spPr>
          <a:xfrm>
            <a:off x="3790386" y="5833124"/>
            <a:ext cx="5207311" cy="461665"/>
          </a:xfrm>
          <a:prstGeom prst="rect">
            <a:avLst/>
          </a:prstGeom>
          <a:noFill/>
        </p:spPr>
        <p:txBody>
          <a:bodyPr wrap="square" rtlCol="0">
            <a:spAutoFit/>
          </a:bodyPr>
          <a:lstStyle/>
          <a:p>
            <a:pPr>
              <a:defRPr/>
            </a:pPr>
            <a:r>
              <a:rPr lang="nl-NL" sz="1200" dirty="0" err="1">
                <a:solidFill>
                  <a:srgbClr val="002060"/>
                </a:solidFill>
              </a:rPr>
              <a:t>Annual</a:t>
            </a:r>
            <a:r>
              <a:rPr lang="nl-NL" sz="1200" dirty="0">
                <a:solidFill>
                  <a:srgbClr val="002060"/>
                </a:solidFill>
              </a:rPr>
              <a:t> log return of STOXX Europe 600 and Semiconductor stock index (SOX), source Yahoo Finance. </a:t>
            </a:r>
            <a:r>
              <a:rPr lang="nl-NL" sz="1200" dirty="0">
                <a:solidFill>
                  <a:srgbClr val="002060"/>
                </a:solidFill>
                <a:hlinkClick r:id="rId3" action="ppaction://hlinksldjump"/>
              </a:rPr>
              <a:t>Link</a:t>
            </a:r>
            <a:r>
              <a:rPr lang="nl-NL" sz="1200" dirty="0">
                <a:solidFill>
                  <a:srgbClr val="002060"/>
                </a:solidFill>
              </a:rPr>
              <a:t> back.</a:t>
            </a:r>
          </a:p>
        </p:txBody>
      </p:sp>
      <p:pic>
        <p:nvPicPr>
          <p:cNvPr id="3" name="Picture 2">
            <a:extLst>
              <a:ext uri="{FF2B5EF4-FFF2-40B4-BE49-F238E27FC236}">
                <a16:creationId xmlns:a16="http://schemas.microsoft.com/office/drawing/2014/main" id="{91A85948-69E3-BFEE-81F1-A1C9C4ED33BD}"/>
              </a:ext>
            </a:extLst>
          </p:cNvPr>
          <p:cNvPicPr>
            <a:picLocks noChangeAspect="1"/>
          </p:cNvPicPr>
          <p:nvPr/>
        </p:nvPicPr>
        <p:blipFill>
          <a:blip r:embed="rId4"/>
          <a:stretch>
            <a:fillRect/>
          </a:stretch>
        </p:blipFill>
        <p:spPr>
          <a:xfrm>
            <a:off x="3538729" y="1533014"/>
            <a:ext cx="5458968" cy="3514473"/>
          </a:xfrm>
          <a:prstGeom prst="rect">
            <a:avLst/>
          </a:prstGeom>
        </p:spPr>
      </p:pic>
    </p:spTree>
    <p:extLst>
      <p:ext uri="{BB962C8B-B14F-4D97-AF65-F5344CB8AC3E}">
        <p14:creationId xmlns:p14="http://schemas.microsoft.com/office/powerpoint/2010/main" val="1473696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E651E-039A-5D85-5C26-C3731B5E62B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33D671E-1B58-DEFA-8900-436B363D6930}"/>
              </a:ext>
            </a:extLst>
          </p:cNvPr>
          <p:cNvSpPr>
            <a:spLocks noGrp="1"/>
          </p:cNvSpPr>
          <p:nvPr>
            <p:ph type="title"/>
          </p:nvPr>
        </p:nvSpPr>
        <p:spPr>
          <a:xfrm>
            <a:off x="0" y="0"/>
            <a:ext cx="9144000" cy="557784"/>
          </a:xfrm>
          <a:solidFill>
            <a:srgbClr val="44287F"/>
          </a:solidFill>
        </p:spPr>
        <p:txBody>
          <a:bodyPr anchor="ctr"/>
          <a:lstStyle/>
          <a:p>
            <a:pPr algn="ctr"/>
            <a:r>
              <a:rPr lang="nl-NL" sz="2400" dirty="0">
                <a:solidFill>
                  <a:schemeClr val="bg1"/>
                </a:solidFill>
              </a:rPr>
              <a:t>AI-</a:t>
            </a:r>
            <a:r>
              <a:rPr lang="nl-NL" sz="2400" dirty="0" err="1">
                <a:solidFill>
                  <a:schemeClr val="bg1"/>
                </a:solidFill>
              </a:rPr>
              <a:t>related</a:t>
            </a:r>
            <a:r>
              <a:rPr lang="nl-NL" sz="2400" dirty="0">
                <a:solidFill>
                  <a:schemeClr val="bg1"/>
                </a:solidFill>
              </a:rPr>
              <a:t> investment</a:t>
            </a:r>
            <a:endParaRPr lang="nl-NL" sz="2400" dirty="0">
              <a:solidFill>
                <a:srgbClr val="FF0000"/>
              </a:solidFill>
            </a:endParaRPr>
          </a:p>
        </p:txBody>
      </p:sp>
      <p:sp>
        <p:nvSpPr>
          <p:cNvPr id="8" name="Tekstvak 3">
            <a:extLst>
              <a:ext uri="{FF2B5EF4-FFF2-40B4-BE49-F238E27FC236}">
                <a16:creationId xmlns:a16="http://schemas.microsoft.com/office/drawing/2014/main" id="{21C63CC4-9F1C-6D6D-9FEF-9D04021E36EE}"/>
              </a:ext>
            </a:extLst>
          </p:cNvPr>
          <p:cNvSpPr txBox="1"/>
          <p:nvPr/>
        </p:nvSpPr>
        <p:spPr>
          <a:xfrm>
            <a:off x="4820687" y="5251888"/>
            <a:ext cx="4087369" cy="646331"/>
          </a:xfrm>
          <a:prstGeom prst="rect">
            <a:avLst/>
          </a:prstGeom>
          <a:noFill/>
        </p:spPr>
        <p:txBody>
          <a:bodyPr wrap="square" rtlCol="0">
            <a:spAutoFit/>
          </a:bodyPr>
          <a:lstStyle/>
          <a:p>
            <a:pPr>
              <a:defRPr/>
            </a:pPr>
            <a:r>
              <a:rPr lang="nl-NL" sz="1200" dirty="0">
                <a:solidFill>
                  <a:srgbClr val="002060"/>
                </a:solidFill>
              </a:rPr>
              <a:t>Number of </a:t>
            </a:r>
            <a:r>
              <a:rPr lang="nl-NL" sz="1200" dirty="0" err="1">
                <a:solidFill>
                  <a:srgbClr val="002060"/>
                </a:solidFill>
              </a:rPr>
              <a:t>incoming</a:t>
            </a:r>
            <a:r>
              <a:rPr lang="nl-NL" sz="1200" dirty="0">
                <a:solidFill>
                  <a:srgbClr val="002060"/>
                </a:solidFill>
              </a:rPr>
              <a:t> </a:t>
            </a:r>
            <a:r>
              <a:rPr lang="nl-NL" sz="1200" dirty="0" err="1">
                <a:solidFill>
                  <a:srgbClr val="002060"/>
                </a:solidFill>
              </a:rPr>
              <a:t>equity</a:t>
            </a:r>
            <a:r>
              <a:rPr lang="nl-NL" sz="1200" dirty="0">
                <a:solidFill>
                  <a:srgbClr val="002060"/>
                </a:solidFill>
              </a:rPr>
              <a:t> </a:t>
            </a:r>
            <a:r>
              <a:rPr lang="nl-NL" sz="1200" dirty="0" err="1">
                <a:solidFill>
                  <a:srgbClr val="002060"/>
                </a:solidFill>
              </a:rPr>
              <a:t>investments</a:t>
            </a:r>
            <a:r>
              <a:rPr lang="nl-NL" sz="1200" dirty="0">
                <a:solidFill>
                  <a:srgbClr val="002060"/>
                </a:solidFill>
              </a:rPr>
              <a:t> in AI fields, </a:t>
            </a:r>
            <a:r>
              <a:rPr lang="nl-NL" sz="1200" dirty="0" err="1">
                <a:solidFill>
                  <a:srgbClr val="002060"/>
                </a:solidFill>
              </a:rPr>
              <a:t>scaled</a:t>
            </a:r>
            <a:r>
              <a:rPr lang="nl-NL" sz="1200" dirty="0">
                <a:solidFill>
                  <a:srgbClr val="002060"/>
                </a:solidFill>
              </a:rPr>
              <a:t> </a:t>
            </a:r>
            <a:r>
              <a:rPr lang="nl-NL" sz="1200" dirty="0" err="1">
                <a:solidFill>
                  <a:srgbClr val="002060"/>
                </a:solidFill>
              </a:rPr>
              <a:t>by</a:t>
            </a:r>
            <a:r>
              <a:rPr lang="nl-NL" sz="1200" dirty="0">
                <a:solidFill>
                  <a:srgbClr val="002060"/>
                </a:solidFill>
              </a:rPr>
              <a:t> GDP. </a:t>
            </a:r>
            <a:r>
              <a:rPr lang="nl-NL" sz="1200" dirty="0" err="1">
                <a:solidFill>
                  <a:srgbClr val="002060"/>
                </a:solidFill>
              </a:rPr>
              <a:t>Annual</a:t>
            </a:r>
            <a:r>
              <a:rPr lang="nl-NL" sz="1200" dirty="0">
                <a:solidFill>
                  <a:srgbClr val="002060"/>
                </a:solidFill>
              </a:rPr>
              <a:t> data 2015-2025 (Source: </a:t>
            </a:r>
            <a:r>
              <a:rPr lang="en-US" sz="1200" dirty="0">
                <a:solidFill>
                  <a:srgbClr val="002060"/>
                </a:solidFill>
              </a:rPr>
              <a:t>ETO's CAT, </a:t>
            </a:r>
            <a:r>
              <a:rPr lang="en-US" sz="1200" dirty="0">
                <a:solidFill>
                  <a:srgbClr val="002060"/>
                </a:solidFill>
                <a:hlinkClick r:id="rId3"/>
              </a:rPr>
              <a:t>Country Activity Tracker</a:t>
            </a:r>
            <a:r>
              <a:rPr lang="en-US" sz="1200" dirty="0">
                <a:solidFill>
                  <a:srgbClr val="002060"/>
                </a:solidFill>
              </a:rPr>
              <a:t>)</a:t>
            </a:r>
            <a:r>
              <a:rPr lang="nl-NL" sz="1200" dirty="0">
                <a:solidFill>
                  <a:srgbClr val="002060"/>
                </a:solidFill>
              </a:rPr>
              <a:t>.</a:t>
            </a:r>
          </a:p>
        </p:txBody>
      </p:sp>
      <p:pic>
        <p:nvPicPr>
          <p:cNvPr id="7" name="Picture 6">
            <a:extLst>
              <a:ext uri="{FF2B5EF4-FFF2-40B4-BE49-F238E27FC236}">
                <a16:creationId xmlns:a16="http://schemas.microsoft.com/office/drawing/2014/main" id="{00D67D2D-8767-2D3D-DB1A-994B39847091}"/>
              </a:ext>
            </a:extLst>
          </p:cNvPr>
          <p:cNvPicPr>
            <a:picLocks noChangeAspect="1"/>
          </p:cNvPicPr>
          <p:nvPr/>
        </p:nvPicPr>
        <p:blipFill>
          <a:blip r:embed="rId4"/>
          <a:stretch>
            <a:fillRect/>
          </a:stretch>
        </p:blipFill>
        <p:spPr>
          <a:xfrm>
            <a:off x="4661999" y="1728216"/>
            <a:ext cx="4335697" cy="3203135"/>
          </a:xfrm>
          <a:prstGeom prst="rect">
            <a:avLst/>
          </a:prstGeom>
        </p:spPr>
      </p:pic>
      <p:sp>
        <p:nvSpPr>
          <p:cNvPr id="11" name="Tekstvak 3">
            <a:extLst>
              <a:ext uri="{FF2B5EF4-FFF2-40B4-BE49-F238E27FC236}">
                <a16:creationId xmlns:a16="http://schemas.microsoft.com/office/drawing/2014/main" id="{7D1FCEE6-8AAC-959D-A8E8-B4CF4C9F0122}"/>
              </a:ext>
            </a:extLst>
          </p:cNvPr>
          <p:cNvSpPr txBox="1"/>
          <p:nvPr/>
        </p:nvSpPr>
        <p:spPr>
          <a:xfrm>
            <a:off x="304990" y="5053409"/>
            <a:ext cx="4087369" cy="1200329"/>
          </a:xfrm>
          <a:prstGeom prst="rect">
            <a:avLst/>
          </a:prstGeom>
          <a:noFill/>
        </p:spPr>
        <p:txBody>
          <a:bodyPr wrap="square" rtlCol="0">
            <a:spAutoFit/>
          </a:bodyPr>
          <a:lstStyle/>
          <a:p>
            <a:pPr>
              <a:defRPr/>
            </a:pPr>
            <a:r>
              <a:rPr lang="nl-NL" sz="1200" dirty="0">
                <a:solidFill>
                  <a:srgbClr val="002060"/>
                </a:solidFill>
              </a:rPr>
              <a:t>Share of ICT/AI-</a:t>
            </a:r>
            <a:r>
              <a:rPr lang="nl-NL" sz="1200" dirty="0" err="1">
                <a:solidFill>
                  <a:srgbClr val="002060"/>
                </a:solidFill>
              </a:rPr>
              <a:t>related</a:t>
            </a:r>
            <a:r>
              <a:rPr lang="nl-NL" sz="1200" dirty="0">
                <a:solidFill>
                  <a:srgbClr val="002060"/>
                </a:solidFill>
              </a:rPr>
              <a:t> investment in </a:t>
            </a:r>
            <a:r>
              <a:rPr lang="nl-NL" sz="1200" dirty="0" err="1">
                <a:solidFill>
                  <a:srgbClr val="002060"/>
                </a:solidFill>
              </a:rPr>
              <a:t>total</a:t>
            </a:r>
            <a:r>
              <a:rPr lang="nl-NL" sz="1200" dirty="0">
                <a:solidFill>
                  <a:srgbClr val="002060"/>
                </a:solidFill>
              </a:rPr>
              <a:t> GFCF</a:t>
            </a:r>
          </a:p>
          <a:p>
            <a:pPr>
              <a:defRPr/>
            </a:pPr>
            <a:r>
              <a:rPr lang="nl-NL" sz="1200" dirty="0" err="1">
                <a:solidFill>
                  <a:srgbClr val="002060"/>
                </a:solidFill>
              </a:rPr>
              <a:t>Annual</a:t>
            </a:r>
            <a:r>
              <a:rPr lang="nl-NL" sz="1200" dirty="0">
                <a:solidFill>
                  <a:srgbClr val="002060"/>
                </a:solidFill>
              </a:rPr>
              <a:t> data 2000-2025 (</a:t>
            </a:r>
            <a:r>
              <a:rPr lang="nl-NL" sz="1200" dirty="0" err="1">
                <a:solidFill>
                  <a:srgbClr val="002060"/>
                </a:solidFill>
              </a:rPr>
              <a:t>for</a:t>
            </a:r>
            <a:r>
              <a:rPr lang="nl-NL" sz="1200" dirty="0">
                <a:solidFill>
                  <a:srgbClr val="002060"/>
                </a:solidFill>
              </a:rPr>
              <a:t> </a:t>
            </a:r>
            <a:r>
              <a:rPr lang="nl-NL" sz="1200" dirty="0" err="1">
                <a:solidFill>
                  <a:srgbClr val="002060"/>
                </a:solidFill>
              </a:rPr>
              <a:t>countries</a:t>
            </a:r>
            <a:r>
              <a:rPr lang="nl-NL" sz="1200" dirty="0">
                <a:solidFill>
                  <a:srgbClr val="002060"/>
                </a:solidFill>
              </a:rPr>
              <a:t> of </a:t>
            </a:r>
            <a:r>
              <a:rPr lang="nl-NL" sz="1200" dirty="0" err="1">
                <a:solidFill>
                  <a:srgbClr val="002060"/>
                </a:solidFill>
              </a:rPr>
              <a:t>which</a:t>
            </a:r>
            <a:r>
              <a:rPr lang="nl-NL" sz="1200" dirty="0">
                <a:solidFill>
                  <a:srgbClr val="002060"/>
                </a:solidFill>
              </a:rPr>
              <a:t> 2025 data is </a:t>
            </a:r>
            <a:r>
              <a:rPr lang="nl-NL" sz="1200" dirty="0" err="1">
                <a:solidFill>
                  <a:srgbClr val="002060"/>
                </a:solidFill>
              </a:rPr>
              <a:t>not</a:t>
            </a:r>
            <a:r>
              <a:rPr lang="nl-NL" sz="1200" dirty="0">
                <a:solidFill>
                  <a:srgbClr val="002060"/>
                </a:solidFill>
              </a:rPr>
              <a:t> </a:t>
            </a:r>
            <a:r>
              <a:rPr lang="nl-NL" sz="1200" dirty="0" err="1">
                <a:solidFill>
                  <a:srgbClr val="002060"/>
                </a:solidFill>
              </a:rPr>
              <a:t>available</a:t>
            </a:r>
            <a:r>
              <a:rPr lang="nl-NL" sz="1200" dirty="0">
                <a:solidFill>
                  <a:srgbClr val="002060"/>
                </a:solidFill>
              </a:rPr>
              <a:t> </a:t>
            </a:r>
            <a:r>
              <a:rPr lang="nl-NL" sz="1200" dirty="0" err="1">
                <a:solidFill>
                  <a:srgbClr val="002060"/>
                </a:solidFill>
              </a:rPr>
              <a:t>yet</a:t>
            </a:r>
            <a:r>
              <a:rPr lang="nl-NL" sz="1200" dirty="0">
                <a:solidFill>
                  <a:srgbClr val="002060"/>
                </a:solidFill>
              </a:rPr>
              <a:t>; 2024 data is </a:t>
            </a:r>
            <a:r>
              <a:rPr lang="nl-NL" sz="1200" dirty="0" err="1">
                <a:solidFill>
                  <a:srgbClr val="002060"/>
                </a:solidFill>
              </a:rPr>
              <a:t>used</a:t>
            </a:r>
            <a:r>
              <a:rPr lang="nl-NL" sz="1200" dirty="0">
                <a:solidFill>
                  <a:srgbClr val="002060"/>
                </a:solidFill>
              </a:rPr>
              <a:t>). Product </a:t>
            </a:r>
            <a:r>
              <a:rPr lang="nl-NL" sz="1200" dirty="0" err="1">
                <a:solidFill>
                  <a:srgbClr val="002060"/>
                </a:solidFill>
              </a:rPr>
              <a:t>groups</a:t>
            </a:r>
            <a:r>
              <a:rPr lang="nl-NL" sz="1200" dirty="0">
                <a:solidFill>
                  <a:srgbClr val="002060"/>
                </a:solidFill>
              </a:rPr>
              <a:t>: </a:t>
            </a:r>
            <a:r>
              <a:rPr lang="pt-BR" sz="1200" dirty="0">
                <a:solidFill>
                  <a:srgbClr val="002060"/>
                </a:solidFill>
              </a:rPr>
              <a:t>N1132G, N1173G, N112G_secJ, N117G_secJ, N1173G_secJ (source: </a:t>
            </a:r>
            <a:r>
              <a:rPr lang="pt-BR" sz="1200" dirty="0">
                <a:solidFill>
                  <a:srgbClr val="002060"/>
                </a:solidFill>
                <a:hlinkClick r:id="rId5"/>
              </a:rPr>
              <a:t>Eurostat</a:t>
            </a:r>
            <a:r>
              <a:rPr lang="pt-BR" sz="1200" dirty="0">
                <a:solidFill>
                  <a:srgbClr val="002060"/>
                </a:solidFill>
              </a:rPr>
              <a:t>).</a:t>
            </a:r>
          </a:p>
          <a:p>
            <a:pPr>
              <a:defRPr/>
            </a:pPr>
            <a:endParaRPr lang="nl-NL" sz="1200" dirty="0">
              <a:solidFill>
                <a:srgbClr val="002060"/>
              </a:solidFill>
            </a:endParaRPr>
          </a:p>
        </p:txBody>
      </p:sp>
      <p:sp>
        <p:nvSpPr>
          <p:cNvPr id="13" name="Tekstvak 3">
            <a:extLst>
              <a:ext uri="{FF2B5EF4-FFF2-40B4-BE49-F238E27FC236}">
                <a16:creationId xmlns:a16="http://schemas.microsoft.com/office/drawing/2014/main" id="{338A2D59-53C8-50EE-C6F5-E44B1EC58C7B}"/>
              </a:ext>
            </a:extLst>
          </p:cNvPr>
          <p:cNvSpPr txBox="1"/>
          <p:nvPr/>
        </p:nvSpPr>
        <p:spPr>
          <a:xfrm>
            <a:off x="7713162" y="6354330"/>
            <a:ext cx="1030301" cy="277001"/>
          </a:xfrm>
          <a:prstGeom prst="rect">
            <a:avLst/>
          </a:prstGeom>
          <a:noFill/>
        </p:spPr>
        <p:txBody>
          <a:bodyPr wrap="square" rtlCol="0">
            <a:spAutoFit/>
          </a:bodyPr>
          <a:lstStyle/>
          <a:p>
            <a:pPr>
              <a:defRPr/>
            </a:pPr>
            <a:r>
              <a:rPr lang="nl-NL" sz="1200" dirty="0">
                <a:solidFill>
                  <a:srgbClr val="002060"/>
                </a:solidFill>
                <a:hlinkClick r:id="rId6" action="ppaction://hlinksldjump"/>
              </a:rPr>
              <a:t>Link</a:t>
            </a:r>
            <a:r>
              <a:rPr lang="nl-NL" sz="1200" dirty="0">
                <a:solidFill>
                  <a:srgbClr val="002060"/>
                </a:solidFill>
              </a:rPr>
              <a:t> back</a:t>
            </a:r>
          </a:p>
        </p:txBody>
      </p:sp>
      <p:sp>
        <p:nvSpPr>
          <p:cNvPr id="4" name="Tekstvak 3">
            <a:extLst>
              <a:ext uri="{FF2B5EF4-FFF2-40B4-BE49-F238E27FC236}">
                <a16:creationId xmlns:a16="http://schemas.microsoft.com/office/drawing/2014/main" id="{80A3C609-6383-27DE-510C-C64F4B0DBC92}"/>
              </a:ext>
            </a:extLst>
          </p:cNvPr>
          <p:cNvSpPr txBox="1"/>
          <p:nvPr/>
        </p:nvSpPr>
        <p:spPr>
          <a:xfrm>
            <a:off x="5181412" y="975170"/>
            <a:ext cx="3726644" cy="584775"/>
          </a:xfrm>
          <a:prstGeom prst="rect">
            <a:avLst/>
          </a:prstGeom>
          <a:noFill/>
        </p:spPr>
        <p:txBody>
          <a:bodyPr wrap="square" rtlCol="0">
            <a:spAutoFit/>
          </a:bodyPr>
          <a:lstStyle/>
          <a:p>
            <a:pPr>
              <a:defRPr/>
            </a:pPr>
            <a:r>
              <a:rPr lang="nl-NL" sz="1600" noProof="1">
                <a:solidFill>
                  <a:srgbClr val="002060"/>
                </a:solidFill>
              </a:rPr>
              <a:t>Number of equity investments in AI fields</a:t>
            </a:r>
            <a:endParaRPr lang="nl-NL" sz="1600" dirty="0">
              <a:solidFill>
                <a:srgbClr val="002060"/>
              </a:solidFill>
            </a:endParaRPr>
          </a:p>
        </p:txBody>
      </p:sp>
      <p:sp>
        <p:nvSpPr>
          <p:cNvPr id="6" name="Tekstvak 3">
            <a:extLst>
              <a:ext uri="{FF2B5EF4-FFF2-40B4-BE49-F238E27FC236}">
                <a16:creationId xmlns:a16="http://schemas.microsoft.com/office/drawing/2014/main" id="{0AC6B175-D1D2-F0DB-D461-D0CAED9EE46F}"/>
              </a:ext>
            </a:extLst>
          </p:cNvPr>
          <p:cNvSpPr txBox="1"/>
          <p:nvPr/>
        </p:nvSpPr>
        <p:spPr>
          <a:xfrm>
            <a:off x="596671" y="1098280"/>
            <a:ext cx="3726644" cy="338554"/>
          </a:xfrm>
          <a:prstGeom prst="rect">
            <a:avLst/>
          </a:prstGeom>
          <a:noFill/>
        </p:spPr>
        <p:txBody>
          <a:bodyPr wrap="square" rtlCol="0">
            <a:spAutoFit/>
          </a:bodyPr>
          <a:lstStyle/>
          <a:p>
            <a:pPr>
              <a:defRPr/>
            </a:pPr>
            <a:r>
              <a:rPr lang="nl-NL" sz="1600" noProof="1">
                <a:solidFill>
                  <a:srgbClr val="002060"/>
                </a:solidFill>
              </a:rPr>
              <a:t>ICT/AI investment ratio</a:t>
            </a:r>
            <a:endParaRPr lang="nl-NL" sz="1600" dirty="0">
              <a:solidFill>
                <a:srgbClr val="002060"/>
              </a:solidFill>
            </a:endParaRPr>
          </a:p>
        </p:txBody>
      </p:sp>
      <p:pic>
        <p:nvPicPr>
          <p:cNvPr id="3" name="Picture 2">
            <a:extLst>
              <a:ext uri="{FF2B5EF4-FFF2-40B4-BE49-F238E27FC236}">
                <a16:creationId xmlns:a16="http://schemas.microsoft.com/office/drawing/2014/main" id="{8A7EFEE7-907A-EF9C-42CF-70E7257DAC35}"/>
              </a:ext>
            </a:extLst>
          </p:cNvPr>
          <p:cNvPicPr>
            <a:picLocks noChangeAspect="1"/>
          </p:cNvPicPr>
          <p:nvPr/>
        </p:nvPicPr>
        <p:blipFill>
          <a:blip r:embed="rId7"/>
          <a:stretch>
            <a:fillRect/>
          </a:stretch>
        </p:blipFill>
        <p:spPr>
          <a:xfrm>
            <a:off x="146304" y="1728216"/>
            <a:ext cx="4048523" cy="3063240"/>
          </a:xfrm>
          <a:prstGeom prst="rect">
            <a:avLst/>
          </a:prstGeom>
        </p:spPr>
      </p:pic>
    </p:spTree>
    <p:extLst>
      <p:ext uri="{BB962C8B-B14F-4D97-AF65-F5344CB8AC3E}">
        <p14:creationId xmlns:p14="http://schemas.microsoft.com/office/powerpoint/2010/main" val="374833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C947-4B1F-5814-B5F0-19183D09F00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2C9CA68-4F8B-00E1-9EA9-77192F3EDB84}"/>
              </a:ext>
            </a:extLst>
          </p:cNvPr>
          <p:cNvSpPr>
            <a:spLocks noGrp="1"/>
          </p:cNvSpPr>
          <p:nvPr>
            <p:ph type="title"/>
          </p:nvPr>
        </p:nvSpPr>
        <p:spPr>
          <a:xfrm>
            <a:off x="0" y="0"/>
            <a:ext cx="9144000" cy="557784"/>
          </a:xfrm>
          <a:solidFill>
            <a:srgbClr val="44287F"/>
          </a:solidFill>
        </p:spPr>
        <p:txBody>
          <a:bodyPr anchor="ctr"/>
          <a:lstStyle/>
          <a:p>
            <a:pPr algn="ctr"/>
            <a:r>
              <a:rPr lang="nl-NL" sz="2400" dirty="0">
                <a:solidFill>
                  <a:schemeClr val="bg1"/>
                </a:solidFill>
              </a:rPr>
              <a:t>AI-</a:t>
            </a:r>
            <a:r>
              <a:rPr lang="nl-NL" sz="2400" dirty="0" err="1">
                <a:solidFill>
                  <a:schemeClr val="bg1"/>
                </a:solidFill>
              </a:rPr>
              <a:t>related</a:t>
            </a:r>
            <a:r>
              <a:rPr lang="nl-NL" sz="2400" dirty="0">
                <a:solidFill>
                  <a:schemeClr val="bg1"/>
                </a:solidFill>
              </a:rPr>
              <a:t> </a:t>
            </a:r>
            <a:r>
              <a:rPr lang="nl-NL" sz="2400" dirty="0" err="1">
                <a:solidFill>
                  <a:schemeClr val="bg1"/>
                </a:solidFill>
              </a:rPr>
              <a:t>trade</a:t>
            </a:r>
            <a:r>
              <a:rPr lang="nl-NL" sz="2400" dirty="0">
                <a:solidFill>
                  <a:schemeClr val="bg1"/>
                </a:solidFill>
              </a:rPr>
              <a:t> and stock market exposure</a:t>
            </a:r>
            <a:endParaRPr lang="nl-NL" sz="2400" dirty="0">
              <a:solidFill>
                <a:srgbClr val="FF0000"/>
              </a:solidFill>
            </a:endParaRPr>
          </a:p>
        </p:txBody>
      </p:sp>
      <p:sp>
        <p:nvSpPr>
          <p:cNvPr id="8" name="Tekstvak 3">
            <a:extLst>
              <a:ext uri="{FF2B5EF4-FFF2-40B4-BE49-F238E27FC236}">
                <a16:creationId xmlns:a16="http://schemas.microsoft.com/office/drawing/2014/main" id="{0677632A-56D3-3DDB-C434-EB0FC24E2732}"/>
              </a:ext>
            </a:extLst>
          </p:cNvPr>
          <p:cNvSpPr txBox="1"/>
          <p:nvPr/>
        </p:nvSpPr>
        <p:spPr>
          <a:xfrm>
            <a:off x="4902230" y="5051417"/>
            <a:ext cx="4087369" cy="646331"/>
          </a:xfrm>
          <a:prstGeom prst="rect">
            <a:avLst/>
          </a:prstGeom>
          <a:noFill/>
        </p:spPr>
        <p:txBody>
          <a:bodyPr wrap="square" rtlCol="0">
            <a:spAutoFit/>
          </a:bodyPr>
          <a:lstStyle/>
          <a:p>
            <a:pPr>
              <a:defRPr/>
            </a:pPr>
            <a:r>
              <a:rPr lang="nl-NL" sz="1200" dirty="0">
                <a:solidFill>
                  <a:srgbClr val="002060"/>
                </a:solidFill>
              </a:rPr>
              <a:t>Rolling </a:t>
            </a:r>
            <a:r>
              <a:rPr lang="nl-NL" sz="1200" dirty="0" err="1">
                <a:solidFill>
                  <a:srgbClr val="002060"/>
                </a:solidFill>
              </a:rPr>
              <a:t>correlation</a:t>
            </a:r>
            <a:r>
              <a:rPr lang="nl-NL" sz="1200" dirty="0">
                <a:solidFill>
                  <a:srgbClr val="002060"/>
                </a:solidFill>
              </a:rPr>
              <a:t> </a:t>
            </a:r>
            <a:r>
              <a:rPr lang="nl-NL" sz="1200" dirty="0" err="1">
                <a:solidFill>
                  <a:srgbClr val="002060"/>
                </a:solidFill>
              </a:rPr>
              <a:t>between</a:t>
            </a:r>
            <a:r>
              <a:rPr lang="nl-NL" sz="1200" dirty="0">
                <a:solidFill>
                  <a:srgbClr val="002060"/>
                </a:solidFill>
              </a:rPr>
              <a:t> </a:t>
            </a:r>
            <a:r>
              <a:rPr lang="nl-NL" sz="1200" dirty="0" err="1">
                <a:solidFill>
                  <a:srgbClr val="002060"/>
                </a:solidFill>
              </a:rPr>
              <a:t>national</a:t>
            </a:r>
            <a:r>
              <a:rPr lang="nl-NL" sz="1200" dirty="0">
                <a:solidFill>
                  <a:srgbClr val="002060"/>
                </a:solidFill>
              </a:rPr>
              <a:t> stock index and SOX index (8 </a:t>
            </a:r>
            <a:r>
              <a:rPr lang="nl-NL" sz="1200" dirty="0" err="1">
                <a:solidFill>
                  <a:srgbClr val="002060"/>
                </a:solidFill>
              </a:rPr>
              <a:t>quarters</a:t>
            </a:r>
            <a:r>
              <a:rPr lang="nl-NL" sz="1200" dirty="0">
                <a:solidFill>
                  <a:srgbClr val="002060"/>
                </a:solidFill>
              </a:rPr>
              <a:t> </a:t>
            </a:r>
            <a:r>
              <a:rPr lang="nl-NL" sz="1200" dirty="0" err="1">
                <a:solidFill>
                  <a:srgbClr val="002060"/>
                </a:solidFill>
              </a:rPr>
              <a:t>window</a:t>
            </a:r>
            <a:r>
              <a:rPr lang="nl-NL" sz="1200" dirty="0">
                <a:solidFill>
                  <a:srgbClr val="002060"/>
                </a:solidFill>
              </a:rPr>
              <a:t>). </a:t>
            </a:r>
            <a:r>
              <a:rPr lang="nl-NL" sz="1200" dirty="0" err="1">
                <a:solidFill>
                  <a:srgbClr val="002060"/>
                </a:solidFill>
              </a:rPr>
              <a:t>Quarterly</a:t>
            </a:r>
            <a:r>
              <a:rPr lang="nl-NL" sz="1200" dirty="0">
                <a:solidFill>
                  <a:srgbClr val="002060"/>
                </a:solidFill>
              </a:rPr>
              <a:t> data 2000Q1-2026Q2 (Source: Yahoo Finance).</a:t>
            </a:r>
          </a:p>
        </p:txBody>
      </p:sp>
      <p:sp>
        <p:nvSpPr>
          <p:cNvPr id="11" name="Tekstvak 3">
            <a:extLst>
              <a:ext uri="{FF2B5EF4-FFF2-40B4-BE49-F238E27FC236}">
                <a16:creationId xmlns:a16="http://schemas.microsoft.com/office/drawing/2014/main" id="{D6974398-2614-1310-0782-A3E80B13A2FD}"/>
              </a:ext>
            </a:extLst>
          </p:cNvPr>
          <p:cNvSpPr txBox="1"/>
          <p:nvPr/>
        </p:nvSpPr>
        <p:spPr>
          <a:xfrm>
            <a:off x="207038" y="4774417"/>
            <a:ext cx="4034734" cy="1384995"/>
          </a:xfrm>
          <a:prstGeom prst="rect">
            <a:avLst/>
          </a:prstGeom>
          <a:noFill/>
        </p:spPr>
        <p:txBody>
          <a:bodyPr wrap="square" rtlCol="0">
            <a:spAutoFit/>
          </a:bodyPr>
          <a:lstStyle/>
          <a:p>
            <a:pPr>
              <a:defRPr/>
            </a:pPr>
            <a:r>
              <a:rPr lang="nl-NL" sz="1200" dirty="0">
                <a:solidFill>
                  <a:srgbClr val="002060"/>
                </a:solidFill>
              </a:rPr>
              <a:t>Share of ICT/AI-</a:t>
            </a:r>
            <a:r>
              <a:rPr lang="nl-NL" sz="1200" dirty="0" err="1">
                <a:solidFill>
                  <a:srgbClr val="002060"/>
                </a:solidFill>
              </a:rPr>
              <a:t>related</a:t>
            </a:r>
            <a:r>
              <a:rPr lang="nl-NL" sz="1200" dirty="0">
                <a:solidFill>
                  <a:srgbClr val="002060"/>
                </a:solidFill>
              </a:rPr>
              <a:t> exports in </a:t>
            </a:r>
            <a:r>
              <a:rPr lang="nl-NL" sz="1200" dirty="0" err="1">
                <a:solidFill>
                  <a:srgbClr val="002060"/>
                </a:solidFill>
              </a:rPr>
              <a:t>total</a:t>
            </a:r>
            <a:r>
              <a:rPr lang="nl-NL" sz="1200" dirty="0">
                <a:solidFill>
                  <a:srgbClr val="002060"/>
                </a:solidFill>
              </a:rPr>
              <a:t> </a:t>
            </a:r>
            <a:r>
              <a:rPr lang="nl-NL" sz="1200" dirty="0" err="1">
                <a:solidFill>
                  <a:srgbClr val="002060"/>
                </a:solidFill>
              </a:rPr>
              <a:t>goods</a:t>
            </a:r>
            <a:r>
              <a:rPr lang="nl-NL" sz="1200" dirty="0">
                <a:solidFill>
                  <a:srgbClr val="002060"/>
                </a:solidFill>
              </a:rPr>
              <a:t> exports, </a:t>
            </a:r>
            <a:r>
              <a:rPr lang="nl-NL" sz="1200" dirty="0" err="1">
                <a:solidFill>
                  <a:srgbClr val="002060"/>
                </a:solidFill>
              </a:rPr>
              <a:t>Annual</a:t>
            </a:r>
            <a:r>
              <a:rPr lang="nl-NL" sz="1200" dirty="0">
                <a:solidFill>
                  <a:srgbClr val="002060"/>
                </a:solidFill>
              </a:rPr>
              <a:t> data 2000-2025. </a:t>
            </a:r>
            <a:r>
              <a:rPr lang="en-US" sz="1200" dirty="0">
                <a:solidFill>
                  <a:srgbClr val="002060"/>
                </a:solidFill>
              </a:rPr>
              <a:t>Products groups: HS 8471.50, HS 8471.80, HS 8473.30, HS 8486.10, HS 8486.20, HS 8486.30, HS 8486.40, HS 8486.90 </a:t>
            </a:r>
            <a:r>
              <a:rPr lang="pt-BR" sz="1200" dirty="0">
                <a:solidFill>
                  <a:srgbClr val="002060"/>
                </a:solidFill>
              </a:rPr>
              <a:t>(source: </a:t>
            </a:r>
            <a:r>
              <a:rPr lang="pt-BR" sz="1200" dirty="0">
                <a:solidFill>
                  <a:srgbClr val="002060"/>
                </a:solidFill>
                <a:hlinkClick r:id="rId3"/>
              </a:rPr>
              <a:t>Eurostat</a:t>
            </a:r>
            <a:r>
              <a:rPr lang="pt-BR" sz="1200" dirty="0">
                <a:solidFill>
                  <a:srgbClr val="002060"/>
                </a:solidFill>
              </a:rPr>
              <a:t>, Comext, HS2022).</a:t>
            </a:r>
            <a:endParaRPr lang="en-US" sz="1200" dirty="0">
              <a:solidFill>
                <a:srgbClr val="002060"/>
              </a:solidFill>
            </a:endParaRPr>
          </a:p>
          <a:p>
            <a:pPr>
              <a:defRPr/>
            </a:pPr>
            <a:endParaRPr lang="nl-NL" sz="1200" dirty="0">
              <a:solidFill>
                <a:srgbClr val="002060"/>
              </a:solidFill>
            </a:endParaRPr>
          </a:p>
        </p:txBody>
      </p:sp>
      <p:sp>
        <p:nvSpPr>
          <p:cNvPr id="13" name="Tekstvak 3">
            <a:extLst>
              <a:ext uri="{FF2B5EF4-FFF2-40B4-BE49-F238E27FC236}">
                <a16:creationId xmlns:a16="http://schemas.microsoft.com/office/drawing/2014/main" id="{4329BB17-F16F-495E-1F2E-C473B8ADC642}"/>
              </a:ext>
            </a:extLst>
          </p:cNvPr>
          <p:cNvSpPr txBox="1"/>
          <p:nvPr/>
        </p:nvSpPr>
        <p:spPr>
          <a:xfrm>
            <a:off x="7713162" y="6354330"/>
            <a:ext cx="1030301" cy="277001"/>
          </a:xfrm>
          <a:prstGeom prst="rect">
            <a:avLst/>
          </a:prstGeom>
          <a:noFill/>
        </p:spPr>
        <p:txBody>
          <a:bodyPr wrap="square" rtlCol="0">
            <a:spAutoFit/>
          </a:bodyPr>
          <a:lstStyle/>
          <a:p>
            <a:pPr>
              <a:defRPr/>
            </a:pPr>
            <a:r>
              <a:rPr lang="nl-NL" sz="1200" dirty="0">
                <a:solidFill>
                  <a:srgbClr val="002060"/>
                </a:solidFill>
                <a:hlinkClick r:id="rId4" action="ppaction://hlinksldjump"/>
              </a:rPr>
              <a:t>Link</a:t>
            </a:r>
            <a:r>
              <a:rPr lang="nl-NL" sz="1200" dirty="0">
                <a:solidFill>
                  <a:srgbClr val="002060"/>
                </a:solidFill>
              </a:rPr>
              <a:t> back</a:t>
            </a:r>
          </a:p>
        </p:txBody>
      </p:sp>
      <p:pic>
        <p:nvPicPr>
          <p:cNvPr id="4" name="Picture 3">
            <a:extLst>
              <a:ext uri="{FF2B5EF4-FFF2-40B4-BE49-F238E27FC236}">
                <a16:creationId xmlns:a16="http://schemas.microsoft.com/office/drawing/2014/main" id="{D752BB6B-84D3-1A02-4BE3-8EAA21B12319}"/>
              </a:ext>
            </a:extLst>
          </p:cNvPr>
          <p:cNvPicPr>
            <a:picLocks noChangeAspect="1"/>
          </p:cNvPicPr>
          <p:nvPr/>
        </p:nvPicPr>
        <p:blipFill>
          <a:blip r:embed="rId5"/>
          <a:stretch>
            <a:fillRect/>
          </a:stretch>
        </p:blipFill>
        <p:spPr>
          <a:xfrm>
            <a:off x="4902229" y="1522726"/>
            <a:ext cx="3949219" cy="3200400"/>
          </a:xfrm>
          <a:prstGeom prst="rect">
            <a:avLst/>
          </a:prstGeom>
        </p:spPr>
      </p:pic>
      <p:sp>
        <p:nvSpPr>
          <p:cNvPr id="6" name="Tekstvak 3">
            <a:extLst>
              <a:ext uri="{FF2B5EF4-FFF2-40B4-BE49-F238E27FC236}">
                <a16:creationId xmlns:a16="http://schemas.microsoft.com/office/drawing/2014/main" id="{42ACDE40-4CF9-25D5-B152-CDE514C54D15}"/>
              </a:ext>
            </a:extLst>
          </p:cNvPr>
          <p:cNvSpPr txBox="1"/>
          <p:nvPr/>
        </p:nvSpPr>
        <p:spPr>
          <a:xfrm>
            <a:off x="5013517" y="921978"/>
            <a:ext cx="3726644" cy="584775"/>
          </a:xfrm>
          <a:prstGeom prst="rect">
            <a:avLst/>
          </a:prstGeom>
          <a:noFill/>
        </p:spPr>
        <p:txBody>
          <a:bodyPr wrap="square" rtlCol="0">
            <a:spAutoFit/>
          </a:bodyPr>
          <a:lstStyle/>
          <a:p>
            <a:pPr>
              <a:defRPr/>
            </a:pPr>
            <a:r>
              <a:rPr lang="nl-NL" sz="1600" noProof="1">
                <a:solidFill>
                  <a:srgbClr val="002060"/>
                </a:solidFill>
              </a:rPr>
              <a:t>Correlation national stock index and SOX index</a:t>
            </a:r>
            <a:endParaRPr lang="nl-NL" sz="1600" dirty="0">
              <a:solidFill>
                <a:srgbClr val="002060"/>
              </a:solidFill>
            </a:endParaRPr>
          </a:p>
        </p:txBody>
      </p:sp>
      <p:sp>
        <p:nvSpPr>
          <p:cNvPr id="12" name="Tekstvak 3">
            <a:extLst>
              <a:ext uri="{FF2B5EF4-FFF2-40B4-BE49-F238E27FC236}">
                <a16:creationId xmlns:a16="http://schemas.microsoft.com/office/drawing/2014/main" id="{37AFEB65-C677-E635-F153-64D4EC70C109}"/>
              </a:ext>
            </a:extLst>
          </p:cNvPr>
          <p:cNvSpPr txBox="1"/>
          <p:nvPr/>
        </p:nvSpPr>
        <p:spPr>
          <a:xfrm>
            <a:off x="567762" y="978295"/>
            <a:ext cx="3726644" cy="338554"/>
          </a:xfrm>
          <a:prstGeom prst="rect">
            <a:avLst/>
          </a:prstGeom>
          <a:noFill/>
        </p:spPr>
        <p:txBody>
          <a:bodyPr wrap="square" rtlCol="0">
            <a:spAutoFit/>
          </a:bodyPr>
          <a:lstStyle/>
          <a:p>
            <a:pPr>
              <a:defRPr/>
            </a:pPr>
            <a:r>
              <a:rPr lang="nl-NL" sz="1600" noProof="1">
                <a:solidFill>
                  <a:srgbClr val="002060"/>
                </a:solidFill>
              </a:rPr>
              <a:t>ICT/AI-related export share</a:t>
            </a:r>
            <a:endParaRPr lang="nl-NL" sz="1600" dirty="0">
              <a:solidFill>
                <a:srgbClr val="002060"/>
              </a:solidFill>
            </a:endParaRPr>
          </a:p>
        </p:txBody>
      </p:sp>
      <p:pic>
        <p:nvPicPr>
          <p:cNvPr id="5" name="Picture 4">
            <a:extLst>
              <a:ext uri="{FF2B5EF4-FFF2-40B4-BE49-F238E27FC236}">
                <a16:creationId xmlns:a16="http://schemas.microsoft.com/office/drawing/2014/main" id="{7596D83C-A172-D741-78FB-EBEC12FF1632}"/>
              </a:ext>
            </a:extLst>
          </p:cNvPr>
          <p:cNvPicPr>
            <a:picLocks noChangeAspect="1"/>
          </p:cNvPicPr>
          <p:nvPr/>
        </p:nvPicPr>
        <p:blipFill>
          <a:blip r:embed="rId6"/>
          <a:stretch>
            <a:fillRect/>
          </a:stretch>
        </p:blipFill>
        <p:spPr>
          <a:xfrm>
            <a:off x="111598" y="1698111"/>
            <a:ext cx="4460402" cy="2849630"/>
          </a:xfrm>
          <a:prstGeom prst="rect">
            <a:avLst/>
          </a:prstGeom>
        </p:spPr>
      </p:pic>
    </p:spTree>
    <p:extLst>
      <p:ext uri="{BB962C8B-B14F-4D97-AF65-F5344CB8AC3E}">
        <p14:creationId xmlns:p14="http://schemas.microsoft.com/office/powerpoint/2010/main" val="240743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DEE4E-62EE-0BE5-AD2F-11094599F35C}"/>
            </a:ext>
          </a:extLst>
        </p:cNvPr>
        <p:cNvGrpSpPr/>
        <p:nvPr/>
      </p:nvGrpSpPr>
      <p:grpSpPr>
        <a:xfrm>
          <a:off x="0" y="0"/>
          <a:ext cx="0" cy="0"/>
          <a:chOff x="0" y="0"/>
          <a:chExt cx="0" cy="0"/>
        </a:xfrm>
      </p:grpSpPr>
      <p:sp>
        <p:nvSpPr>
          <p:cNvPr id="9" name="Titel 1">
            <a:extLst>
              <a:ext uri="{FF2B5EF4-FFF2-40B4-BE49-F238E27FC236}">
                <a16:creationId xmlns:a16="http://schemas.microsoft.com/office/drawing/2014/main" id="{03204D0B-CF7E-0BFC-4F0F-962010862E03}"/>
              </a:ext>
            </a:extLst>
          </p:cNvPr>
          <p:cNvSpPr>
            <a:spLocks noGrp="1"/>
          </p:cNvSpPr>
          <p:nvPr>
            <p:ph type="title"/>
          </p:nvPr>
        </p:nvSpPr>
        <p:spPr>
          <a:xfrm>
            <a:off x="0" y="0"/>
            <a:ext cx="9144000" cy="566928"/>
          </a:xfrm>
          <a:solidFill>
            <a:srgbClr val="44287F"/>
          </a:solidFill>
        </p:spPr>
        <p:txBody>
          <a:bodyPr anchor="ctr"/>
          <a:lstStyle/>
          <a:p>
            <a:pPr algn="ctr">
              <a:lnSpc>
                <a:spcPct val="100000"/>
              </a:lnSpc>
            </a:pPr>
            <a:r>
              <a:rPr lang="en-US" sz="2400" noProof="1">
                <a:solidFill>
                  <a:schemeClr val="bg1"/>
                </a:solidFill>
              </a:rPr>
              <a:t>Robustness tests</a:t>
            </a:r>
          </a:p>
        </p:txBody>
      </p:sp>
      <p:sp>
        <p:nvSpPr>
          <p:cNvPr id="2" name="Content Placeholder 2">
            <a:extLst>
              <a:ext uri="{FF2B5EF4-FFF2-40B4-BE49-F238E27FC236}">
                <a16:creationId xmlns:a16="http://schemas.microsoft.com/office/drawing/2014/main" id="{69505807-7DB6-66DD-D0C3-991E02849C08}"/>
              </a:ext>
            </a:extLst>
          </p:cNvPr>
          <p:cNvSpPr>
            <a:spLocks noGrp="1"/>
          </p:cNvSpPr>
          <p:nvPr>
            <p:ph idx="1"/>
          </p:nvPr>
        </p:nvSpPr>
        <p:spPr>
          <a:xfrm>
            <a:off x="438652" y="803136"/>
            <a:ext cx="8129275" cy="5287564"/>
          </a:xfrm>
        </p:spPr>
        <p:txBody>
          <a:bodyPr>
            <a:normAutofit/>
          </a:bodyPr>
          <a:lstStyle/>
          <a:p>
            <a:pPr marL="342900" indent="-342900">
              <a:lnSpc>
                <a:spcPct val="120000"/>
              </a:lnSpc>
              <a:spcAft>
                <a:spcPts val="1200"/>
              </a:spcAft>
              <a:buFont typeface="Arial" panose="020B0604020202020204" pitchFamily="34" charset="0"/>
              <a:buChar char="•"/>
            </a:pPr>
            <a:endParaRPr lang="nl-NL" sz="2000" noProof="1">
              <a:solidFill>
                <a:schemeClr val="accent1">
                  <a:lumMod val="50000"/>
                </a:schemeClr>
              </a:solidFill>
              <a:latin typeface="Verdana" panose="020B0604030504040204" pitchFamily="34" charset="0"/>
              <a:ea typeface="Verdana" panose="020B0604030504040204" pitchFamily="34" charset="0"/>
            </a:endParaRPr>
          </a:p>
          <a:p>
            <a:pPr marL="342900" indent="-342900">
              <a:lnSpc>
                <a:spcPct val="120000"/>
              </a:lnSpc>
              <a:spcAft>
                <a:spcPts val="1200"/>
              </a:spcAft>
              <a:buFont typeface="Arial" panose="020B0604020202020204" pitchFamily="34" charset="0"/>
              <a:buChar char="•"/>
            </a:pPr>
            <a:r>
              <a:rPr lang="nl-NL" sz="2000" noProof="1">
                <a:latin typeface="Arial" panose="020B0604020202020204" pitchFamily="34" charset="0"/>
                <a:ea typeface="Verdana" panose="020B0604030504040204" pitchFamily="34" charset="0"/>
                <a:cs typeface="Arial" panose="020B0604020202020204" pitchFamily="34" charset="0"/>
              </a:rPr>
              <a:t>Trade data based on Eurostat CPA instead of HS → similar results</a:t>
            </a:r>
          </a:p>
          <a:p>
            <a:pPr marL="342900" indent="-342900">
              <a:lnSpc>
                <a:spcPct val="120000"/>
              </a:lnSpc>
              <a:spcAft>
                <a:spcPts val="1200"/>
              </a:spcAft>
              <a:buFont typeface="Arial" panose="020B0604020202020204" pitchFamily="34" charset="0"/>
              <a:buChar char="•"/>
            </a:pPr>
            <a:r>
              <a:rPr lang="nl-NL" sz="2000" noProof="1">
                <a:latin typeface="Arial" panose="020B0604020202020204" pitchFamily="34" charset="0"/>
                <a:ea typeface="Verdana" panose="020B0604030504040204" pitchFamily="34" charset="0"/>
                <a:cs typeface="Arial" panose="020B0604020202020204" pitchFamily="34" charset="0"/>
              </a:rPr>
              <a:t>Forecast vintage controls → similar results</a:t>
            </a:r>
          </a:p>
          <a:p>
            <a:pPr marL="342900" indent="-342900">
              <a:lnSpc>
                <a:spcPct val="120000"/>
              </a:lnSpc>
              <a:spcAft>
                <a:spcPts val="1200"/>
              </a:spcAft>
              <a:buFont typeface="Arial" panose="020B0604020202020204" pitchFamily="34" charset="0"/>
              <a:buChar char="•"/>
            </a:pPr>
            <a:r>
              <a:rPr lang="nl-NL" sz="2000" noProof="1">
                <a:latin typeface="Arial" panose="020B0604020202020204" pitchFamily="34" charset="0"/>
                <a:ea typeface="Verdana" panose="020B0604030504040204" pitchFamily="34" charset="0"/>
                <a:cs typeface="Arial" panose="020B0604020202020204" pitchFamily="34" charset="0"/>
              </a:rPr>
              <a:t>Different choice of shock years (to do)</a:t>
            </a:r>
          </a:p>
          <a:p>
            <a:pPr marL="342900" indent="-342900">
              <a:lnSpc>
                <a:spcPct val="120000"/>
              </a:lnSpc>
              <a:spcAft>
                <a:spcPts val="1200"/>
              </a:spcAft>
              <a:buFont typeface="Arial" panose="020B0604020202020204" pitchFamily="34" charset="0"/>
              <a:buChar char="•"/>
            </a:pPr>
            <a:r>
              <a:rPr lang="nl-NL" sz="2000" noProof="1">
                <a:latin typeface="Arial" panose="020B0604020202020204" pitchFamily="34" charset="0"/>
                <a:ea typeface="Verdana" panose="020B0604030504040204" pitchFamily="34" charset="0"/>
                <a:cs typeface="Arial" panose="020B0604020202020204" pitchFamily="34" charset="0"/>
              </a:rPr>
              <a:t>Modified stock index correlation variable (to do)</a:t>
            </a:r>
          </a:p>
          <a:p>
            <a:pPr marL="342900" indent="-342900">
              <a:lnSpc>
                <a:spcPct val="120000"/>
              </a:lnSpc>
              <a:spcAft>
                <a:spcPts val="1200"/>
              </a:spcAft>
              <a:buFont typeface="Arial" panose="020B0604020202020204" pitchFamily="34" charset="0"/>
              <a:buChar char="•"/>
            </a:pPr>
            <a:r>
              <a:rPr lang="nl-NL" sz="2000" noProof="1">
                <a:latin typeface="Arial" panose="020B0604020202020204" pitchFamily="34" charset="0"/>
                <a:ea typeface="Verdana" panose="020B0604030504040204" pitchFamily="34" charset="0"/>
                <a:cs typeface="Arial" panose="020B0604020202020204" pitchFamily="34" charset="0"/>
              </a:rPr>
              <a:t>Other control variables (to do)</a:t>
            </a:r>
          </a:p>
          <a:p>
            <a:pPr marL="285750" indent="-285750">
              <a:lnSpc>
                <a:spcPct val="120000"/>
              </a:lnSpc>
              <a:spcAft>
                <a:spcPts val="1200"/>
              </a:spcAft>
              <a:buFont typeface="Arial" panose="020B0604020202020204" pitchFamily="34" charset="0"/>
              <a:buChar char="•"/>
            </a:pPr>
            <a:endParaRPr lang="nl-NL" sz="1600" dirty="0">
              <a:solidFill>
                <a:schemeClr val="accent1">
                  <a:lumMod val="50000"/>
                </a:schemeClr>
              </a:solidFill>
            </a:endParaRPr>
          </a:p>
        </p:txBody>
      </p:sp>
    </p:spTree>
    <p:extLst>
      <p:ext uri="{BB962C8B-B14F-4D97-AF65-F5344CB8AC3E}">
        <p14:creationId xmlns:p14="http://schemas.microsoft.com/office/powerpoint/2010/main" val="341592472"/>
      </p:ext>
    </p:extLst>
  </p:cSld>
  <p:clrMapOvr>
    <a:masterClrMapping/>
  </p:clrMapOvr>
</p:sld>
</file>

<file path=ppt/theme/theme1.xml><?xml version="1.0" encoding="utf-8"?>
<a:theme xmlns:a="http://schemas.openxmlformats.org/drawingml/2006/main" name="1_LichteAchtergrond4x3">
  <a:themeElements>
    <a:clrScheme name="DNB">
      <a:dk1>
        <a:sysClr val="windowText" lastClr="000000"/>
      </a:dk1>
      <a:lt1>
        <a:sysClr val="window" lastClr="FFFFFF"/>
      </a:lt1>
      <a:dk2>
        <a:srgbClr val="44546A"/>
      </a:dk2>
      <a:lt2>
        <a:srgbClr val="E7E6E6"/>
      </a:lt2>
      <a:accent1>
        <a:srgbClr val="2FB5E4"/>
      </a:accent1>
      <a:accent2>
        <a:srgbClr val="162257"/>
      </a:accent2>
      <a:accent3>
        <a:srgbClr val="B8450E"/>
      </a:accent3>
      <a:accent4>
        <a:srgbClr val="9B9000"/>
      </a:accent4>
      <a:accent5>
        <a:srgbClr val="D7CCAF"/>
      </a:accent5>
      <a:accent6>
        <a:srgbClr val="003E3B"/>
      </a:accent6>
      <a:hlink>
        <a:srgbClr val="162257"/>
      </a:hlink>
      <a:folHlink>
        <a:srgbClr val="422335"/>
      </a:folHlink>
    </a:clrScheme>
    <a:fontScheme name="DNB">
      <a:majorFont>
        <a:latin typeface="Verdana"/>
        <a:ea typeface=""/>
        <a:cs typeface=""/>
      </a:majorFont>
      <a:minorFont>
        <a:latin typeface="Verdana"/>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_v1.0.5.potx" id="{B270FB89-5B9F-428A-BCB9-6C207FB2C8FE}" vid="{AFFF9D4B-64E8-4DB5-B4AD-056B69DF5234}"/>
    </a:ext>
  </a:extLst>
</a:theme>
</file>

<file path=ppt/theme/theme2.xml><?xml version="1.0" encoding="utf-8"?>
<a:theme xmlns:a="http://schemas.openxmlformats.org/drawingml/2006/main" name="3_LichteAchtergrond4x3">
  <a:themeElements>
    <a:clrScheme name="DNB">
      <a:dk1>
        <a:sysClr val="windowText" lastClr="000000"/>
      </a:dk1>
      <a:lt1>
        <a:sysClr val="window" lastClr="FFFFFF"/>
      </a:lt1>
      <a:dk2>
        <a:srgbClr val="44546A"/>
      </a:dk2>
      <a:lt2>
        <a:srgbClr val="E7E6E6"/>
      </a:lt2>
      <a:accent1>
        <a:srgbClr val="2FB5E4"/>
      </a:accent1>
      <a:accent2>
        <a:srgbClr val="162257"/>
      </a:accent2>
      <a:accent3>
        <a:srgbClr val="B8450E"/>
      </a:accent3>
      <a:accent4>
        <a:srgbClr val="9B9000"/>
      </a:accent4>
      <a:accent5>
        <a:srgbClr val="D7CCAF"/>
      </a:accent5>
      <a:accent6>
        <a:srgbClr val="003E3B"/>
      </a:accent6>
      <a:hlink>
        <a:srgbClr val="162257"/>
      </a:hlink>
      <a:folHlink>
        <a:srgbClr val="422335"/>
      </a:folHlink>
    </a:clrScheme>
    <a:fontScheme name="DNB">
      <a:majorFont>
        <a:latin typeface="Verdana"/>
        <a:ea typeface=""/>
        <a:cs typeface=""/>
      </a:majorFont>
      <a:minorFont>
        <a:latin typeface="Verdana"/>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_v1.0.5.potx" id="{B270FB89-5B9F-428A-BCB9-6C207FB2C8FE}" vid="{AFFF9D4B-64E8-4DB5-B4AD-056B69DF5234}"/>
    </a:ext>
  </a:extLst>
</a:theme>
</file>

<file path=ppt/theme/theme3.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ddf9560-f40a-4faa-b693-65e98d55b544}" enabled="1" method="Privileged" siteId="{9ecbd628-0072-405d-8567-32c6750b0d3e}" removed="0"/>
</clbl:labelList>
</file>

<file path=docProps/app.xml><?xml version="1.0" encoding="utf-8"?>
<Properties xmlns="http://schemas.openxmlformats.org/officeDocument/2006/extended-properties" xmlns:vt="http://schemas.openxmlformats.org/officeDocument/2006/docPropsVTypes">
  <Template>LichteAchtergrond4x3</Template>
  <TotalTime>2262</TotalTime>
  <Words>2547</Words>
  <Application>Microsoft Office PowerPoint</Application>
  <PresentationFormat>On-screen Show (4:3)</PresentationFormat>
  <Paragraphs>166</Paragraphs>
  <Slides>17</Slides>
  <Notes>17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17</vt:i4>
      </vt:variant>
    </vt:vector>
  </HeadingPairs>
  <TitlesOfParts>
    <vt:vector size="26" baseType="lpstr">
      <vt:lpstr>Aptos</vt:lpstr>
      <vt:lpstr>Arial</vt:lpstr>
      <vt:lpstr>Calibri</vt:lpstr>
      <vt:lpstr>Cambria Math</vt:lpstr>
      <vt:lpstr>Courier New</vt:lpstr>
      <vt:lpstr>Verdana</vt:lpstr>
      <vt:lpstr>Wingdings</vt:lpstr>
      <vt:lpstr>1_LichteAchtergrond4x3</vt:lpstr>
      <vt:lpstr>3_LichteAchtergrond4x3</vt:lpstr>
      <vt:lpstr>PowerPoint Presentation</vt:lpstr>
      <vt:lpstr>Semiconductor super-cycle seems immune to shocks</vt:lpstr>
      <vt:lpstr>Empirical approach</vt:lpstr>
      <vt:lpstr>AI-related exposure</vt:lpstr>
      <vt:lpstr>Shock resilience</vt:lpstr>
      <vt:lpstr>AI-related investment</vt:lpstr>
      <vt:lpstr>AI-related trade and stock market exposure</vt:lpstr>
      <vt:lpstr>Linear probability models (LPM)</vt:lpstr>
      <vt:lpstr>Results LPM models</vt:lpstr>
      <vt:lpstr>Correlated random-effects probit models (CRE)</vt:lpstr>
      <vt:lpstr>Results CRE probit models</vt:lpstr>
      <vt:lpstr>Conclusions</vt:lpstr>
      <vt:lpstr>Background slides</vt:lpstr>
      <vt:lpstr>Wild swings in semiconductor short-term cycle</vt:lpstr>
      <vt:lpstr>AI-related investment</vt:lpstr>
      <vt:lpstr>AI-related trade and stock market exposure</vt:lpstr>
      <vt:lpstr>Robustness tests</vt:lpstr>
    </vt:vector>
  </TitlesOfParts>
  <Company>De Nederlandsche Bank N.V.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Jan Willem van den End (EBO_CMA)</dc:creator>
  <dc:description/>
  <cp:lastModifiedBy>Jan Willem van den End (EBO_CMA)</cp:lastModifiedBy>
  <cp:revision>17</cp:revision>
  <cp:lastPrinted>2021-12-14T08:32:52Z</cp:lastPrinted>
  <dcterms:created xsi:type="dcterms:W3CDTF">2026-09-18T13:31:25Z</dcterms:created>
  <dcterms:modified xsi:type="dcterms:W3CDTF">2026-10-10T15:12:51Z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LichteAchtergrond4x3:5\1_LichteAchtergrond4x3:5\3_LichteAchtergrond4x3:5</vt:lpwstr>
  </property>
  <property fmtid="{D5CDD505-2E9C-101B-9397-08002B2CF9AE}" pid="3" name="ClassificationContentMarkingHeaderText">
    <vt:lpwstr>| DNB PUBLIC |</vt:lpwstr>
  </property>
</Properties>
</file>