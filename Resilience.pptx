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8" r:id="rId1"/>
    <p:sldMasterId id="2147483708" r:id="rId2"/>
  </p:sldMasterIdLst>
  <p:notesMasterIdLst>
    <p:notesMasterId r:id="rId20"/>
  </p:notesMasterIdLst>
  <p:handoutMasterIdLst>
    <p:handoutMasterId r:id="rId21"/>
  </p:handoutMasterIdLst>
  <p:sldIdLst>
    <p:sldId id="781" r:id="rId3"/>
    <p:sldId id="768" r:id="rId4"/>
    <p:sldId id="795" r:id="rId5"/>
    <p:sldId id="657" r:id="rId6"/>
    <p:sldId id="786" r:id="rId7"/>
    <p:sldId id="784" r:id="rId8"/>
    <p:sldId id="792" r:id="rId9"/>
    <p:sldId id="793" r:id="rId10"/>
    <p:sldId id="796" r:id="rId11"/>
    <p:sldId id="798" r:id="rId12"/>
    <p:sldId id="799" r:id="rId13"/>
    <p:sldId id="790" r:id="rId14"/>
    <p:sldId id="783" r:id="rId15"/>
    <p:sldId id="782" r:id="rId16"/>
    <p:sldId id="791" r:id="rId17"/>
    <p:sldId id="794" r:id="rId18"/>
    <p:sldId id="797" r:id="rId19"/>
  </p:sldIdLst>
  <p:sldSz cx="9144000" cy="6858000" type="screen4x3"/>
  <p:notesSz cx="6805613" cy="99441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9AA52A-C8DC-0079-4B3D-3D94CB4CC93F}" name="Sleijpen, O.C.H.M. (Olaf) (DIR_DIR)" initials="SO((" userId="S::o.c.h.m.sleijpen@dnb.nl::e1834a21-b3b8-47a2-be81-be8d1b72480a" providerId="AD"/>
  <p188:author id="{114EDE45-E8DB-37B7-C237-E6B69FEBD181}" name="Hebbink, G.E. (Gerbert) (EBO_CMA)" initials="HG((" userId="S::g.e.hebbink@dnb.nl::444fd58c-4ff3-4106-ad46-ede14c697b3e" providerId="AD"/>
  <p188:author id="{19AFD3AA-EF12-0A5E-B173-A3D533F398FE}" name="Robert-Paul Berben (EBO_ECMO)" initials="RB" userId="S::r.p.berben@dnb.nl::e0d9533d-c10d-4fed-b4b8-e1abed61a76a" providerId="AD"/>
  <p188:author id="{B57F0CF1-687C-DE38-9287-2219F7DAA597}" name="Henneman, M.L. (Maria) (COM_COM)" initials="HM((" userId="S::M.L.Henneman@dnb.nl::93a05259-aa37-4f46-ab68-ed256dca0c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0099"/>
    <a:srgbClr val="9B9000"/>
    <a:srgbClr val="002060"/>
    <a:srgbClr val="211261"/>
    <a:srgbClr val="2B323C"/>
    <a:srgbClr val="0000FF"/>
    <a:srgbClr val="7F7F7F"/>
    <a:srgbClr val="162257"/>
    <a:srgbClr val="44287F"/>
    <a:srgbClr val="9B9B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B43BEF-9B9B-431D-9308-0B2B126B7992}" v="753" dt="2026-10-10T15:20:10.608"/>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ijl, gemiddeld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Stijl, gemiddeld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Stijl, gemiddeld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ijl, gemiddeld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notesView">
  <p:normalViewPr>
    <p:restoredLeft sz="15620"/>
    <p:restoredTop sz="94660"/>
  </p:normalViewPr>
  <p:slideViewPr>
    <p:cSldViewPr snapToGrid="0">
      <p:cViewPr varScale="1">
        <p:scale>
          <a:sx n="70" d="100"/>
          <a:sy n="70" d="100"/>
        </p:scale>
        <p:origin x="1180" y="32"/>
      </p:cViewPr>
      <p:guideLst>
        <p:guide orient="horz" pos="2160"/>
        <p:guide pos="2880"/>
      </p:guideLst>
    </p:cSldViewPr>
  </p:slideViewPr>
  <p:notesTextViewPr>
    <p:cViewPr>
      <p:scale>
        <a:sx n="1" d="1"/>
        <a:sy n="1" d="1"/>
      </p:scale>
      <p:origin x="0" y="0"/>
    </p:cViewPr>
  </p:notesTextViewPr>
  <p:notesViewPr>
    <p:cSldViewPr snapToGrid="0">
      <p:cViewPr>
        <p:scale>
          <a:sx n="90" d="100"/>
          <a:sy n="90" d="100"/>
        </p:scale>
        <p:origin x="1868" y="-172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microsoft.com/office/2016/11/relationships/changesInfo" Target="changesInfos/changesInfo1.xml"/><Relationship Id="rId3" Type="http://schemas.openxmlformats.org/officeDocument/2006/relationships/slide" Target="slides/slide1.xml"/><Relationship Id="rId21" Type="http://schemas.openxmlformats.org/officeDocument/2006/relationships/handoutMaster" Target="handoutMasters/handout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28" Type="http://schemas.microsoft.com/office/2018/10/relationships/authors" Target="author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 Willem van den End (EBO_CMA)" userId="32ade95a-e024-4672-952f-5ed8641a9e00" providerId="ADAL" clId="{3BBBE02E-ACD4-4586-9407-5E79BF620DF1}"/>
    <pc:docChg chg="undo redo custSel addSld modSld sldOrd">
      <pc:chgData name="Jan Willem van den End (EBO_CMA)" userId="32ade95a-e024-4672-952f-5ed8641a9e00" providerId="ADAL" clId="{3BBBE02E-ACD4-4586-9407-5E79BF620DF1}" dt="2026-10-10T15:23:16.693" v="10568" actId="6549"/>
      <pc:docMkLst>
        <pc:docMk/>
      </pc:docMkLst>
      <pc:sldChg chg="delSp modSp mod modNotes modNotesTx">
        <pc:chgData name="Jan Willem van den End (EBO_CMA)" userId="32ade95a-e024-4672-952f-5ed8641a9e00" providerId="ADAL" clId="{3BBBE02E-ACD4-4586-9407-5E79BF620DF1}" dt="2026-10-05T18:17:21.030" v="8587" actId="255"/>
        <pc:sldMkLst>
          <pc:docMk/>
          <pc:sldMk cId="3588697" sldId="657"/>
        </pc:sldMkLst>
        <pc:spChg chg="mod">
          <ac:chgData name="Jan Willem van den End (EBO_CMA)" userId="32ade95a-e024-4672-952f-5ed8641a9e00" providerId="ADAL" clId="{3BBBE02E-ACD4-4586-9407-5E79BF620DF1}" dt="2026-09-29T19:17:20.417" v="5882" actId="1076"/>
          <ac:spMkLst>
            <pc:docMk/>
            <pc:sldMk cId="3588697" sldId="657"/>
            <ac:spMk id="2" creationId="{8F3D8D65-3E89-7468-E586-D814DD2BD102}"/>
          </ac:spMkLst>
        </pc:spChg>
      </pc:sldChg>
      <pc:sldChg chg="modSp mod">
        <pc:chgData name="Jan Willem van den End (EBO_CMA)" userId="32ade95a-e024-4672-952f-5ed8641a9e00" providerId="ADAL" clId="{3BBBE02E-ACD4-4586-9407-5E79BF620DF1}" dt="2026-09-25T10:45:34.501" v="5500" actId="20577"/>
        <pc:sldMkLst>
          <pc:docMk/>
          <pc:sldMk cId="1203207517" sldId="768"/>
        </pc:sldMkLst>
        <pc:spChg chg="mod">
          <ac:chgData name="Jan Willem van den End (EBO_CMA)" userId="32ade95a-e024-4672-952f-5ed8641a9e00" providerId="ADAL" clId="{3BBBE02E-ACD4-4586-9407-5E79BF620DF1}" dt="2026-09-25T10:45:34.501" v="5500" actId="20577"/>
          <ac:spMkLst>
            <pc:docMk/>
            <pc:sldMk cId="1203207517" sldId="768"/>
            <ac:spMk id="8" creationId="{545BE5F7-F057-18CF-DA77-201D8BAEDAF2}"/>
          </ac:spMkLst>
        </pc:spChg>
      </pc:sldChg>
      <pc:sldChg chg="modNotesTx">
        <pc:chgData name="Jan Willem van den End (EBO_CMA)" userId="32ade95a-e024-4672-952f-5ed8641a9e00" providerId="ADAL" clId="{3BBBE02E-ACD4-4586-9407-5E79BF620DF1}" dt="2026-10-06T07:05:40.929" v="8819" actId="20577"/>
        <pc:sldMkLst>
          <pc:docMk/>
          <pc:sldMk cId="2835017235" sldId="781"/>
        </pc:sldMkLst>
      </pc:sldChg>
      <pc:sldChg chg="modSp mod">
        <pc:chgData name="Jan Willem van den End (EBO_CMA)" userId="32ade95a-e024-4672-952f-5ed8641a9e00" providerId="ADAL" clId="{3BBBE02E-ACD4-4586-9407-5E79BF620DF1}" dt="2026-09-24T09:53:12.219" v="4093"/>
        <pc:sldMkLst>
          <pc:docMk/>
          <pc:sldMk cId="1473696260" sldId="782"/>
        </pc:sldMkLst>
        <pc:spChg chg="mod">
          <ac:chgData name="Jan Willem van den End (EBO_CMA)" userId="32ade95a-e024-4672-952f-5ed8641a9e00" providerId="ADAL" clId="{3BBBE02E-ACD4-4586-9407-5E79BF620DF1}" dt="2026-09-24T09:53:12.219" v="4093"/>
          <ac:spMkLst>
            <pc:docMk/>
            <pc:sldMk cId="1473696260" sldId="782"/>
            <ac:spMk id="8" creationId="{F8831F86-71DE-C3FE-B109-F7E9B5952F04}"/>
          </ac:spMkLst>
        </pc:spChg>
      </pc:sldChg>
      <pc:sldChg chg="addSp delSp modSp mod">
        <pc:chgData name="Jan Willem van den End (EBO_CMA)" userId="32ade95a-e024-4672-952f-5ed8641a9e00" providerId="ADAL" clId="{3BBBE02E-ACD4-4586-9407-5E79BF620DF1}" dt="2026-09-29T19:08:51.624" v="5708" actId="1076"/>
        <pc:sldMkLst>
          <pc:docMk/>
          <pc:sldMk cId="2428101549" sldId="784"/>
        </pc:sldMkLst>
        <pc:spChg chg="mod">
          <ac:chgData name="Jan Willem van den End (EBO_CMA)" userId="32ade95a-e024-4672-952f-5ed8641a9e00" providerId="ADAL" clId="{3BBBE02E-ACD4-4586-9407-5E79BF620DF1}" dt="2026-09-25T10:05:05.902" v="5061" actId="1035"/>
          <ac:spMkLst>
            <pc:docMk/>
            <pc:sldMk cId="2428101549" sldId="784"/>
            <ac:spMk id="5" creationId="{0EEE5C01-F407-B286-8291-7A84B3BBB14E}"/>
          </ac:spMkLst>
        </pc:spChg>
        <pc:spChg chg="mod">
          <ac:chgData name="Jan Willem van den End (EBO_CMA)" userId="32ade95a-e024-4672-952f-5ed8641a9e00" providerId="ADAL" clId="{3BBBE02E-ACD4-4586-9407-5E79BF620DF1}" dt="2026-09-25T10:09:42.045" v="5079" actId="20577"/>
          <ac:spMkLst>
            <pc:docMk/>
            <pc:sldMk cId="2428101549" sldId="784"/>
            <ac:spMk id="6" creationId="{613E110F-8AEE-A02C-2032-1F07DE944DEB}"/>
          </ac:spMkLst>
        </pc:spChg>
        <pc:spChg chg="add mod">
          <ac:chgData name="Jan Willem van den End (EBO_CMA)" userId="32ade95a-e024-4672-952f-5ed8641a9e00" providerId="ADAL" clId="{3BBBE02E-ACD4-4586-9407-5E79BF620DF1}" dt="2026-09-25T11:36:40.711" v="5518" actId="20577"/>
          <ac:spMkLst>
            <pc:docMk/>
            <pc:sldMk cId="2428101549" sldId="784"/>
            <ac:spMk id="13" creationId="{C8DC46B8-5E08-30F3-1EE3-CB90635026CE}"/>
          </ac:spMkLst>
        </pc:spChg>
        <pc:picChg chg="mod">
          <ac:chgData name="Jan Willem van den End (EBO_CMA)" userId="32ade95a-e024-4672-952f-5ed8641a9e00" providerId="ADAL" clId="{3BBBE02E-ACD4-4586-9407-5E79BF620DF1}" dt="2026-09-29T19:08:49.382" v="5707" actId="14100"/>
          <ac:picMkLst>
            <pc:docMk/>
            <pc:sldMk cId="2428101549" sldId="784"/>
            <ac:picMk id="3" creationId="{B68D3A0C-D014-485F-5A02-9F50BA67BD89}"/>
          </ac:picMkLst>
        </pc:picChg>
        <pc:picChg chg="mod">
          <ac:chgData name="Jan Willem van den End (EBO_CMA)" userId="32ade95a-e024-4672-952f-5ed8641a9e00" providerId="ADAL" clId="{3BBBE02E-ACD4-4586-9407-5E79BF620DF1}" dt="2026-09-29T19:08:51.624" v="5708" actId="1076"/>
          <ac:picMkLst>
            <pc:docMk/>
            <pc:sldMk cId="2428101549" sldId="784"/>
            <ac:picMk id="4" creationId="{AFFB3634-5B82-136E-F947-D33F3E34AD6C}"/>
          </ac:picMkLst>
        </pc:picChg>
      </pc:sldChg>
      <pc:sldChg chg="modSp mod modNotes modNotesTx">
        <pc:chgData name="Jan Willem van den End (EBO_CMA)" userId="32ade95a-e024-4672-952f-5ed8641a9e00" providerId="ADAL" clId="{3BBBE02E-ACD4-4586-9407-5E79BF620DF1}" dt="2026-10-06T07:27:52.456" v="8906" actId="6549"/>
        <pc:sldMkLst>
          <pc:docMk/>
          <pc:sldMk cId="4129420739" sldId="786"/>
        </pc:sldMkLst>
        <pc:spChg chg="mod">
          <ac:chgData name="Jan Willem van den End (EBO_CMA)" userId="32ade95a-e024-4672-952f-5ed8641a9e00" providerId="ADAL" clId="{3BBBE02E-ACD4-4586-9407-5E79BF620DF1}" dt="2026-10-05T06:43:41.240" v="6163" actId="20577"/>
          <ac:spMkLst>
            <pc:docMk/>
            <pc:sldMk cId="4129420739" sldId="786"/>
            <ac:spMk id="8" creationId="{233DCD29-1BC1-E6E9-61D7-A3B8C24AFEC7}"/>
          </ac:spMkLst>
        </pc:spChg>
      </pc:sldChg>
      <pc:sldChg chg="modSp mod">
        <pc:chgData name="Jan Willem van den End (EBO_CMA)" userId="32ade95a-e024-4672-952f-5ed8641a9e00" providerId="ADAL" clId="{3BBBE02E-ACD4-4586-9407-5E79BF620DF1}" dt="2026-09-29T19:14:24.559" v="5805" actId="20577"/>
        <pc:sldMkLst>
          <pc:docMk/>
          <pc:sldMk cId="3777662078" sldId="790"/>
        </pc:sldMkLst>
        <pc:spChg chg="mod">
          <ac:chgData name="Jan Willem van den End (EBO_CMA)" userId="32ade95a-e024-4672-952f-5ed8641a9e00" providerId="ADAL" clId="{3BBBE02E-ACD4-4586-9407-5E79BF620DF1}" dt="2026-09-29T19:14:24.559" v="5805" actId="20577"/>
          <ac:spMkLst>
            <pc:docMk/>
            <pc:sldMk cId="3777662078" sldId="790"/>
            <ac:spMk id="2" creationId="{EFBED4CC-73CB-5E21-890E-866BC0B3643A}"/>
          </ac:spMkLst>
        </pc:spChg>
        <pc:spChg chg="mod">
          <ac:chgData name="Jan Willem van den End (EBO_CMA)" userId="32ade95a-e024-4672-952f-5ed8641a9e00" providerId="ADAL" clId="{3BBBE02E-ACD4-4586-9407-5E79BF620DF1}" dt="2026-09-18T19:27:10.448" v="1158" actId="20577"/>
          <ac:spMkLst>
            <pc:docMk/>
            <pc:sldMk cId="3777662078" sldId="790"/>
            <ac:spMk id="9" creationId="{2EDEA4FF-77B4-1210-0800-2B8BF9AA0C33}"/>
          </ac:spMkLst>
        </pc:spChg>
      </pc:sldChg>
      <pc:sldChg chg="delSp modSp mod">
        <pc:chgData name="Jan Willem van den End (EBO_CMA)" userId="32ade95a-e024-4672-952f-5ed8641a9e00" providerId="ADAL" clId="{3BBBE02E-ACD4-4586-9407-5E79BF620DF1}" dt="2026-09-29T19:15:17.932" v="5809" actId="6549"/>
        <pc:sldMkLst>
          <pc:docMk/>
          <pc:sldMk cId="374833015" sldId="791"/>
        </pc:sldMkLst>
        <pc:spChg chg="mod">
          <ac:chgData name="Jan Willem van den End (EBO_CMA)" userId="32ade95a-e024-4672-952f-5ed8641a9e00" providerId="ADAL" clId="{3BBBE02E-ACD4-4586-9407-5E79BF620DF1}" dt="2026-09-25T10:43:33.513" v="5406" actId="20577"/>
          <ac:spMkLst>
            <pc:docMk/>
            <pc:sldMk cId="374833015" sldId="791"/>
            <ac:spMk id="4" creationId="{80A3C609-6383-27DE-510C-C64F4B0DBC92}"/>
          </ac:spMkLst>
        </pc:spChg>
        <pc:spChg chg="mod">
          <ac:chgData name="Jan Willem van den End (EBO_CMA)" userId="32ade95a-e024-4672-952f-5ed8641a9e00" providerId="ADAL" clId="{3BBBE02E-ACD4-4586-9407-5E79BF620DF1}" dt="2026-09-29T19:15:17.932" v="5809" actId="6549"/>
          <ac:spMkLst>
            <pc:docMk/>
            <pc:sldMk cId="374833015" sldId="791"/>
            <ac:spMk id="8" creationId="{21C63CC4-9F1C-6D6D-9FEF-9D04021E36EE}"/>
          </ac:spMkLst>
        </pc:spChg>
        <pc:spChg chg="mod">
          <ac:chgData name="Jan Willem van den End (EBO_CMA)" userId="32ade95a-e024-4672-952f-5ed8641a9e00" providerId="ADAL" clId="{3BBBE02E-ACD4-4586-9407-5E79BF620DF1}" dt="2026-09-23T10:25:55.343" v="4048" actId="6549"/>
          <ac:spMkLst>
            <pc:docMk/>
            <pc:sldMk cId="374833015" sldId="791"/>
            <ac:spMk id="11" creationId="{7D1FCEE6-8AAC-959D-A8E8-B4CF4C9F0122}"/>
          </ac:spMkLst>
        </pc:spChg>
        <pc:picChg chg="mod">
          <ac:chgData name="Jan Willem van den End (EBO_CMA)" userId="32ade95a-e024-4672-952f-5ed8641a9e00" providerId="ADAL" clId="{3BBBE02E-ACD4-4586-9407-5E79BF620DF1}" dt="2026-09-23T10:25:19.998" v="4015" actId="1076"/>
          <ac:picMkLst>
            <pc:docMk/>
            <pc:sldMk cId="374833015" sldId="791"/>
            <ac:picMk id="3" creationId="{8A7EFEE7-907A-EF9C-42CF-70E7257DAC35}"/>
          </ac:picMkLst>
        </pc:picChg>
      </pc:sldChg>
      <pc:sldChg chg="addSp delSp modSp mod ord">
        <pc:chgData name="Jan Willem van den End (EBO_CMA)" userId="32ade95a-e024-4672-952f-5ed8641a9e00" providerId="ADAL" clId="{3BBBE02E-ACD4-4586-9407-5E79BF620DF1}" dt="2026-10-05T18:13:52.126" v="8506"/>
        <pc:sldMkLst>
          <pc:docMk/>
          <pc:sldMk cId="2304846322" sldId="792"/>
        </pc:sldMkLst>
        <pc:spChg chg="mod">
          <ac:chgData name="Jan Willem van den End (EBO_CMA)" userId="32ade95a-e024-4672-952f-5ed8641a9e00" providerId="ADAL" clId="{3BBBE02E-ACD4-4586-9407-5E79BF620DF1}" dt="2026-09-25T10:04:33.062" v="5051" actId="1038"/>
          <ac:spMkLst>
            <pc:docMk/>
            <pc:sldMk cId="2304846322" sldId="792"/>
            <ac:spMk id="5" creationId="{64CF75E5-0A93-A50A-135C-BD487E25C478}"/>
          </ac:spMkLst>
        </pc:spChg>
        <pc:spChg chg="mod">
          <ac:chgData name="Jan Willem van den End (EBO_CMA)" userId="32ade95a-e024-4672-952f-5ed8641a9e00" providerId="ADAL" clId="{3BBBE02E-ACD4-4586-9407-5E79BF620DF1}" dt="2026-09-29T19:10:03.460" v="5714" actId="20577"/>
          <ac:spMkLst>
            <pc:docMk/>
            <pc:sldMk cId="2304846322" sldId="792"/>
            <ac:spMk id="6" creationId="{CF9708F7-32AE-5645-3159-CE1174AB0729}"/>
          </ac:spMkLst>
        </pc:spChg>
        <pc:spChg chg="mod">
          <ac:chgData name="Jan Willem van den End (EBO_CMA)" userId="32ade95a-e024-4672-952f-5ed8641a9e00" providerId="ADAL" clId="{3BBBE02E-ACD4-4586-9407-5E79BF620DF1}" dt="2026-09-25T11:36:54.569" v="5519"/>
          <ac:spMkLst>
            <pc:docMk/>
            <pc:sldMk cId="2304846322" sldId="792"/>
            <ac:spMk id="8" creationId="{AEE2C5DE-2B6A-1A21-C169-797AC72B8FC2}"/>
          </ac:spMkLst>
        </pc:spChg>
        <pc:picChg chg="mod">
          <ac:chgData name="Jan Willem van den End (EBO_CMA)" userId="32ade95a-e024-4672-952f-5ed8641a9e00" providerId="ADAL" clId="{3BBBE02E-ACD4-4586-9407-5E79BF620DF1}" dt="2026-09-29T19:10:39.056" v="5719" actId="14100"/>
          <ac:picMkLst>
            <pc:docMk/>
            <pc:sldMk cId="2304846322" sldId="792"/>
            <ac:picMk id="3" creationId="{E4247869-22B3-74B1-C2DC-BC2BF3DF0889}"/>
          </ac:picMkLst>
        </pc:picChg>
        <pc:picChg chg="mod">
          <ac:chgData name="Jan Willem van den End (EBO_CMA)" userId="32ade95a-e024-4672-952f-5ed8641a9e00" providerId="ADAL" clId="{3BBBE02E-ACD4-4586-9407-5E79BF620DF1}" dt="2026-09-29T19:11:01.220" v="5723" actId="1076"/>
          <ac:picMkLst>
            <pc:docMk/>
            <pc:sldMk cId="2304846322" sldId="792"/>
            <ac:picMk id="4" creationId="{0231C4B6-AE28-A975-F5EB-43D3FA1E2ADA}"/>
          </ac:picMkLst>
        </pc:picChg>
      </pc:sldChg>
      <pc:sldChg chg="modSp mod modNotes modNotesTx">
        <pc:chgData name="Jan Willem van den End (EBO_CMA)" userId="32ade95a-e024-4672-952f-5ed8641a9e00" providerId="ADAL" clId="{3BBBE02E-ACD4-4586-9407-5E79BF620DF1}" dt="2026-10-10T15:07:42.912" v="10466" actId="20577"/>
        <pc:sldMkLst>
          <pc:docMk/>
          <pc:sldMk cId="515665883" sldId="793"/>
        </pc:sldMkLst>
        <pc:spChg chg="mod">
          <ac:chgData name="Jan Willem van den End (EBO_CMA)" userId="32ade95a-e024-4672-952f-5ed8641a9e00" providerId="ADAL" clId="{3BBBE02E-ACD4-4586-9407-5E79BF620DF1}" dt="2026-10-10T11:23:49.385" v="9818"/>
          <ac:spMkLst>
            <pc:docMk/>
            <pc:sldMk cId="515665883" sldId="793"/>
            <ac:spMk id="2" creationId="{6B853D72-57E4-54DF-F916-E87E4C65C99E}"/>
          </ac:spMkLst>
        </pc:spChg>
        <pc:spChg chg="mod">
          <ac:chgData name="Jan Willem van den End (EBO_CMA)" userId="32ade95a-e024-4672-952f-5ed8641a9e00" providerId="ADAL" clId="{3BBBE02E-ACD4-4586-9407-5E79BF620DF1}" dt="2026-10-10T15:07:42.912" v="10466" actId="20577"/>
          <ac:spMkLst>
            <pc:docMk/>
            <pc:sldMk cId="515665883" sldId="793"/>
            <ac:spMk id="9" creationId="{279E6971-F8C1-CE73-F846-F4CD2F9BE489}"/>
          </ac:spMkLst>
        </pc:spChg>
      </pc:sldChg>
      <pc:sldChg chg="delSp modSp mod modNotesTx">
        <pc:chgData name="Jan Willem van den End (EBO_CMA)" userId="32ade95a-e024-4672-952f-5ed8641a9e00" providerId="ADAL" clId="{3BBBE02E-ACD4-4586-9407-5E79BF620DF1}" dt="2026-09-29T19:15:39.472" v="5810" actId="20577"/>
        <pc:sldMkLst>
          <pc:docMk/>
          <pc:sldMk cId="240743824" sldId="794"/>
        </pc:sldMkLst>
        <pc:spChg chg="mod">
          <ac:chgData name="Jan Willem van den End (EBO_CMA)" userId="32ade95a-e024-4672-952f-5ed8641a9e00" providerId="ADAL" clId="{3BBBE02E-ACD4-4586-9407-5E79BF620DF1}" dt="2026-09-29T19:15:39.472" v="5810" actId="20577"/>
          <ac:spMkLst>
            <pc:docMk/>
            <pc:sldMk cId="240743824" sldId="794"/>
            <ac:spMk id="8" creationId="{0677632A-56D3-3DDB-C434-EB0FC24E2732}"/>
          </ac:spMkLst>
        </pc:spChg>
        <pc:spChg chg="mod">
          <ac:chgData name="Jan Willem van den End (EBO_CMA)" userId="32ade95a-e024-4672-952f-5ed8641a9e00" providerId="ADAL" clId="{3BBBE02E-ACD4-4586-9407-5E79BF620DF1}" dt="2026-09-25T09:33:54.734" v="4688" actId="20577"/>
          <ac:spMkLst>
            <pc:docMk/>
            <pc:sldMk cId="240743824" sldId="794"/>
            <ac:spMk id="11" creationId="{D6974398-2614-1310-0782-A3E80B13A2FD}"/>
          </ac:spMkLst>
        </pc:spChg>
        <pc:picChg chg="mod">
          <ac:chgData name="Jan Willem van den End (EBO_CMA)" userId="32ade95a-e024-4672-952f-5ed8641a9e00" providerId="ADAL" clId="{3BBBE02E-ACD4-4586-9407-5E79BF620DF1}" dt="2026-09-20T19:31:44.104" v="2061" actId="1076"/>
          <ac:picMkLst>
            <pc:docMk/>
            <pc:sldMk cId="240743824" sldId="794"/>
            <ac:picMk id="4" creationId="{D752BB6B-84D3-1A02-4BE3-8EAA21B12319}"/>
          </ac:picMkLst>
        </pc:picChg>
        <pc:picChg chg="mod">
          <ac:chgData name="Jan Willem van den End (EBO_CMA)" userId="32ade95a-e024-4672-952f-5ed8641a9e00" providerId="ADAL" clId="{3BBBE02E-ACD4-4586-9407-5E79BF620DF1}" dt="2026-09-23T10:16:30.622" v="3973" actId="1076"/>
          <ac:picMkLst>
            <pc:docMk/>
            <pc:sldMk cId="240743824" sldId="794"/>
            <ac:picMk id="5" creationId="{7596D83C-A172-D741-78FB-EBEC12FF1632}"/>
          </ac:picMkLst>
        </pc:picChg>
      </pc:sldChg>
      <pc:sldChg chg="modSp mod">
        <pc:chgData name="Jan Willem van den End (EBO_CMA)" userId="32ade95a-e024-4672-952f-5ed8641a9e00" providerId="ADAL" clId="{3BBBE02E-ACD4-4586-9407-5E79BF620DF1}" dt="2026-10-10T09:53:52.912" v="9780" actId="20577"/>
        <pc:sldMkLst>
          <pc:docMk/>
          <pc:sldMk cId="165802264" sldId="795"/>
        </pc:sldMkLst>
        <pc:spChg chg="mod">
          <ac:chgData name="Jan Willem van den End (EBO_CMA)" userId="32ade95a-e024-4672-952f-5ed8641a9e00" providerId="ADAL" clId="{3BBBE02E-ACD4-4586-9407-5E79BF620DF1}" dt="2026-10-10T09:53:52.912" v="9780" actId="20577"/>
          <ac:spMkLst>
            <pc:docMk/>
            <pc:sldMk cId="165802264" sldId="795"/>
            <ac:spMk id="2" creationId="{7415D86D-5542-3552-758F-1923FC3E3C99}"/>
          </ac:spMkLst>
        </pc:spChg>
      </pc:sldChg>
      <pc:sldChg chg="addSp delSp modSp mod">
        <pc:chgData name="Jan Willem van den End (EBO_CMA)" userId="32ade95a-e024-4672-952f-5ed8641a9e00" providerId="ADAL" clId="{3BBBE02E-ACD4-4586-9407-5E79BF620DF1}" dt="2026-10-10T08:37:15.146" v="9089" actId="1036"/>
        <pc:sldMkLst>
          <pc:docMk/>
          <pc:sldMk cId="909146083" sldId="796"/>
        </pc:sldMkLst>
        <pc:spChg chg="mod">
          <ac:chgData name="Jan Willem van den End (EBO_CMA)" userId="32ade95a-e024-4672-952f-5ed8641a9e00" providerId="ADAL" clId="{3BBBE02E-ACD4-4586-9407-5E79BF620DF1}" dt="2026-09-23T09:40:37.381" v="3725" actId="1076"/>
          <ac:spMkLst>
            <pc:docMk/>
            <pc:sldMk cId="909146083" sldId="796"/>
            <ac:spMk id="2" creationId="{9D7DFCD1-CA74-2C76-7A49-94B41E557F74}"/>
          </ac:spMkLst>
        </pc:spChg>
        <pc:spChg chg="add mod">
          <ac:chgData name="Jan Willem van den End (EBO_CMA)" userId="32ade95a-e024-4672-952f-5ed8641a9e00" providerId="ADAL" clId="{3BBBE02E-ACD4-4586-9407-5E79BF620DF1}" dt="2026-10-10T08:35:18.609" v="9075" actId="20577"/>
          <ac:spMkLst>
            <pc:docMk/>
            <pc:sldMk cId="909146083" sldId="796"/>
            <ac:spMk id="6" creationId="{4ED6076C-5ED2-F560-9ECC-68A359BFC0CA}"/>
          </ac:spMkLst>
        </pc:spChg>
        <pc:spChg chg="mod">
          <ac:chgData name="Jan Willem van den End (EBO_CMA)" userId="32ade95a-e024-4672-952f-5ed8641a9e00" providerId="ADAL" clId="{3BBBE02E-ACD4-4586-9407-5E79BF620DF1}" dt="2026-10-10T08:34:09.979" v="9069" actId="20577"/>
          <ac:spMkLst>
            <pc:docMk/>
            <pc:sldMk cId="909146083" sldId="796"/>
            <ac:spMk id="9" creationId="{784B30AC-5ECB-6948-E309-0039374246EA}"/>
          </ac:spMkLst>
        </pc:spChg>
        <pc:picChg chg="del mod">
          <ac:chgData name="Jan Willem van den End (EBO_CMA)" userId="32ade95a-e024-4672-952f-5ed8641a9e00" providerId="ADAL" clId="{3BBBE02E-ACD4-4586-9407-5E79BF620DF1}" dt="2026-10-10T08:31:52.584" v="8972" actId="478"/>
          <ac:picMkLst>
            <pc:docMk/>
            <pc:sldMk cId="909146083" sldId="796"/>
            <ac:picMk id="3" creationId="{55B13636-9215-8A37-3974-917B9B355D12}"/>
          </ac:picMkLst>
        </pc:picChg>
        <pc:picChg chg="mod">
          <ac:chgData name="Jan Willem van den End (EBO_CMA)" userId="32ade95a-e024-4672-952f-5ed8641a9e00" providerId="ADAL" clId="{3BBBE02E-ACD4-4586-9407-5E79BF620DF1}" dt="2026-10-10T08:37:15.146" v="9089" actId="1036"/>
          <ac:picMkLst>
            <pc:docMk/>
            <pc:sldMk cId="909146083" sldId="796"/>
            <ac:picMk id="4" creationId="{CC406C6F-97A4-2854-9FCD-FD08F187902C}"/>
          </ac:picMkLst>
        </pc:picChg>
        <pc:picChg chg="mod">
          <ac:chgData name="Jan Willem van den End (EBO_CMA)" userId="32ade95a-e024-4672-952f-5ed8641a9e00" providerId="ADAL" clId="{3BBBE02E-ACD4-4586-9407-5E79BF620DF1}" dt="2026-10-10T08:37:15.146" v="9089" actId="1036"/>
          <ac:picMkLst>
            <pc:docMk/>
            <pc:sldMk cId="909146083" sldId="796"/>
            <ac:picMk id="5" creationId="{E062AC67-D726-4D45-300A-EB28E70BA46D}"/>
          </ac:picMkLst>
        </pc:picChg>
      </pc:sldChg>
      <pc:sldChg chg="modSp add mod modNotesTx">
        <pc:chgData name="Jan Willem van den End (EBO_CMA)" userId="32ade95a-e024-4672-952f-5ed8641a9e00" providerId="ADAL" clId="{3BBBE02E-ACD4-4586-9407-5E79BF620DF1}" dt="2026-10-10T08:37:42.051" v="9131" actId="6549"/>
        <pc:sldMkLst>
          <pc:docMk/>
          <pc:sldMk cId="341592472" sldId="797"/>
        </pc:sldMkLst>
        <pc:spChg chg="mod">
          <ac:chgData name="Jan Willem van den End (EBO_CMA)" userId="32ade95a-e024-4672-952f-5ed8641a9e00" providerId="ADAL" clId="{3BBBE02E-ACD4-4586-9407-5E79BF620DF1}" dt="2026-10-10T08:37:42.051" v="9131" actId="6549"/>
          <ac:spMkLst>
            <pc:docMk/>
            <pc:sldMk cId="341592472" sldId="797"/>
            <ac:spMk id="2" creationId="{69505807-7DB6-66DD-D0C3-991E02849C08}"/>
          </ac:spMkLst>
        </pc:spChg>
        <pc:spChg chg="mod">
          <ac:chgData name="Jan Willem van den End (EBO_CMA)" userId="32ade95a-e024-4672-952f-5ed8641a9e00" providerId="ADAL" clId="{3BBBE02E-ACD4-4586-9407-5E79BF620DF1}" dt="2026-09-23T09:32:59.846" v="3495" actId="6549"/>
          <ac:spMkLst>
            <pc:docMk/>
            <pc:sldMk cId="341592472" sldId="797"/>
            <ac:spMk id="9" creationId="{03204D0B-CF7E-0BFC-4F0F-962010862E03}"/>
          </ac:spMkLst>
        </pc:spChg>
      </pc:sldChg>
      <pc:sldChg chg="modSp add mod modNotes modNotesTx">
        <pc:chgData name="Jan Willem van den End (EBO_CMA)" userId="32ade95a-e024-4672-952f-5ed8641a9e00" providerId="ADAL" clId="{3BBBE02E-ACD4-4586-9407-5E79BF620DF1}" dt="2026-10-10T15:23:16.693" v="10568" actId="6549"/>
        <pc:sldMkLst>
          <pc:docMk/>
          <pc:sldMk cId="3745319895" sldId="798"/>
        </pc:sldMkLst>
        <pc:spChg chg="mod">
          <ac:chgData name="Jan Willem van den End (EBO_CMA)" userId="32ade95a-e024-4672-952f-5ed8641a9e00" providerId="ADAL" clId="{3BBBE02E-ACD4-4586-9407-5E79BF620DF1}" dt="2026-10-10T15:20:10.608" v="10550" actId="20577"/>
          <ac:spMkLst>
            <pc:docMk/>
            <pc:sldMk cId="3745319895" sldId="798"/>
            <ac:spMk id="2" creationId="{4E2FFC46-D6F5-41BF-DECB-9FA98C0F56DD}"/>
          </ac:spMkLst>
        </pc:spChg>
        <pc:spChg chg="mod">
          <ac:chgData name="Jan Willem van den End (EBO_CMA)" userId="32ade95a-e024-4672-952f-5ed8641a9e00" providerId="ADAL" clId="{3BBBE02E-ACD4-4586-9407-5E79BF620DF1}" dt="2026-10-10T13:04:02.055" v="10289" actId="20577"/>
          <ac:spMkLst>
            <pc:docMk/>
            <pc:sldMk cId="3745319895" sldId="798"/>
            <ac:spMk id="9" creationId="{B1A8A21F-73A6-21A9-7607-658345AEC559}"/>
          </ac:spMkLst>
        </pc:spChg>
      </pc:sldChg>
      <pc:sldChg chg="delSp modSp add mod">
        <pc:chgData name="Jan Willem van den End (EBO_CMA)" userId="32ade95a-e024-4672-952f-5ed8641a9e00" providerId="ADAL" clId="{3BBBE02E-ACD4-4586-9407-5E79BF620DF1}" dt="2026-10-10T09:53:09.812" v="9754" actId="20577"/>
        <pc:sldMkLst>
          <pc:docMk/>
          <pc:sldMk cId="2790278619" sldId="799"/>
        </pc:sldMkLst>
        <pc:spChg chg="mod">
          <ac:chgData name="Jan Willem van den End (EBO_CMA)" userId="32ade95a-e024-4672-952f-5ed8641a9e00" providerId="ADAL" clId="{3BBBE02E-ACD4-4586-9407-5E79BF620DF1}" dt="2026-10-10T09:53:09.812" v="9754" actId="20577"/>
          <ac:spMkLst>
            <pc:docMk/>
            <pc:sldMk cId="2790278619" sldId="799"/>
            <ac:spMk id="9" creationId="{E303A361-90E1-35B2-AE64-2B40EE87BE60}"/>
          </ac:spMkLst>
        </pc:spChg>
        <pc:picChg chg="mod">
          <ac:chgData name="Jan Willem van den End (EBO_CMA)" userId="32ade95a-e024-4672-952f-5ed8641a9e00" providerId="ADAL" clId="{3BBBE02E-ACD4-4586-9407-5E79BF620DF1}" dt="2026-10-10T09:51:28.557" v="9718" actId="1035"/>
          <ac:picMkLst>
            <pc:docMk/>
            <pc:sldMk cId="2790278619" sldId="799"/>
            <ac:picMk id="3" creationId="{BA1AEE6B-C3CF-FAEB-FF58-BBA90707E8D1}"/>
          </ac:picMkLst>
        </pc:picChg>
        <pc:picChg chg="del">
          <ac:chgData name="Jan Willem van den End (EBO_CMA)" userId="32ade95a-e024-4672-952f-5ed8641a9e00" providerId="ADAL" clId="{3BBBE02E-ACD4-4586-9407-5E79BF620DF1}" dt="2026-10-10T08:56:53.227" v="9243" actId="478"/>
          <ac:picMkLst>
            <pc:docMk/>
            <pc:sldMk cId="2790278619" sldId="799"/>
            <ac:picMk id="4" creationId="{38FE1EB0-0B67-BA03-98DA-03667A2455DC}"/>
          </ac:picMkLst>
        </pc:picChg>
        <pc:picChg chg="mod">
          <ac:chgData name="Jan Willem van den End (EBO_CMA)" userId="32ade95a-e024-4672-952f-5ed8641a9e00" providerId="ADAL" clId="{3BBBE02E-ACD4-4586-9407-5E79BF620DF1}" dt="2026-10-10T09:51:18.722" v="9717" actId="1076"/>
          <ac:picMkLst>
            <pc:docMk/>
            <pc:sldMk cId="2790278619" sldId="799"/>
            <ac:picMk id="5" creationId="{1934FC63-0880-B9C7-3990-4C41059B0EE7}"/>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575" cy="4968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54450" y="0"/>
            <a:ext cx="2949575" cy="496888"/>
          </a:xfrm>
          <a:prstGeom prst="rect">
            <a:avLst/>
          </a:prstGeom>
        </p:spPr>
        <p:txBody>
          <a:bodyPr vert="horz" lIns="91440" tIns="45720" rIns="91440" bIns="45720" rtlCol="0"/>
          <a:lstStyle>
            <a:lvl1pPr algn="r">
              <a:defRPr sz="1200"/>
            </a:lvl1pPr>
          </a:lstStyle>
          <a:p>
            <a:fld id="{C26BBE9F-2231-4498-A3E5-DFB02EDDD594}" type="datetimeFigureOut">
              <a:rPr lang="nl-NL" smtClean="0"/>
              <a:t>10-10-2026</a:t>
            </a:fld>
            <a:endParaRPr lang="nl-NL"/>
          </a:p>
        </p:txBody>
      </p:sp>
      <p:sp>
        <p:nvSpPr>
          <p:cNvPr id="4" name="Tijdelijke aanduiding voor voettekst 3"/>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54450" y="9445625"/>
            <a:ext cx="2949575" cy="496888"/>
          </a:xfrm>
          <a:prstGeom prst="rect">
            <a:avLst/>
          </a:prstGeom>
        </p:spPr>
        <p:txBody>
          <a:bodyPr vert="horz" lIns="91440" tIns="45720" rIns="91440" bIns="45720" rtlCol="0" anchor="b"/>
          <a:lstStyle>
            <a:lvl1pPr algn="r">
              <a:defRPr sz="1200"/>
            </a:lvl1pPr>
          </a:lstStyle>
          <a:p>
            <a:fld id="{956F0578-CC77-4CC6-8BD4-1C24732170C0}" type="slidenum">
              <a:rPr lang="nl-NL" smtClean="0"/>
              <a:t>‹#›</a:t>
            </a:fld>
            <a:endParaRPr lang="nl-NL"/>
          </a:p>
        </p:txBody>
      </p:sp>
    </p:spTree>
    <p:extLst>
      <p:ext uri="{BB962C8B-B14F-4D97-AF65-F5344CB8AC3E}">
        <p14:creationId xmlns:p14="http://schemas.microsoft.com/office/powerpoint/2010/main" val="7621691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099" cy="498932"/>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54939" y="0"/>
            <a:ext cx="2949099" cy="498932"/>
          </a:xfrm>
          <a:prstGeom prst="rect">
            <a:avLst/>
          </a:prstGeom>
        </p:spPr>
        <p:txBody>
          <a:bodyPr vert="horz" lIns="91440" tIns="45720" rIns="91440" bIns="45720" rtlCol="0"/>
          <a:lstStyle>
            <a:lvl1pPr algn="r">
              <a:defRPr sz="1200"/>
            </a:lvl1pPr>
          </a:lstStyle>
          <a:p>
            <a:fld id="{900D5B51-A3C5-4FC7-8A0D-54EFEFAFACD3}" type="datetimeFigureOut">
              <a:rPr lang="nl-NL" smtClean="0"/>
              <a:t>10-10-2026</a:t>
            </a:fld>
            <a:endParaRPr lang="nl-NL"/>
          </a:p>
        </p:txBody>
      </p:sp>
      <p:sp>
        <p:nvSpPr>
          <p:cNvPr id="4" name="Tijdelijke aanduiding voor dia-afbeelding 3"/>
          <p:cNvSpPr>
            <a:spLocks noGrp="1" noRot="1" noChangeAspect="1"/>
          </p:cNvSpPr>
          <p:nvPr>
            <p:ph type="sldImg" idx="2"/>
          </p:nvPr>
        </p:nvSpPr>
        <p:spPr>
          <a:xfrm>
            <a:off x="1166813" y="1243013"/>
            <a:ext cx="4471987" cy="3355975"/>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0562" y="4785598"/>
            <a:ext cx="5444490" cy="3915489"/>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9445170"/>
            <a:ext cx="2949099" cy="498931"/>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54939" y="9445170"/>
            <a:ext cx="2949099" cy="498931"/>
          </a:xfrm>
          <a:prstGeom prst="rect">
            <a:avLst/>
          </a:prstGeom>
        </p:spPr>
        <p:txBody>
          <a:bodyPr vert="horz" lIns="91440" tIns="45720" rIns="91440" bIns="45720" rtlCol="0" anchor="b"/>
          <a:lstStyle>
            <a:lvl1pPr algn="r">
              <a:defRPr sz="1200"/>
            </a:lvl1pPr>
          </a:lstStyle>
          <a:p>
            <a:fld id="{F9513F78-5509-4637-B397-C3DEABA56153}" type="slidenum">
              <a:rPr lang="nl-NL" smtClean="0"/>
              <a:t>‹#›</a:t>
            </a:fld>
            <a:endParaRPr lang="nl-NL"/>
          </a:p>
        </p:txBody>
      </p:sp>
    </p:spTree>
    <p:extLst>
      <p:ext uri="{BB962C8B-B14F-4D97-AF65-F5344CB8AC3E}">
        <p14:creationId xmlns:p14="http://schemas.microsoft.com/office/powerpoint/2010/main" val="4138850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r>
              <a:rPr lang="nl-NL" dirty="0"/>
              <a:t>Commentaar</a:t>
            </a:r>
            <a:r>
              <a:rPr lang="nl-NL"/>
              <a:t>: Berben, Bun, Mink</a:t>
            </a:r>
          </a:p>
        </p:txBody>
      </p:sp>
      <p:sp>
        <p:nvSpPr>
          <p:cNvPr id="4" name="Tijdelijke aanduiding voor dianummer 3"/>
          <p:cNvSpPr>
            <a:spLocks noGrp="1"/>
          </p:cNvSpPr>
          <p:nvPr>
            <p:ph type="sldNum" sz="quarter" idx="5"/>
          </p:nvPr>
        </p:nvSpPr>
        <p:spPr/>
        <p:txBody>
          <a:bodyPr/>
          <a:lstStyle/>
          <a:p>
            <a:fld id="{F9513F78-5509-4637-B397-C3DEABA56153}" type="slidenum">
              <a:rPr lang="nl-NL" smtClean="0"/>
              <a:t>1</a:t>
            </a:fld>
            <a:endParaRPr lang="nl-NL"/>
          </a:p>
        </p:txBody>
      </p:sp>
    </p:spTree>
    <p:extLst>
      <p:ext uri="{BB962C8B-B14F-4D97-AF65-F5344CB8AC3E}">
        <p14:creationId xmlns:p14="http://schemas.microsoft.com/office/powerpoint/2010/main" val="29554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0" indent="0">
              <a:buFontTx/>
              <a:buNone/>
            </a:pPr>
            <a:endParaRPr lang="nl-NL" i="0" baseline="0"/>
          </a:p>
        </p:txBody>
      </p:sp>
      <p:sp>
        <p:nvSpPr>
          <p:cNvPr id="4" name="Tijdelijke aanduiding voor dianummer 3"/>
          <p:cNvSpPr>
            <a:spLocks noGrp="1"/>
          </p:cNvSpPr>
          <p:nvPr>
            <p:ph type="sldNum" sz="quarter" idx="10"/>
          </p:nvPr>
        </p:nvSpPr>
        <p:spPr/>
        <p:txBody>
          <a:bodyPr/>
          <a:lstStyle/>
          <a:p>
            <a:fld id="{F9513F78-5509-4637-B397-C3DEABA56153}" type="slidenum">
              <a:rPr lang="nl-NL" smtClean="0">
                <a:solidFill>
                  <a:prstClr val="black"/>
                </a:solidFill>
              </a:rPr>
              <a:pPr/>
              <a:t>2</a:t>
            </a:fld>
            <a:endParaRPr lang="nl-NL">
              <a:solidFill>
                <a:prstClr val="black"/>
              </a:solidFill>
            </a:endParaRPr>
          </a:p>
        </p:txBody>
      </p:sp>
    </p:spTree>
    <p:extLst>
      <p:ext uri="{BB962C8B-B14F-4D97-AF65-F5344CB8AC3E}">
        <p14:creationId xmlns:p14="http://schemas.microsoft.com/office/powerpoint/2010/main" val="1848293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6A921-151D-0DF3-6FAB-E2178B70AC37}"/>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A8D2CC52-7055-C4F5-9776-623326025D1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349AC74-CDDA-DD36-1991-DAE35EA6E60B}"/>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ACE3154-DBE9-5AA3-E1EA-0FF8C608470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76092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171450" indent="-171450">
              <a:buFontTx/>
              <a:buChar char="-"/>
            </a:pPr>
            <a:r>
              <a:rPr lang="nl-NL" sz="1400" dirty="0"/>
              <a:t>The variables </a:t>
            </a:r>
            <a:r>
              <a:rPr lang="nl-NL" sz="1400" dirty="0" err="1"/>
              <a:t>for</a:t>
            </a:r>
            <a:r>
              <a:rPr lang="nl-NL" sz="1400" dirty="0"/>
              <a:t> the investment </a:t>
            </a:r>
            <a:r>
              <a:rPr lang="nl-NL" sz="1400" dirty="0" err="1"/>
              <a:t>channel</a:t>
            </a:r>
            <a:r>
              <a:rPr lang="nl-NL" sz="1400" dirty="0"/>
              <a:t> are </a:t>
            </a:r>
            <a:r>
              <a:rPr lang="nl-NL" sz="1400" dirty="0" err="1"/>
              <a:t>proxies</a:t>
            </a:r>
            <a:r>
              <a:rPr lang="nl-NL" sz="1400" dirty="0"/>
              <a:t> </a:t>
            </a:r>
            <a:r>
              <a:rPr lang="nl-NL" sz="1400" dirty="0" err="1"/>
              <a:t>for</a:t>
            </a:r>
            <a:r>
              <a:rPr lang="nl-NL" sz="1400" dirty="0"/>
              <a:t> the </a:t>
            </a:r>
            <a:r>
              <a:rPr lang="nl-NL" sz="1400" dirty="0" err="1"/>
              <a:t>use</a:t>
            </a:r>
            <a:r>
              <a:rPr lang="nl-NL" sz="1400" dirty="0"/>
              <a:t> and the </a:t>
            </a:r>
            <a:r>
              <a:rPr lang="nl-NL" sz="1400" dirty="0" err="1"/>
              <a:t>extent</a:t>
            </a:r>
            <a:r>
              <a:rPr lang="nl-NL" sz="1400" dirty="0"/>
              <a:t> of </a:t>
            </a:r>
            <a:r>
              <a:rPr lang="nl-NL" sz="1400" dirty="0" err="1"/>
              <a:t>which</a:t>
            </a:r>
            <a:r>
              <a:rPr lang="nl-NL" sz="1400" dirty="0"/>
              <a:t> AI/ICT is </a:t>
            </a:r>
            <a:r>
              <a:rPr lang="nl-NL" sz="1400" dirty="0" err="1"/>
              <a:t>applied</a:t>
            </a:r>
            <a:r>
              <a:rPr lang="nl-NL" sz="1400" dirty="0"/>
              <a:t> </a:t>
            </a:r>
            <a:r>
              <a:rPr lang="nl-NL" sz="1400" dirty="0" err="1"/>
              <a:t>by</a:t>
            </a:r>
            <a:r>
              <a:rPr lang="nl-NL" sz="1400" dirty="0"/>
              <a:t> companies. </a:t>
            </a:r>
          </a:p>
        </p:txBody>
      </p:sp>
      <p:sp>
        <p:nvSpPr>
          <p:cNvPr id="4" name="Tijdelijke aanduiding voor dianumm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73659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2F355-1972-2393-BE86-3ED62A5F296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949E41C-3A1B-7506-9467-350925154D7F}"/>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a:xfrm>
                <a:off x="474921" y="4785598"/>
                <a:ext cx="5897525" cy="4847500"/>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By pooling the GDP growth realizations in year t &amp;  t+1 and Spring &amp;  Autumn forecasts, you</a:t>
                </a:r>
                <a:r>
                  <a:rPr lang="en-NL" sz="1400" b="0" i="0" kern="1200" dirty="0">
                    <a:solidFill>
                      <a:schemeClr val="tx1"/>
                    </a:solidFill>
                    <a:effectLst/>
                    <a:latin typeface="+mn-lt"/>
                    <a:ea typeface="+mn-ea"/>
                    <a:cs typeface="+mn-cs"/>
                  </a:rPr>
                  <a:t> increases sample size and treats all forecasts as observations on the same forecasting problem.</a:t>
                </a:r>
                <a:r>
                  <a:rPr lang="en-US" sz="1400" b="0" i="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However, </a:t>
                </a:r>
                <a:r>
                  <a:rPr lang="en-NL" sz="1400" b="0" i="0" kern="1200" dirty="0">
                    <a:solidFill>
                      <a:schemeClr val="tx1"/>
                    </a:solidFill>
                    <a:effectLst/>
                    <a:latin typeface="+mn-lt"/>
                    <a:ea typeface="+mn-ea"/>
                    <a:cs typeface="+mn-cs"/>
                  </a:rPr>
                  <a:t>surprise</a:t>
                </a:r>
                <a:r>
                  <a:rPr lang="en-US" sz="1400" b="0" i="0" kern="1200" dirty="0">
                    <a:solidFill>
                      <a:schemeClr val="tx1"/>
                    </a:solidFill>
                    <a:effectLst/>
                    <a:latin typeface="+mn-lt"/>
                    <a:ea typeface="+mn-ea"/>
                    <a:cs typeface="+mn-cs"/>
                  </a:rPr>
                  <a:t>s based on </a:t>
                </a:r>
                <a:r>
                  <a:rPr lang="en-NL" sz="1400" b="0" i="0" kern="1200" dirty="0">
                    <a:solidFill>
                      <a:schemeClr val="tx1"/>
                    </a:solidFill>
                    <a:effectLst/>
                    <a:latin typeface="+mn-lt"/>
                    <a:ea typeface="+mn-ea"/>
                    <a:cs typeface="+mn-cs"/>
                  </a:rPr>
                  <a:t>Autumn</a:t>
                </a:r>
                <a:r>
                  <a:rPr lang="en-US" sz="1400" b="0" i="0" kern="1200" dirty="0">
                    <a:solidFill>
                      <a:schemeClr val="tx1"/>
                    </a:solidFill>
                    <a:effectLst/>
                    <a:latin typeface="+mn-lt"/>
                    <a:ea typeface="+mn-ea"/>
                    <a:cs typeface="+mn-cs"/>
                  </a:rPr>
                  <a:t> &amp; Spring</a:t>
                </a:r>
                <a:r>
                  <a:rPr lang="en-US" sz="1400" b="0" i="0" kern="1200" baseline="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forecast </a:t>
                </a:r>
                <a:r>
                  <a:rPr lang="en-US" sz="1400" b="0" i="0" kern="1200" dirty="0">
                    <a:solidFill>
                      <a:schemeClr val="tx1"/>
                    </a:solidFill>
                    <a:effectLst/>
                    <a:latin typeface="+mn-lt"/>
                    <a:ea typeface="+mn-ea"/>
                    <a:cs typeface="+mn-cs"/>
                  </a:rPr>
                  <a:t>and t </a:t>
                </a:r>
                <a:r>
                  <a:rPr lang="en-US" sz="1400" dirty="0"/>
                  <a:t>&amp; </a:t>
                </a:r>
                <a:r>
                  <a:rPr lang="en-US" sz="1400" b="0" i="0" kern="1200" dirty="0">
                    <a:solidFill>
                      <a:schemeClr val="tx1"/>
                    </a:solidFill>
                    <a:effectLst/>
                    <a:latin typeface="+mn-lt"/>
                    <a:ea typeface="+mn-ea"/>
                    <a:cs typeface="+mn-cs"/>
                  </a:rPr>
                  <a:t> t+1 are </a:t>
                </a:r>
                <a:r>
                  <a:rPr lang="en-NL" sz="1400" b="0" i="0" kern="1200" dirty="0">
                    <a:solidFill>
                      <a:schemeClr val="tx1"/>
                    </a:solidFill>
                    <a:effectLst/>
                    <a:latin typeface="+mn-lt"/>
                    <a:ea typeface="+mn-ea"/>
                    <a:cs typeface="+mn-cs"/>
                  </a:rPr>
                  <a:t>not directly comparable</a:t>
                </a:r>
                <a:r>
                  <a:rPr lang="en-US" sz="1400" b="0" i="0" kern="1200" dirty="0">
                    <a:solidFill>
                      <a:schemeClr val="tx1"/>
                    </a:solidFill>
                    <a:effectLst/>
                    <a:latin typeface="+mn-lt"/>
                    <a:ea typeface="+mn-ea"/>
                    <a:cs typeface="+mn-cs"/>
                  </a:rPr>
                  <a:t>; for instance uncertainty about t+1 forecast is higher than forecast t and similarly for Spring vs Autumn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fontAlgn="t"/>
                <a:r>
                  <a:rPr lang="en-US" sz="1400" b="0" i="0" kern="1200" dirty="0">
                    <a:solidFill>
                      <a:schemeClr val="tx1"/>
                    </a:solidFill>
                    <a:effectLst/>
                    <a:latin typeface="+mn-lt"/>
                    <a:ea typeface="+mn-ea"/>
                    <a:cs typeface="+mn-cs"/>
                  </a:rPr>
                  <a:t>Solution</a:t>
                </a:r>
                <a:r>
                  <a:rPr lang="en-US" sz="1400" dirty="0"/>
                  <a:t> =&gt;</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add forecast-vintage controls:</a:t>
                </a:r>
                <a:r>
                  <a:rPr lang="en-US" sz="1400" b="0" i="0" kern="1200" dirty="0">
                    <a:solidFill>
                      <a:schemeClr val="tx1"/>
                    </a:solidFill>
                    <a:effectLst/>
                    <a:latin typeface="+mn-lt"/>
                    <a:ea typeface="+mn-ea"/>
                    <a:cs typeface="+mn-cs"/>
                  </a:rPr>
                  <a:t> Autumn, horizon t+1, Autumn x horizon t+1 (Spring forecasts &amp; forecasts for year t are the omitted reference categories). These terms control for systematic differences between Spring/Autumn forecasts and t/t+1 horizons….. t</a:t>
                </a:r>
                <a:r>
                  <a:rPr lang="en-NL" sz="1400" b="0" i="0" kern="1200" dirty="0">
                    <a:solidFill>
                      <a:schemeClr val="tx1"/>
                    </a:solidFill>
                    <a:effectLst/>
                    <a:latin typeface="+mn-lt"/>
                    <a:ea typeface="+mn-ea"/>
                    <a:cs typeface="+mn-cs"/>
                  </a:rPr>
                  <a:t>his removes systematic differences between forecast types</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 </a:t>
                </a:r>
                <a:r>
                  <a:rPr lang="nl-NL" sz="1400" b="0" i="0" kern="1200" dirty="0">
                    <a:solidFill>
                      <a:schemeClr val="tx1"/>
                    </a:solidFill>
                    <a:effectLst/>
                    <a:latin typeface="+mn-lt"/>
                    <a:ea typeface="+mn-ea"/>
                    <a:cs typeface="+mn-cs"/>
                  </a:rPr>
                  <a:t>interactieterm =&gt; </a:t>
                </a:r>
                <a:r>
                  <a:rPr lang="nl-NL" sz="1400" b="0" i="0" kern="1200" dirty="0" err="1">
                    <a:solidFill>
                      <a:schemeClr val="tx1"/>
                    </a:solidFill>
                    <a:effectLst/>
                    <a:latin typeface="+mn-lt"/>
                    <a:ea typeface="+mn-ea"/>
                    <a:cs typeface="+mn-cs"/>
                  </a:rPr>
                  <a:t>Autumn</a:t>
                </a:r>
                <a:r>
                  <a:rPr lang="nl-NL" sz="1400" b="0" i="0" kern="1200" dirty="0">
                    <a:solidFill>
                      <a:schemeClr val="tx1"/>
                    </a:solidFill>
                    <a:effectLst/>
                    <a:latin typeface="+mn-lt"/>
                    <a:ea typeface="+mn-ea"/>
                    <a:cs typeface="+mn-cs"/>
                  </a:rPr>
                  <a:t>-effect is anders  voor t+1 dan voor t  // </a:t>
                </a:r>
                <a:r>
                  <a:rPr lang="en-NL" sz="1400" b="0" i="0" kern="1200" dirty="0">
                    <a:solidFill>
                      <a:schemeClr val="tx1"/>
                    </a:solidFill>
                    <a:effectLst/>
                    <a:latin typeface="+mn-lt"/>
                    <a:ea typeface="+mn-ea"/>
                    <a:cs typeface="+mn-cs"/>
                  </a:rPr>
                  <a:t>holding AI constant</a:t>
                </a:r>
                <a:r>
                  <a:rPr lang="en-US" sz="1400" b="0" i="0" kern="1200" dirty="0">
                    <a:solidFill>
                      <a:schemeClr val="tx1"/>
                    </a:solidFill>
                    <a:effectLst/>
                    <a:latin typeface="+mn-lt"/>
                    <a:ea typeface="+mn-ea"/>
                    <a:cs typeface="+mn-cs"/>
                  </a:rPr>
                  <a:t> (w</a:t>
                </a:r>
                <a:r>
                  <a:rPr lang="en-NL" sz="1400" b="0" i="0" kern="1200" dirty="0" err="1">
                    <a:solidFill>
                      <a:schemeClr val="tx1"/>
                    </a:solidFill>
                    <a:effectLst/>
                    <a:latin typeface="+mn-lt"/>
                    <a:ea typeface="+mn-ea"/>
                    <a:cs typeface="+mn-cs"/>
                  </a:rPr>
                  <a:t>ithout</a:t>
                </a:r>
                <a:r>
                  <a:rPr lang="en-NL" sz="1400" b="0" i="0" kern="1200" dirty="0">
                    <a:solidFill>
                      <a:schemeClr val="tx1"/>
                    </a:solidFill>
                    <a:effectLst/>
                    <a:latin typeface="+mn-lt"/>
                    <a:ea typeface="+mn-ea"/>
                    <a:cs typeface="+mn-cs"/>
                  </a:rPr>
                  <a:t> controls, </a:t>
                </a:r>
                <a:r>
                  <a:rPr lang="en-US" sz="1400" b="0" i="0" kern="1200" dirty="0">
                    <a:solidFill>
                      <a:schemeClr val="tx1"/>
                    </a:solidFill>
                    <a:effectLst/>
                    <a:latin typeface="+mn-lt"/>
                    <a:ea typeface="+mn-ea"/>
                    <a:cs typeface="+mn-cs"/>
                  </a:rPr>
                  <a:t>for instance, the</a:t>
                </a:r>
                <a:r>
                  <a:rPr lang="en-NL" sz="1400" b="0" i="0" kern="1200" dirty="0">
                    <a:solidFill>
                      <a:schemeClr val="tx1"/>
                    </a:solidFill>
                    <a:effectLst/>
                    <a:latin typeface="+mn-lt"/>
                    <a:ea typeface="+mn-ea"/>
                    <a:cs typeface="+mn-cs"/>
                  </a:rPr>
                  <a:t> AI coefficient is </a:t>
                </a:r>
                <a:r>
                  <a:rPr lang="en-US" sz="1400" b="0" i="0" kern="1200" dirty="0">
                    <a:solidFill>
                      <a:schemeClr val="tx1"/>
                    </a:solidFill>
                    <a:effectLst/>
                    <a:latin typeface="+mn-lt"/>
                    <a:ea typeface="+mn-ea"/>
                    <a:cs typeface="+mn-cs"/>
                  </a:rPr>
                  <a:t>also </a:t>
                </a:r>
                <a:r>
                  <a:rPr lang="en-NL" sz="1400" b="0" i="0" kern="1200" dirty="0">
                    <a:solidFill>
                      <a:schemeClr val="tx1"/>
                    </a:solidFill>
                    <a:effectLst/>
                    <a:latin typeface="+mn-lt"/>
                    <a:ea typeface="+mn-ea"/>
                    <a:cs typeface="+mn-cs"/>
                  </a:rPr>
                  <a:t>estimated</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from variation in</a:t>
                </a:r>
                <a:r>
                  <a:rPr lang="en-US" sz="1400" b="0" i="0" kern="1200" dirty="0">
                    <a:solidFill>
                      <a:schemeClr val="tx1"/>
                    </a:solidFill>
                    <a:effectLst/>
                    <a:latin typeface="+mn-lt"/>
                    <a:ea typeface="+mn-ea"/>
                    <a:cs typeface="+mn-cs"/>
                  </a:rPr>
                  <a:t> type of forecast)</a:t>
                </a:r>
                <a:endParaRPr lang="en-NL" sz="1400" b="0" i="0" kern="1200" dirty="0">
                  <a:solidFill>
                    <a:schemeClr val="tx1"/>
                  </a:solidFill>
                  <a:effectLst/>
                  <a:latin typeface="+mn-lt"/>
                  <a:ea typeface="+mn-ea"/>
                  <a:cs typeface="+mn-cs"/>
                </a:endParaRPr>
              </a:p>
              <a:p>
                <a:pPr fontAlgn="t"/>
                <a:r>
                  <a:rPr lang="en-NL" sz="1400" dirty="0"/>
                  <a:t>Suppose </a:t>
                </a:r>
                <a:r>
                  <a:rPr lang="en-US" sz="1400" dirty="0"/>
                  <a:t>that t+1 </a:t>
                </a:r>
                <a:r>
                  <a:rPr lang="en-NL" sz="1400" dirty="0"/>
                  <a:t>forecasts have more </a:t>
                </a:r>
                <a:r>
                  <a:rPr lang="en-US" sz="1400" dirty="0"/>
                  <a:t>positive</a:t>
                </a:r>
                <a:r>
                  <a:rPr lang="en-NL" sz="1400" dirty="0"/>
                  <a:t> surprises because they are harder to predict.</a:t>
                </a:r>
                <a:r>
                  <a:rPr lang="en-US" sz="1400" dirty="0"/>
                  <a:t> </a:t>
                </a:r>
                <a:r>
                  <a:rPr lang="en-NL" sz="1400" dirty="0"/>
                  <a:t>Then</a:t>
                </a:r>
                <a:r>
                  <a:rPr lang="en-US" sz="1400" dirty="0"/>
                  <a:t>: </a:t>
                </a:r>
                <a14:m>
                  <m:oMath xmlns:m="http://schemas.openxmlformats.org/officeDocument/2006/math">
                    <m:r>
                      <a:rPr lang="en-US" sz="1400" b="0" i="0" smtClean="0">
                        <a:latin typeface="Cambria Math" panose="02040503050406030204" pitchFamily="18" charset="0"/>
                      </a:rPr>
                      <m:t> </m:t>
                    </m:r>
                    <m:sSub>
                      <m:sSubPr>
                        <m:ctrlPr>
                          <a:rPr lang="en-NL" sz="1400" i="1">
                            <a:latin typeface="Cambria Math" panose="02040503050406030204" pitchFamily="18" charset="0"/>
                          </a:rPr>
                        </m:ctrlPr>
                      </m:sSubPr>
                      <m:e>
                        <m:r>
                          <a:rPr lang="en-NL" sz="1400" i="1">
                            <a:latin typeface="Cambria Math" panose="02040503050406030204" pitchFamily="18" charset="0"/>
                          </a:rPr>
                          <m:t>𝛾</m:t>
                        </m:r>
                      </m:e>
                      <m:sub>
                        <m:r>
                          <a:rPr lang="en-NL" sz="1400">
                            <a:latin typeface="Cambria Math" panose="02040503050406030204" pitchFamily="18" charset="0"/>
                          </a:rPr>
                          <m:t>2</m:t>
                        </m:r>
                      </m:sub>
                    </m:sSub>
                    <m:r>
                      <a:rPr lang="en-NL" sz="1400">
                        <a:latin typeface="Cambria Math" panose="02040503050406030204" pitchFamily="18" charset="0"/>
                      </a:rPr>
                      <m:t>&lt;0</m:t>
                    </m:r>
                  </m:oMath>
                </a14:m>
                <a:r>
                  <a:rPr lang="en-US" sz="1400" dirty="0"/>
                  <a:t>    </a:t>
                </a:r>
                <a:r>
                  <a:rPr lang="en-NL" sz="1400" dirty="0"/>
                  <a:t>will absorb that systematic shift</a:t>
                </a:r>
                <a:r>
                  <a:rPr lang="en-US" sz="1400" dirty="0"/>
                  <a:t>.</a:t>
                </a:r>
              </a:p>
              <a:p>
                <a:pPr fontAlgn="t"/>
                <a:r>
                  <a:rPr lang="en-US" dirty="0"/>
                  <a:t>estimate </a:t>
                </a:r>
                <a:r>
                  <a:rPr lang="en-NL" dirty="0"/>
                  <a:t>how AI dependence </a:t>
                </a:r>
                <a:r>
                  <a:rPr lang="en-US" dirty="0"/>
                  <a:t>IS </a:t>
                </a:r>
                <a:r>
                  <a:rPr lang="en-NL" dirty="0"/>
                  <a:t>associated with probability of </a:t>
                </a:r>
                <a:r>
                  <a:rPr lang="en-US" dirty="0"/>
                  <a:t>positive </a:t>
                </a:r>
                <a:r>
                  <a:rPr lang="en-NL" dirty="0"/>
                  <a:t>GDP growth surprise</a:t>
                </a:r>
                <a:r>
                  <a:rPr lang="en-US" dirty="0"/>
                  <a:t>, </a:t>
                </a:r>
                <a:r>
                  <a:rPr lang="en-NL" dirty="0"/>
                  <a:t>Holding constant whether the forecast is Spring or Autumn and whether it refers to year </a:t>
                </a:r>
                <a14:m>
                  <m:oMath xmlns:m="http://schemas.openxmlformats.org/officeDocument/2006/math">
                    <m:r>
                      <a:rPr lang="en-NL" i="1">
                        <a:latin typeface="Cambria Math" panose="02040503050406030204" pitchFamily="18" charset="0"/>
                      </a:rPr>
                      <m:t>𝑡</m:t>
                    </m:r>
                  </m:oMath>
                </a14:m>
                <a:r>
                  <a:rPr lang="en-NL" dirty="0"/>
                  <a:t>or </a:t>
                </a:r>
                <a14:m>
                  <m:oMath xmlns:m="http://schemas.openxmlformats.org/officeDocument/2006/math">
                    <m:r>
                      <a:rPr lang="en-NL" i="1">
                        <a:latin typeface="Cambria Math" panose="02040503050406030204" pitchFamily="18" charset="0"/>
                      </a:rPr>
                      <m:t>𝑡</m:t>
                    </m:r>
                    <m:r>
                      <a:rPr lang="en-NL">
                        <a:latin typeface="Cambria Math" panose="02040503050406030204" pitchFamily="18" charset="0"/>
                      </a:rPr>
                      <m:t>+</m:t>
                    </m:r>
                    <m:r>
                      <a:rPr lang="en-US" b="0" i="0" smtClean="0">
                        <a:latin typeface="Cambria Math" panose="02040503050406030204" pitchFamily="18" charset="0"/>
                      </a:rPr>
                      <m:t>1</m:t>
                    </m:r>
                  </m:oMath>
                </a14:m>
                <a:endParaRPr lang="en-NL" dirty="0"/>
              </a:p>
              <a:p>
                <a:pPr fontAlgn="t"/>
                <a:endParaRPr lang="en-NL" sz="1200" b="0" i="0" kern="1200" dirty="0">
                  <a:solidFill>
                    <a:schemeClr val="tx1"/>
                  </a:solidFill>
                  <a:effectLst/>
                  <a:latin typeface="+mn-lt"/>
                  <a:ea typeface="+mn-ea"/>
                  <a:cs typeface="+mn-cs"/>
                </a:endParaRPr>
              </a:p>
              <a:p>
                <a:pPr marL="0" indent="0">
                  <a:buFontTx/>
                  <a:buNone/>
                </a:pPr>
                <a:endParaRPr lang="nl-NL" i="0" baseline="0" dirty="0"/>
              </a:p>
            </p:txBody>
          </p:sp>
        </mc:Choice>
        <mc:Fallback xmlns="">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a:xfrm>
                <a:off x="474921" y="4785598"/>
                <a:ext cx="5897525" cy="4847500"/>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By pooling the GDP growth realizations in year t &amp;  t+1 and Spring &amp;  Autumn forecasts, you</a:t>
                </a:r>
                <a:r>
                  <a:rPr lang="en-NL" sz="1400" b="0" i="0" kern="1200" dirty="0">
                    <a:solidFill>
                      <a:schemeClr val="tx1"/>
                    </a:solidFill>
                    <a:effectLst/>
                    <a:latin typeface="+mn-lt"/>
                    <a:ea typeface="+mn-ea"/>
                    <a:cs typeface="+mn-cs"/>
                  </a:rPr>
                  <a:t> increases sample size and treats all forecasts as observations on the same forecasting problem.</a:t>
                </a:r>
                <a:r>
                  <a:rPr lang="en-US" sz="1400" b="0" i="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However, </a:t>
                </a:r>
                <a:r>
                  <a:rPr lang="en-NL" sz="1400" b="0" i="0" kern="1200" dirty="0">
                    <a:solidFill>
                      <a:schemeClr val="tx1"/>
                    </a:solidFill>
                    <a:effectLst/>
                    <a:latin typeface="+mn-lt"/>
                    <a:ea typeface="+mn-ea"/>
                    <a:cs typeface="+mn-cs"/>
                  </a:rPr>
                  <a:t>surprise</a:t>
                </a:r>
                <a:r>
                  <a:rPr lang="en-US" sz="1400" b="0" i="0" kern="1200" dirty="0">
                    <a:solidFill>
                      <a:schemeClr val="tx1"/>
                    </a:solidFill>
                    <a:effectLst/>
                    <a:latin typeface="+mn-lt"/>
                    <a:ea typeface="+mn-ea"/>
                    <a:cs typeface="+mn-cs"/>
                  </a:rPr>
                  <a:t>s based on </a:t>
                </a:r>
                <a:r>
                  <a:rPr lang="en-NL" sz="1400" b="0" i="0" kern="1200" dirty="0">
                    <a:solidFill>
                      <a:schemeClr val="tx1"/>
                    </a:solidFill>
                    <a:effectLst/>
                    <a:latin typeface="+mn-lt"/>
                    <a:ea typeface="+mn-ea"/>
                    <a:cs typeface="+mn-cs"/>
                  </a:rPr>
                  <a:t>Autumn</a:t>
                </a:r>
                <a:r>
                  <a:rPr lang="en-US" sz="1400" b="0" i="0" kern="1200" dirty="0">
                    <a:solidFill>
                      <a:schemeClr val="tx1"/>
                    </a:solidFill>
                    <a:effectLst/>
                    <a:latin typeface="+mn-lt"/>
                    <a:ea typeface="+mn-ea"/>
                    <a:cs typeface="+mn-cs"/>
                  </a:rPr>
                  <a:t> &amp; Spring</a:t>
                </a:r>
                <a:r>
                  <a:rPr lang="en-US" sz="1400" b="0" i="0" kern="1200" baseline="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forecast </a:t>
                </a:r>
                <a:r>
                  <a:rPr lang="en-US" sz="1400" b="0" i="0" kern="1200" dirty="0">
                    <a:solidFill>
                      <a:schemeClr val="tx1"/>
                    </a:solidFill>
                    <a:effectLst/>
                    <a:latin typeface="+mn-lt"/>
                    <a:ea typeface="+mn-ea"/>
                    <a:cs typeface="+mn-cs"/>
                  </a:rPr>
                  <a:t>and t </a:t>
                </a:r>
                <a:r>
                  <a:rPr lang="en-US" sz="1400" dirty="0"/>
                  <a:t>&amp; </a:t>
                </a:r>
                <a:r>
                  <a:rPr lang="en-US" sz="1400" b="0" i="0" kern="1200" dirty="0">
                    <a:solidFill>
                      <a:schemeClr val="tx1"/>
                    </a:solidFill>
                    <a:effectLst/>
                    <a:latin typeface="+mn-lt"/>
                    <a:ea typeface="+mn-ea"/>
                    <a:cs typeface="+mn-cs"/>
                  </a:rPr>
                  <a:t> t+1 are </a:t>
                </a:r>
                <a:r>
                  <a:rPr lang="en-NL" sz="1400" b="0" i="0" kern="1200" dirty="0">
                    <a:solidFill>
                      <a:schemeClr val="tx1"/>
                    </a:solidFill>
                    <a:effectLst/>
                    <a:latin typeface="+mn-lt"/>
                    <a:ea typeface="+mn-ea"/>
                    <a:cs typeface="+mn-cs"/>
                  </a:rPr>
                  <a:t>not directly comparable</a:t>
                </a:r>
                <a:r>
                  <a:rPr lang="en-US" sz="1400" b="0" i="0" kern="1200" dirty="0">
                    <a:solidFill>
                      <a:schemeClr val="tx1"/>
                    </a:solidFill>
                    <a:effectLst/>
                    <a:latin typeface="+mn-lt"/>
                    <a:ea typeface="+mn-ea"/>
                    <a:cs typeface="+mn-cs"/>
                  </a:rPr>
                  <a:t>; for instance uncertainty about t+1 forecast is higher than forecast t and similarly for Spring vs Autumn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fontAlgn="t"/>
                <a:r>
                  <a:rPr lang="en-US" sz="1400" b="0" i="0" kern="1200" dirty="0">
                    <a:solidFill>
                      <a:schemeClr val="tx1"/>
                    </a:solidFill>
                    <a:effectLst/>
                    <a:latin typeface="+mn-lt"/>
                    <a:ea typeface="+mn-ea"/>
                    <a:cs typeface="+mn-cs"/>
                  </a:rPr>
                  <a:t>Solution</a:t>
                </a:r>
                <a:r>
                  <a:rPr lang="en-US" sz="1400" dirty="0"/>
                  <a:t> =&gt;</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add forecast-vintage controls:</a:t>
                </a:r>
                <a:r>
                  <a:rPr lang="en-US" sz="1400" b="0" i="0" kern="1200" dirty="0">
                    <a:solidFill>
                      <a:schemeClr val="tx1"/>
                    </a:solidFill>
                    <a:effectLst/>
                    <a:latin typeface="+mn-lt"/>
                    <a:ea typeface="+mn-ea"/>
                    <a:cs typeface="+mn-cs"/>
                  </a:rPr>
                  <a:t> Autumn, horizon t+1, Autumn x horizon t+1 (Spring forecasts &amp; forecasts for year t are the omitted reference categories). These terms control for systematic differences between Spring/Autumn forecasts and t/t+1 horizons….. t</a:t>
                </a:r>
                <a:r>
                  <a:rPr lang="en-NL" sz="1400" b="0" i="0" kern="1200" dirty="0">
                    <a:solidFill>
                      <a:schemeClr val="tx1"/>
                    </a:solidFill>
                    <a:effectLst/>
                    <a:latin typeface="+mn-lt"/>
                    <a:ea typeface="+mn-ea"/>
                    <a:cs typeface="+mn-cs"/>
                  </a:rPr>
                  <a:t>his removes systematic differences between forecast types</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 </a:t>
                </a:r>
                <a:r>
                  <a:rPr lang="nl-NL" sz="1400" b="0" i="0" kern="1200" dirty="0">
                    <a:solidFill>
                      <a:schemeClr val="tx1"/>
                    </a:solidFill>
                    <a:effectLst/>
                    <a:latin typeface="+mn-lt"/>
                    <a:ea typeface="+mn-ea"/>
                    <a:cs typeface="+mn-cs"/>
                  </a:rPr>
                  <a:t>interactieterm =&gt; </a:t>
                </a:r>
                <a:r>
                  <a:rPr lang="nl-NL" sz="1400" b="0" i="0" kern="1200" dirty="0" err="1">
                    <a:solidFill>
                      <a:schemeClr val="tx1"/>
                    </a:solidFill>
                    <a:effectLst/>
                    <a:latin typeface="+mn-lt"/>
                    <a:ea typeface="+mn-ea"/>
                    <a:cs typeface="+mn-cs"/>
                  </a:rPr>
                  <a:t>Autumn</a:t>
                </a:r>
                <a:r>
                  <a:rPr lang="nl-NL" sz="1400" b="0" i="0" kern="1200" dirty="0">
                    <a:solidFill>
                      <a:schemeClr val="tx1"/>
                    </a:solidFill>
                    <a:effectLst/>
                    <a:latin typeface="+mn-lt"/>
                    <a:ea typeface="+mn-ea"/>
                    <a:cs typeface="+mn-cs"/>
                  </a:rPr>
                  <a:t>-effect is anders  voor t+1 dan voor t  // </a:t>
                </a:r>
                <a:r>
                  <a:rPr lang="en-NL" sz="1400" b="0" i="0" kern="1200" dirty="0">
                    <a:solidFill>
                      <a:schemeClr val="tx1"/>
                    </a:solidFill>
                    <a:effectLst/>
                    <a:latin typeface="+mn-lt"/>
                    <a:ea typeface="+mn-ea"/>
                    <a:cs typeface="+mn-cs"/>
                  </a:rPr>
                  <a:t>holding AI constant</a:t>
                </a:r>
                <a:r>
                  <a:rPr lang="en-US" sz="1400" b="0" i="0" kern="1200" dirty="0">
                    <a:solidFill>
                      <a:schemeClr val="tx1"/>
                    </a:solidFill>
                    <a:effectLst/>
                    <a:latin typeface="+mn-lt"/>
                    <a:ea typeface="+mn-ea"/>
                    <a:cs typeface="+mn-cs"/>
                  </a:rPr>
                  <a:t> (w</a:t>
                </a:r>
                <a:r>
                  <a:rPr lang="en-NL" sz="1400" b="0" i="0" kern="1200" dirty="0" err="1">
                    <a:solidFill>
                      <a:schemeClr val="tx1"/>
                    </a:solidFill>
                    <a:effectLst/>
                    <a:latin typeface="+mn-lt"/>
                    <a:ea typeface="+mn-ea"/>
                    <a:cs typeface="+mn-cs"/>
                  </a:rPr>
                  <a:t>ithout</a:t>
                </a:r>
                <a:r>
                  <a:rPr lang="en-NL" sz="1400" b="0" i="0" kern="1200" dirty="0">
                    <a:solidFill>
                      <a:schemeClr val="tx1"/>
                    </a:solidFill>
                    <a:effectLst/>
                    <a:latin typeface="+mn-lt"/>
                    <a:ea typeface="+mn-ea"/>
                    <a:cs typeface="+mn-cs"/>
                  </a:rPr>
                  <a:t> controls, </a:t>
                </a:r>
                <a:r>
                  <a:rPr lang="en-US" sz="1400" b="0" i="0" kern="1200" dirty="0">
                    <a:solidFill>
                      <a:schemeClr val="tx1"/>
                    </a:solidFill>
                    <a:effectLst/>
                    <a:latin typeface="+mn-lt"/>
                    <a:ea typeface="+mn-ea"/>
                    <a:cs typeface="+mn-cs"/>
                  </a:rPr>
                  <a:t>for instance, the</a:t>
                </a:r>
                <a:r>
                  <a:rPr lang="en-NL" sz="1400" b="0" i="0" kern="1200" dirty="0">
                    <a:solidFill>
                      <a:schemeClr val="tx1"/>
                    </a:solidFill>
                    <a:effectLst/>
                    <a:latin typeface="+mn-lt"/>
                    <a:ea typeface="+mn-ea"/>
                    <a:cs typeface="+mn-cs"/>
                  </a:rPr>
                  <a:t> AI coefficient is </a:t>
                </a:r>
                <a:r>
                  <a:rPr lang="en-US" sz="1400" b="0" i="0" kern="1200" dirty="0">
                    <a:solidFill>
                      <a:schemeClr val="tx1"/>
                    </a:solidFill>
                    <a:effectLst/>
                    <a:latin typeface="+mn-lt"/>
                    <a:ea typeface="+mn-ea"/>
                    <a:cs typeface="+mn-cs"/>
                  </a:rPr>
                  <a:t>also </a:t>
                </a:r>
                <a:r>
                  <a:rPr lang="en-NL" sz="1400" b="0" i="0" kern="1200" dirty="0">
                    <a:solidFill>
                      <a:schemeClr val="tx1"/>
                    </a:solidFill>
                    <a:effectLst/>
                    <a:latin typeface="+mn-lt"/>
                    <a:ea typeface="+mn-ea"/>
                    <a:cs typeface="+mn-cs"/>
                  </a:rPr>
                  <a:t>estimated</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from variation in</a:t>
                </a:r>
                <a:r>
                  <a:rPr lang="en-US" sz="1400" b="0" i="0" kern="1200" dirty="0">
                    <a:solidFill>
                      <a:schemeClr val="tx1"/>
                    </a:solidFill>
                    <a:effectLst/>
                    <a:latin typeface="+mn-lt"/>
                    <a:ea typeface="+mn-ea"/>
                    <a:cs typeface="+mn-cs"/>
                  </a:rPr>
                  <a:t> type of forecast)</a:t>
                </a:r>
                <a:endParaRPr lang="en-NL" sz="1400" b="0" i="0" kern="1200" dirty="0">
                  <a:solidFill>
                    <a:schemeClr val="tx1"/>
                  </a:solidFill>
                  <a:effectLst/>
                  <a:latin typeface="+mn-lt"/>
                  <a:ea typeface="+mn-ea"/>
                  <a:cs typeface="+mn-cs"/>
                </a:endParaRPr>
              </a:p>
              <a:p>
                <a:pPr fontAlgn="t"/>
                <a:r>
                  <a:rPr lang="en-NL" sz="1400" dirty="0"/>
                  <a:t>Suppose </a:t>
                </a:r>
                <a:r>
                  <a:rPr lang="en-US" sz="1400" dirty="0"/>
                  <a:t>that t+1 </a:t>
                </a:r>
                <a:r>
                  <a:rPr lang="en-NL" sz="1400" dirty="0"/>
                  <a:t>forecasts have more </a:t>
                </a:r>
                <a:r>
                  <a:rPr lang="en-US" sz="1400" dirty="0"/>
                  <a:t>positive</a:t>
                </a:r>
                <a:r>
                  <a:rPr lang="en-NL" sz="1400" dirty="0"/>
                  <a:t> surprises because they are harder to predict.</a:t>
                </a:r>
                <a:r>
                  <a:rPr lang="en-US" sz="1400" dirty="0"/>
                  <a:t> </a:t>
                </a:r>
                <a:r>
                  <a:rPr lang="en-NL" sz="1400" dirty="0"/>
                  <a:t>Then</a:t>
                </a:r>
                <a:r>
                  <a:rPr lang="en-US" sz="1400" dirty="0"/>
                  <a:t>: </a:t>
                </a:r>
                <a:r>
                  <a:rPr lang="en-US" sz="1400" b="0" i="0">
                    <a:latin typeface="Cambria Math" panose="02040503050406030204" pitchFamily="18" charset="0"/>
                  </a:rPr>
                  <a:t> </a:t>
                </a:r>
                <a:r>
                  <a:rPr lang="en-NL" sz="1400" i="0">
                    <a:latin typeface="Cambria Math" panose="02040503050406030204" pitchFamily="18" charset="0"/>
                  </a:rPr>
                  <a:t>𝛾_2&lt;0</a:t>
                </a:r>
                <a:r>
                  <a:rPr lang="en-US" sz="1400" dirty="0"/>
                  <a:t>    </a:t>
                </a:r>
                <a:r>
                  <a:rPr lang="en-NL" sz="1400" dirty="0"/>
                  <a:t>will absorb that systematic shift</a:t>
                </a:r>
                <a:r>
                  <a:rPr lang="en-US" sz="1400" dirty="0"/>
                  <a:t>.</a:t>
                </a:r>
              </a:p>
              <a:p>
                <a:pPr fontAlgn="t"/>
                <a:r>
                  <a:rPr lang="en-US" dirty="0"/>
                  <a:t>estimate </a:t>
                </a:r>
                <a:r>
                  <a:rPr lang="en-NL" dirty="0"/>
                  <a:t>how AI dependence </a:t>
                </a:r>
                <a:r>
                  <a:rPr lang="en-US" dirty="0"/>
                  <a:t>IS </a:t>
                </a:r>
                <a:r>
                  <a:rPr lang="en-NL" dirty="0"/>
                  <a:t>associated with probability of </a:t>
                </a:r>
                <a:r>
                  <a:rPr lang="en-US" dirty="0"/>
                  <a:t>positive </a:t>
                </a:r>
                <a:r>
                  <a:rPr lang="en-NL" dirty="0"/>
                  <a:t>GDP growth surprise</a:t>
                </a:r>
                <a:r>
                  <a:rPr lang="en-US" dirty="0"/>
                  <a:t>, </a:t>
                </a:r>
                <a:r>
                  <a:rPr lang="en-NL" dirty="0"/>
                  <a:t>Holding constant whether the forecast is Spring or Autumn and whether it refers to year </a:t>
                </a:r>
                <a:r>
                  <a:rPr lang="en-NL" i="0">
                    <a:latin typeface="Cambria Math" panose="02040503050406030204" pitchFamily="18" charset="0"/>
                  </a:rPr>
                  <a:t>𝑡</a:t>
                </a:r>
                <a:r>
                  <a:rPr lang="en-NL" dirty="0"/>
                  <a:t>or </a:t>
                </a:r>
                <a:r>
                  <a:rPr lang="en-NL" i="0">
                    <a:latin typeface="Cambria Math" panose="02040503050406030204" pitchFamily="18" charset="0"/>
                  </a:rPr>
                  <a:t>𝑡+</a:t>
                </a:r>
                <a:r>
                  <a:rPr lang="en-US" b="0" i="0">
                    <a:latin typeface="Cambria Math" panose="02040503050406030204" pitchFamily="18" charset="0"/>
                  </a:rPr>
                  <a:t>1</a:t>
                </a:r>
                <a:endParaRPr lang="en-NL" dirty="0"/>
              </a:p>
              <a:p>
                <a:pPr fontAlgn="t"/>
                <a:endParaRPr lang="en-NL" sz="1200" b="0" i="0" kern="1200" dirty="0">
                  <a:solidFill>
                    <a:schemeClr val="tx1"/>
                  </a:solidFill>
                  <a:effectLst/>
                  <a:latin typeface="+mn-lt"/>
                  <a:ea typeface="+mn-ea"/>
                  <a:cs typeface="+mn-cs"/>
                </a:endParaRPr>
              </a:p>
              <a:p>
                <a:pPr marL="0" indent="0">
                  <a:buFontTx/>
                  <a:buNone/>
                </a:pPr>
                <a:endParaRPr lang="nl-NL" i="0" baseline="0" dirty="0"/>
              </a:p>
            </p:txBody>
          </p:sp>
        </mc:Fallback>
      </mc:AlternateContent>
      <p:sp>
        <p:nvSpPr>
          <p:cNvPr id="4" name="Tijdelijke aanduiding voor dianummer 3">
            <a:extLst>
              <a:ext uri="{FF2B5EF4-FFF2-40B4-BE49-F238E27FC236}">
                <a16:creationId xmlns:a16="http://schemas.microsoft.com/office/drawing/2014/main" id="{F7E40117-2FC2-AD64-7A69-257DCDF9CD57}"/>
              </a:ext>
            </a:extLst>
          </p:cNvPr>
          <p:cNvSpPr>
            <a:spLocks noGrp="1"/>
          </p:cNvSpPr>
          <p:nvPr>
            <p:ph type="sldNum" sz="quarter" idx="10"/>
          </p:nvPr>
        </p:nvSpPr>
        <p:spPr/>
        <p:txBody>
          <a:bodyPr/>
          <a:lstStyle/>
          <a:p>
            <a:fld id="{F9513F78-5509-4637-B397-C3DEABA56153}" type="slidenum">
              <a:rPr lang="nl-NL" smtClean="0">
                <a:solidFill>
                  <a:prstClr val="black"/>
                </a:solidFill>
              </a:rPr>
              <a:pPr/>
              <a:t>5</a:t>
            </a:fld>
            <a:endParaRPr lang="nl-NL">
              <a:solidFill>
                <a:prstClr val="black"/>
              </a:solidFill>
            </a:endParaRPr>
          </a:p>
        </p:txBody>
      </p:sp>
    </p:spTree>
    <p:extLst>
      <p:ext uri="{BB962C8B-B14F-4D97-AF65-F5344CB8AC3E}">
        <p14:creationId xmlns:p14="http://schemas.microsoft.com/office/powerpoint/2010/main" val="35814445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1EF1A-2BFE-FC73-A652-E93653709E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8E45FAF-A103-FAAB-7970-46F9F5DD781A}"/>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0EDCB2AF-C97E-CB13-E1A4-6EFAD032174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BB08B61-6468-52E0-E472-F09207F523A7}"/>
              </a:ext>
            </a:extLst>
          </p:cNvPr>
          <p:cNvSpPr>
            <a:spLocks noGrp="1"/>
          </p:cNvSpPr>
          <p:nvPr>
            <p:ph type="sldNum" sz="quarter" idx="10"/>
          </p:nvPr>
        </p:nvSpPr>
        <p:spPr/>
        <p:txBody>
          <a:bodyPr/>
          <a:lstStyle/>
          <a:p>
            <a:fld id="{F9513F78-5509-4637-B397-C3DEABA56153}" type="slidenum">
              <a:rPr lang="nl-NL" smtClean="0">
                <a:solidFill>
                  <a:prstClr val="black"/>
                </a:solidFill>
              </a:rPr>
              <a:pPr/>
              <a:t>6</a:t>
            </a:fld>
            <a:endParaRPr lang="nl-NL">
              <a:solidFill>
                <a:prstClr val="black"/>
              </a:solidFill>
            </a:endParaRPr>
          </a:p>
        </p:txBody>
      </p:sp>
    </p:spTree>
    <p:extLst>
      <p:ext uri="{BB962C8B-B14F-4D97-AF65-F5344CB8AC3E}">
        <p14:creationId xmlns:p14="http://schemas.microsoft.com/office/powerpoint/2010/main" val="1947068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48E58-CB75-905B-068E-CDD7A9D2A0B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687A6651-9D8C-041E-6221-CB4A80DAA58D}"/>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F634D1AC-E4B8-E07C-05B4-D7A415247C1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3026BB5A-DB7F-2C88-876D-A4F0BE83B448}"/>
              </a:ext>
            </a:extLst>
          </p:cNvPr>
          <p:cNvSpPr>
            <a:spLocks noGrp="1"/>
          </p:cNvSpPr>
          <p:nvPr>
            <p:ph type="sldNum" sz="quarter" idx="10"/>
          </p:nvPr>
        </p:nvSpPr>
        <p:spPr/>
        <p:txBody>
          <a:bodyPr/>
          <a:lstStyle/>
          <a:p>
            <a:fld id="{F9513F78-5509-4637-B397-C3DEABA56153}" type="slidenum">
              <a:rPr lang="nl-NL" smtClean="0">
                <a:solidFill>
                  <a:prstClr val="black"/>
                </a:solidFill>
              </a:rPr>
              <a:pPr/>
              <a:t>7</a:t>
            </a:fld>
            <a:endParaRPr lang="nl-NL">
              <a:solidFill>
                <a:prstClr val="black"/>
              </a:solidFill>
            </a:endParaRPr>
          </a:p>
        </p:txBody>
      </p:sp>
    </p:spTree>
    <p:extLst>
      <p:ext uri="{BB962C8B-B14F-4D97-AF65-F5344CB8AC3E}">
        <p14:creationId xmlns:p14="http://schemas.microsoft.com/office/powerpoint/2010/main" val="3621924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0BC5-06E4-392E-9044-211CD5CF8EC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3A3BA49-0B7A-D781-55F9-636B649C7531}"/>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Tijdelijke aanduiding voor notities 2">
                <a:extLst>
                  <a:ext uri="{FF2B5EF4-FFF2-40B4-BE49-F238E27FC236}">
                    <a16:creationId xmlns:a16="http://schemas.microsoft.com/office/drawing/2014/main" id="{8F9248E1-2394-BB6E-ACF7-C8BB520C4467}"/>
                  </a:ext>
                </a:extLst>
              </p:cNvPr>
              <p:cNvSpPr>
                <a:spLocks noGrp="1"/>
              </p:cNvSpPr>
              <p:nvPr>
                <p:ph type="body" idx="1"/>
              </p:nvPr>
            </p:nvSpPr>
            <p:spPr>
              <a:xfrm>
                <a:off x="233917" y="4785598"/>
                <a:ext cx="6223590" cy="3915489"/>
              </a:xfrm>
            </p:spPr>
            <p:txBody>
              <a:bodyPr/>
              <a:lstStyle/>
              <a:p>
                <a:r>
                  <a:rPr lang="en-US" sz="1300" dirty="0"/>
                  <a:t>Dependent variable is the unexpected component of GDP growth, while the explanatory variables describe the composition of GDP (investment or exports as a share of GDP). In doing so, the relationship does not describe an accounting identity. In addition, the ICT variables are recorded with a delay (previous ICT exposures explain later growth surprises).</a:t>
                </a:r>
              </a:p>
              <a:p>
                <a:pPr marL="171450" indent="-171450">
                  <a:buFontTx/>
                  <a:buChar char="-"/>
                </a:pPr>
                <a:endParaRPr lang="en-US" sz="1300" dirty="0"/>
              </a:p>
              <a:p>
                <a:pPr marL="171450" indent="-171450">
                  <a:buFontTx/>
                  <a:buChar char="-"/>
                </a:pPr>
                <a:r>
                  <a:rPr lang="en-US" sz="1300" dirty="0"/>
                  <a:t>Investing in ICT does not yet equal its effective application. It is a proxy, also for a country's exposure to the ICT factor without having to change economic processes.</a:t>
                </a:r>
              </a:p>
              <a:p>
                <a:pPr marL="171450" indent="-171450">
                  <a:buFontTx/>
                  <a:buChar char="-"/>
                </a:pPr>
                <a:r>
                  <a:rPr lang="nl-NL" sz="1300" dirty="0" err="1"/>
                  <a:t>Each</a:t>
                </a:r>
                <a:r>
                  <a:rPr lang="nl-NL" sz="1300" dirty="0"/>
                  <a:t> </a:t>
                </a:r>
                <a:r>
                  <a:rPr lang="nl-NL" sz="1300" dirty="0" err="1"/>
                  <a:t>year</a:t>
                </a:r>
                <a:r>
                  <a:rPr lang="nl-NL" sz="1300" dirty="0"/>
                  <a:t> the </a:t>
                </a:r>
                <a:r>
                  <a:rPr lang="nl-NL" sz="1300" dirty="0" err="1"/>
                  <a:t>median</a:t>
                </a:r>
                <a:r>
                  <a:rPr lang="nl-NL" sz="1300" dirty="0"/>
                  <a:t> </a:t>
                </a:r>
                <a:r>
                  <a:rPr lang="nl-NL" sz="1300" dirty="0" err="1"/>
                  <a:t>threshold</a:t>
                </a:r>
                <a:r>
                  <a:rPr lang="nl-NL" sz="1300" dirty="0"/>
                  <a:t> </a:t>
                </a:r>
                <a:r>
                  <a:rPr lang="nl-NL" sz="1300" dirty="0" err="1"/>
                  <a:t>for</a:t>
                </a:r>
                <a:r>
                  <a:rPr lang="nl-NL" sz="1300" dirty="0"/>
                  <a:t> </a:t>
                </a:r>
                <a:r>
                  <a:rPr lang="nl-NL" sz="1300" dirty="0" err="1"/>
                  <a:t>Above</a:t>
                </a:r>
                <a:r>
                  <a:rPr lang="nl-NL" sz="1300" dirty="0"/>
                  <a:t> </a:t>
                </a:r>
                <a:r>
                  <a:rPr lang="nl-NL" sz="1300" dirty="0" err="1"/>
                  <a:t>vs</a:t>
                </a:r>
                <a:r>
                  <a:rPr lang="nl-NL" sz="1300" dirty="0"/>
                  <a:t> Below changes, </a:t>
                </a:r>
                <a:r>
                  <a:rPr lang="nl-NL" sz="1300" dirty="0" err="1"/>
                  <a:t>so</a:t>
                </a:r>
                <a:r>
                  <a:rPr lang="nl-NL" sz="1300" dirty="0"/>
                  <a:t>: </a:t>
                </a:r>
                <a:r>
                  <a:rPr lang="nl-NL" sz="1300" dirty="0" err="1"/>
                  <a:t>each</a:t>
                </a:r>
                <a:r>
                  <a:rPr lang="nl-NL" sz="1300" dirty="0"/>
                  <a:t> </a:t>
                </a:r>
                <a:r>
                  <a:rPr lang="nl-NL" sz="1300" dirty="0" err="1"/>
                  <a:t>year</a:t>
                </a:r>
                <a:r>
                  <a:rPr lang="nl-NL" sz="1300" dirty="0"/>
                  <a:t> the </a:t>
                </a:r>
                <a:r>
                  <a:rPr lang="nl-NL" sz="1300" dirty="0" err="1"/>
                  <a:t>Above</a:t>
                </a:r>
                <a:r>
                  <a:rPr lang="nl-NL" sz="1300" dirty="0"/>
                  <a:t> and Below </a:t>
                </a:r>
                <a:r>
                  <a:rPr lang="nl-NL" sz="1300" dirty="0" err="1"/>
                  <a:t>groups</a:t>
                </a:r>
                <a:r>
                  <a:rPr lang="nl-NL" sz="1300" dirty="0"/>
                  <a:t> of </a:t>
                </a:r>
                <a:r>
                  <a:rPr lang="nl-NL" sz="1300" dirty="0" err="1"/>
                  <a:t>countries</a:t>
                </a:r>
                <a:r>
                  <a:rPr lang="nl-NL" sz="1300" dirty="0"/>
                  <a:t> </a:t>
                </a:r>
                <a:r>
                  <a:rPr lang="nl-NL" sz="1300" dirty="0" err="1"/>
                  <a:t>differ</a:t>
                </a:r>
                <a:endParaRPr lang="nl-NL" sz="1300" dirty="0"/>
              </a:p>
              <a:p>
                <a:pPr marL="171450" indent="-171450">
                  <a:buFontTx/>
                  <a:buChar char="-"/>
                </a:pPr>
                <a:endParaRPr lang="nl-NL" sz="1300" dirty="0"/>
              </a:p>
              <a:p>
                <a:pPr lvl="0"/>
                <a:r>
                  <a:rPr lang="en-NL" sz="1300" kern="1200" dirty="0">
                    <a:solidFill>
                      <a:schemeClr val="tx1"/>
                    </a:solidFill>
                    <a:effectLst/>
                    <a:ea typeface="+mn-ea"/>
                    <a:cs typeface="+mn-cs"/>
                  </a:rPr>
                  <a:t>The LPM-FE is attractive because</a:t>
                </a:r>
                <a:r>
                  <a:rPr lang="en-US" sz="1300" kern="1200" dirty="0">
                    <a:solidFill>
                      <a:schemeClr val="tx1"/>
                    </a:solidFill>
                    <a:effectLst/>
                    <a:ea typeface="+mn-ea"/>
                    <a:cs typeface="+mn-cs"/>
                  </a:rPr>
                  <a:t> c</a:t>
                </a:r>
                <a:r>
                  <a:rPr lang="en-NL" sz="1300" kern="1200" dirty="0" err="1">
                    <a:solidFill>
                      <a:schemeClr val="tx1"/>
                    </a:solidFill>
                    <a:effectLst/>
                    <a:ea typeface="+mn-ea"/>
                    <a:cs typeface="+mn-cs"/>
                  </a:rPr>
                  <a:t>ountry</a:t>
                </a:r>
                <a:r>
                  <a:rPr lang="en-NL" sz="1300" kern="1200" dirty="0">
                    <a:solidFill>
                      <a:schemeClr val="tx1"/>
                    </a:solidFill>
                    <a:effectLst/>
                    <a:ea typeface="+mn-ea"/>
                    <a:cs typeface="+mn-cs"/>
                  </a:rPr>
                  <a:t> fixed effects can be included without the nonlinear incidental-parameters problem.</a:t>
                </a:r>
                <a:r>
                  <a:rPr lang="en-US" sz="1300" kern="1200" dirty="0">
                    <a:solidFill>
                      <a:schemeClr val="tx1"/>
                    </a:solidFill>
                    <a:effectLst/>
                    <a:ea typeface="+mn-ea"/>
                    <a:cs typeface="+mn-cs"/>
                  </a:rPr>
                  <a:t>/ </a:t>
                </a:r>
                <a:r>
                  <a:rPr lang="en-NL" sz="1300" kern="1200" dirty="0">
                    <a:solidFill>
                      <a:schemeClr val="tx1"/>
                    </a:solidFill>
                    <a:effectLst/>
                    <a:ea typeface="+mn-ea"/>
                    <a:cs typeface="+mn-cs"/>
                  </a:rPr>
                  <a:t>It allows the country effects to be arbitrarily correlated with ICT exposure</a:t>
                </a:r>
                <a:endParaRPr lang="en-US" sz="1300" kern="1200" dirty="0">
                  <a:solidFill>
                    <a:schemeClr val="tx1"/>
                  </a:solidFill>
                  <a:effectLs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300" b="0" i="0" kern="1200" dirty="0">
                    <a:solidFill>
                      <a:schemeClr val="tx1"/>
                    </a:solidFill>
                    <a:effectLst/>
                    <a:ea typeface="+mn-ea"/>
                    <a:cs typeface="+mn-cs"/>
                  </a:rPr>
                  <a:t>In LPM with FE </a:t>
                </a:r>
                <a:r>
                  <a:rPr lang="en-NL" sz="1300" b="0" i="0" kern="1200" dirty="0">
                    <a:solidFill>
                      <a:schemeClr val="tx1"/>
                    </a:solidFill>
                    <a:effectLst/>
                    <a:ea typeface="+mn-ea"/>
                    <a:cs typeface="+mn-cs"/>
                  </a:rPr>
                  <a:t>the country-specific effect is treated as an unrestricted parameter that is eliminated through the </a:t>
                </a:r>
                <a:r>
                  <a:rPr lang="en-NL" sz="1300" b="0" i="0" u="sng" kern="1200" dirty="0">
                    <a:solidFill>
                      <a:schemeClr val="tx1"/>
                    </a:solidFill>
                    <a:effectLst/>
                    <a:ea typeface="+mn-ea"/>
                    <a:cs typeface="+mn-cs"/>
                  </a:rPr>
                  <a:t>within transformation.</a:t>
                </a:r>
                <a:r>
                  <a:rPr lang="en-NL" sz="1300" b="0" i="0" kern="1200" dirty="0">
                    <a:solidFill>
                      <a:schemeClr val="tx1"/>
                    </a:solidFill>
                    <a:effectLst/>
                    <a:ea typeface="+mn-ea"/>
                    <a:cs typeface="+mn-cs"/>
                  </a:rPr>
                  <a:t> As a result, you do </a:t>
                </a:r>
                <a:r>
                  <a:rPr lang="en-NL" sz="1300" b="1" i="0" kern="1200" dirty="0">
                    <a:solidFill>
                      <a:schemeClr val="tx1"/>
                    </a:solidFill>
                    <a:effectLst/>
                    <a:ea typeface="+mn-ea"/>
                    <a:cs typeface="+mn-cs"/>
                  </a:rPr>
                  <a:t>not</a:t>
                </a:r>
                <a:r>
                  <a:rPr lang="en-NL" sz="1300" b="0" i="0" kern="1200" dirty="0">
                    <a:solidFill>
                      <a:schemeClr val="tx1"/>
                    </a:solidFill>
                    <a:effectLst/>
                    <a:ea typeface="+mn-ea"/>
                    <a:cs typeface="+mn-cs"/>
                  </a:rPr>
                  <a:t> need the assumption that the country effect is uncorrelated with ICT exposure</a:t>
                </a:r>
                <a:r>
                  <a:rPr lang="en-US" sz="1300" b="0" i="0" kern="1200" dirty="0">
                    <a:solidFill>
                      <a:schemeClr val="tx1"/>
                    </a:solidFill>
                    <a:effectLst/>
                    <a:ea typeface="+mn-ea"/>
                    <a:cs typeface="+mn-cs"/>
                  </a:rPr>
                  <a:t> (</a:t>
                </a:r>
                <a:r>
                  <a:rPr lang="en-NL" sz="1300" b="0" i="0" kern="1200" dirty="0">
                    <a:solidFill>
                      <a:schemeClr val="tx1"/>
                    </a:solidFill>
                    <a:effectLst/>
                    <a:ea typeface="+mn-ea"/>
                    <a:cs typeface="+mn-cs"/>
                  </a:rPr>
                  <a:t>In a </a:t>
                </a:r>
                <a:r>
                  <a:rPr lang="en-US" sz="1300" b="0" i="0" kern="1200" dirty="0">
                    <a:solidFill>
                      <a:schemeClr val="tx1"/>
                    </a:solidFill>
                    <a:effectLst/>
                    <a:ea typeface="+mn-ea"/>
                    <a:cs typeface="+mn-cs"/>
                  </a:rPr>
                  <a:t>FE</a:t>
                </a:r>
                <a:r>
                  <a:rPr lang="en-NL" sz="1300" b="0" i="0" kern="1200" dirty="0">
                    <a:solidFill>
                      <a:schemeClr val="tx1"/>
                    </a:solidFill>
                    <a:effectLst/>
                    <a:ea typeface="+mn-ea"/>
                    <a:cs typeface="+mn-cs"/>
                  </a:rPr>
                  <a:t> LPM, </a:t>
                </a:r>
                <a:r>
                  <a:rPr lang="en-US" sz="1300" b="0" i="0" kern="1200" dirty="0">
                    <a:solidFill>
                      <a:schemeClr val="tx1"/>
                    </a:solidFill>
                    <a:effectLst/>
                    <a:ea typeface="+mn-ea"/>
                    <a:cs typeface="+mn-cs"/>
                  </a:rPr>
                  <a:t>you</a:t>
                </a:r>
                <a:r>
                  <a:rPr lang="en-NL" sz="1300" b="0" i="0" kern="1200" dirty="0">
                    <a:solidFill>
                      <a:schemeClr val="tx1"/>
                    </a:solidFill>
                    <a:effectLst/>
                    <a:ea typeface="+mn-ea"/>
                    <a:cs typeface="+mn-cs"/>
                  </a:rPr>
                  <a:t> transform the data by subtracting country means:</a:t>
                </a:r>
                <a:r>
                  <a:rPr lang="en-US" sz="1300" b="0" i="0" kern="1200" dirty="0">
                    <a:solidFill>
                      <a:schemeClr val="tx1"/>
                    </a:solidFill>
                    <a:effectLst/>
                    <a:ea typeface="+mn-ea"/>
                    <a:cs typeface="+mn-cs"/>
                  </a:rPr>
                  <a:t> // </a:t>
                </a:r>
                <a:r>
                  <a:rPr lang="en-NL" sz="1300" b="0" i="0" kern="1200" dirty="0">
                    <a:solidFill>
                      <a:schemeClr val="tx1"/>
                    </a:solidFill>
                    <a:effectLst/>
                    <a:ea typeface="+mn-ea"/>
                    <a:cs typeface="+mn-cs"/>
                  </a:rPr>
                  <a:t>Therefore, estimation uses only </a:t>
                </a:r>
                <a:r>
                  <a:rPr lang="en-NL" sz="1300" b="1" i="0" kern="1200" dirty="0">
                    <a:solidFill>
                      <a:schemeClr val="tx1"/>
                    </a:solidFill>
                    <a:effectLst/>
                    <a:ea typeface="+mn-ea"/>
                    <a:cs typeface="+mn-cs"/>
                  </a:rPr>
                  <a:t>within-country variation over time</a:t>
                </a:r>
                <a:r>
                  <a:rPr lang="en-NL" sz="1300" b="0" i="0" kern="1200" dirty="0">
                    <a:solidFill>
                      <a:schemeClr val="tx1"/>
                    </a:solidFill>
                    <a:effectLst/>
                    <a:ea typeface="+mn-ea"/>
                    <a:cs typeface="+mn-cs"/>
                  </a:rPr>
                  <a:t>. Whether high-ICT countries have systematically larger or smaller </a:t>
                </a:r>
                <a14:m>
                  <m:oMath xmlns:m="http://schemas.openxmlformats.org/officeDocument/2006/math">
                    <m:sSub>
                      <m:sSubPr>
                        <m:ctrlPr>
                          <a:rPr lang="en-NL" sz="1300" i="1" kern="1200">
                            <a:solidFill>
                              <a:schemeClr val="tx1"/>
                            </a:solidFill>
                            <a:latin typeface="Cambria Math" panose="02040503050406030204" pitchFamily="18" charset="0"/>
                            <a:ea typeface="+mn-ea"/>
                            <a:cs typeface="+mn-cs"/>
                          </a:rPr>
                        </m:ctrlPr>
                      </m:sSubPr>
                      <m:e>
                        <m:r>
                          <a:rPr lang="en-NL" sz="1300" i="1" kern="1200">
                            <a:solidFill>
                              <a:schemeClr val="tx1"/>
                            </a:solidFill>
                            <a:latin typeface="Cambria Math" panose="02040503050406030204" pitchFamily="18" charset="0"/>
                            <a:ea typeface="+mn-ea"/>
                            <a:cs typeface="+mn-cs"/>
                          </a:rPr>
                          <m:t>𝛼</m:t>
                        </m:r>
                      </m:e>
                      <m:sub>
                        <m:r>
                          <a:rPr lang="en-NL" sz="1300" i="1" kern="1200">
                            <a:solidFill>
                              <a:schemeClr val="tx1"/>
                            </a:solidFill>
                            <a:latin typeface="Cambria Math" panose="02040503050406030204" pitchFamily="18" charset="0"/>
                            <a:ea typeface="+mn-ea"/>
                            <a:cs typeface="+mn-cs"/>
                          </a:rPr>
                          <m:t>𝑖</m:t>
                        </m:r>
                      </m:sub>
                    </m:sSub>
                  </m:oMath>
                </a14:m>
                <a:r>
                  <a:rPr lang="en-NL" sz="1300" b="0" i="0" kern="1200" dirty="0">
                    <a:solidFill>
                      <a:schemeClr val="tx1"/>
                    </a:solidFill>
                    <a:effectLst/>
                    <a:ea typeface="+mn-ea"/>
                    <a:cs typeface="+mn-cs"/>
                  </a:rPr>
                  <a:t>is irrelevant, because </a:t>
                </a:r>
                <a14:m>
                  <m:oMath xmlns:m="http://schemas.openxmlformats.org/officeDocument/2006/math">
                    <m:sSub>
                      <m:sSubPr>
                        <m:ctrlPr>
                          <a:rPr lang="en-NL" sz="1300" i="1" kern="1200">
                            <a:solidFill>
                              <a:schemeClr val="tx1"/>
                            </a:solidFill>
                            <a:latin typeface="Cambria Math" panose="02040503050406030204" pitchFamily="18" charset="0"/>
                            <a:ea typeface="+mn-ea"/>
                            <a:cs typeface="+mn-cs"/>
                          </a:rPr>
                        </m:ctrlPr>
                      </m:sSubPr>
                      <m:e>
                        <m:r>
                          <a:rPr lang="en-NL" sz="1300" i="1" kern="1200">
                            <a:solidFill>
                              <a:schemeClr val="tx1"/>
                            </a:solidFill>
                            <a:latin typeface="Cambria Math" panose="02040503050406030204" pitchFamily="18" charset="0"/>
                            <a:ea typeface="+mn-ea"/>
                            <a:cs typeface="+mn-cs"/>
                          </a:rPr>
                          <m:t>𝛼</m:t>
                        </m:r>
                      </m:e>
                      <m:sub>
                        <m:r>
                          <a:rPr lang="en-NL" sz="1300" i="1" kern="1200">
                            <a:solidFill>
                              <a:schemeClr val="tx1"/>
                            </a:solidFill>
                            <a:latin typeface="Cambria Math" panose="02040503050406030204" pitchFamily="18" charset="0"/>
                            <a:ea typeface="+mn-ea"/>
                            <a:cs typeface="+mn-cs"/>
                          </a:rPr>
                          <m:t>𝑖</m:t>
                        </m:r>
                      </m:sub>
                    </m:sSub>
                  </m:oMath>
                </a14:m>
                <a:r>
                  <a:rPr lang="en-NL" sz="1300" b="0" i="0" kern="1200" dirty="0">
                    <a:solidFill>
                      <a:schemeClr val="tx1"/>
                    </a:solidFill>
                    <a:effectLst/>
                    <a:ea typeface="+mn-ea"/>
                    <a:cs typeface="+mn-cs"/>
                  </a:rPr>
                  <a:t>has been removed</a:t>
                </a:r>
                <a:r>
                  <a:rPr lang="en-US" sz="1300" b="0" i="0" kern="1200" dirty="0">
                    <a:solidFill>
                      <a:schemeClr val="tx1"/>
                    </a:solidFill>
                    <a:effectLs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NL" sz="1300" b="0" i="0" kern="1200" dirty="0" err="1">
                    <a:solidFill>
                      <a:schemeClr val="tx1"/>
                    </a:solidFill>
                    <a:effectLst/>
                    <a:ea typeface="+mn-ea"/>
                    <a:cs typeface="+mn-cs"/>
                  </a:rPr>
                  <a:t>bij</a:t>
                </a:r>
                <a:r>
                  <a:rPr lang="en-NL" sz="1300" b="0" i="0" kern="1200" dirty="0">
                    <a:solidFill>
                      <a:schemeClr val="tx1"/>
                    </a:solidFill>
                    <a:effectLst/>
                    <a:ea typeface="+mn-ea"/>
                    <a:cs typeface="+mn-cs"/>
                  </a:rPr>
                  <a:t> </a:t>
                </a:r>
                <a:r>
                  <a:rPr lang="en-NL" sz="1300" b="0" i="0" kern="1200" dirty="0" err="1">
                    <a:solidFill>
                      <a:schemeClr val="tx1"/>
                    </a:solidFill>
                    <a:effectLst/>
                    <a:ea typeface="+mn-ea"/>
                    <a:cs typeface="+mn-cs"/>
                  </a:rPr>
                  <a:t>een</a:t>
                </a:r>
                <a:r>
                  <a:rPr lang="en-NL" sz="1300" b="0" i="0" kern="1200" dirty="0">
                    <a:solidFill>
                      <a:schemeClr val="tx1"/>
                    </a:solidFill>
                    <a:effectLst/>
                    <a:ea typeface="+mn-ea"/>
                    <a:cs typeface="+mn-cs"/>
                  </a:rPr>
                  <a:t> </a:t>
                </a:r>
                <a:r>
                  <a:rPr lang="en-NL" sz="1300" b="1" i="0" kern="1200" dirty="0" err="1">
                    <a:solidFill>
                      <a:schemeClr val="tx1"/>
                    </a:solidFill>
                    <a:effectLst/>
                    <a:ea typeface="+mn-ea"/>
                    <a:cs typeface="+mn-cs"/>
                  </a:rPr>
                  <a:t>lineair</a:t>
                </a:r>
                <a:r>
                  <a:rPr lang="en-NL" sz="1300" b="1" i="0" kern="1200" dirty="0">
                    <a:solidFill>
                      <a:schemeClr val="tx1"/>
                    </a:solidFill>
                    <a:effectLst/>
                    <a:ea typeface="+mn-ea"/>
                    <a:cs typeface="+mn-cs"/>
                  </a:rPr>
                  <a:t> model</a:t>
                </a:r>
                <a:r>
                  <a:rPr lang="en-NL" sz="1300" b="0" i="0" kern="1200" dirty="0">
                    <a:solidFill>
                      <a:schemeClr val="tx1"/>
                    </a:solidFill>
                    <a:effectLst/>
                    <a:ea typeface="+mn-ea"/>
                    <a:cs typeface="+mn-cs"/>
                  </a:rPr>
                  <a:t> </a:t>
                </a:r>
                <a:r>
                  <a:rPr lang="en-US" sz="1300" b="0" i="0" kern="1200" dirty="0">
                    <a:solidFill>
                      <a:schemeClr val="tx1"/>
                    </a:solidFill>
                    <a:effectLst/>
                    <a:ea typeface="+mn-ea"/>
                    <a:cs typeface="+mn-cs"/>
                  </a:rPr>
                  <a:t>(LPM) </a:t>
                </a:r>
                <a:r>
                  <a:rPr lang="en-NL" sz="1300" b="0" i="0" kern="1200" dirty="0" err="1">
                    <a:solidFill>
                      <a:schemeClr val="tx1"/>
                    </a:solidFill>
                    <a:effectLst/>
                    <a:ea typeface="+mn-ea"/>
                    <a:cs typeface="+mn-cs"/>
                  </a:rPr>
                  <a:t>werkt</a:t>
                </a:r>
                <a:r>
                  <a:rPr lang="en-NL" sz="1300" b="0" i="0" kern="1200" dirty="0">
                    <a:solidFill>
                      <a:schemeClr val="tx1"/>
                    </a:solidFill>
                    <a:effectLst/>
                    <a:ea typeface="+mn-ea"/>
                    <a:cs typeface="+mn-cs"/>
                  </a:rPr>
                  <a:t> de within-</a:t>
                </a:r>
                <a:r>
                  <a:rPr lang="en-NL" sz="1300" b="0" i="0" kern="1200" dirty="0" err="1">
                    <a:solidFill>
                      <a:schemeClr val="tx1"/>
                    </a:solidFill>
                    <a:effectLst/>
                    <a:ea typeface="+mn-ea"/>
                    <a:cs typeface="+mn-cs"/>
                  </a:rPr>
                  <a:t>transformatie</a:t>
                </a:r>
                <a:r>
                  <a:rPr lang="en-NL" sz="1300" b="0" i="0" kern="1200" dirty="0">
                    <a:solidFill>
                      <a:schemeClr val="tx1"/>
                    </a:solidFill>
                    <a:effectLst/>
                    <a:ea typeface="+mn-ea"/>
                    <a:cs typeface="+mn-cs"/>
                  </a:rPr>
                  <a:t>, maar </a:t>
                </a:r>
                <a:r>
                  <a:rPr lang="en-NL" sz="1300" b="0" i="0" kern="1200" dirty="0" err="1">
                    <a:solidFill>
                      <a:schemeClr val="tx1"/>
                    </a:solidFill>
                    <a:effectLst/>
                    <a:ea typeface="+mn-ea"/>
                    <a:cs typeface="+mn-cs"/>
                  </a:rPr>
                  <a:t>bij</a:t>
                </a:r>
                <a:r>
                  <a:rPr lang="en-NL" sz="1300" b="0" i="0" kern="1200" dirty="0">
                    <a:solidFill>
                      <a:schemeClr val="tx1"/>
                    </a:solidFill>
                    <a:effectLst/>
                    <a:ea typeface="+mn-ea"/>
                    <a:cs typeface="+mn-cs"/>
                  </a:rPr>
                  <a:t> </a:t>
                </a:r>
                <a:r>
                  <a:rPr lang="en-NL" sz="1300" b="0" i="0" kern="1200" dirty="0" err="1">
                    <a:solidFill>
                      <a:schemeClr val="tx1"/>
                    </a:solidFill>
                    <a:effectLst/>
                    <a:ea typeface="+mn-ea"/>
                    <a:cs typeface="+mn-cs"/>
                  </a:rPr>
                  <a:t>een</a:t>
                </a:r>
                <a:r>
                  <a:rPr lang="en-NL" sz="1300" b="0" i="0" kern="1200" dirty="0">
                    <a:solidFill>
                      <a:schemeClr val="tx1"/>
                    </a:solidFill>
                    <a:effectLst/>
                    <a:ea typeface="+mn-ea"/>
                    <a:cs typeface="+mn-cs"/>
                  </a:rPr>
                  <a:t> </a:t>
                </a:r>
                <a:r>
                  <a:rPr lang="en-NL" sz="1300" b="1" i="0" kern="1200" dirty="0">
                    <a:solidFill>
                      <a:schemeClr val="tx1"/>
                    </a:solidFill>
                    <a:effectLst/>
                    <a:ea typeface="+mn-ea"/>
                    <a:cs typeface="+mn-cs"/>
                  </a:rPr>
                  <a:t>probit-model</a:t>
                </a:r>
                <a:r>
                  <a:rPr lang="en-NL" sz="1300" b="0" i="0" kern="1200" dirty="0">
                    <a:solidFill>
                      <a:schemeClr val="tx1"/>
                    </a:solidFill>
                    <a:effectLst/>
                    <a:ea typeface="+mn-ea"/>
                    <a:cs typeface="+mn-cs"/>
                  </a:rPr>
                  <a:t> </a:t>
                </a:r>
                <a:r>
                  <a:rPr lang="en-NL" sz="1300" b="0" i="0" kern="1200" dirty="0" err="1">
                    <a:solidFill>
                      <a:schemeClr val="tx1"/>
                    </a:solidFill>
                    <a:effectLst/>
                    <a:ea typeface="+mn-ea"/>
                    <a:cs typeface="+mn-cs"/>
                  </a:rPr>
                  <a:t>niet</a:t>
                </a:r>
                <a:r>
                  <a:rPr lang="en-US" sz="1300" b="0" i="0" kern="1200" dirty="0">
                    <a:solidFill>
                      <a:schemeClr val="tx1"/>
                    </a:solidFill>
                    <a:effectLst/>
                    <a:ea typeface="+mn-ea"/>
                    <a:cs typeface="+mn-cs"/>
                  </a:rPr>
                  <a:t> (</a:t>
                </a:r>
                <a:r>
                  <a:rPr lang="en-NL" sz="1300" b="0" i="0" kern="1200" dirty="0">
                    <a:solidFill>
                      <a:schemeClr val="tx1"/>
                    </a:solidFill>
                    <a:effectLst/>
                    <a:ea typeface="+mn-ea"/>
                    <a:cs typeface="+mn-cs"/>
                  </a:rPr>
                  <a:t>Door de </a:t>
                </a:r>
                <a:r>
                  <a:rPr lang="en-NL" sz="1300" b="0" i="0" kern="1200" dirty="0" err="1">
                    <a:solidFill>
                      <a:schemeClr val="tx1"/>
                    </a:solidFill>
                    <a:effectLst/>
                    <a:ea typeface="+mn-ea"/>
                    <a:cs typeface="+mn-cs"/>
                  </a:rPr>
                  <a:t>niet-lineariteit</a:t>
                </a:r>
                <a:r>
                  <a:rPr lang="en-NL" sz="1300" b="0" i="0" kern="1200" dirty="0">
                    <a:solidFill>
                      <a:schemeClr val="tx1"/>
                    </a:solidFill>
                    <a:effectLst/>
                    <a:ea typeface="+mn-ea"/>
                    <a:cs typeface="+mn-cs"/>
                  </a:rPr>
                  <a:t> </a:t>
                </a:r>
                <a:r>
                  <a:rPr lang="en-NL" sz="1300" b="0" i="0" kern="1200" dirty="0" err="1">
                    <a:solidFill>
                      <a:schemeClr val="tx1"/>
                    </a:solidFill>
                    <a:effectLst/>
                    <a:ea typeface="+mn-ea"/>
                    <a:cs typeface="+mn-cs"/>
                  </a:rPr>
                  <a:t>blijft</a:t>
                </a:r>
                <a:r>
                  <a:rPr lang="en-NL" sz="1300" b="0" i="0" kern="1200" dirty="0">
                    <a:solidFill>
                      <a:schemeClr val="tx1"/>
                    </a:solidFill>
                    <a:effectLst/>
                    <a:ea typeface="+mn-ea"/>
                    <a:cs typeface="+mn-cs"/>
                  </a:rPr>
                  <a:t> </a:t>
                </a:r>
                <a14:m>
                  <m:oMath xmlns:m="http://schemas.openxmlformats.org/officeDocument/2006/math">
                    <m:sSub>
                      <m:sSubPr>
                        <m:ctrlPr>
                          <a:rPr lang="en-NL" sz="1300" i="1" kern="1200">
                            <a:solidFill>
                              <a:schemeClr val="tx1"/>
                            </a:solidFill>
                            <a:latin typeface="Cambria Math" panose="02040503050406030204" pitchFamily="18" charset="0"/>
                            <a:ea typeface="+mn-ea"/>
                            <a:cs typeface="+mn-cs"/>
                          </a:rPr>
                        </m:ctrlPr>
                      </m:sSubPr>
                      <m:e>
                        <m:r>
                          <a:rPr lang="en-NL" sz="1300" i="1" kern="1200">
                            <a:solidFill>
                              <a:schemeClr val="tx1"/>
                            </a:solidFill>
                            <a:latin typeface="Cambria Math" panose="02040503050406030204" pitchFamily="18" charset="0"/>
                            <a:ea typeface="+mn-ea"/>
                            <a:cs typeface="+mn-cs"/>
                          </a:rPr>
                          <m:t>𝛼</m:t>
                        </m:r>
                      </m:e>
                      <m:sub>
                        <m:r>
                          <a:rPr lang="en-NL" sz="1300" i="1" kern="1200">
                            <a:solidFill>
                              <a:schemeClr val="tx1"/>
                            </a:solidFill>
                            <a:latin typeface="Cambria Math" panose="02040503050406030204" pitchFamily="18" charset="0"/>
                            <a:ea typeface="+mn-ea"/>
                            <a:cs typeface="+mn-cs"/>
                          </a:rPr>
                          <m:t>𝑖</m:t>
                        </m:r>
                      </m:sub>
                    </m:sSub>
                  </m:oMath>
                </a14:m>
                <a:r>
                  <a:rPr lang="en-NL" sz="1300" b="0" i="0" kern="1200" dirty="0" err="1">
                    <a:solidFill>
                      <a:schemeClr val="tx1"/>
                    </a:solidFill>
                    <a:effectLst/>
                    <a:ea typeface="+mn-ea"/>
                    <a:cs typeface="+mn-cs"/>
                  </a:rPr>
                  <a:t>verweven</a:t>
                </a:r>
                <a:r>
                  <a:rPr lang="en-NL" sz="1300" b="0" i="0" kern="1200" dirty="0">
                    <a:solidFill>
                      <a:schemeClr val="tx1"/>
                    </a:solidFill>
                    <a:effectLst/>
                    <a:ea typeface="+mn-ea"/>
                    <a:cs typeface="+mn-cs"/>
                  </a:rPr>
                  <a:t> </a:t>
                </a:r>
                <a:r>
                  <a:rPr lang="en-NL" sz="1300" b="0" i="0" kern="1200" dirty="0" err="1">
                    <a:solidFill>
                      <a:schemeClr val="tx1"/>
                    </a:solidFill>
                    <a:effectLst/>
                    <a:ea typeface="+mn-ea"/>
                    <a:cs typeface="+mn-cs"/>
                  </a:rPr>
                  <a:t>zitten</a:t>
                </a:r>
                <a:r>
                  <a:rPr lang="en-NL" sz="1300" b="0" i="0" kern="1200" dirty="0">
                    <a:solidFill>
                      <a:schemeClr val="tx1"/>
                    </a:solidFill>
                    <a:effectLst/>
                    <a:ea typeface="+mn-ea"/>
                    <a:cs typeface="+mn-cs"/>
                  </a:rPr>
                  <a:t> in de </a:t>
                </a:r>
                <a:r>
                  <a:rPr lang="en-NL" sz="1300" b="0" i="0" kern="1200" dirty="0" err="1">
                    <a:solidFill>
                      <a:schemeClr val="tx1"/>
                    </a:solidFill>
                    <a:effectLst/>
                    <a:ea typeface="+mn-ea"/>
                    <a:cs typeface="+mn-cs"/>
                  </a:rPr>
                  <a:t>kansfunctie</a:t>
                </a:r>
                <a:r>
                  <a:rPr lang="en-NL" sz="1300" b="0" i="0" kern="1200" dirty="0">
                    <a:solidFill>
                      <a:schemeClr val="tx1"/>
                    </a:solidFill>
                    <a:effectLst/>
                    <a:ea typeface="+mn-ea"/>
                    <a:cs typeface="+mn-cs"/>
                  </a:rPr>
                  <a:t> en </a:t>
                </a:r>
                <a:r>
                  <a:rPr lang="en-NL" sz="1300" b="0" i="0" kern="1200" dirty="0" err="1">
                    <a:solidFill>
                      <a:schemeClr val="tx1"/>
                    </a:solidFill>
                    <a:effectLst/>
                    <a:ea typeface="+mn-ea"/>
                    <a:cs typeface="+mn-cs"/>
                  </a:rPr>
                  <a:t>kun</a:t>
                </a:r>
                <a:r>
                  <a:rPr lang="en-NL" sz="1300" b="0" i="0" kern="1200" dirty="0">
                    <a:solidFill>
                      <a:schemeClr val="tx1"/>
                    </a:solidFill>
                    <a:effectLst/>
                    <a:ea typeface="+mn-ea"/>
                    <a:cs typeface="+mn-cs"/>
                  </a:rPr>
                  <a:t> je hem </a:t>
                </a:r>
                <a:r>
                  <a:rPr lang="en-NL" sz="1300" b="0" i="0" kern="1200" dirty="0" err="1">
                    <a:solidFill>
                      <a:schemeClr val="tx1"/>
                    </a:solidFill>
                    <a:effectLst/>
                    <a:ea typeface="+mn-ea"/>
                    <a:cs typeface="+mn-cs"/>
                  </a:rPr>
                  <a:t>niet</a:t>
                </a:r>
                <a:r>
                  <a:rPr lang="en-NL" sz="1300" b="0" i="0" kern="1200" dirty="0">
                    <a:solidFill>
                      <a:schemeClr val="tx1"/>
                    </a:solidFill>
                    <a:effectLst/>
                    <a:ea typeface="+mn-ea"/>
                    <a:cs typeface="+mn-cs"/>
                  </a:rPr>
                  <a:t> </a:t>
                </a:r>
                <a:r>
                  <a:rPr lang="en-NL" sz="1300" b="0" i="0" kern="1200" dirty="0" err="1">
                    <a:solidFill>
                      <a:schemeClr val="tx1"/>
                    </a:solidFill>
                    <a:effectLst/>
                    <a:ea typeface="+mn-ea"/>
                    <a:cs typeface="+mn-cs"/>
                  </a:rPr>
                  <a:t>wegtransformeren</a:t>
                </a:r>
                <a:r>
                  <a:rPr lang="en-NL" sz="1300" b="0" i="0" kern="1200" dirty="0">
                    <a:solidFill>
                      <a:schemeClr val="tx1"/>
                    </a:solidFill>
                    <a:effectLst/>
                    <a:ea typeface="+mn-ea"/>
                    <a:cs typeface="+mn-cs"/>
                  </a:rPr>
                  <a:t> door </a:t>
                </a:r>
                <a:r>
                  <a:rPr lang="en-NL" sz="1300" b="0" i="0" kern="1200" dirty="0" err="1">
                    <a:solidFill>
                      <a:schemeClr val="tx1"/>
                    </a:solidFill>
                    <a:effectLst/>
                    <a:ea typeface="+mn-ea"/>
                    <a:cs typeface="+mn-cs"/>
                  </a:rPr>
                  <a:t>te</a:t>
                </a:r>
                <a:r>
                  <a:rPr lang="en-NL" sz="1300" b="0" i="0" kern="1200" dirty="0">
                    <a:solidFill>
                      <a:schemeClr val="tx1"/>
                    </a:solidFill>
                    <a:effectLst/>
                    <a:ea typeface="+mn-ea"/>
                    <a:cs typeface="+mn-cs"/>
                  </a:rPr>
                  <a:t> de-</a:t>
                </a:r>
                <a:r>
                  <a:rPr lang="en-NL" sz="1300" b="0" i="0" kern="1200" dirty="0" err="1">
                    <a:solidFill>
                      <a:schemeClr val="tx1"/>
                    </a:solidFill>
                    <a:effectLst/>
                    <a:ea typeface="+mn-ea"/>
                    <a:cs typeface="+mn-cs"/>
                  </a:rPr>
                  <a:t>meanen</a:t>
                </a:r>
                <a:r>
                  <a:rPr lang="en-US" sz="1300" b="0" i="0" kern="1200" dirty="0">
                    <a:solidFill>
                      <a:schemeClr val="tx1"/>
                    </a:solidFill>
                    <a:effectLst/>
                    <a:ea typeface="+mn-ea"/>
                    <a:cs typeface="+mn-cs"/>
                  </a:rPr>
                  <a:t>); probit is </a:t>
                </a:r>
                <a:r>
                  <a:rPr lang="en-US" sz="1300" b="0" i="0" kern="1200" dirty="0" err="1">
                    <a:solidFill>
                      <a:schemeClr val="tx1"/>
                    </a:solidFill>
                    <a:effectLst/>
                    <a:ea typeface="+mn-ea"/>
                    <a:cs typeface="+mn-cs"/>
                  </a:rPr>
                  <a:t>daarom</a:t>
                </a:r>
                <a:r>
                  <a:rPr lang="en-US" sz="1300" b="0" i="0" kern="1200" dirty="0">
                    <a:solidFill>
                      <a:schemeClr val="tx1"/>
                    </a:solidFill>
                    <a:effectLst/>
                    <a:ea typeface="+mn-ea"/>
                    <a:cs typeface="+mn-cs"/>
                  </a:rPr>
                  <a:t> </a:t>
                </a:r>
                <a:r>
                  <a:rPr lang="en-US" sz="1300" b="0" i="0" kern="1200" dirty="0" err="1">
                    <a:solidFill>
                      <a:schemeClr val="tx1"/>
                    </a:solidFill>
                    <a:effectLst/>
                    <a:ea typeface="+mn-ea"/>
                    <a:cs typeface="+mn-cs"/>
                  </a:rPr>
                  <a:t>niet</a:t>
                </a:r>
                <a:r>
                  <a:rPr lang="en-US" sz="1300" b="0" i="0" kern="1200" dirty="0">
                    <a:solidFill>
                      <a:schemeClr val="tx1"/>
                    </a:solidFill>
                    <a:effectLst/>
                    <a:ea typeface="+mn-ea"/>
                    <a:cs typeface="+mn-cs"/>
                  </a:rPr>
                  <a:t> met FE </a:t>
                </a:r>
                <a:r>
                  <a:rPr lang="en-US" sz="1300" b="0" i="0" kern="1200" dirty="0" err="1">
                    <a:solidFill>
                      <a:schemeClr val="tx1"/>
                    </a:solidFill>
                    <a:effectLst/>
                    <a:ea typeface="+mn-ea"/>
                    <a:cs typeface="+mn-cs"/>
                  </a:rPr>
                  <a:t>te</a:t>
                </a:r>
                <a:r>
                  <a:rPr lang="en-US" sz="1300" b="0" i="0" kern="1200" dirty="0">
                    <a:solidFill>
                      <a:schemeClr val="tx1"/>
                    </a:solidFill>
                    <a:effectLst/>
                    <a:ea typeface="+mn-ea"/>
                    <a:cs typeface="+mn-cs"/>
                  </a:rPr>
                  <a:t> Schatten </a:t>
                </a:r>
                <a:r>
                  <a:rPr lang="en-US" sz="1300" b="0" i="0" kern="1200" dirty="0" err="1">
                    <a:solidFill>
                      <a:schemeClr val="tx1"/>
                    </a:solidFill>
                    <a:effectLst/>
                    <a:ea typeface="+mn-ea"/>
                    <a:cs typeface="+mn-cs"/>
                  </a:rPr>
                  <a:t>behalve</a:t>
                </a:r>
                <a:r>
                  <a:rPr lang="en-US" sz="1300" b="0" i="0" kern="1200" dirty="0">
                    <a:solidFill>
                      <a:schemeClr val="tx1"/>
                    </a:solidFill>
                    <a:effectLst/>
                    <a:ea typeface="+mn-ea"/>
                    <a:cs typeface="+mn-cs"/>
                  </a:rPr>
                  <a:t> CRE probit</a:t>
                </a:r>
                <a:r>
                  <a:rPr lang="en-NL" sz="1300" b="0" i="0" kern="1200" dirty="0">
                    <a:solidFill>
                      <a:schemeClr val="tx1"/>
                    </a:solidFill>
                    <a:effectLs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NL" sz="1300" b="0" i="0" kern="1200" dirty="0">
                  <a:solidFill>
                    <a:schemeClr val="tx1"/>
                  </a:solidFill>
                  <a:effectLst/>
                  <a:ea typeface="+mn-ea"/>
                  <a:cs typeface="+mn-cs"/>
                </a:endParaRPr>
              </a:p>
            </p:txBody>
          </p:sp>
        </mc:Choice>
        <mc:Fallback xmlns="">
          <p:sp>
            <p:nvSpPr>
              <p:cNvPr id="3" name="Tijdelijke aanduiding voor notities 2">
                <a:extLst>
                  <a:ext uri="{FF2B5EF4-FFF2-40B4-BE49-F238E27FC236}">
                    <a16:creationId xmlns:a16="http://schemas.microsoft.com/office/drawing/2014/main" id="{8F9248E1-2394-BB6E-ACF7-C8BB520C4467}"/>
                  </a:ext>
                </a:extLst>
              </p:cNvPr>
              <p:cNvSpPr>
                <a:spLocks noGrp="1"/>
              </p:cNvSpPr>
              <p:nvPr>
                <p:ph type="body" idx="1"/>
              </p:nvPr>
            </p:nvSpPr>
            <p:spPr>
              <a:xfrm>
                <a:off x="233917" y="4785598"/>
                <a:ext cx="6223590" cy="3915489"/>
              </a:xfrm>
            </p:spPr>
            <p:txBody>
              <a:bodyPr/>
              <a:lstStyle/>
              <a:p>
                <a:r>
                  <a:rPr lang="en-US" sz="1300" dirty="0"/>
                  <a:t>Dependent variable is the unexpected component of GDP growth, while the explanatory variables describe the composition of GDP (investment or exports as a share of GDP). In doing so, the relationship does not describe an accounting identity. In addition, the ICT variables are recorded with a delay (previous ICT exposures explain later growth surprises).</a:t>
                </a:r>
              </a:p>
              <a:p>
                <a:pPr marL="171450" indent="-171450">
                  <a:buFontTx/>
                  <a:buChar char="-"/>
                </a:pPr>
                <a:endParaRPr lang="en-US" sz="1300" dirty="0"/>
              </a:p>
              <a:p>
                <a:pPr marL="171450" indent="-171450">
                  <a:buFontTx/>
                  <a:buChar char="-"/>
                </a:pPr>
                <a:r>
                  <a:rPr lang="en-US" sz="1300" dirty="0"/>
                  <a:t>Investing in ICT does not yet equal its effective application. It is a proxy, also for a country's exposure to the ICT factor without having to change economic processes.</a:t>
                </a:r>
              </a:p>
              <a:p>
                <a:pPr marL="171450" indent="-171450">
                  <a:buFontTx/>
                  <a:buChar char="-"/>
                </a:pPr>
                <a:r>
                  <a:rPr lang="nl-NL" sz="1300" dirty="0" err="1"/>
                  <a:t>Each</a:t>
                </a:r>
                <a:r>
                  <a:rPr lang="nl-NL" sz="1300" dirty="0"/>
                  <a:t> </a:t>
                </a:r>
                <a:r>
                  <a:rPr lang="nl-NL" sz="1300" dirty="0" err="1"/>
                  <a:t>year</a:t>
                </a:r>
                <a:r>
                  <a:rPr lang="nl-NL" sz="1300" dirty="0"/>
                  <a:t> the </a:t>
                </a:r>
                <a:r>
                  <a:rPr lang="nl-NL" sz="1300" dirty="0" err="1"/>
                  <a:t>median</a:t>
                </a:r>
                <a:r>
                  <a:rPr lang="nl-NL" sz="1300" dirty="0"/>
                  <a:t> </a:t>
                </a:r>
                <a:r>
                  <a:rPr lang="nl-NL" sz="1300" dirty="0" err="1"/>
                  <a:t>threshold</a:t>
                </a:r>
                <a:r>
                  <a:rPr lang="nl-NL" sz="1300" dirty="0"/>
                  <a:t> </a:t>
                </a:r>
                <a:r>
                  <a:rPr lang="nl-NL" sz="1300" dirty="0" err="1"/>
                  <a:t>for</a:t>
                </a:r>
                <a:r>
                  <a:rPr lang="nl-NL" sz="1300" dirty="0"/>
                  <a:t> </a:t>
                </a:r>
                <a:r>
                  <a:rPr lang="nl-NL" sz="1300" dirty="0" err="1"/>
                  <a:t>Above</a:t>
                </a:r>
                <a:r>
                  <a:rPr lang="nl-NL" sz="1300" dirty="0"/>
                  <a:t> </a:t>
                </a:r>
                <a:r>
                  <a:rPr lang="nl-NL" sz="1300" dirty="0" err="1"/>
                  <a:t>vs</a:t>
                </a:r>
                <a:r>
                  <a:rPr lang="nl-NL" sz="1300" dirty="0"/>
                  <a:t> Below changes, </a:t>
                </a:r>
                <a:r>
                  <a:rPr lang="nl-NL" sz="1300" dirty="0" err="1"/>
                  <a:t>so</a:t>
                </a:r>
                <a:r>
                  <a:rPr lang="nl-NL" sz="1300" dirty="0"/>
                  <a:t>: </a:t>
                </a:r>
                <a:r>
                  <a:rPr lang="nl-NL" sz="1300" dirty="0" err="1"/>
                  <a:t>each</a:t>
                </a:r>
                <a:r>
                  <a:rPr lang="nl-NL" sz="1300" dirty="0"/>
                  <a:t> </a:t>
                </a:r>
                <a:r>
                  <a:rPr lang="nl-NL" sz="1300" dirty="0" err="1"/>
                  <a:t>year</a:t>
                </a:r>
                <a:r>
                  <a:rPr lang="nl-NL" sz="1300" dirty="0"/>
                  <a:t> the </a:t>
                </a:r>
                <a:r>
                  <a:rPr lang="nl-NL" sz="1300" dirty="0" err="1"/>
                  <a:t>Above</a:t>
                </a:r>
                <a:r>
                  <a:rPr lang="nl-NL" sz="1300" dirty="0"/>
                  <a:t> and Below </a:t>
                </a:r>
                <a:r>
                  <a:rPr lang="nl-NL" sz="1300" dirty="0" err="1"/>
                  <a:t>groups</a:t>
                </a:r>
                <a:r>
                  <a:rPr lang="nl-NL" sz="1300" dirty="0"/>
                  <a:t> of </a:t>
                </a:r>
                <a:r>
                  <a:rPr lang="nl-NL" sz="1300" dirty="0" err="1"/>
                  <a:t>countries</a:t>
                </a:r>
                <a:r>
                  <a:rPr lang="nl-NL" sz="1300" dirty="0"/>
                  <a:t> </a:t>
                </a:r>
                <a:r>
                  <a:rPr lang="nl-NL" sz="1300" dirty="0" err="1"/>
                  <a:t>differ</a:t>
                </a:r>
                <a:endParaRPr lang="nl-NL" sz="1300" dirty="0"/>
              </a:p>
              <a:p>
                <a:pPr marL="171450" indent="-171450">
                  <a:buFontTx/>
                  <a:buChar char="-"/>
                </a:pPr>
                <a:endParaRPr lang="nl-NL" sz="1300" dirty="0"/>
              </a:p>
              <a:p>
                <a:pPr lvl="0"/>
                <a:r>
                  <a:rPr lang="en-NL" sz="1300" kern="1200" dirty="0">
                    <a:solidFill>
                      <a:schemeClr val="tx1"/>
                    </a:solidFill>
                    <a:effectLst/>
                    <a:ea typeface="+mn-ea"/>
                    <a:cs typeface="+mn-cs"/>
                  </a:rPr>
                  <a:t>The LPM-FE is attractive because</a:t>
                </a:r>
                <a:r>
                  <a:rPr lang="en-US" sz="1300" kern="1200" dirty="0">
                    <a:solidFill>
                      <a:schemeClr val="tx1"/>
                    </a:solidFill>
                    <a:effectLst/>
                    <a:ea typeface="+mn-ea"/>
                    <a:cs typeface="+mn-cs"/>
                  </a:rPr>
                  <a:t> c</a:t>
                </a:r>
                <a:r>
                  <a:rPr lang="en-NL" sz="1300" kern="1200" dirty="0" err="1">
                    <a:solidFill>
                      <a:schemeClr val="tx1"/>
                    </a:solidFill>
                    <a:effectLst/>
                    <a:ea typeface="+mn-ea"/>
                    <a:cs typeface="+mn-cs"/>
                  </a:rPr>
                  <a:t>ountry</a:t>
                </a:r>
                <a:r>
                  <a:rPr lang="en-NL" sz="1300" kern="1200" dirty="0">
                    <a:solidFill>
                      <a:schemeClr val="tx1"/>
                    </a:solidFill>
                    <a:effectLst/>
                    <a:ea typeface="+mn-ea"/>
                    <a:cs typeface="+mn-cs"/>
                  </a:rPr>
                  <a:t> fixed effects can be included without the nonlinear incidental-parameters problem.</a:t>
                </a:r>
                <a:r>
                  <a:rPr lang="en-US" sz="1300" kern="1200" dirty="0">
                    <a:solidFill>
                      <a:schemeClr val="tx1"/>
                    </a:solidFill>
                    <a:effectLst/>
                    <a:ea typeface="+mn-ea"/>
                    <a:cs typeface="+mn-cs"/>
                  </a:rPr>
                  <a:t>/ </a:t>
                </a:r>
                <a:r>
                  <a:rPr lang="en-NL" sz="1300" kern="1200" dirty="0">
                    <a:solidFill>
                      <a:schemeClr val="tx1"/>
                    </a:solidFill>
                    <a:effectLst/>
                    <a:ea typeface="+mn-ea"/>
                    <a:cs typeface="+mn-cs"/>
                  </a:rPr>
                  <a:t>It allows the country effects to be arbitrarily correlated with ICT exposure</a:t>
                </a:r>
                <a:endParaRPr lang="en-US" sz="1300" kern="1200" dirty="0">
                  <a:solidFill>
                    <a:schemeClr val="tx1"/>
                  </a:solidFill>
                  <a:effectLs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300" b="0" i="0" kern="1200" dirty="0">
                    <a:solidFill>
                      <a:schemeClr val="tx1"/>
                    </a:solidFill>
                    <a:effectLst/>
                    <a:ea typeface="+mn-ea"/>
                    <a:cs typeface="+mn-cs"/>
                  </a:rPr>
                  <a:t>In LPM with FE </a:t>
                </a:r>
                <a:r>
                  <a:rPr lang="en-NL" sz="1300" b="0" i="0" kern="1200" dirty="0">
                    <a:solidFill>
                      <a:schemeClr val="tx1"/>
                    </a:solidFill>
                    <a:effectLst/>
                    <a:ea typeface="+mn-ea"/>
                    <a:cs typeface="+mn-cs"/>
                  </a:rPr>
                  <a:t>the country-specific effect is treated as an unrestricted parameter that is eliminated through the </a:t>
                </a:r>
                <a:r>
                  <a:rPr lang="en-NL" sz="1300" b="0" i="0" u="sng" kern="1200" dirty="0">
                    <a:solidFill>
                      <a:schemeClr val="tx1"/>
                    </a:solidFill>
                    <a:effectLst/>
                    <a:ea typeface="+mn-ea"/>
                    <a:cs typeface="+mn-cs"/>
                  </a:rPr>
                  <a:t>within transformation.</a:t>
                </a:r>
                <a:r>
                  <a:rPr lang="en-NL" sz="1300" b="0" i="0" kern="1200" dirty="0">
                    <a:solidFill>
                      <a:schemeClr val="tx1"/>
                    </a:solidFill>
                    <a:effectLst/>
                    <a:ea typeface="+mn-ea"/>
                    <a:cs typeface="+mn-cs"/>
                  </a:rPr>
                  <a:t> As a result, you do </a:t>
                </a:r>
                <a:r>
                  <a:rPr lang="en-NL" sz="1300" b="1" i="0" kern="1200" dirty="0">
                    <a:solidFill>
                      <a:schemeClr val="tx1"/>
                    </a:solidFill>
                    <a:effectLst/>
                    <a:ea typeface="+mn-ea"/>
                    <a:cs typeface="+mn-cs"/>
                  </a:rPr>
                  <a:t>not</a:t>
                </a:r>
                <a:r>
                  <a:rPr lang="en-NL" sz="1300" b="0" i="0" kern="1200" dirty="0">
                    <a:solidFill>
                      <a:schemeClr val="tx1"/>
                    </a:solidFill>
                    <a:effectLst/>
                    <a:ea typeface="+mn-ea"/>
                    <a:cs typeface="+mn-cs"/>
                  </a:rPr>
                  <a:t> need the assumption that the country effect is uncorrelated with ICT exposure</a:t>
                </a:r>
                <a:r>
                  <a:rPr lang="en-US" sz="1300" b="0" i="0" kern="1200" dirty="0">
                    <a:solidFill>
                      <a:schemeClr val="tx1"/>
                    </a:solidFill>
                    <a:effectLst/>
                    <a:ea typeface="+mn-ea"/>
                    <a:cs typeface="+mn-cs"/>
                  </a:rPr>
                  <a:t> (</a:t>
                </a:r>
                <a:r>
                  <a:rPr lang="en-NL" sz="1300" b="0" i="0" kern="1200" dirty="0">
                    <a:solidFill>
                      <a:schemeClr val="tx1"/>
                    </a:solidFill>
                    <a:effectLst/>
                    <a:ea typeface="+mn-ea"/>
                    <a:cs typeface="+mn-cs"/>
                  </a:rPr>
                  <a:t>In a </a:t>
                </a:r>
                <a:r>
                  <a:rPr lang="en-US" sz="1300" b="0" i="0" kern="1200" dirty="0">
                    <a:solidFill>
                      <a:schemeClr val="tx1"/>
                    </a:solidFill>
                    <a:effectLst/>
                    <a:ea typeface="+mn-ea"/>
                    <a:cs typeface="+mn-cs"/>
                  </a:rPr>
                  <a:t>FE</a:t>
                </a:r>
                <a:r>
                  <a:rPr lang="en-NL" sz="1300" b="0" i="0" kern="1200" dirty="0">
                    <a:solidFill>
                      <a:schemeClr val="tx1"/>
                    </a:solidFill>
                    <a:effectLst/>
                    <a:ea typeface="+mn-ea"/>
                    <a:cs typeface="+mn-cs"/>
                  </a:rPr>
                  <a:t> LPM, </a:t>
                </a:r>
                <a:r>
                  <a:rPr lang="en-US" sz="1300" b="0" i="0" kern="1200" dirty="0">
                    <a:solidFill>
                      <a:schemeClr val="tx1"/>
                    </a:solidFill>
                    <a:effectLst/>
                    <a:ea typeface="+mn-ea"/>
                    <a:cs typeface="+mn-cs"/>
                  </a:rPr>
                  <a:t>you</a:t>
                </a:r>
                <a:r>
                  <a:rPr lang="en-NL" sz="1300" b="0" i="0" kern="1200" dirty="0">
                    <a:solidFill>
                      <a:schemeClr val="tx1"/>
                    </a:solidFill>
                    <a:effectLst/>
                    <a:ea typeface="+mn-ea"/>
                    <a:cs typeface="+mn-cs"/>
                  </a:rPr>
                  <a:t> transform the data by subtracting country means:</a:t>
                </a:r>
                <a:r>
                  <a:rPr lang="en-US" sz="1300" b="0" i="0" kern="1200" dirty="0">
                    <a:solidFill>
                      <a:schemeClr val="tx1"/>
                    </a:solidFill>
                    <a:effectLst/>
                    <a:ea typeface="+mn-ea"/>
                    <a:cs typeface="+mn-cs"/>
                  </a:rPr>
                  <a:t> // </a:t>
                </a:r>
                <a:r>
                  <a:rPr lang="en-NL" sz="1300" b="0" i="0" kern="1200" dirty="0">
                    <a:solidFill>
                      <a:schemeClr val="tx1"/>
                    </a:solidFill>
                    <a:effectLst/>
                    <a:ea typeface="+mn-ea"/>
                    <a:cs typeface="+mn-cs"/>
                  </a:rPr>
                  <a:t>Therefore, estimation uses only </a:t>
                </a:r>
                <a:r>
                  <a:rPr lang="en-NL" sz="1300" b="1" i="0" kern="1200" dirty="0">
                    <a:solidFill>
                      <a:schemeClr val="tx1"/>
                    </a:solidFill>
                    <a:effectLst/>
                    <a:ea typeface="+mn-ea"/>
                    <a:cs typeface="+mn-cs"/>
                  </a:rPr>
                  <a:t>within-country variation over time</a:t>
                </a:r>
                <a:r>
                  <a:rPr lang="en-NL" sz="1300" b="0" i="0" kern="1200" dirty="0">
                    <a:solidFill>
                      <a:schemeClr val="tx1"/>
                    </a:solidFill>
                    <a:effectLst/>
                    <a:ea typeface="+mn-ea"/>
                    <a:cs typeface="+mn-cs"/>
                  </a:rPr>
                  <a:t>. Whether high-ICT countries have systematically larger or smaller </a:t>
                </a:r>
                <a:r>
                  <a:rPr lang="en-NL" sz="1300" i="0" kern="1200">
                    <a:solidFill>
                      <a:schemeClr val="tx1"/>
                    </a:solidFill>
                    <a:ea typeface="+mn-ea"/>
                    <a:cs typeface="+mn-cs"/>
                  </a:rPr>
                  <a:t>𝛼_𝑖</a:t>
                </a:r>
                <a:r>
                  <a:rPr lang="en-NL" sz="1300" b="0" i="0" kern="1200" dirty="0">
                    <a:solidFill>
                      <a:schemeClr val="tx1"/>
                    </a:solidFill>
                    <a:effectLst/>
                    <a:ea typeface="+mn-ea"/>
                    <a:cs typeface="+mn-cs"/>
                  </a:rPr>
                  <a:t>is irrelevant, because </a:t>
                </a:r>
                <a:r>
                  <a:rPr lang="en-NL" sz="1300" i="0" kern="1200">
                    <a:solidFill>
                      <a:schemeClr val="tx1"/>
                    </a:solidFill>
                    <a:ea typeface="+mn-ea"/>
                    <a:cs typeface="+mn-cs"/>
                  </a:rPr>
                  <a:t>𝛼_𝑖</a:t>
                </a:r>
                <a:r>
                  <a:rPr lang="en-NL" sz="1300" b="0" i="0" kern="1200" dirty="0">
                    <a:solidFill>
                      <a:schemeClr val="tx1"/>
                    </a:solidFill>
                    <a:effectLst/>
                    <a:ea typeface="+mn-ea"/>
                    <a:cs typeface="+mn-cs"/>
                  </a:rPr>
                  <a:t>has been removed</a:t>
                </a:r>
                <a:r>
                  <a:rPr lang="en-US" sz="1300" b="0" i="0" kern="1200" dirty="0">
                    <a:solidFill>
                      <a:schemeClr val="tx1"/>
                    </a:solidFill>
                    <a:effectLs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NL" sz="1300" b="0" i="0" kern="1200" dirty="0" err="1">
                    <a:solidFill>
                      <a:schemeClr val="tx1"/>
                    </a:solidFill>
                    <a:effectLst/>
                    <a:ea typeface="+mn-ea"/>
                    <a:cs typeface="+mn-cs"/>
                  </a:rPr>
                  <a:t>bij</a:t>
                </a:r>
                <a:r>
                  <a:rPr lang="en-NL" sz="1300" b="0" i="0" kern="1200" dirty="0">
                    <a:solidFill>
                      <a:schemeClr val="tx1"/>
                    </a:solidFill>
                    <a:effectLst/>
                    <a:ea typeface="+mn-ea"/>
                    <a:cs typeface="+mn-cs"/>
                  </a:rPr>
                  <a:t> </a:t>
                </a:r>
                <a:r>
                  <a:rPr lang="en-NL" sz="1300" b="0" i="0" kern="1200" dirty="0" err="1">
                    <a:solidFill>
                      <a:schemeClr val="tx1"/>
                    </a:solidFill>
                    <a:effectLst/>
                    <a:ea typeface="+mn-ea"/>
                    <a:cs typeface="+mn-cs"/>
                  </a:rPr>
                  <a:t>een</a:t>
                </a:r>
                <a:r>
                  <a:rPr lang="en-NL" sz="1300" b="0" i="0" kern="1200" dirty="0">
                    <a:solidFill>
                      <a:schemeClr val="tx1"/>
                    </a:solidFill>
                    <a:effectLst/>
                    <a:ea typeface="+mn-ea"/>
                    <a:cs typeface="+mn-cs"/>
                  </a:rPr>
                  <a:t> </a:t>
                </a:r>
                <a:r>
                  <a:rPr lang="en-NL" sz="1300" b="1" i="0" kern="1200" dirty="0" err="1">
                    <a:solidFill>
                      <a:schemeClr val="tx1"/>
                    </a:solidFill>
                    <a:effectLst/>
                    <a:ea typeface="+mn-ea"/>
                    <a:cs typeface="+mn-cs"/>
                  </a:rPr>
                  <a:t>lineair</a:t>
                </a:r>
                <a:r>
                  <a:rPr lang="en-NL" sz="1300" b="1" i="0" kern="1200" dirty="0">
                    <a:solidFill>
                      <a:schemeClr val="tx1"/>
                    </a:solidFill>
                    <a:effectLst/>
                    <a:ea typeface="+mn-ea"/>
                    <a:cs typeface="+mn-cs"/>
                  </a:rPr>
                  <a:t> model</a:t>
                </a:r>
                <a:r>
                  <a:rPr lang="en-NL" sz="1300" b="0" i="0" kern="1200" dirty="0">
                    <a:solidFill>
                      <a:schemeClr val="tx1"/>
                    </a:solidFill>
                    <a:effectLst/>
                    <a:ea typeface="+mn-ea"/>
                    <a:cs typeface="+mn-cs"/>
                  </a:rPr>
                  <a:t> </a:t>
                </a:r>
                <a:r>
                  <a:rPr lang="en-US" sz="1300" b="0" i="0" kern="1200" dirty="0">
                    <a:solidFill>
                      <a:schemeClr val="tx1"/>
                    </a:solidFill>
                    <a:effectLst/>
                    <a:ea typeface="+mn-ea"/>
                    <a:cs typeface="+mn-cs"/>
                  </a:rPr>
                  <a:t>(LPM) </a:t>
                </a:r>
                <a:r>
                  <a:rPr lang="en-NL" sz="1300" b="0" i="0" kern="1200" dirty="0" err="1">
                    <a:solidFill>
                      <a:schemeClr val="tx1"/>
                    </a:solidFill>
                    <a:effectLst/>
                    <a:ea typeface="+mn-ea"/>
                    <a:cs typeface="+mn-cs"/>
                  </a:rPr>
                  <a:t>werkt</a:t>
                </a:r>
                <a:r>
                  <a:rPr lang="en-NL" sz="1300" b="0" i="0" kern="1200" dirty="0">
                    <a:solidFill>
                      <a:schemeClr val="tx1"/>
                    </a:solidFill>
                    <a:effectLst/>
                    <a:ea typeface="+mn-ea"/>
                    <a:cs typeface="+mn-cs"/>
                  </a:rPr>
                  <a:t> de within-</a:t>
                </a:r>
                <a:r>
                  <a:rPr lang="en-NL" sz="1300" b="0" i="0" kern="1200" dirty="0" err="1">
                    <a:solidFill>
                      <a:schemeClr val="tx1"/>
                    </a:solidFill>
                    <a:effectLst/>
                    <a:ea typeface="+mn-ea"/>
                    <a:cs typeface="+mn-cs"/>
                  </a:rPr>
                  <a:t>transformatie</a:t>
                </a:r>
                <a:r>
                  <a:rPr lang="en-NL" sz="1300" b="0" i="0" kern="1200" dirty="0">
                    <a:solidFill>
                      <a:schemeClr val="tx1"/>
                    </a:solidFill>
                    <a:effectLst/>
                    <a:ea typeface="+mn-ea"/>
                    <a:cs typeface="+mn-cs"/>
                  </a:rPr>
                  <a:t>, maar </a:t>
                </a:r>
                <a:r>
                  <a:rPr lang="en-NL" sz="1300" b="0" i="0" kern="1200" dirty="0" err="1">
                    <a:solidFill>
                      <a:schemeClr val="tx1"/>
                    </a:solidFill>
                    <a:effectLst/>
                    <a:ea typeface="+mn-ea"/>
                    <a:cs typeface="+mn-cs"/>
                  </a:rPr>
                  <a:t>bij</a:t>
                </a:r>
                <a:r>
                  <a:rPr lang="en-NL" sz="1300" b="0" i="0" kern="1200" dirty="0">
                    <a:solidFill>
                      <a:schemeClr val="tx1"/>
                    </a:solidFill>
                    <a:effectLst/>
                    <a:ea typeface="+mn-ea"/>
                    <a:cs typeface="+mn-cs"/>
                  </a:rPr>
                  <a:t> </a:t>
                </a:r>
                <a:r>
                  <a:rPr lang="en-NL" sz="1300" b="0" i="0" kern="1200" dirty="0" err="1">
                    <a:solidFill>
                      <a:schemeClr val="tx1"/>
                    </a:solidFill>
                    <a:effectLst/>
                    <a:ea typeface="+mn-ea"/>
                    <a:cs typeface="+mn-cs"/>
                  </a:rPr>
                  <a:t>een</a:t>
                </a:r>
                <a:r>
                  <a:rPr lang="en-NL" sz="1300" b="0" i="0" kern="1200" dirty="0">
                    <a:solidFill>
                      <a:schemeClr val="tx1"/>
                    </a:solidFill>
                    <a:effectLst/>
                    <a:ea typeface="+mn-ea"/>
                    <a:cs typeface="+mn-cs"/>
                  </a:rPr>
                  <a:t> </a:t>
                </a:r>
                <a:r>
                  <a:rPr lang="en-NL" sz="1300" b="1" i="0" kern="1200" dirty="0">
                    <a:solidFill>
                      <a:schemeClr val="tx1"/>
                    </a:solidFill>
                    <a:effectLst/>
                    <a:ea typeface="+mn-ea"/>
                    <a:cs typeface="+mn-cs"/>
                  </a:rPr>
                  <a:t>probit-model</a:t>
                </a:r>
                <a:r>
                  <a:rPr lang="en-NL" sz="1300" b="0" i="0" kern="1200" dirty="0">
                    <a:solidFill>
                      <a:schemeClr val="tx1"/>
                    </a:solidFill>
                    <a:effectLst/>
                    <a:ea typeface="+mn-ea"/>
                    <a:cs typeface="+mn-cs"/>
                  </a:rPr>
                  <a:t> </a:t>
                </a:r>
                <a:r>
                  <a:rPr lang="en-NL" sz="1300" b="0" i="0" kern="1200" dirty="0" err="1">
                    <a:solidFill>
                      <a:schemeClr val="tx1"/>
                    </a:solidFill>
                    <a:effectLst/>
                    <a:ea typeface="+mn-ea"/>
                    <a:cs typeface="+mn-cs"/>
                  </a:rPr>
                  <a:t>niet</a:t>
                </a:r>
                <a:r>
                  <a:rPr lang="en-US" sz="1300" b="0" i="0" kern="1200" dirty="0">
                    <a:solidFill>
                      <a:schemeClr val="tx1"/>
                    </a:solidFill>
                    <a:effectLst/>
                    <a:ea typeface="+mn-ea"/>
                    <a:cs typeface="+mn-cs"/>
                  </a:rPr>
                  <a:t> (</a:t>
                </a:r>
                <a:r>
                  <a:rPr lang="en-NL" sz="1300" b="0" i="0" kern="1200" dirty="0">
                    <a:solidFill>
                      <a:schemeClr val="tx1"/>
                    </a:solidFill>
                    <a:effectLst/>
                    <a:ea typeface="+mn-ea"/>
                    <a:cs typeface="+mn-cs"/>
                  </a:rPr>
                  <a:t>Door de </a:t>
                </a:r>
                <a:r>
                  <a:rPr lang="en-NL" sz="1300" b="0" i="0" kern="1200" dirty="0" err="1">
                    <a:solidFill>
                      <a:schemeClr val="tx1"/>
                    </a:solidFill>
                    <a:effectLst/>
                    <a:ea typeface="+mn-ea"/>
                    <a:cs typeface="+mn-cs"/>
                  </a:rPr>
                  <a:t>niet-lineariteit</a:t>
                </a:r>
                <a:r>
                  <a:rPr lang="en-NL" sz="1300" b="0" i="0" kern="1200" dirty="0">
                    <a:solidFill>
                      <a:schemeClr val="tx1"/>
                    </a:solidFill>
                    <a:effectLst/>
                    <a:ea typeface="+mn-ea"/>
                    <a:cs typeface="+mn-cs"/>
                  </a:rPr>
                  <a:t> </a:t>
                </a:r>
                <a:r>
                  <a:rPr lang="en-NL" sz="1300" b="0" i="0" kern="1200" dirty="0" err="1">
                    <a:solidFill>
                      <a:schemeClr val="tx1"/>
                    </a:solidFill>
                    <a:effectLst/>
                    <a:ea typeface="+mn-ea"/>
                    <a:cs typeface="+mn-cs"/>
                  </a:rPr>
                  <a:t>blijft</a:t>
                </a:r>
                <a:r>
                  <a:rPr lang="en-NL" sz="1300" b="0" i="0" kern="1200" dirty="0">
                    <a:solidFill>
                      <a:schemeClr val="tx1"/>
                    </a:solidFill>
                    <a:effectLst/>
                    <a:ea typeface="+mn-ea"/>
                    <a:cs typeface="+mn-cs"/>
                  </a:rPr>
                  <a:t> </a:t>
                </a:r>
                <a:r>
                  <a:rPr lang="en-NL" sz="1300" i="0" kern="1200">
                    <a:solidFill>
                      <a:schemeClr val="tx1"/>
                    </a:solidFill>
                    <a:ea typeface="+mn-ea"/>
                    <a:cs typeface="+mn-cs"/>
                  </a:rPr>
                  <a:t>𝛼_𝑖</a:t>
                </a:r>
                <a:r>
                  <a:rPr lang="en-NL" sz="1300" b="0" i="0" kern="1200" dirty="0" err="1">
                    <a:solidFill>
                      <a:schemeClr val="tx1"/>
                    </a:solidFill>
                    <a:effectLst/>
                    <a:ea typeface="+mn-ea"/>
                    <a:cs typeface="+mn-cs"/>
                  </a:rPr>
                  <a:t>verweven</a:t>
                </a:r>
                <a:r>
                  <a:rPr lang="en-NL" sz="1300" b="0" i="0" kern="1200" dirty="0">
                    <a:solidFill>
                      <a:schemeClr val="tx1"/>
                    </a:solidFill>
                    <a:effectLst/>
                    <a:ea typeface="+mn-ea"/>
                    <a:cs typeface="+mn-cs"/>
                  </a:rPr>
                  <a:t> </a:t>
                </a:r>
                <a:r>
                  <a:rPr lang="en-NL" sz="1300" b="0" i="0" kern="1200" dirty="0" err="1">
                    <a:solidFill>
                      <a:schemeClr val="tx1"/>
                    </a:solidFill>
                    <a:effectLst/>
                    <a:ea typeface="+mn-ea"/>
                    <a:cs typeface="+mn-cs"/>
                  </a:rPr>
                  <a:t>zitten</a:t>
                </a:r>
                <a:r>
                  <a:rPr lang="en-NL" sz="1300" b="0" i="0" kern="1200" dirty="0">
                    <a:solidFill>
                      <a:schemeClr val="tx1"/>
                    </a:solidFill>
                    <a:effectLst/>
                    <a:ea typeface="+mn-ea"/>
                    <a:cs typeface="+mn-cs"/>
                  </a:rPr>
                  <a:t> in de </a:t>
                </a:r>
                <a:r>
                  <a:rPr lang="en-NL" sz="1300" b="0" i="0" kern="1200" dirty="0" err="1">
                    <a:solidFill>
                      <a:schemeClr val="tx1"/>
                    </a:solidFill>
                    <a:effectLst/>
                    <a:ea typeface="+mn-ea"/>
                    <a:cs typeface="+mn-cs"/>
                  </a:rPr>
                  <a:t>kansfunctie</a:t>
                </a:r>
                <a:r>
                  <a:rPr lang="en-NL" sz="1300" b="0" i="0" kern="1200" dirty="0">
                    <a:solidFill>
                      <a:schemeClr val="tx1"/>
                    </a:solidFill>
                    <a:effectLst/>
                    <a:ea typeface="+mn-ea"/>
                    <a:cs typeface="+mn-cs"/>
                  </a:rPr>
                  <a:t> en </a:t>
                </a:r>
                <a:r>
                  <a:rPr lang="en-NL" sz="1300" b="0" i="0" kern="1200" dirty="0" err="1">
                    <a:solidFill>
                      <a:schemeClr val="tx1"/>
                    </a:solidFill>
                    <a:effectLst/>
                    <a:ea typeface="+mn-ea"/>
                    <a:cs typeface="+mn-cs"/>
                  </a:rPr>
                  <a:t>kun</a:t>
                </a:r>
                <a:r>
                  <a:rPr lang="en-NL" sz="1300" b="0" i="0" kern="1200" dirty="0">
                    <a:solidFill>
                      <a:schemeClr val="tx1"/>
                    </a:solidFill>
                    <a:effectLst/>
                    <a:ea typeface="+mn-ea"/>
                    <a:cs typeface="+mn-cs"/>
                  </a:rPr>
                  <a:t> je hem </a:t>
                </a:r>
                <a:r>
                  <a:rPr lang="en-NL" sz="1300" b="0" i="0" kern="1200" dirty="0" err="1">
                    <a:solidFill>
                      <a:schemeClr val="tx1"/>
                    </a:solidFill>
                    <a:effectLst/>
                    <a:ea typeface="+mn-ea"/>
                    <a:cs typeface="+mn-cs"/>
                  </a:rPr>
                  <a:t>niet</a:t>
                </a:r>
                <a:r>
                  <a:rPr lang="en-NL" sz="1300" b="0" i="0" kern="1200" dirty="0">
                    <a:solidFill>
                      <a:schemeClr val="tx1"/>
                    </a:solidFill>
                    <a:effectLst/>
                    <a:ea typeface="+mn-ea"/>
                    <a:cs typeface="+mn-cs"/>
                  </a:rPr>
                  <a:t> </a:t>
                </a:r>
                <a:r>
                  <a:rPr lang="en-NL" sz="1300" b="0" i="0" kern="1200" dirty="0" err="1">
                    <a:solidFill>
                      <a:schemeClr val="tx1"/>
                    </a:solidFill>
                    <a:effectLst/>
                    <a:ea typeface="+mn-ea"/>
                    <a:cs typeface="+mn-cs"/>
                  </a:rPr>
                  <a:t>wegtransformeren</a:t>
                </a:r>
                <a:r>
                  <a:rPr lang="en-NL" sz="1300" b="0" i="0" kern="1200" dirty="0">
                    <a:solidFill>
                      <a:schemeClr val="tx1"/>
                    </a:solidFill>
                    <a:effectLst/>
                    <a:ea typeface="+mn-ea"/>
                    <a:cs typeface="+mn-cs"/>
                  </a:rPr>
                  <a:t> door </a:t>
                </a:r>
                <a:r>
                  <a:rPr lang="en-NL" sz="1300" b="0" i="0" kern="1200" dirty="0" err="1">
                    <a:solidFill>
                      <a:schemeClr val="tx1"/>
                    </a:solidFill>
                    <a:effectLst/>
                    <a:ea typeface="+mn-ea"/>
                    <a:cs typeface="+mn-cs"/>
                  </a:rPr>
                  <a:t>te</a:t>
                </a:r>
                <a:r>
                  <a:rPr lang="en-NL" sz="1300" b="0" i="0" kern="1200" dirty="0">
                    <a:solidFill>
                      <a:schemeClr val="tx1"/>
                    </a:solidFill>
                    <a:effectLst/>
                    <a:ea typeface="+mn-ea"/>
                    <a:cs typeface="+mn-cs"/>
                  </a:rPr>
                  <a:t> de-</a:t>
                </a:r>
                <a:r>
                  <a:rPr lang="en-NL" sz="1300" b="0" i="0" kern="1200" dirty="0" err="1">
                    <a:solidFill>
                      <a:schemeClr val="tx1"/>
                    </a:solidFill>
                    <a:effectLst/>
                    <a:ea typeface="+mn-ea"/>
                    <a:cs typeface="+mn-cs"/>
                  </a:rPr>
                  <a:t>meanen</a:t>
                </a:r>
                <a:r>
                  <a:rPr lang="en-US" sz="1300" b="0" i="0" kern="1200" dirty="0">
                    <a:solidFill>
                      <a:schemeClr val="tx1"/>
                    </a:solidFill>
                    <a:effectLst/>
                    <a:ea typeface="+mn-ea"/>
                    <a:cs typeface="+mn-cs"/>
                  </a:rPr>
                  <a:t>); probit is </a:t>
                </a:r>
                <a:r>
                  <a:rPr lang="en-US" sz="1300" b="0" i="0" kern="1200" dirty="0" err="1">
                    <a:solidFill>
                      <a:schemeClr val="tx1"/>
                    </a:solidFill>
                    <a:effectLst/>
                    <a:ea typeface="+mn-ea"/>
                    <a:cs typeface="+mn-cs"/>
                  </a:rPr>
                  <a:t>daarom</a:t>
                </a:r>
                <a:r>
                  <a:rPr lang="en-US" sz="1300" b="0" i="0" kern="1200" dirty="0">
                    <a:solidFill>
                      <a:schemeClr val="tx1"/>
                    </a:solidFill>
                    <a:effectLst/>
                    <a:ea typeface="+mn-ea"/>
                    <a:cs typeface="+mn-cs"/>
                  </a:rPr>
                  <a:t> </a:t>
                </a:r>
                <a:r>
                  <a:rPr lang="en-US" sz="1300" b="0" i="0" kern="1200" dirty="0" err="1">
                    <a:solidFill>
                      <a:schemeClr val="tx1"/>
                    </a:solidFill>
                    <a:effectLst/>
                    <a:ea typeface="+mn-ea"/>
                    <a:cs typeface="+mn-cs"/>
                  </a:rPr>
                  <a:t>niet</a:t>
                </a:r>
                <a:r>
                  <a:rPr lang="en-US" sz="1300" b="0" i="0" kern="1200" dirty="0">
                    <a:solidFill>
                      <a:schemeClr val="tx1"/>
                    </a:solidFill>
                    <a:effectLst/>
                    <a:ea typeface="+mn-ea"/>
                    <a:cs typeface="+mn-cs"/>
                  </a:rPr>
                  <a:t> met FE </a:t>
                </a:r>
                <a:r>
                  <a:rPr lang="en-US" sz="1300" b="0" i="0" kern="1200" dirty="0" err="1">
                    <a:solidFill>
                      <a:schemeClr val="tx1"/>
                    </a:solidFill>
                    <a:effectLst/>
                    <a:ea typeface="+mn-ea"/>
                    <a:cs typeface="+mn-cs"/>
                  </a:rPr>
                  <a:t>te</a:t>
                </a:r>
                <a:r>
                  <a:rPr lang="en-US" sz="1300" b="0" i="0" kern="1200" dirty="0">
                    <a:solidFill>
                      <a:schemeClr val="tx1"/>
                    </a:solidFill>
                    <a:effectLst/>
                    <a:ea typeface="+mn-ea"/>
                    <a:cs typeface="+mn-cs"/>
                  </a:rPr>
                  <a:t> Schatten </a:t>
                </a:r>
                <a:r>
                  <a:rPr lang="en-US" sz="1300" b="0" i="0" kern="1200" dirty="0" err="1">
                    <a:solidFill>
                      <a:schemeClr val="tx1"/>
                    </a:solidFill>
                    <a:effectLst/>
                    <a:ea typeface="+mn-ea"/>
                    <a:cs typeface="+mn-cs"/>
                  </a:rPr>
                  <a:t>behalve</a:t>
                </a:r>
                <a:r>
                  <a:rPr lang="en-US" sz="1300" b="0" i="0" kern="1200" dirty="0">
                    <a:solidFill>
                      <a:schemeClr val="tx1"/>
                    </a:solidFill>
                    <a:effectLst/>
                    <a:ea typeface="+mn-ea"/>
                    <a:cs typeface="+mn-cs"/>
                  </a:rPr>
                  <a:t> CRE probit</a:t>
                </a:r>
                <a:r>
                  <a:rPr lang="en-NL" sz="1300" b="0" i="0" kern="1200" dirty="0">
                    <a:solidFill>
                      <a:schemeClr val="tx1"/>
                    </a:solidFill>
                    <a:effectLs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NL" sz="1300" b="0" i="0" kern="1200" dirty="0">
                  <a:solidFill>
                    <a:schemeClr val="tx1"/>
                  </a:solidFill>
                  <a:effectLst/>
                  <a:ea typeface="+mn-ea"/>
                  <a:cs typeface="+mn-cs"/>
                </a:endParaRPr>
              </a:p>
            </p:txBody>
          </p:sp>
        </mc:Fallback>
      </mc:AlternateContent>
      <p:sp>
        <p:nvSpPr>
          <p:cNvPr id="4" name="Tijdelijke aanduiding voor dianummer 3">
            <a:extLst>
              <a:ext uri="{FF2B5EF4-FFF2-40B4-BE49-F238E27FC236}">
                <a16:creationId xmlns:a16="http://schemas.microsoft.com/office/drawing/2014/main" id="{33D28C7A-35E3-D7B6-1A04-5292B9F6D93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nl-NL"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7956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F143D-9E44-94EC-AB52-06F1DEC0DF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8347234-BA72-C5A5-000F-B7C8EE2A67A9}"/>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67B9C725-AD21-6CD5-3DA4-207B353C143D}"/>
              </a:ext>
            </a:extLst>
          </p:cNvPr>
          <p:cNvSpPr>
            <a:spLocks noGrp="1"/>
          </p:cNvSpPr>
          <p:nvPr>
            <p:ph type="body" idx="1"/>
          </p:nvPr>
        </p:nvSpPr>
        <p:spPr/>
        <p:txBody>
          <a:bodyPr/>
          <a:lstStyle/>
          <a:p>
            <a:pPr marL="171450" indent="-171450">
              <a:buFontTx/>
              <a:buChar char="-"/>
            </a:pPr>
            <a:endParaRPr lang="nl-NL" dirty="0"/>
          </a:p>
        </p:txBody>
      </p:sp>
      <p:sp>
        <p:nvSpPr>
          <p:cNvPr id="4" name="Tijdelijke aanduiding voor dianummer 3">
            <a:extLst>
              <a:ext uri="{FF2B5EF4-FFF2-40B4-BE49-F238E27FC236}">
                <a16:creationId xmlns:a16="http://schemas.microsoft.com/office/drawing/2014/main" id="{A4204FB8-B708-D4FF-C770-62C729146F7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89336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76A53-A44A-40F9-6AEB-D4604691F90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1A525D6-CCD9-BB08-433C-BC82E9D4D224}"/>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641B7F79-C5DD-F3BA-D516-7A8B8AF19412}"/>
              </a:ext>
            </a:extLst>
          </p:cNvPr>
          <p:cNvSpPr>
            <a:spLocks noGrp="1"/>
          </p:cNvSpPr>
          <p:nvPr>
            <p:ph type="body" idx="1"/>
          </p:nvPr>
        </p:nvSpPr>
        <p:spPr>
          <a:xfrm>
            <a:off x="680562" y="4785598"/>
            <a:ext cx="5635178" cy="3915489"/>
          </a:xfrm>
        </p:spPr>
        <p:txBody>
          <a:bodyPr/>
          <a:lstStyle/>
          <a:p>
            <a:pPr marR="0" lvl="0" algn="l" defTabSz="914400" rtl="0" eaLnBrk="1" fontAlgn="auto" latinLnBrk="0" hangingPunct="1">
              <a:lnSpc>
                <a:spcPct val="100000"/>
              </a:lnSpc>
              <a:spcBef>
                <a:spcPts val="0"/>
              </a:spcBef>
              <a:spcAft>
                <a:spcPts val="0"/>
              </a:spcAft>
              <a:buClrTx/>
              <a:buSzTx/>
              <a:tabLst/>
              <a:defRPr/>
            </a:pPr>
            <a:r>
              <a:rPr lang="en-NL" sz="1300" b="0" i="0" u="sng" kern="1200" dirty="0">
                <a:solidFill>
                  <a:schemeClr val="tx1"/>
                </a:solidFill>
                <a:effectLst/>
                <a:latin typeface="+mn-lt"/>
                <a:ea typeface="+mn-ea"/>
                <a:cs typeface="+mn-cs"/>
              </a:rPr>
              <a:t>CRE probit, also known as the </a:t>
            </a:r>
            <a:r>
              <a:rPr lang="en-NL" sz="1300" b="0" i="0" u="sng" kern="1200" dirty="0" err="1">
                <a:solidFill>
                  <a:schemeClr val="tx1"/>
                </a:solidFill>
                <a:effectLst/>
                <a:latin typeface="+mn-lt"/>
                <a:ea typeface="+mn-ea"/>
                <a:cs typeface="+mn-cs"/>
              </a:rPr>
              <a:t>Mundlak</a:t>
            </a:r>
            <a:r>
              <a:rPr lang="en-NL" sz="1300" b="0" i="0" u="sng" kern="1200" dirty="0">
                <a:solidFill>
                  <a:schemeClr val="tx1"/>
                </a:solidFill>
                <a:effectLst/>
                <a:latin typeface="+mn-lt"/>
                <a:ea typeface="+mn-ea"/>
                <a:cs typeface="+mn-cs"/>
              </a:rPr>
              <a:t> approach, is the </a:t>
            </a:r>
            <a:r>
              <a:rPr lang="en-NL" sz="1300" b="1" i="0" u="sng" kern="1200" dirty="0">
                <a:solidFill>
                  <a:schemeClr val="tx1"/>
                </a:solidFill>
                <a:effectLst/>
                <a:latin typeface="+mn-lt"/>
                <a:ea typeface="+mn-ea"/>
                <a:cs typeface="+mn-cs"/>
              </a:rPr>
              <a:t>nonlinear</a:t>
            </a:r>
            <a:r>
              <a:rPr lang="en-NL" sz="1300" b="0" i="0" u="sng" kern="1200" dirty="0">
                <a:solidFill>
                  <a:schemeClr val="tx1"/>
                </a:solidFill>
                <a:effectLst/>
                <a:latin typeface="+mn-lt"/>
                <a:ea typeface="+mn-ea"/>
                <a:cs typeface="+mn-cs"/>
              </a:rPr>
              <a:t> analogue of the fixed-effects LPM</a:t>
            </a:r>
            <a:r>
              <a:rPr lang="en-US" sz="1300" b="0" i="0" u="sng" kern="1200" dirty="0">
                <a:solidFill>
                  <a:schemeClr val="tx1"/>
                </a:solidFill>
                <a:effectLst/>
                <a:latin typeface="+mn-lt"/>
                <a:ea typeface="+mn-ea"/>
                <a:cs typeface="+mn-cs"/>
              </a:rPr>
              <a:t>.</a:t>
            </a:r>
            <a:endParaRPr lang="en-NL" sz="1300" b="0" i="0" u="sng" kern="1200" dirty="0">
              <a:solidFill>
                <a:schemeClr val="tx1"/>
              </a:solidFill>
              <a:effectLst/>
              <a:latin typeface="+mn-lt"/>
              <a:ea typeface="+mn-ea"/>
              <a:cs typeface="+mn-cs"/>
            </a:endParaRPr>
          </a:p>
          <a:p>
            <a:pPr marL="0" indent="0">
              <a:buFontTx/>
              <a:buNone/>
            </a:pPr>
            <a:r>
              <a:rPr lang="en-US" sz="1300" u="sng" kern="1200" dirty="0">
                <a:solidFill>
                  <a:schemeClr val="tx1"/>
                </a:solidFill>
                <a:effectLst/>
                <a:latin typeface="+mn-lt"/>
                <a:ea typeface="+mn-ea"/>
                <a:cs typeface="+mn-cs"/>
              </a:rPr>
              <a:t>  CRE probit using </a:t>
            </a:r>
            <a:r>
              <a:rPr lang="en-US" sz="1300" u="sng" kern="1200" dirty="0" err="1">
                <a:solidFill>
                  <a:schemeClr val="tx1"/>
                </a:solidFill>
                <a:effectLst/>
                <a:latin typeface="+mn-lt"/>
                <a:ea typeface="+mn-ea"/>
                <a:cs typeface="+mn-cs"/>
              </a:rPr>
              <a:t>Mundlak</a:t>
            </a:r>
            <a:r>
              <a:rPr lang="en-US" sz="1300" u="sng" kern="1200" dirty="0">
                <a:solidFill>
                  <a:schemeClr val="tx1"/>
                </a:solidFill>
                <a:effectLst/>
                <a:latin typeface="+mn-lt"/>
                <a:ea typeface="+mn-ea"/>
                <a:cs typeface="+mn-cs"/>
              </a:rPr>
              <a:t> formulation</a:t>
            </a:r>
            <a:r>
              <a:rPr lang="en-US" sz="1300" kern="1200" dirty="0">
                <a:solidFill>
                  <a:schemeClr val="tx1"/>
                </a:solidFill>
                <a:effectLst/>
                <a:latin typeface="+mn-lt"/>
                <a:ea typeface="+mn-ea"/>
                <a:cs typeface="+mn-cs"/>
              </a:rPr>
              <a:t>, including country means of the time-varying explanatory variables and controls (within/between decompositions of ICT and the enabled time-varying controls.). This permits persistent unobserved country heterogeneity to be correlated with ICT exposure. Inference accounts for within-country dependence. Including means of explanatory variables makes random component </a:t>
            </a:r>
            <a:r>
              <a:rPr lang="en-US" sz="1300" kern="1200" dirty="0" err="1">
                <a:solidFill>
                  <a:schemeClr val="tx1"/>
                </a:solidFill>
                <a:effectLst/>
                <a:latin typeface="+mn-lt"/>
                <a:ea typeface="+mn-ea"/>
                <a:cs typeface="+mn-cs"/>
              </a:rPr>
              <a:t>alpha_i</a:t>
            </a:r>
            <a:r>
              <a:rPr lang="en-US" sz="1300" kern="1200" dirty="0">
                <a:solidFill>
                  <a:schemeClr val="tx1"/>
                </a:solidFill>
                <a:effectLst/>
                <a:latin typeface="+mn-lt"/>
                <a:ea typeface="+mn-ea"/>
                <a:cs typeface="+mn-cs"/>
              </a:rPr>
              <a:t> (=remaining unobserved country heterogeneity, = country random effect) independent of the regressors. </a:t>
            </a:r>
          </a:p>
          <a:p>
            <a:pPr marL="171450" indent="-171450">
              <a:buFontTx/>
              <a:buChar char="-"/>
            </a:pPr>
            <a:r>
              <a:rPr lang="en-US" sz="1300" kern="1200" dirty="0">
                <a:solidFill>
                  <a:schemeClr val="tx1"/>
                </a:solidFill>
                <a:effectLst/>
                <a:latin typeface="+mn-lt"/>
                <a:ea typeface="+mn-ea"/>
                <a:cs typeface="+mn-cs"/>
              </a:rPr>
              <a:t>.</a:t>
            </a:r>
            <a:r>
              <a:rPr lang="en-US" sz="1300" kern="1200" dirty="0" err="1">
                <a:solidFill>
                  <a:schemeClr val="tx1"/>
                </a:solidFill>
                <a:effectLst/>
                <a:latin typeface="+mn-lt"/>
                <a:ea typeface="+mn-ea"/>
                <a:cs typeface="+mn-cs"/>
              </a:rPr>
              <a:t>Beta_w</a:t>
            </a:r>
            <a:r>
              <a:rPr lang="en-US" sz="1300" kern="1200" dirty="0">
                <a:solidFill>
                  <a:schemeClr val="tx1"/>
                </a:solidFill>
                <a:effectLst/>
                <a:latin typeface="+mn-lt"/>
                <a:ea typeface="+mn-ea"/>
                <a:cs typeface="+mn-cs"/>
              </a:rPr>
              <a:t> = within country effect (</a:t>
            </a:r>
            <a:r>
              <a:rPr lang="en-US" sz="1300" kern="1200" dirty="0" err="1">
                <a:solidFill>
                  <a:schemeClr val="tx1"/>
                </a:solidFill>
                <a:effectLst/>
                <a:latin typeface="+mn-lt"/>
                <a:ea typeface="+mn-ea"/>
                <a:cs typeface="+mn-cs"/>
              </a:rPr>
              <a:t>Beta_w</a:t>
            </a:r>
            <a:r>
              <a:rPr lang="en-US" sz="1300" kern="1200" dirty="0">
                <a:solidFill>
                  <a:schemeClr val="tx1"/>
                </a:solidFill>
                <a:effectLst/>
                <a:latin typeface="+mn-lt"/>
                <a:ea typeface="+mn-ea"/>
                <a:cs typeface="+mn-cs"/>
              </a:rPr>
              <a:t> * (</a:t>
            </a:r>
            <a:r>
              <a:rPr lang="en-US" sz="1300" kern="1200" dirty="0" err="1">
                <a:solidFill>
                  <a:schemeClr val="tx1"/>
                </a:solidFill>
                <a:effectLst/>
                <a:latin typeface="+mn-lt"/>
                <a:ea typeface="+mn-ea"/>
                <a:cs typeface="+mn-cs"/>
              </a:rPr>
              <a:t>X_t</a:t>
            </a:r>
            <a:r>
              <a:rPr lang="en-US" sz="1300" kern="1200" dirty="0">
                <a:solidFill>
                  <a:schemeClr val="tx1"/>
                </a:solidFill>
                <a:effectLst/>
                <a:latin typeface="+mn-lt"/>
                <a:ea typeface="+mn-ea"/>
                <a:cs typeface="+mn-cs"/>
              </a:rPr>
              <a:t> - </a:t>
            </a:r>
            <a:r>
              <a:rPr lang="en-US" sz="1300" kern="1200" dirty="0" err="1">
                <a:solidFill>
                  <a:schemeClr val="tx1"/>
                </a:solidFill>
                <a:effectLst/>
                <a:latin typeface="+mn-lt"/>
                <a:ea typeface="+mn-ea"/>
                <a:cs typeface="+mn-cs"/>
              </a:rPr>
              <a:t>X_mean</a:t>
            </a:r>
            <a:r>
              <a:rPr lang="en-US" sz="1300" kern="1200" dirty="0">
                <a:solidFill>
                  <a:schemeClr val="tx1"/>
                </a:solidFill>
                <a:effectLst/>
                <a:latin typeface="+mn-lt"/>
                <a:ea typeface="+mn-ea"/>
                <a:cs typeface="+mn-cs"/>
              </a:rPr>
              <a:t>): what happens when X changes within a country</a:t>
            </a:r>
          </a:p>
          <a:p>
            <a:pPr marL="171450" indent="-171450">
              <a:buFontTx/>
              <a:buChar char="-"/>
            </a:pPr>
            <a:endParaRPr lang="en-US" sz="1300" kern="1200" dirty="0">
              <a:solidFill>
                <a:schemeClr val="tx1"/>
              </a:solidFill>
              <a:effectLst/>
              <a:latin typeface="+mn-lt"/>
              <a:ea typeface="+mn-ea"/>
              <a:cs typeface="+mn-cs"/>
            </a:endParaRPr>
          </a:p>
          <a:p>
            <a:pPr marL="0" indent="0">
              <a:buFontTx/>
              <a:buNone/>
            </a:pPr>
            <a:r>
              <a:rPr lang="en-NL" sz="1300" u="sng" kern="1200" dirty="0" err="1">
                <a:solidFill>
                  <a:schemeClr val="tx1"/>
                </a:solidFill>
                <a:effectLst/>
                <a:latin typeface="+mn-lt"/>
                <a:ea typeface="+mn-ea"/>
                <a:cs typeface="+mn-cs"/>
              </a:rPr>
              <a:t>Mundlak</a:t>
            </a:r>
            <a:r>
              <a:rPr lang="en-NL" sz="1300" u="sng" kern="1200" dirty="0">
                <a:solidFill>
                  <a:schemeClr val="tx1"/>
                </a:solidFill>
                <a:effectLst/>
                <a:latin typeface="+mn-lt"/>
                <a:ea typeface="+mn-ea"/>
                <a:cs typeface="+mn-cs"/>
              </a:rPr>
              <a:t> country </a:t>
            </a:r>
            <a:r>
              <a:rPr lang="en-NL" sz="1300" b="1" u="sng" kern="1200" dirty="0">
                <a:solidFill>
                  <a:schemeClr val="tx1"/>
                </a:solidFill>
                <a:effectLst/>
                <a:latin typeface="+mn-lt"/>
                <a:ea typeface="+mn-ea"/>
                <a:cs typeface="+mn-cs"/>
              </a:rPr>
              <a:t>means</a:t>
            </a:r>
            <a:r>
              <a:rPr lang="en-NL" sz="1300" u="sng" kern="1200" dirty="0">
                <a:solidFill>
                  <a:schemeClr val="tx1"/>
                </a:solidFill>
                <a:effectLst/>
                <a:latin typeface="+mn-lt"/>
                <a:ea typeface="+mn-ea"/>
                <a:cs typeface="+mn-cs"/>
              </a:rPr>
              <a:t> adequately capture the </a:t>
            </a:r>
            <a:r>
              <a:rPr lang="en-NL" sz="1300" b="1" u="sng" kern="1200" dirty="0">
                <a:solidFill>
                  <a:schemeClr val="tx1"/>
                </a:solidFill>
                <a:effectLst/>
                <a:latin typeface="+mn-lt"/>
                <a:ea typeface="+mn-ea"/>
                <a:cs typeface="+mn-cs"/>
              </a:rPr>
              <a:t>correlation</a:t>
            </a:r>
            <a:r>
              <a:rPr lang="en-NL" sz="1300" u="sng" kern="1200" dirty="0">
                <a:solidFill>
                  <a:schemeClr val="tx1"/>
                </a:solidFill>
                <a:effectLst/>
                <a:latin typeface="+mn-lt"/>
                <a:ea typeface="+mn-ea"/>
                <a:cs typeface="+mn-cs"/>
              </a:rPr>
              <a:t> between ICT exposure and persistent country heterogeneity</a:t>
            </a:r>
            <a:r>
              <a:rPr lang="en-US" sz="1300" u="sng" kern="1200" dirty="0">
                <a:solidFill>
                  <a:schemeClr val="tx1"/>
                </a:solidFill>
                <a:effectLst/>
                <a:latin typeface="+mn-lt"/>
                <a:ea typeface="+mn-ea"/>
                <a:cs typeface="+mn-cs"/>
              </a:rPr>
              <a:t> </a:t>
            </a:r>
            <a:r>
              <a:rPr lang="en-US" sz="1300" i="1" kern="1200" dirty="0">
                <a:solidFill>
                  <a:schemeClr val="tx1"/>
                </a:solidFill>
                <a:effectLst/>
                <a:latin typeface="+mn-lt"/>
                <a:ea typeface="+mn-ea"/>
                <a:cs typeface="+mn-cs"/>
              </a:rPr>
              <a:t>=&gt;  normal </a:t>
            </a:r>
            <a:r>
              <a:rPr lang="en-NL" sz="1300" i="1" kern="1200" dirty="0">
                <a:solidFill>
                  <a:schemeClr val="tx1"/>
                </a:solidFill>
                <a:effectLst/>
                <a:latin typeface="+mn-lt"/>
                <a:ea typeface="+mn-ea"/>
                <a:cs typeface="+mn-cs"/>
              </a:rPr>
              <a:t>FE probit </a:t>
            </a:r>
            <a:r>
              <a:rPr lang="en-US" sz="1300" kern="1200" dirty="0">
                <a:solidFill>
                  <a:schemeClr val="tx1"/>
                </a:solidFill>
                <a:effectLst/>
                <a:latin typeface="+mn-lt"/>
                <a:ea typeface="+mn-ea"/>
                <a:cs typeface="+mn-cs"/>
              </a:rPr>
              <a:t>model </a:t>
            </a:r>
            <a:r>
              <a:rPr lang="en-NL" sz="1300" kern="1200" dirty="0">
                <a:solidFill>
                  <a:schemeClr val="tx1"/>
                </a:solidFill>
                <a:effectLst/>
                <a:latin typeface="+mn-lt"/>
                <a:ea typeface="+mn-ea"/>
                <a:cs typeface="+mn-cs"/>
              </a:rPr>
              <a:t>estimates a separate intercept for </a:t>
            </a:r>
            <a:r>
              <a:rPr lang="en-US" sz="1300" kern="1200" dirty="0">
                <a:solidFill>
                  <a:schemeClr val="tx1"/>
                </a:solidFill>
                <a:effectLst/>
                <a:latin typeface="+mn-lt"/>
                <a:ea typeface="+mn-ea"/>
                <a:cs typeface="+mn-cs"/>
              </a:rPr>
              <a:t>each</a:t>
            </a:r>
            <a:r>
              <a:rPr lang="en-NL" sz="1300" kern="1200" dirty="0">
                <a:solidFill>
                  <a:schemeClr val="tx1"/>
                </a:solidFill>
                <a:effectLst/>
                <a:latin typeface="+mn-lt"/>
                <a:ea typeface="+mn-ea"/>
                <a:cs typeface="+mn-cs"/>
              </a:rPr>
              <a:t> country, whereas </a:t>
            </a:r>
            <a:r>
              <a:rPr lang="en-NL" sz="1300" i="1" kern="1200" dirty="0">
                <a:solidFill>
                  <a:schemeClr val="tx1"/>
                </a:solidFill>
                <a:effectLst/>
                <a:latin typeface="+mn-lt"/>
                <a:ea typeface="+mn-ea"/>
                <a:cs typeface="+mn-cs"/>
              </a:rPr>
              <a:t>CRE probit </a:t>
            </a:r>
            <a:r>
              <a:rPr lang="en-NL" sz="1300" kern="1200" dirty="0">
                <a:solidFill>
                  <a:schemeClr val="tx1"/>
                </a:solidFill>
                <a:effectLst/>
                <a:latin typeface="+mn-lt"/>
                <a:ea typeface="+mn-ea"/>
                <a:cs typeface="+mn-cs"/>
              </a:rPr>
              <a:t>assumes a normally distributed </a:t>
            </a:r>
            <a:r>
              <a:rPr lang="en-NL" sz="1300" b="1" kern="1200" dirty="0">
                <a:solidFill>
                  <a:schemeClr val="tx1"/>
                </a:solidFill>
                <a:effectLst/>
                <a:latin typeface="+mn-lt"/>
                <a:ea typeface="+mn-ea"/>
                <a:cs typeface="+mn-cs"/>
              </a:rPr>
              <a:t>country random intercept </a:t>
            </a:r>
            <a:r>
              <a:rPr lang="en-NL" sz="1300" kern="1200" dirty="0">
                <a:solidFill>
                  <a:schemeClr val="tx1"/>
                </a:solidFill>
                <a:effectLst/>
                <a:latin typeface="+mn-lt"/>
                <a:ea typeface="+mn-ea"/>
                <a:cs typeface="+mn-cs"/>
              </a:rPr>
              <a:t>and models its </a:t>
            </a:r>
            <a:r>
              <a:rPr lang="en-NL" sz="1300" b="1" kern="1200" dirty="0">
                <a:solidFill>
                  <a:schemeClr val="tx1"/>
                </a:solidFill>
                <a:effectLst/>
                <a:latin typeface="+mn-lt"/>
                <a:ea typeface="+mn-ea"/>
                <a:cs typeface="+mn-cs"/>
              </a:rPr>
              <a:t>correlation with the regressors through their country means</a:t>
            </a:r>
            <a:endParaRPr lang="nl-NL" sz="1300" b="1" dirty="0"/>
          </a:p>
        </p:txBody>
      </p:sp>
      <p:sp>
        <p:nvSpPr>
          <p:cNvPr id="4" name="Tijdelijke aanduiding voor dianummer 3">
            <a:extLst>
              <a:ext uri="{FF2B5EF4-FFF2-40B4-BE49-F238E27FC236}">
                <a16:creationId xmlns:a16="http://schemas.microsoft.com/office/drawing/2014/main" id="{7337F1BA-05B0-AA9C-28F9-DF416BB0B68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743360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894C5-5DF8-CF0D-9F40-18220F46836D}"/>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8585E70F-86F1-ABB3-C0A5-851B721BADB8}"/>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0EE9CC7E-C39E-CD4E-A766-7DBE8097F989}"/>
              </a:ext>
            </a:extLst>
          </p:cNvPr>
          <p:cNvSpPr>
            <a:spLocks noGrp="1"/>
          </p:cNvSpPr>
          <p:nvPr>
            <p:ph type="body" idx="1"/>
          </p:nvPr>
        </p:nvSpPr>
        <p:spPr/>
        <p:txBody>
          <a:bodyPr/>
          <a:lstStyle/>
          <a:p>
            <a:pPr marL="171450" indent="-171450">
              <a:buFontTx/>
              <a:buChar char="-"/>
            </a:pPr>
            <a:endParaRPr lang="nl-NL" dirty="0"/>
          </a:p>
        </p:txBody>
      </p:sp>
      <p:sp>
        <p:nvSpPr>
          <p:cNvPr id="4" name="Tijdelijke aanduiding voor dianummer 3">
            <a:extLst>
              <a:ext uri="{FF2B5EF4-FFF2-40B4-BE49-F238E27FC236}">
                <a16:creationId xmlns:a16="http://schemas.microsoft.com/office/drawing/2014/main" id="{DFAF7B08-4D7D-35A3-3C73-1281369EA460}"/>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836278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96EA2-6791-8BA7-3E1D-8AA41841624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C2B42AB-3FC6-66F4-EDB9-3794F38C39E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6266033-F159-99E4-AB2E-A64BA45BAE07}"/>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271191F-9E85-0AC2-25F8-021F793E6889}"/>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2248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72A8A-A84A-97A5-1457-BC14F74B5259}"/>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01C7A8D-4AD4-9718-24B4-E3DD7A672EF5}"/>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45B00884-682F-ABB0-4450-31B342A5997F}"/>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540CA2C-E628-470B-77EC-A64F9E7DE842}"/>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627428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F11D1-111C-2097-AF1B-AC0E2514559C}"/>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33E7C0D-B7FA-4003-29ED-9A68D1D3864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D2409FC-30BF-11D2-8F14-E878B41EDE0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DB7752-4697-5BFC-EE65-CBB78901BE3F}"/>
              </a:ext>
            </a:extLst>
          </p:cNvPr>
          <p:cNvSpPr>
            <a:spLocks noGrp="1"/>
          </p:cNvSpPr>
          <p:nvPr>
            <p:ph type="sldNum" sz="quarter" idx="10"/>
          </p:nvPr>
        </p:nvSpPr>
        <p:spPr/>
        <p:txBody>
          <a:bodyPr/>
          <a:lstStyle/>
          <a:p>
            <a:fld id="{F9513F78-5509-4637-B397-C3DEABA56153}" type="slidenum">
              <a:rPr lang="nl-NL" smtClean="0">
                <a:solidFill>
                  <a:prstClr val="black"/>
                </a:solidFill>
              </a:rPr>
              <a:pPr/>
              <a:t>14</a:t>
            </a:fld>
            <a:endParaRPr lang="nl-NL">
              <a:solidFill>
                <a:prstClr val="black"/>
              </a:solidFill>
            </a:endParaRPr>
          </a:p>
        </p:txBody>
      </p:sp>
    </p:spTree>
    <p:extLst>
      <p:ext uri="{BB962C8B-B14F-4D97-AF65-F5344CB8AC3E}">
        <p14:creationId xmlns:p14="http://schemas.microsoft.com/office/powerpoint/2010/main" val="7879702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DE61E-40DD-9FCB-7415-8004BAD0958A}"/>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14660F3A-AA3B-1B45-807B-E34E346A9402}"/>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2CDDDEC-3085-D7C1-3586-164751189CA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1BC49F77-D952-93CD-01F1-A7374ECB05C7}"/>
              </a:ext>
            </a:extLst>
          </p:cNvPr>
          <p:cNvSpPr>
            <a:spLocks noGrp="1"/>
          </p:cNvSpPr>
          <p:nvPr>
            <p:ph type="sldNum" sz="quarter" idx="10"/>
          </p:nvPr>
        </p:nvSpPr>
        <p:spPr/>
        <p:txBody>
          <a:bodyPr/>
          <a:lstStyle/>
          <a:p>
            <a:fld id="{F9513F78-5509-4637-B397-C3DEABA56153}" type="slidenum">
              <a:rPr lang="nl-NL" smtClean="0">
                <a:solidFill>
                  <a:prstClr val="black"/>
                </a:solidFill>
              </a:rPr>
              <a:pPr/>
              <a:t>15</a:t>
            </a:fld>
            <a:endParaRPr lang="nl-NL">
              <a:solidFill>
                <a:prstClr val="black"/>
              </a:solidFill>
            </a:endParaRPr>
          </a:p>
        </p:txBody>
      </p:sp>
    </p:spTree>
    <p:extLst>
      <p:ext uri="{BB962C8B-B14F-4D97-AF65-F5344CB8AC3E}">
        <p14:creationId xmlns:p14="http://schemas.microsoft.com/office/powerpoint/2010/main" val="16498637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0B703-6763-3A02-0CD1-2AA5E1B12EC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F4C337D0-D3BF-4189-B369-1E9D295871F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4911D73-3315-29CE-AA78-CA06D883825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i="0" baseline="0" dirty="0"/>
          </a:p>
        </p:txBody>
      </p:sp>
      <p:sp>
        <p:nvSpPr>
          <p:cNvPr id="4" name="Tijdelijke aanduiding voor dianummer 3">
            <a:extLst>
              <a:ext uri="{FF2B5EF4-FFF2-40B4-BE49-F238E27FC236}">
                <a16:creationId xmlns:a16="http://schemas.microsoft.com/office/drawing/2014/main" id="{DDB81D25-FC8A-9EA8-7378-54154F5B79F8}"/>
              </a:ext>
            </a:extLst>
          </p:cNvPr>
          <p:cNvSpPr>
            <a:spLocks noGrp="1"/>
          </p:cNvSpPr>
          <p:nvPr>
            <p:ph type="sldNum" sz="quarter" idx="10"/>
          </p:nvPr>
        </p:nvSpPr>
        <p:spPr/>
        <p:txBody>
          <a:bodyPr/>
          <a:lstStyle/>
          <a:p>
            <a:fld id="{F9513F78-5509-4637-B397-C3DEABA56153}" type="slidenum">
              <a:rPr lang="nl-NL" smtClean="0">
                <a:solidFill>
                  <a:prstClr val="black"/>
                </a:solidFill>
              </a:rPr>
              <a:pPr/>
              <a:t>16</a:t>
            </a:fld>
            <a:endParaRPr lang="nl-NL">
              <a:solidFill>
                <a:prstClr val="black"/>
              </a:solidFill>
            </a:endParaRPr>
          </a:p>
        </p:txBody>
      </p:sp>
    </p:spTree>
    <p:extLst>
      <p:ext uri="{BB962C8B-B14F-4D97-AF65-F5344CB8AC3E}">
        <p14:creationId xmlns:p14="http://schemas.microsoft.com/office/powerpoint/2010/main" val="349394605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36740-ACF0-1F8D-EFE0-B2B9B646E6D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4242CD5-8079-4695-C2BE-761D6D79ACD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953C6CF-2BBF-0983-ABCB-AAD49ED7E86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Robustness check with CPA data (goods) intra + extra-EA trade for the 10 countries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2.2 261 Electronic components and boards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2.2 262 Computers and peripheral equipment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nl-NL" sz="1200" noProof="1">
                <a:latin typeface="Arial" panose="020B0604020202020204" pitchFamily="34" charset="0"/>
                <a:ea typeface="Verdana" panose="020B0604030504040204" pitchFamily="34" charset="0"/>
                <a:cs typeface="Arial" panose="020B0604020202020204" pitchFamily="34" charset="0"/>
              </a:rPr>
              <a:t>CPA 2.2 2899  </a:t>
            </a:r>
            <a:r>
              <a:rPr lang="en-NL" sz="1200" b="0" i="0" kern="1200" dirty="0">
                <a:solidFill>
                  <a:schemeClr val="tx1"/>
                </a:solidFill>
                <a:effectLst/>
                <a:latin typeface="+mn-lt"/>
                <a:ea typeface="+mn-ea"/>
                <a:cs typeface="+mn-cs"/>
              </a:rPr>
              <a:t>Other special-purpose machinery </a:t>
            </a:r>
            <a:r>
              <a:rPr lang="en-NL" sz="1200" b="0" i="0" kern="1200" dirty="0" err="1">
                <a:solidFill>
                  <a:schemeClr val="tx1"/>
                </a:solidFill>
                <a:effectLst/>
                <a:latin typeface="+mn-lt"/>
                <a:ea typeface="+mn-ea"/>
                <a:cs typeface="+mn-cs"/>
              </a:rPr>
              <a:t>n.e.c.</a:t>
            </a:r>
            <a:endParaRPr lang="en-NL"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Data for computer services (Eurostat: EBOPS, </a:t>
            </a:r>
            <a:r>
              <a:rPr lang="en-NL" sz="1200" b="0" i="0" kern="1200" dirty="0">
                <a:solidFill>
                  <a:schemeClr val="tx1"/>
                </a:solidFill>
                <a:effectLst/>
                <a:latin typeface="+mn-lt"/>
                <a:ea typeface="+mn-ea"/>
                <a:cs typeface="+mn-cs"/>
              </a:rPr>
              <a:t>International Trade in Services, ITS</a:t>
            </a:r>
            <a:r>
              <a:rPr lang="en-US" sz="1200" b="0" i="0" kern="1200" dirty="0">
                <a:solidFill>
                  <a:schemeClr val="tx1"/>
                </a:solidFill>
                <a:effectLst/>
                <a:latin typeface="+mn-lt"/>
                <a:ea typeface="+mn-ea"/>
                <a:cs typeface="+mn-cs"/>
              </a:rPr>
              <a:t> are just limitedly available (for some countries just starting in 2013, while 2025 data is not yet available for any country)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=&gt; to fetch these data =&gt;collect_ai_data_eur_serv.py // spreadsheet with data including services = ai_data_eur_serv.xls</a:t>
            </a:r>
            <a:endParaRPr lang="nl-NL" i="0" baseline="0" dirty="0"/>
          </a:p>
        </p:txBody>
      </p:sp>
      <p:sp>
        <p:nvSpPr>
          <p:cNvPr id="4" name="Tijdelijke aanduiding voor dianummer 3">
            <a:extLst>
              <a:ext uri="{FF2B5EF4-FFF2-40B4-BE49-F238E27FC236}">
                <a16:creationId xmlns:a16="http://schemas.microsoft.com/office/drawing/2014/main" id="{2CF62F4D-F0F1-75BD-73A5-CA318506320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062185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B8450E"/>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316829" y="2202312"/>
            <a:ext cx="7912770" cy="2446339"/>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308808" y="4765514"/>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323528" y="4149080"/>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323528" y="36450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323528" y="313627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3725265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84CDC7"/>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712995" y="3751911"/>
            <a:ext cx="5383005" cy="1761921"/>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712995" y="5611401"/>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645257" y="4952296"/>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645256" y="453102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645256" y="41241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4018404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el en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a:t>Klik om de stijl te bewerken</a:t>
            </a:r>
            <a:endParaRPr lang="en-US"/>
          </a:p>
        </p:txBody>
      </p:sp>
      <p:sp>
        <p:nvSpPr>
          <p:cNvPr id="3" name="Content Placeholder 2"/>
          <p:cNvSpPr>
            <a:spLocks noGrp="1"/>
          </p:cNvSpPr>
          <p:nvPr>
            <p:ph idx="1"/>
          </p:nvPr>
        </p:nvSpPr>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8"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9"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1809227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
        <p:nvSpPr>
          <p:cNvPr id="5"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6"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7"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39247660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0F419613-3326-3B0A-A276-3ECE2A30D20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1457511077"/>
      </p:ext>
    </p:extLst>
  </p:cSld>
  <p:clrMap bg1="lt1" tx1="dk1" bg2="lt2" tx2="dk2" accent1="accent1" accent2="accent2" accent3="accent3" accent4="accent4" accent5="accent5" accent6="accent6" hlink="hlink" folHlink="folHlink"/>
  <p:sldLayoutIdLst>
    <p:sldLayoutId id="2147483689" r:id="rId1"/>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48FE1AA8-430C-925C-4B49-CA9E5538C46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4132329856"/>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slide" Target="slide1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slide" Target="slide15.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slide" Target="slide16.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competition-policy.ec.europa.eu/state-aid/scoreboard/scoreboard-state-aid-data_en"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0.emf"/><Relationship Id="rId5" Type="http://schemas.openxmlformats.org/officeDocument/2006/relationships/image" Target="../media/image9.emf"/><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hyperlink" Target="https://competition-policy.ec.europa.eu/state-aid/scoreboard/scoreboard-state-aid-data_en" TargetMode="External"/><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2.emf"/><Relationship Id="rId5" Type="http://schemas.openxmlformats.org/officeDocument/2006/relationships/image" Target="../media/image10.emf"/><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hyperlink" Target="https://cat.eto.tech/?dataset=Investment&amp;expanded=Summary-metrics%2CChanges-over-time" TargetMode="External"/><Relationship Id="rId7" Type="http://schemas.openxmlformats.org/officeDocument/2006/relationships/image" Target="../media/image15.jpe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slide" Target="slide4.xml"/><Relationship Id="rId5" Type="http://schemas.openxmlformats.org/officeDocument/2006/relationships/hyperlink" Target="https://ec.europa.eu/eurostat/databrowser/view/nama_10_a64_p5__custom_22387728/default/table" TargetMode="External"/><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hyperlink" Target="https://ec.europa.eu/eurostat/comext/newxtweb/setupdimselection.do" TargetMode="External"/><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17.jpeg"/><Relationship Id="rId5" Type="http://schemas.openxmlformats.org/officeDocument/2006/relationships/image" Target="../media/image16.jpeg"/><Relationship Id="rId4" Type="http://schemas.openxmlformats.org/officeDocument/2006/relationships/slide" Target="slide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A23DEFEE-159F-2F13-C617-6B4633392BB4}"/>
              </a:ext>
            </a:extLst>
          </p:cNvPr>
          <p:cNvSpPr txBox="1">
            <a:spLocks/>
          </p:cNvSpPr>
          <p:nvPr/>
        </p:nvSpPr>
        <p:spPr>
          <a:xfrm>
            <a:off x="418880" y="807374"/>
            <a:ext cx="8469088" cy="5679439"/>
          </a:xfrm>
          <a:prstGeom prst="rect">
            <a:avLst/>
          </a:prstGeom>
        </p:spPr>
        <p:txBody>
          <a:bodyPr>
            <a:normAutofit/>
          </a:bodyPr>
          <a:lst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20000"/>
              </a:lnSpc>
              <a:spcAft>
                <a:spcPts val="1200"/>
              </a:spcAft>
            </a:pPr>
            <a:endParaRPr lang="en-US" sz="3400" noProof="1">
              <a:latin typeface="Verdana" panose="020B0604030504040204" pitchFamily="34" charset="0"/>
              <a:ea typeface="Verdana" panose="020B0604030504040204" pitchFamily="34" charset="0"/>
            </a:endParaRPr>
          </a:p>
          <a:p>
            <a:pPr algn="ctr">
              <a:lnSpc>
                <a:spcPct val="120000"/>
              </a:lnSpc>
              <a:spcAft>
                <a:spcPts val="1200"/>
              </a:spcAft>
            </a:pPr>
            <a:r>
              <a:rPr lang="en-US" sz="3400" noProof="1">
                <a:latin typeface="Verdana" panose="020B0604030504040204" pitchFamily="34" charset="0"/>
                <a:ea typeface="Verdana" panose="020B0604030504040204" pitchFamily="34" charset="0"/>
              </a:rPr>
              <a:t>AI and shock resilience: </a:t>
            </a:r>
          </a:p>
          <a:p>
            <a:pPr algn="ctr">
              <a:lnSpc>
                <a:spcPct val="120000"/>
              </a:lnSpc>
              <a:spcAft>
                <a:spcPts val="1200"/>
              </a:spcAft>
            </a:pPr>
            <a:r>
              <a:rPr lang="en-US" sz="3400" noProof="1">
                <a:latin typeface="Verdana" panose="020B0604030504040204" pitchFamily="34" charset="0"/>
                <a:ea typeface="Verdana" panose="020B0604030504040204" pitchFamily="34" charset="0"/>
              </a:rPr>
              <a:t>Indications from euro area economies</a:t>
            </a:r>
            <a:endParaRPr lang="nl-NL" sz="3400" dirty="0"/>
          </a:p>
        </p:txBody>
      </p:sp>
    </p:spTree>
    <p:extLst>
      <p:ext uri="{BB962C8B-B14F-4D97-AF65-F5344CB8AC3E}">
        <p14:creationId xmlns:p14="http://schemas.microsoft.com/office/powerpoint/2010/main" val="2835017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Semiconductor super-</a:t>
            </a:r>
            <a:r>
              <a:rPr lang="nl-NL" sz="2400" dirty="0" err="1">
                <a:solidFill>
                  <a:schemeClr val="bg1"/>
                </a:solidFill>
              </a:rPr>
              <a:t>cycle</a:t>
            </a:r>
            <a:r>
              <a:rPr lang="nl-NL" sz="2400" dirty="0">
                <a:solidFill>
                  <a:schemeClr val="bg1"/>
                </a:solidFill>
              </a:rPr>
              <a:t> </a:t>
            </a:r>
            <a:r>
              <a:rPr lang="nl-NL" sz="2400" dirty="0" err="1">
                <a:solidFill>
                  <a:schemeClr val="bg1"/>
                </a:solidFill>
              </a:rPr>
              <a:t>seems</a:t>
            </a:r>
            <a:r>
              <a:rPr lang="nl-NL" sz="2400" dirty="0">
                <a:solidFill>
                  <a:schemeClr val="bg1"/>
                </a:solidFill>
              </a:rPr>
              <a:t> immune </a:t>
            </a:r>
            <a:r>
              <a:rPr lang="nl-NL" sz="2400" dirty="0" err="1">
                <a:solidFill>
                  <a:schemeClr val="bg1"/>
                </a:solidFill>
              </a:rPr>
              <a:t>to</a:t>
            </a:r>
            <a:r>
              <a:rPr lang="nl-NL" sz="2400" dirty="0">
                <a:solidFill>
                  <a:schemeClr val="bg1"/>
                </a:solidFill>
              </a:rPr>
              <a:t> shocks</a:t>
            </a:r>
            <a:endParaRPr lang="nl-NL" sz="2400" dirty="0">
              <a:solidFill>
                <a:srgbClr val="FF0000"/>
              </a:solidFill>
            </a:endParaRPr>
          </a:p>
        </p:txBody>
      </p:sp>
      <p:sp>
        <p:nvSpPr>
          <p:cNvPr id="6" name="Content Placeholder 2">
            <a:extLst>
              <a:ext uri="{FF2B5EF4-FFF2-40B4-BE49-F238E27FC236}">
                <a16:creationId xmlns:a16="http://schemas.microsoft.com/office/drawing/2014/main" id="{E5F77E79-9F6B-4517-B974-99DAACE11DF6}"/>
              </a:ext>
            </a:extLst>
          </p:cNvPr>
          <p:cNvSpPr>
            <a:spLocks noGrp="1"/>
          </p:cNvSpPr>
          <p:nvPr>
            <p:ph idx="1"/>
          </p:nvPr>
        </p:nvSpPr>
        <p:spPr>
          <a:xfrm>
            <a:off x="128015" y="1111359"/>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Strong upward trend in semiconductor market not derailed by global shocks</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Does this mean that economies more exposed to ICT-tech (AI) are also more resilient to shocks?</a:t>
            </a:r>
          </a:p>
          <a:p>
            <a:pPr>
              <a:lnSpc>
                <a:spcPct val="120000"/>
              </a:lnSpc>
              <a:spcAft>
                <a:spcPts val="1200"/>
              </a:spcAft>
            </a:pPr>
            <a:endParaRPr lang="nl-NL" sz="1600" dirty="0">
              <a:solidFill>
                <a:schemeClr val="accent1">
                  <a:lumMod val="50000"/>
                </a:schemeClr>
              </a:solidFill>
            </a:endParaRPr>
          </a:p>
        </p:txBody>
      </p:sp>
      <p:pic>
        <p:nvPicPr>
          <p:cNvPr id="5" name="Picture 4">
            <a:extLst>
              <a:ext uri="{FF2B5EF4-FFF2-40B4-BE49-F238E27FC236}">
                <a16:creationId xmlns:a16="http://schemas.microsoft.com/office/drawing/2014/main" id="{8C31B433-F3FC-898E-A2C4-1A7649456F35}"/>
              </a:ext>
            </a:extLst>
          </p:cNvPr>
          <p:cNvPicPr>
            <a:picLocks noChangeAspect="1"/>
          </p:cNvPicPr>
          <p:nvPr/>
        </p:nvPicPr>
        <p:blipFill>
          <a:blip r:embed="rId3"/>
          <a:stretch>
            <a:fillRect/>
          </a:stretch>
        </p:blipFill>
        <p:spPr>
          <a:xfrm>
            <a:off x="3493008" y="1522669"/>
            <a:ext cx="5650992" cy="3897624"/>
          </a:xfrm>
          <a:prstGeom prst="rect">
            <a:avLst/>
          </a:prstGeom>
        </p:spPr>
      </p:pic>
      <p:sp>
        <p:nvSpPr>
          <p:cNvPr id="8" name="Tekstvak 3">
            <a:extLst>
              <a:ext uri="{FF2B5EF4-FFF2-40B4-BE49-F238E27FC236}">
                <a16:creationId xmlns:a16="http://schemas.microsoft.com/office/drawing/2014/main" id="{545BE5F7-F057-18CF-DA77-201D8BAEDAF2}"/>
              </a:ext>
            </a:extLst>
          </p:cNvPr>
          <p:cNvSpPr txBox="1"/>
          <p:nvPr/>
        </p:nvSpPr>
        <p:spPr>
          <a:xfrm>
            <a:off x="3767327" y="5639616"/>
            <a:ext cx="5376673" cy="1015663"/>
          </a:xfrm>
          <a:prstGeom prst="rect">
            <a:avLst/>
          </a:prstGeom>
          <a:noFill/>
        </p:spPr>
        <p:txBody>
          <a:bodyPr wrap="square" rtlCol="0">
            <a:spAutoFit/>
          </a:bodyPr>
          <a:lstStyle/>
          <a:p>
            <a:pPr>
              <a:defRPr/>
            </a:pPr>
            <a:r>
              <a:rPr lang="nl-NL" sz="1200" dirty="0">
                <a:solidFill>
                  <a:srgbClr val="002060"/>
                </a:solidFill>
              </a:rPr>
              <a:t>Semiconductor stock index (SOX), </a:t>
            </a:r>
            <a:r>
              <a:rPr lang="nl-NL" sz="1200" dirty="0" err="1">
                <a:solidFill>
                  <a:srgbClr val="002060"/>
                </a:solidFill>
              </a:rPr>
              <a:t>controlled</a:t>
            </a:r>
            <a:r>
              <a:rPr lang="nl-NL" sz="1200" dirty="0">
                <a:solidFill>
                  <a:srgbClr val="002060"/>
                </a:solidFill>
              </a:rPr>
              <a:t> </a:t>
            </a:r>
            <a:r>
              <a:rPr lang="nl-NL" sz="1200" dirty="0" err="1">
                <a:solidFill>
                  <a:srgbClr val="002060"/>
                </a:solidFill>
              </a:rPr>
              <a:t>for</a:t>
            </a:r>
            <a:r>
              <a:rPr lang="nl-NL" sz="1200" dirty="0">
                <a:solidFill>
                  <a:srgbClr val="002060"/>
                </a:solidFill>
              </a:rPr>
              <a:t> </a:t>
            </a:r>
            <a:r>
              <a:rPr lang="nl-NL" sz="1200" dirty="0" err="1">
                <a:solidFill>
                  <a:srgbClr val="002060"/>
                </a:solidFill>
              </a:rPr>
              <a:t>by</a:t>
            </a:r>
            <a:r>
              <a:rPr lang="nl-NL" sz="1200" dirty="0">
                <a:solidFill>
                  <a:srgbClr val="002060"/>
                </a:solidFill>
              </a:rPr>
              <a:t> </a:t>
            </a:r>
            <a:r>
              <a:rPr lang="nl-NL" sz="1200" dirty="0" err="1">
                <a:solidFill>
                  <a:srgbClr val="002060"/>
                </a:solidFill>
              </a:rPr>
              <a:t>broad</a:t>
            </a:r>
            <a:r>
              <a:rPr lang="nl-NL" sz="1200" dirty="0">
                <a:solidFill>
                  <a:srgbClr val="002060"/>
                </a:solidFill>
              </a:rPr>
              <a:t> traditional stock index (STOXX Europe 600). Global </a:t>
            </a:r>
            <a:r>
              <a:rPr lang="nl-NL" sz="1200" dirty="0" err="1">
                <a:solidFill>
                  <a:srgbClr val="002060"/>
                </a:solidFill>
              </a:rPr>
              <a:t>uncertainty</a:t>
            </a:r>
            <a:r>
              <a:rPr lang="nl-NL" sz="1200" dirty="0">
                <a:solidFill>
                  <a:srgbClr val="002060"/>
                </a:solidFill>
              </a:rPr>
              <a:t> </a:t>
            </a:r>
            <a:r>
              <a:rPr lang="nl-NL" sz="1200">
                <a:solidFill>
                  <a:srgbClr val="002060"/>
                </a:solidFill>
              </a:rPr>
              <a:t>is first </a:t>
            </a:r>
            <a:r>
              <a:rPr lang="nl-NL" sz="1200" dirty="0" err="1">
                <a:solidFill>
                  <a:srgbClr val="002060"/>
                </a:solidFill>
              </a:rPr>
              <a:t>principal</a:t>
            </a:r>
            <a:r>
              <a:rPr lang="nl-NL" sz="1200" dirty="0">
                <a:solidFill>
                  <a:srgbClr val="002060"/>
                </a:solidFill>
              </a:rPr>
              <a:t> component of EPU, GPR, VIX (</a:t>
            </a:r>
            <a:r>
              <a:rPr lang="nl-NL" sz="1200" dirty="0" err="1">
                <a:solidFill>
                  <a:srgbClr val="002060"/>
                </a:solidFill>
              </a:rPr>
              <a:t>standardised</a:t>
            </a:r>
            <a:r>
              <a:rPr lang="nl-NL" sz="1200" dirty="0">
                <a:solidFill>
                  <a:srgbClr val="002060"/>
                </a:solidFill>
              </a:rPr>
              <a:t>).</a:t>
            </a:r>
          </a:p>
          <a:p>
            <a:pPr>
              <a:defRPr/>
            </a:pPr>
            <a:endParaRPr lang="nl-NL" sz="1200" dirty="0">
              <a:solidFill>
                <a:srgbClr val="002060"/>
              </a:solidFill>
              <a:hlinkClick r:id="rId4" action="ppaction://hlinksldjump"/>
            </a:endParaRPr>
          </a:p>
          <a:p>
            <a:pPr>
              <a:defRPr/>
            </a:pPr>
            <a:r>
              <a:rPr lang="nl-NL" sz="1200" dirty="0">
                <a:solidFill>
                  <a:srgbClr val="002060"/>
                </a:solidFill>
                <a:hlinkClick r:id="rId4" action="ppaction://hlinksldjump"/>
              </a:rPr>
              <a:t>Link</a:t>
            </a:r>
            <a:r>
              <a:rPr lang="nl-NL" sz="1200" dirty="0">
                <a:solidFill>
                  <a:srgbClr val="002060"/>
                </a:solidFill>
              </a:rPr>
              <a:t> </a:t>
            </a:r>
            <a:r>
              <a:rPr lang="nl-NL" sz="1200" dirty="0" err="1">
                <a:solidFill>
                  <a:srgbClr val="002060"/>
                </a:solidFill>
              </a:rPr>
              <a:t>to</a:t>
            </a:r>
            <a:r>
              <a:rPr lang="nl-NL" sz="1200" dirty="0">
                <a:solidFill>
                  <a:srgbClr val="002060"/>
                </a:solidFill>
              </a:rPr>
              <a:t> short-term </a:t>
            </a:r>
            <a:r>
              <a:rPr lang="nl-NL" sz="1200" dirty="0" err="1">
                <a:solidFill>
                  <a:srgbClr val="002060"/>
                </a:solidFill>
              </a:rPr>
              <a:t>cycle</a:t>
            </a:r>
            <a:endParaRPr lang="nl-NL" sz="1200" dirty="0">
              <a:solidFill>
                <a:srgbClr val="002060"/>
              </a:solidFill>
            </a:endParaRPr>
          </a:p>
        </p:txBody>
      </p:sp>
    </p:spTree>
    <p:extLst>
      <p:ext uri="{BB962C8B-B14F-4D97-AF65-F5344CB8AC3E}">
        <p14:creationId xmlns:p14="http://schemas.microsoft.com/office/powerpoint/2010/main" val="1203207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CE812-DB4E-6877-6B4B-63CFA22DC17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BC7CDFAD-06A8-46EF-4776-25D11166D76F}"/>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Empirical approach</a:t>
            </a:r>
          </a:p>
        </p:txBody>
      </p:sp>
      <p:sp>
        <p:nvSpPr>
          <p:cNvPr id="2" name="Content Placeholder 2">
            <a:extLst>
              <a:ext uri="{FF2B5EF4-FFF2-40B4-BE49-F238E27FC236}">
                <a16:creationId xmlns:a16="http://schemas.microsoft.com/office/drawing/2014/main" id="{7415D86D-5542-3552-758F-1923FC3E3C99}"/>
              </a:ext>
            </a:extLst>
          </p:cNvPr>
          <p:cNvSpPr>
            <a:spLocks noGrp="1"/>
          </p:cNvSpPr>
          <p:nvPr>
            <p:ph idx="1"/>
          </p:nvPr>
        </p:nvSpPr>
        <p:spPr>
          <a:xfrm>
            <a:off x="438653" y="803135"/>
            <a:ext cx="7781804"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GDP growth surprises linked to ICT/AI-related activity</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Data for 10 euro area countries, 2011-2025</a:t>
            </a:r>
          </a:p>
          <a:p>
            <a:pPr marL="342900" indent="-34290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Eur Com bi-annual forecast vintages</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Unconditional bivariate tests</a:t>
            </a: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regression models (linear and non-linear)</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165802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1"/>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AI-related exposure</a:t>
            </a:r>
          </a:p>
        </p:txBody>
      </p:sp>
      <p:sp>
        <p:nvSpPr>
          <p:cNvPr id="2" name="Content Placeholder 2">
            <a:extLst>
              <a:ext uri="{FF2B5EF4-FFF2-40B4-BE49-F238E27FC236}">
                <a16:creationId xmlns:a16="http://schemas.microsoft.com/office/drawing/2014/main" id="{8F3D8D65-3E89-7468-E586-D814DD2BD102}"/>
              </a:ext>
            </a:extLst>
          </p:cNvPr>
          <p:cNvSpPr>
            <a:spLocks noGrp="1"/>
          </p:cNvSpPr>
          <p:nvPr>
            <p:ph idx="1"/>
          </p:nvPr>
        </p:nvSpPr>
        <p:spPr>
          <a:xfrm>
            <a:off x="287906" y="775703"/>
            <a:ext cx="8746366" cy="5679439"/>
          </a:xfrm>
        </p:spPr>
        <p:txBody>
          <a:bodyPr>
            <a:normAutofit/>
          </a:bodyPr>
          <a:lstStyle/>
          <a:p>
            <a:pPr>
              <a:lnSpc>
                <a:spcPct val="120000"/>
              </a:lnSpc>
              <a:spcAft>
                <a:spcPts val="1200"/>
              </a:spcAft>
            </a:pPr>
            <a:r>
              <a:rPr lang="en-US" sz="2000" noProof="1">
                <a:latin typeface="Verdana" panose="020B0604030504040204" pitchFamily="34" charset="0"/>
                <a:ea typeface="Verdana" panose="020B0604030504040204" pitchFamily="34" charset="0"/>
              </a:rPr>
              <a:t>Investment channel</a:t>
            </a:r>
            <a:endParaRPr lang="nl-NL" sz="2000" noProof="1">
              <a:latin typeface="Verdana" panose="020B0604030504040204" pitchFamily="34" charset="0"/>
              <a:ea typeface="Verdana" panose="020B0604030504040204" pitchFamily="34" charset="0"/>
            </a:endParaRP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ICT/AI-investment can improve shock resilience by enhancing firms’ flexibility, information processing and supply chain management </a:t>
            </a:r>
            <a:r>
              <a:rPr lang="en-US" sz="1800" noProof="1">
                <a:latin typeface="Verdana" panose="020B0604030504040204" pitchFamily="34" charset="0"/>
                <a:ea typeface="Verdana" panose="020B0604030504040204" pitchFamily="34" charset="0"/>
              </a:rPr>
              <a:t>(Moujahid et al., 2025)</a:t>
            </a: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rPr>
              <a:t>digital </a:t>
            </a:r>
            <a:r>
              <a:rPr lang="nl-NL" sz="2000" noProof="1">
                <a:latin typeface="Verdana" panose="020B0604030504040204" pitchFamily="34" charset="0"/>
                <a:ea typeface="Verdana" panose="020B0604030504040204" pitchFamily="34" charset="0"/>
                <a:hlinkClick r:id="rId3" action="ppaction://hlinksldjump"/>
              </a:rPr>
              <a:t>investm</a:t>
            </a:r>
            <a:r>
              <a:rPr lang="nl-NL" sz="2000" noProof="1">
                <a:latin typeface="Verdana" panose="020B0604030504040204" pitchFamily="34" charset="0"/>
                <a:ea typeface="Verdana" panose="020B0604030504040204" pitchFamily="34" charset="0"/>
              </a:rPr>
              <a:t> by corporations, equity investm in AI firms</a:t>
            </a: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en-US" sz="2000" noProof="1">
                <a:latin typeface="Verdana" panose="020B0604030504040204" pitchFamily="34" charset="0"/>
                <a:ea typeface="Verdana" panose="020B0604030504040204" pitchFamily="34" charset="0"/>
              </a:rPr>
              <a:t>T</a:t>
            </a:r>
            <a:r>
              <a:rPr lang="nl-NL" sz="2000" noProof="1">
                <a:latin typeface="Verdana" panose="020B0604030504040204" pitchFamily="34" charset="0"/>
                <a:ea typeface="Verdana" panose="020B0604030504040204" pitchFamily="34" charset="0"/>
              </a:rPr>
              <a:t>rade and stock market channels</a:t>
            </a: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Exposure to global semiconductor cycle comes with positive trade effects from AI-related global activity </a:t>
            </a:r>
            <a:r>
              <a:rPr lang="en-US" sz="1800" noProof="1">
                <a:latin typeface="Verdana" panose="020B0604030504040204" pitchFamily="34" charset="0"/>
                <a:ea typeface="Verdana" panose="020B0604030504040204" pitchFamily="34" charset="0"/>
              </a:rPr>
              <a:t>(ECB, 2026)</a:t>
            </a:r>
            <a:endParaRPr lang="nl-NL" sz="1800" noProof="1">
              <a:latin typeface="Verdana" panose="020B0604030504040204" pitchFamily="34" charset="0"/>
              <a:ea typeface="Verdana" panose="020B0604030504040204" pitchFamily="34" charset="0"/>
            </a:endParaRP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hlinkClick r:id="rId4" action="ppaction://hlinksldjump"/>
              </a:rPr>
              <a:t>exports</a:t>
            </a:r>
            <a:r>
              <a:rPr lang="nl-NL" sz="2000" noProof="1">
                <a:latin typeface="Verdana" panose="020B0604030504040204" pitchFamily="34" charset="0"/>
                <a:ea typeface="Verdana" panose="020B0604030504040204" pitchFamily="34" charset="0"/>
              </a:rPr>
              <a:t> ICT/AI-related products, correlation with SOX index</a:t>
            </a:r>
            <a:endParaRPr lang="en-US" sz="2000" noProof="1">
              <a:latin typeface="Verdana" panose="020B0604030504040204" pitchFamily="34" charset="0"/>
              <a:ea typeface="Verdana" panose="020B0604030504040204" pitchFamily="34" charset="0"/>
            </a:endParaRP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nl-NL" sz="2000" noProof="1">
                <a:latin typeface="Verdana" panose="020B0604030504040204" pitchFamily="34" charset="0"/>
                <a:ea typeface="Verdana" panose="020B0604030504040204" pitchFamily="34" charset="0"/>
              </a:rPr>
              <a:t>Channels could capture structural and/or cyclical relations (underlying economic changes, or exposure to another cycle/factor)</a:t>
            </a:r>
          </a:p>
        </p:txBody>
      </p:sp>
    </p:spTree>
    <p:extLst>
      <p:ext uri="{BB962C8B-B14F-4D97-AF65-F5344CB8AC3E}">
        <p14:creationId xmlns:p14="http://schemas.microsoft.com/office/powerpoint/2010/main" val="35886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A08D8-0F6C-FBDD-656B-B2A73E65BF5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7A485C-F246-D226-E4A1-7AA88455D07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Shock </a:t>
            </a:r>
            <a:r>
              <a:rPr lang="nl-NL" sz="2400" dirty="0" err="1">
                <a:solidFill>
                  <a:schemeClr val="bg1"/>
                </a:solidFill>
              </a:rPr>
              <a:t>resilience</a:t>
            </a:r>
            <a:endParaRPr lang="nl-NL" sz="2400" dirty="0">
              <a:solidFill>
                <a:srgbClr val="FF0000"/>
              </a:solidFill>
            </a:endParaRPr>
          </a:p>
        </p:txBody>
      </p:sp>
      <p:sp>
        <p:nvSpPr>
          <p:cNvPr id="6" name="Content Placeholder 2">
            <a:extLst>
              <a:ext uri="{FF2B5EF4-FFF2-40B4-BE49-F238E27FC236}">
                <a16:creationId xmlns:a16="http://schemas.microsoft.com/office/drawing/2014/main" id="{4B7D4710-9ED0-97A7-CD0B-BD25DA4B7AA9}"/>
              </a:ext>
            </a:extLst>
          </p:cNvPr>
          <p:cNvSpPr>
            <a:spLocks noGrp="1"/>
          </p:cNvSpPr>
          <p:nvPr>
            <p:ph idx="1"/>
          </p:nvPr>
        </p:nvSpPr>
        <p:spPr>
          <a:xfrm>
            <a:off x="219455" y="1321671"/>
            <a:ext cx="2962657" cy="4989922"/>
          </a:xfrm>
        </p:spPr>
        <p:txBody>
          <a:bodyPr>
            <a:normAutofit lnSpcReduction="10000"/>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Resilience </a:t>
            </a:r>
            <a:r>
              <a:rPr lang="en-US" sz="2000" noProof="1">
                <a:latin typeface="Arial" panose="020B0604020202020204" pitchFamily="34" charset="0"/>
                <a:ea typeface="Verdana" panose="020B0604030504040204" pitchFamily="34" charset="0"/>
                <a:cs typeface="Arial" panose="020B0604020202020204" pitchFamily="34" charset="0"/>
              </a:rPr>
              <a:t>→</a:t>
            </a:r>
            <a:r>
              <a:rPr lang="en-US" sz="2000" noProof="1">
                <a:latin typeface="Verdana" panose="020B0604030504040204" pitchFamily="34" charset="0"/>
                <a:ea typeface="Verdana" panose="020B0604030504040204" pitchFamily="34" charset="0"/>
              </a:rPr>
              <a:t> tendency of economy to bounce back from negative shocks </a:t>
            </a:r>
            <a:r>
              <a:rPr lang="en-US" sz="1800" noProof="1">
                <a:latin typeface="Verdana" panose="020B0604030504040204" pitchFamily="34" charset="0"/>
                <a:ea typeface="Verdana" panose="020B0604030504040204" pitchFamily="34" charset="0"/>
              </a:rPr>
              <a:t>(Eichengreen et al., 2024) </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Proxied by positive GDP growth surprises </a:t>
            </a:r>
            <a:r>
              <a:rPr lang="en-US" sz="1800" noProof="1">
                <a:latin typeface="Verdana" panose="020B0604030504040204" pitchFamily="34" charset="0"/>
                <a:ea typeface="Verdana" panose="020B0604030504040204" pitchFamily="34" charset="0"/>
              </a:rPr>
              <a:t>(based on EC bi-annual forecasts 2011-25, 10 EA countries)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233DCD29-1BC1-E6E9-61D7-A3B8C24AFEC7}"/>
              </a:ext>
            </a:extLst>
          </p:cNvPr>
          <p:cNvSpPr txBox="1"/>
          <p:nvPr/>
        </p:nvSpPr>
        <p:spPr>
          <a:xfrm>
            <a:off x="3982421" y="5677421"/>
            <a:ext cx="4942124" cy="1015663"/>
          </a:xfrm>
          <a:prstGeom prst="rect">
            <a:avLst/>
          </a:prstGeom>
          <a:noFill/>
        </p:spPr>
        <p:txBody>
          <a:bodyPr wrap="square" rtlCol="0">
            <a:spAutoFit/>
          </a:bodyPr>
          <a:lstStyle/>
          <a:p>
            <a:pPr>
              <a:defRPr/>
            </a:pPr>
            <a:r>
              <a:rPr lang="nl-NL" sz="1200" noProof="1">
                <a:solidFill>
                  <a:srgbClr val="002060"/>
                </a:solidFill>
              </a:rPr>
              <a:t>Based on European Commission Spring and Autumn forecasts of GDP growth. Surprise = realised GDP growth minus forecast (all years 2011-2025, 548 obs and shock years 2020, 2022, 2025 (selection based on peaks in global uncertainty index, 120 obs).</a:t>
            </a:r>
          </a:p>
        </p:txBody>
      </p:sp>
      <p:pic>
        <p:nvPicPr>
          <p:cNvPr id="3" name="Picture 2">
            <a:extLst>
              <a:ext uri="{FF2B5EF4-FFF2-40B4-BE49-F238E27FC236}">
                <a16:creationId xmlns:a16="http://schemas.microsoft.com/office/drawing/2014/main" id="{1294A734-3F15-AF48-C076-C8D21D213F67}"/>
              </a:ext>
            </a:extLst>
          </p:cNvPr>
          <p:cNvPicPr>
            <a:picLocks noChangeAspect="1"/>
          </p:cNvPicPr>
          <p:nvPr/>
        </p:nvPicPr>
        <p:blipFill>
          <a:blip r:embed="rId3"/>
          <a:stretch>
            <a:fillRect/>
          </a:stretch>
        </p:blipFill>
        <p:spPr>
          <a:xfrm>
            <a:off x="3596639" y="2122170"/>
            <a:ext cx="5112813" cy="3254502"/>
          </a:xfrm>
          <a:prstGeom prst="rect">
            <a:avLst/>
          </a:prstGeom>
        </p:spPr>
      </p:pic>
      <p:sp>
        <p:nvSpPr>
          <p:cNvPr id="5" name="Tekstvak 3">
            <a:extLst>
              <a:ext uri="{FF2B5EF4-FFF2-40B4-BE49-F238E27FC236}">
                <a16:creationId xmlns:a16="http://schemas.microsoft.com/office/drawing/2014/main" id="{D0123357-EEBB-CDB1-0C16-42033D94D66A}"/>
              </a:ext>
            </a:extLst>
          </p:cNvPr>
          <p:cNvSpPr txBox="1"/>
          <p:nvPr/>
        </p:nvSpPr>
        <p:spPr>
          <a:xfrm>
            <a:off x="3986782" y="1482867"/>
            <a:ext cx="5157218" cy="338554"/>
          </a:xfrm>
          <a:prstGeom prst="rect">
            <a:avLst/>
          </a:prstGeom>
          <a:noFill/>
        </p:spPr>
        <p:txBody>
          <a:bodyPr wrap="square" rtlCol="0">
            <a:spAutoFit/>
          </a:bodyPr>
          <a:lstStyle/>
          <a:p>
            <a:pPr>
              <a:defRPr/>
            </a:pPr>
            <a:r>
              <a:rPr lang="nl-NL" sz="1600" noProof="1">
                <a:solidFill>
                  <a:srgbClr val="002060"/>
                </a:solidFill>
              </a:rPr>
              <a:t>Positive growth surprises </a:t>
            </a:r>
            <a:r>
              <a:rPr lang="nl-NL" sz="1600" dirty="0">
                <a:solidFill>
                  <a:srgbClr val="002060"/>
                </a:solidFill>
              </a:rPr>
              <a:t>(% of EC forecasts)</a:t>
            </a:r>
          </a:p>
        </p:txBody>
      </p:sp>
    </p:spTree>
    <p:extLst>
      <p:ext uri="{BB962C8B-B14F-4D97-AF65-F5344CB8AC3E}">
        <p14:creationId xmlns:p14="http://schemas.microsoft.com/office/powerpoint/2010/main" val="41294207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2ECBB-8EBB-9B82-F87E-88F96C93955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B51448F-E6B0-C8D8-CC16-0AFD8961EF7F}"/>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6" name="Content Placeholder 2">
            <a:extLst>
              <a:ext uri="{FF2B5EF4-FFF2-40B4-BE49-F238E27FC236}">
                <a16:creationId xmlns:a16="http://schemas.microsoft.com/office/drawing/2014/main" id="{613E110F-8AEE-A02C-2032-1F07DE944DEB}"/>
              </a:ext>
            </a:extLst>
          </p:cNvPr>
          <p:cNvSpPr>
            <a:spLocks noGrp="1"/>
          </p:cNvSpPr>
          <p:nvPr>
            <p:ph idx="1"/>
          </p:nvPr>
        </p:nvSpPr>
        <p:spPr>
          <a:xfrm>
            <a:off x="358000" y="1098631"/>
            <a:ext cx="3253879" cy="4989922"/>
          </a:xfrm>
        </p:spPr>
        <p:txBody>
          <a:bodyPr>
            <a:no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High ICT/AI-investm associated with more positive growth surprises …</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 advantage not significant in shock years</a:t>
            </a:r>
          </a:p>
          <a:p>
            <a:pPr marL="285750" indent="-285750">
              <a:lnSpc>
                <a:spcPct val="120000"/>
              </a:lnSpc>
              <a:spcAft>
                <a:spcPts val="1200"/>
              </a:spcAft>
              <a:buFont typeface="Arial" panose="020B0604020202020204" pitchFamily="34" charset="0"/>
              <a:buChar char="•"/>
            </a:pPr>
            <a:endParaRPr lang="en-US" sz="18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nl-NL" sz="1800" dirty="0"/>
              <a:t>Low </a:t>
            </a:r>
            <a:r>
              <a:rPr lang="nl-NL" sz="1800" dirty="0" err="1"/>
              <a:t>equity</a:t>
            </a:r>
            <a:r>
              <a:rPr lang="nl-NL" sz="1800" dirty="0"/>
              <a:t> AI </a:t>
            </a:r>
            <a:r>
              <a:rPr lang="nl-NL" sz="1800" dirty="0" err="1"/>
              <a:t>invest</a:t>
            </a:r>
            <a:r>
              <a:rPr lang="nl-NL" sz="1800" dirty="0"/>
              <a:t> </a:t>
            </a:r>
            <a:r>
              <a:rPr lang="en-US" sz="1800" dirty="0"/>
              <a:t>seems to be a relative advantage in shock years (less sensitivity to shocks)</a:t>
            </a:r>
            <a:endParaRPr lang="nl-NL" sz="1800" dirty="0"/>
          </a:p>
        </p:txBody>
      </p:sp>
      <p:sp>
        <p:nvSpPr>
          <p:cNvPr id="5" name="Tekstvak 3">
            <a:extLst>
              <a:ext uri="{FF2B5EF4-FFF2-40B4-BE49-F238E27FC236}">
                <a16:creationId xmlns:a16="http://schemas.microsoft.com/office/drawing/2014/main" id="{0EEE5C01-F407-B286-8291-7A84B3BBB14E}"/>
              </a:ext>
            </a:extLst>
          </p:cNvPr>
          <p:cNvSpPr txBox="1"/>
          <p:nvPr/>
        </p:nvSpPr>
        <p:spPr>
          <a:xfrm>
            <a:off x="4701404" y="636934"/>
            <a:ext cx="3985397" cy="584775"/>
          </a:xfrm>
          <a:prstGeom prst="rect">
            <a:avLst/>
          </a:prstGeom>
          <a:noFill/>
        </p:spPr>
        <p:txBody>
          <a:bodyPr wrap="square" rtlCol="0">
            <a:spAutoFit/>
          </a:bodyPr>
          <a:lstStyle/>
          <a:p>
            <a:pPr>
              <a:defRPr/>
            </a:pPr>
            <a:r>
              <a:rPr lang="nl-NL" sz="1600" noProof="1">
                <a:solidFill>
                  <a:srgbClr val="002060"/>
                </a:solidFill>
              </a:rPr>
              <a:t>Influence of AI-related investment on positive growth surprises</a:t>
            </a:r>
          </a:p>
        </p:txBody>
      </p:sp>
      <p:sp>
        <p:nvSpPr>
          <p:cNvPr id="13" name="Tekstvak 3">
            <a:extLst>
              <a:ext uri="{FF2B5EF4-FFF2-40B4-BE49-F238E27FC236}">
                <a16:creationId xmlns:a16="http://schemas.microsoft.com/office/drawing/2014/main" id="{C8DC46B8-5E08-30F3-1EE3-CB90635026CE}"/>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the time-varying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pic>
        <p:nvPicPr>
          <p:cNvPr id="3" name="Picture 2">
            <a:extLst>
              <a:ext uri="{FF2B5EF4-FFF2-40B4-BE49-F238E27FC236}">
                <a16:creationId xmlns:a16="http://schemas.microsoft.com/office/drawing/2014/main" id="{B68D3A0C-D014-485F-5A02-9F50BA67BD89}"/>
              </a:ext>
            </a:extLst>
          </p:cNvPr>
          <p:cNvPicPr>
            <a:picLocks noChangeAspect="1"/>
          </p:cNvPicPr>
          <p:nvPr/>
        </p:nvPicPr>
        <p:blipFill>
          <a:blip r:embed="rId3"/>
          <a:stretch>
            <a:fillRect/>
          </a:stretch>
        </p:blipFill>
        <p:spPr>
          <a:xfrm>
            <a:off x="4686994" y="1232345"/>
            <a:ext cx="3962400" cy="2169223"/>
          </a:xfrm>
          <a:prstGeom prst="rect">
            <a:avLst/>
          </a:prstGeom>
        </p:spPr>
      </p:pic>
      <p:pic>
        <p:nvPicPr>
          <p:cNvPr id="4" name="Picture 3">
            <a:extLst>
              <a:ext uri="{FF2B5EF4-FFF2-40B4-BE49-F238E27FC236}">
                <a16:creationId xmlns:a16="http://schemas.microsoft.com/office/drawing/2014/main" id="{AFFB3634-5B82-136E-F947-D33F3E34AD6C}"/>
              </a:ext>
            </a:extLst>
          </p:cNvPr>
          <p:cNvPicPr>
            <a:picLocks noChangeAspect="1"/>
          </p:cNvPicPr>
          <p:nvPr/>
        </p:nvPicPr>
        <p:blipFill>
          <a:blip r:embed="rId4"/>
          <a:stretch>
            <a:fillRect/>
          </a:stretch>
        </p:blipFill>
        <p:spPr>
          <a:xfrm>
            <a:off x="4686994" y="3401568"/>
            <a:ext cx="3962400" cy="2179859"/>
          </a:xfrm>
          <a:prstGeom prst="rect">
            <a:avLst/>
          </a:prstGeom>
        </p:spPr>
      </p:pic>
    </p:spTree>
    <p:extLst>
      <p:ext uri="{BB962C8B-B14F-4D97-AF65-F5344CB8AC3E}">
        <p14:creationId xmlns:p14="http://schemas.microsoft.com/office/powerpoint/2010/main" val="2428101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24241-2444-F196-D04C-6270141B1B7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0D1D165-50E0-8F1E-E2D5-7D57D4E9228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6" name="Content Placeholder 2">
            <a:extLst>
              <a:ext uri="{FF2B5EF4-FFF2-40B4-BE49-F238E27FC236}">
                <a16:creationId xmlns:a16="http://schemas.microsoft.com/office/drawing/2014/main" id="{CF9708F7-32AE-5645-3159-CE1174AB0729}"/>
              </a:ext>
            </a:extLst>
          </p:cNvPr>
          <p:cNvSpPr>
            <a:spLocks noGrp="1"/>
          </p:cNvSpPr>
          <p:nvPr>
            <p:ph idx="1"/>
          </p:nvPr>
        </p:nvSpPr>
        <p:spPr>
          <a:xfrm>
            <a:off x="502919" y="956753"/>
            <a:ext cx="3127249" cy="5174492"/>
          </a:xfrm>
        </p:spPr>
        <p:txBody>
          <a:bodyPr>
            <a:normAutofit fontScale="92500" lnSpcReduction="10000"/>
          </a:bodyPr>
          <a:lstStyle/>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More positive growth surprises in shock years for countries with higher tech-exports …</a:t>
            </a: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suggesting ICT/AI global demand is countercyclical and/or accelerates in shock years …</a:t>
            </a:r>
          </a:p>
          <a:p>
            <a:pPr marL="285750" indent="-285750">
              <a:lnSpc>
                <a:spcPct val="120000"/>
              </a:lnSpc>
              <a:spcAft>
                <a:spcPts val="1200"/>
              </a:spcAft>
              <a:buFont typeface="Arial" panose="020B0604020202020204" pitchFamily="34" charset="0"/>
              <a:buChar char="•"/>
            </a:pPr>
            <a:endParaRPr lang="en-US" sz="19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which is not the case for stock market exposure; common component may dominate</a:t>
            </a:r>
          </a:p>
          <a:p>
            <a:pPr>
              <a:lnSpc>
                <a:spcPct val="120000"/>
              </a:lnSpc>
              <a:spcAft>
                <a:spcPts val="1200"/>
              </a:spcAft>
            </a:pPr>
            <a:endParaRPr lang="nl-NL" sz="1800" dirty="0">
              <a:solidFill>
                <a:schemeClr val="accent1">
                  <a:lumMod val="50000"/>
                </a:schemeClr>
              </a:solidFill>
            </a:endParaRPr>
          </a:p>
        </p:txBody>
      </p:sp>
      <p:sp>
        <p:nvSpPr>
          <p:cNvPr id="8" name="Tekstvak 3">
            <a:extLst>
              <a:ext uri="{FF2B5EF4-FFF2-40B4-BE49-F238E27FC236}">
                <a16:creationId xmlns:a16="http://schemas.microsoft.com/office/drawing/2014/main" id="{AEE2C5DE-2B6A-1A21-C169-797AC72B8FC2}"/>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the time-varying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sp>
        <p:nvSpPr>
          <p:cNvPr id="5" name="Tekstvak 3">
            <a:extLst>
              <a:ext uri="{FF2B5EF4-FFF2-40B4-BE49-F238E27FC236}">
                <a16:creationId xmlns:a16="http://schemas.microsoft.com/office/drawing/2014/main" id="{64CF75E5-0A93-A50A-135C-BD487E25C478}"/>
              </a:ext>
            </a:extLst>
          </p:cNvPr>
          <p:cNvSpPr txBox="1"/>
          <p:nvPr/>
        </p:nvSpPr>
        <p:spPr>
          <a:xfrm>
            <a:off x="4673972" y="646078"/>
            <a:ext cx="3985397" cy="584775"/>
          </a:xfrm>
          <a:prstGeom prst="rect">
            <a:avLst/>
          </a:prstGeom>
          <a:noFill/>
        </p:spPr>
        <p:txBody>
          <a:bodyPr wrap="square" rtlCol="0">
            <a:spAutoFit/>
          </a:bodyPr>
          <a:lstStyle/>
          <a:p>
            <a:pPr>
              <a:defRPr/>
            </a:pPr>
            <a:r>
              <a:rPr lang="nl-NL" sz="1600" noProof="1">
                <a:solidFill>
                  <a:srgbClr val="002060"/>
                </a:solidFill>
              </a:rPr>
              <a:t>Influence of AI-related trade and stock market exposure</a:t>
            </a:r>
          </a:p>
        </p:txBody>
      </p:sp>
      <p:pic>
        <p:nvPicPr>
          <p:cNvPr id="3" name="Picture 2">
            <a:extLst>
              <a:ext uri="{FF2B5EF4-FFF2-40B4-BE49-F238E27FC236}">
                <a16:creationId xmlns:a16="http://schemas.microsoft.com/office/drawing/2014/main" id="{E4247869-22B3-74B1-C2DC-BC2BF3DF0889}"/>
              </a:ext>
            </a:extLst>
          </p:cNvPr>
          <p:cNvPicPr>
            <a:picLocks noChangeAspect="1"/>
          </p:cNvPicPr>
          <p:nvPr/>
        </p:nvPicPr>
        <p:blipFill>
          <a:blip r:embed="rId3"/>
          <a:stretch>
            <a:fillRect/>
          </a:stretch>
        </p:blipFill>
        <p:spPr>
          <a:xfrm>
            <a:off x="4696969" y="1319147"/>
            <a:ext cx="3962400" cy="2161571"/>
          </a:xfrm>
          <a:prstGeom prst="rect">
            <a:avLst/>
          </a:prstGeom>
        </p:spPr>
      </p:pic>
      <p:pic>
        <p:nvPicPr>
          <p:cNvPr id="4" name="Picture 3">
            <a:extLst>
              <a:ext uri="{FF2B5EF4-FFF2-40B4-BE49-F238E27FC236}">
                <a16:creationId xmlns:a16="http://schemas.microsoft.com/office/drawing/2014/main" id="{0231C4B6-AE28-A975-F5EB-43D3FA1E2ADA}"/>
              </a:ext>
            </a:extLst>
          </p:cNvPr>
          <p:cNvPicPr>
            <a:picLocks noChangeAspect="1"/>
          </p:cNvPicPr>
          <p:nvPr/>
        </p:nvPicPr>
        <p:blipFill>
          <a:blip r:embed="rId4"/>
          <a:stretch>
            <a:fillRect/>
          </a:stretch>
        </p:blipFill>
        <p:spPr>
          <a:xfrm>
            <a:off x="4696969" y="3429000"/>
            <a:ext cx="3962400" cy="2128141"/>
          </a:xfrm>
          <a:prstGeom prst="rect">
            <a:avLst/>
          </a:prstGeom>
        </p:spPr>
      </p:pic>
    </p:spTree>
    <p:extLst>
      <p:ext uri="{BB962C8B-B14F-4D97-AF65-F5344CB8AC3E}">
        <p14:creationId xmlns:p14="http://schemas.microsoft.com/office/powerpoint/2010/main" val="23048463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05F1A-4F52-7C0A-8747-26D5AD94412E}"/>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79E6971-F8C1-CE73-F846-F4CD2F9BE489}"/>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Linear probability models (LPM)</a:t>
            </a:r>
          </a:p>
        </p:txBody>
      </p:sp>
      <mc:AlternateContent xmlns:mc="http://schemas.openxmlformats.org/markup-compatibility/2006" xmlns:a14="http://schemas.microsoft.com/office/drawing/2010/main">
        <mc:Choice Requires="a14">
          <p:sp>
            <p:nvSpPr>
              <p:cNvPr id="2" name="Content Placeholder 2">
                <a:extLst>
                  <a:ext uri="{FF2B5EF4-FFF2-40B4-BE49-F238E27FC236}">
                    <a16:creationId xmlns:a16="http://schemas.microsoft.com/office/drawing/2014/main" id="{6B853D72-57E4-54DF-F916-E87E4C65C99E}"/>
                  </a:ext>
                </a:extLst>
              </p:cNvPr>
              <p:cNvSpPr>
                <a:spLocks noGrp="1"/>
              </p:cNvSpPr>
              <p:nvPr>
                <p:ph idx="1"/>
              </p:nvPr>
            </p:nvSpPr>
            <p:spPr>
              <a:xfrm>
                <a:off x="347472" y="935390"/>
                <a:ext cx="8723376" cy="6087202"/>
              </a:xfrm>
            </p:spPr>
            <p:txBody>
              <a:bodyPr>
                <a:normAutofit lnSpcReduction="10000"/>
              </a:bodyPr>
              <a:lstStyle/>
              <a:p>
                <a:pPr>
                  <a:lnSpc>
                    <a:spcPct val="120000"/>
                  </a:lnSpc>
                  <a:spcAft>
                    <a:spcPts val="300"/>
                  </a:spcAft>
                </a:pPr>
                <a:r>
                  <a:rPr lang="en-GB" sz="2000" noProof="1">
                    <a:latin typeface="Verdana" panose="020B0604030504040204" pitchFamily="34" charset="0"/>
                    <a:ea typeface="Verdana" panose="020B0604030504040204" pitchFamily="34" charset="0"/>
                  </a:rPr>
                  <a:t>1. Average effect (</a:t>
                </a:r>
                <a14:m>
                  <m:oMath xmlns:m="http://schemas.openxmlformats.org/officeDocument/2006/math">
                    <m:r>
                      <a:rPr lang="en-GB" sz="2000" i="1" noProof="1" dirty="0" smtClean="0">
                        <a:latin typeface="Cambria Math" panose="02040503050406030204" pitchFamily="18" charset="0"/>
                        <a:ea typeface="Cambria Math" panose="02040503050406030204" pitchFamily="18" charset="0"/>
                      </a:rPr>
                      <m:t>𝛽</m:t>
                    </m:r>
                  </m:oMath>
                </a14:m>
                <a:r>
                  <a:rPr lang="en-GB" sz="2000" noProof="1">
                    <a:latin typeface="Verdana" panose="020B0604030504040204" pitchFamily="34" charset="0"/>
                    <a:ea typeface="Verdana" panose="020B0604030504040204" pitchFamily="34" charset="0"/>
                  </a:rPr>
                  <a:t>) of ICT/AI in all years</a:t>
                </a:r>
              </a:p>
              <a:p>
                <a:pPr>
                  <a:lnSpc>
                    <a:spcPct val="120000"/>
                  </a:lnSpc>
                  <a:spcAft>
                    <a:spcPts val="300"/>
                  </a:spcAft>
                </a:pPr>
                <a:r>
                  <a:rPr lang="en-GB" sz="1800" noProof="1">
                    <a:latin typeface="Verdana" panose="020B0604030504040204" pitchFamily="34" charset="0"/>
                    <a:ea typeface="Verdana" panose="020B0604030504040204" pitchFamily="34" charset="0"/>
                  </a:rPr>
                  <a:t>	 </a:t>
                </a:r>
                <a14:m>
                  <m:oMath xmlns:m="http://schemas.openxmlformats.org/officeDocument/2006/math">
                    <m:sSub>
                      <m:sSubPr>
                        <m:ctrlPr>
                          <a:rPr lang="en-GB" sz="2200" b="0" i="1" noProof="1" dirty="0" smtClean="0">
                            <a:solidFill>
                              <a:schemeClr val="tx1"/>
                            </a:solidFill>
                            <a:latin typeface="Cambria Math" panose="02040503050406030204" pitchFamily="18" charset="0"/>
                            <a:ea typeface="Verdana" panose="020B0604030504040204" pitchFamily="34" charset="0"/>
                          </a:rPr>
                        </m:ctrlPr>
                      </m:sSubPr>
                      <m:e>
                        <m:r>
                          <a:rPr lang="en-GB" sz="2200" b="0" i="1" noProof="1" dirty="0" smtClean="0">
                            <a:solidFill>
                              <a:schemeClr val="tx1"/>
                            </a:solidFill>
                            <a:latin typeface="Cambria Math" panose="02040503050406030204" pitchFamily="18" charset="0"/>
                            <a:ea typeface="Verdana" panose="020B0604030504040204" pitchFamily="34" charset="0"/>
                          </a:rPr>
                          <m:t>𝑆</m:t>
                        </m:r>
                      </m:e>
                      <m:sub>
                        <m:r>
                          <a:rPr lang="en-GB" sz="2200" b="0" i="1" noProof="1" dirty="0" smtClean="0">
                            <a:solidFill>
                              <a:schemeClr val="tx1"/>
                            </a:solidFill>
                            <a:latin typeface="Cambria Math" panose="02040503050406030204" pitchFamily="18" charset="0"/>
                            <a:ea typeface="Verdana" panose="020B0604030504040204" pitchFamily="34" charset="0"/>
                          </a:rPr>
                          <m:t>𝑖</m:t>
                        </m:r>
                        <m:r>
                          <a:rPr lang="en-GB" sz="2200" b="0" i="1" noProof="1" dirty="0" smtClean="0">
                            <a:solidFill>
                              <a:schemeClr val="tx1"/>
                            </a:solidFill>
                            <a:latin typeface="Cambria Math" panose="02040503050406030204" pitchFamily="18" charset="0"/>
                            <a:ea typeface="Verdana" panose="020B0604030504040204" pitchFamily="34" charset="0"/>
                          </a:rPr>
                          <m:t>,</m:t>
                        </m:r>
                        <m:r>
                          <a:rPr lang="en-GB" sz="2200" b="0" i="1" noProof="1" dirty="0" smtClean="0">
                            <a:solidFill>
                              <a:schemeClr val="tx1"/>
                            </a:solidFill>
                            <a:latin typeface="Cambria Math" panose="02040503050406030204" pitchFamily="18" charset="0"/>
                            <a:ea typeface="Verdana" panose="020B0604030504040204" pitchFamily="34" charset="0"/>
                          </a:rPr>
                          <m:t>𝑡</m:t>
                        </m:r>
                      </m:sub>
                    </m:sSub>
                    <m:r>
                      <a:rPr lang="en-GB" sz="2200" i="1" noProof="1" dirty="0" smtClean="0">
                        <a:solidFill>
                          <a:schemeClr val="tx1"/>
                        </a:solidFill>
                        <a:latin typeface="Cambria Math" panose="02040503050406030204" pitchFamily="18" charset="0"/>
                        <a:ea typeface="Verdana" panose="020B0604030504040204" pitchFamily="34" charset="0"/>
                      </a:rPr>
                      <m:t>=</m:t>
                    </m:r>
                  </m:oMath>
                </a14:m>
                <a:r>
                  <a:rPr lang="en-GB" sz="2200" noProof="1">
                    <a:ea typeface="Verdana" panose="020B0604030504040204" pitchFamily="34"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𝛼</m:t>
                        </m:r>
                      </m:e>
                      <m:sub>
                        <m:r>
                          <a:rPr lang="en-GB" sz="2200" b="0" i="1" noProof="1" dirty="0" smtClean="0">
                            <a:latin typeface="Cambria Math" panose="02040503050406030204" pitchFamily="18" charset="0"/>
                            <a:ea typeface="Verdana" panose="020B0604030504040204" pitchFamily="34" charset="0"/>
                          </a:rPr>
                          <m:t>𝑖</m:t>
                        </m:r>
                      </m:sub>
                    </m:sSub>
                    <m:r>
                      <a:rPr lang="en-GB" sz="2200" b="0" i="1" noProof="1" dirty="0" smtClean="0">
                        <a:latin typeface="Cambria Math" panose="02040503050406030204" pitchFamily="18" charset="0"/>
                        <a:ea typeface="Verdana" panose="020B0604030504040204" pitchFamily="34" charset="0"/>
                      </a:rPr>
                      <m:t>+</m:t>
                    </m:r>
                  </m:oMath>
                </a14:m>
                <a:r>
                  <a:rPr lang="en-GB" sz="2200" noProof="1">
                    <a:ea typeface="Cambria Math" panose="02040503050406030204" pitchFamily="18"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𝜏</m:t>
                        </m:r>
                      </m:e>
                      <m:sub>
                        <m:r>
                          <a:rPr lang="en-GB" sz="2200" b="0" i="1" noProof="1" dirty="0" smtClean="0">
                            <a:latin typeface="Cambria Math" panose="02040503050406030204" pitchFamily="18" charset="0"/>
                            <a:ea typeface="Verdana" panose="020B0604030504040204" pitchFamily="34" charset="0"/>
                          </a:rPr>
                          <m:t>𝑡</m:t>
                        </m:r>
                      </m:sub>
                    </m:sSub>
                    <m:r>
                      <a:rPr lang="en-GB" sz="2200" b="0" i="1" noProof="1" dirty="0" smtClean="0">
                        <a:latin typeface="Cambria Math" panose="02040503050406030204" pitchFamily="18" charset="0"/>
                        <a:ea typeface="Verdana" panose="020B0604030504040204" pitchFamily="34" charset="0"/>
                      </a:rPr>
                      <m:t>+ </m:t>
                    </m:r>
                    <m:r>
                      <a:rPr lang="en-GB" sz="2200" b="0" i="1" noProof="1" dirty="0" smtClean="0">
                        <a:latin typeface="Cambria Math" panose="02040503050406030204" pitchFamily="18" charset="0"/>
                        <a:ea typeface="Cambria Math" panose="02040503050406030204" pitchFamily="18" charset="0"/>
                      </a:rPr>
                      <m:t>𝛽</m:t>
                    </m:r>
                    <m:sSub>
                      <m:sSubPr>
                        <m:ctrlPr>
                          <a:rPr lang="en-GB" sz="2200" b="0" i="1" noProof="1" dirty="0" smtClean="0">
                            <a:latin typeface="Cambria Math" panose="02040503050406030204" pitchFamily="18" charset="0"/>
                            <a:ea typeface="Verdana" panose="020B0604030504040204" pitchFamily="34" charset="0"/>
                          </a:rPr>
                        </m:ctrlPr>
                      </m:sSubPr>
                      <m:e>
                        <m:r>
                          <a:rPr lang="en-GB" sz="2200" b="0" i="1" noProof="1" dirty="0" smtClean="0">
                            <a:latin typeface="Cambria Math" panose="02040503050406030204" pitchFamily="18" charset="0"/>
                            <a:ea typeface="Verdana" panose="020B0604030504040204" pitchFamily="34" charset="0"/>
                          </a:rPr>
                          <m:t> </m:t>
                        </m:r>
                        <m:r>
                          <a:rPr lang="en-GB" sz="2200" b="0" i="1" noProof="1" dirty="0" smtClean="0">
                            <a:latin typeface="Cambria Math" panose="02040503050406030204" pitchFamily="18" charset="0"/>
                            <a:ea typeface="Verdana" panose="020B0604030504040204" pitchFamily="34" charset="0"/>
                          </a:rPr>
                          <m:t>𝑋</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b="0" i="1" noProof="1" dirty="0" smtClean="0">
                            <a:latin typeface="Cambria Math" panose="02040503050406030204" pitchFamily="18" charset="0"/>
                            <a:ea typeface="Verdana" panose="020B0604030504040204" pitchFamily="34" charset="0"/>
                          </a:rPr>
                          <m:t>−1</m:t>
                        </m:r>
                      </m:sub>
                    </m:sSub>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Cambria Math" panose="02040503050406030204" pitchFamily="18" charset="0"/>
                      </a:rPr>
                      <m:t>𝜑</m:t>
                    </m:r>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 </m:t>
                        </m:r>
                        <m:r>
                          <a:rPr lang="en-GB" sz="2200" b="0" i="1" noProof="1" dirty="0" smtClean="0">
                            <a:latin typeface="Cambria Math" panose="02040503050406030204" pitchFamily="18" charset="0"/>
                            <a:ea typeface="Verdana" panose="020B0604030504040204" pitchFamily="34" charset="0"/>
                          </a:rPr>
                          <m:t>𝑍</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b="0" i="1" noProof="1" dirty="0" smtClean="0">
                            <a:latin typeface="Cambria Math" panose="02040503050406030204" pitchFamily="18" charset="0"/>
                            <a:ea typeface="Verdana" panose="020B0604030504040204" pitchFamily="34" charset="0"/>
                          </a:rPr>
                          <m:t>−1</m:t>
                        </m:r>
                      </m:sub>
                    </m:sSub>
                    <m:r>
                      <a:rPr lang="en-GB" sz="2200" i="1" noProof="1" dirty="0" smtClean="0">
                        <a:latin typeface="Cambria Math" panose="02040503050406030204" pitchFamily="18" charset="0"/>
                        <a:ea typeface="Verdana" panose="020B0604030504040204" pitchFamily="34" charset="0"/>
                      </a:rPr>
                      <m:t>+</m:t>
                    </m:r>
                    <m:r>
                      <m:rPr>
                        <m:nor/>
                      </m:rPr>
                      <a:rPr lang="en-GB" sz="2200" i="0" noProof="1" dirty="0" smtClean="0">
                        <a:ea typeface="Cambria Math" panose="02040503050406030204" pitchFamily="18" charset="0"/>
                      </a:rPr>
                      <m:t> </m:t>
                    </m:r>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𝜀</m:t>
                        </m:r>
                      </m:e>
                      <m:sub>
                        <m:r>
                          <a:rPr lang="en-GB" sz="2200" b="0" i="1" noProof="1" dirty="0" smtClean="0">
                            <a:latin typeface="Cambria Math" panose="02040503050406030204" pitchFamily="18" charset="0"/>
                            <a:ea typeface="Cambria Math" panose="02040503050406030204" pitchFamily="18" charset="0"/>
                          </a:rPr>
                          <m:t>𝑖</m:t>
                        </m:r>
                        <m:r>
                          <a:rPr lang="en-GB" sz="2200" b="0" i="1" noProof="1" dirty="0" smtClean="0">
                            <a:latin typeface="Cambria Math" panose="02040503050406030204" pitchFamily="18" charset="0"/>
                            <a:ea typeface="Cambria Math" panose="02040503050406030204" pitchFamily="18" charset="0"/>
                          </a:rPr>
                          <m:t>,</m:t>
                        </m:r>
                        <m:r>
                          <a:rPr lang="en-GB" sz="2200" i="1" noProof="1" dirty="0" smtClean="0">
                            <a:latin typeface="Cambria Math" panose="02040503050406030204" pitchFamily="18" charset="0"/>
                            <a:ea typeface="Verdana" panose="020B0604030504040204" pitchFamily="34" charset="0"/>
                          </a:rPr>
                          <m:t>𝑡</m:t>
                        </m:r>
                      </m:sub>
                    </m:sSub>
                  </m:oMath>
                </a14:m>
                <a:endParaRPr lang="en-GB"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GB" sz="1800" noProof="1">
                  <a:latin typeface="Verdana" panose="020B0604030504040204" pitchFamily="34" charset="0"/>
                  <a:ea typeface="Verdana" panose="020B0604030504040204" pitchFamily="34" charset="0"/>
                </a:endParaRPr>
              </a:p>
              <a:p>
                <a:pPr>
                  <a:lnSpc>
                    <a:spcPct val="120000"/>
                  </a:lnSpc>
                  <a:spcAft>
                    <a:spcPts val="300"/>
                  </a:spcAft>
                </a:pPr>
                <a:r>
                  <a:rPr lang="en-GB" sz="1800" noProof="1">
                    <a:latin typeface="Verdana" panose="020B0604030504040204" pitchFamily="34" charset="0"/>
                    <a:ea typeface="Verdana" panose="020B0604030504040204" pitchFamily="34" charset="0"/>
                  </a:rPr>
                  <a:t>2. </a:t>
                </a:r>
                <a:r>
                  <a:rPr lang="en-GB" sz="2000" noProof="1">
                    <a:latin typeface="Verdana" panose="020B0604030504040204" pitchFamily="34" charset="0"/>
                    <a:ea typeface="Verdana" panose="020B0604030504040204" pitchFamily="34" charset="0"/>
                  </a:rPr>
                  <a:t>Additional effect (</a:t>
                </a:r>
                <a14:m>
                  <m:oMath xmlns:m="http://schemas.openxmlformats.org/officeDocument/2006/math">
                    <m:r>
                      <a:rPr lang="en-GB" sz="2000" i="1" noProof="1" dirty="0" smtClean="0">
                        <a:latin typeface="Cambria Math" panose="02040503050406030204" pitchFamily="18" charset="0"/>
                        <a:ea typeface="Cambria Math" panose="02040503050406030204" pitchFamily="18" charset="0"/>
                      </a:rPr>
                      <m:t>𝛾</m:t>
                    </m:r>
                  </m:oMath>
                </a14:m>
                <a:r>
                  <a:rPr lang="en-GB" sz="2000" noProof="1">
                    <a:latin typeface="Verdana" panose="020B0604030504040204" pitchFamily="34" charset="0"/>
                    <a:ea typeface="Verdana" panose="020B0604030504040204" pitchFamily="34" charset="0"/>
                  </a:rPr>
                  <a:t>) of ICT/AI in shock years</a:t>
                </a:r>
              </a:p>
              <a:p>
                <a:pPr>
                  <a:lnSpc>
                    <a:spcPct val="120000"/>
                  </a:lnSpc>
                  <a:spcAft>
                    <a:spcPts val="300"/>
                  </a:spcAft>
                </a:pPr>
                <a:r>
                  <a:rPr lang="en-GB" sz="1800" noProof="1">
                    <a:latin typeface="Verdana" panose="020B0604030504040204" pitchFamily="34" charset="0"/>
                    <a:ea typeface="Verdana" panose="020B0604030504040204" pitchFamily="34" charset="0"/>
                  </a:rPr>
                  <a:t>	 </a:t>
                </a:r>
                <a14:m>
                  <m:oMath xmlns:m="http://schemas.openxmlformats.org/officeDocument/2006/math">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𝑆</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sub>
                    </m:sSub>
                    <m:r>
                      <a:rPr lang="en-GB" sz="2200" i="1" noProof="1" dirty="0" smtClean="0">
                        <a:latin typeface="Cambria Math" panose="02040503050406030204" pitchFamily="18" charset="0"/>
                        <a:ea typeface="Verdana" panose="020B0604030504040204" pitchFamily="34" charset="0"/>
                      </a:rPr>
                      <m:t>=</m:t>
                    </m:r>
                  </m:oMath>
                </a14:m>
                <a:r>
                  <a:rPr lang="en-GB" sz="2200" noProof="1">
                    <a:ea typeface="Verdana" panose="020B0604030504040204" pitchFamily="34"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𝛼</m:t>
                        </m:r>
                      </m:e>
                      <m:sub>
                        <m:r>
                          <a:rPr lang="en-GB" sz="2200" i="1" noProof="1" dirty="0" smtClean="0">
                            <a:latin typeface="Cambria Math" panose="02040503050406030204" pitchFamily="18" charset="0"/>
                            <a:ea typeface="Verdana" panose="020B0604030504040204" pitchFamily="34" charset="0"/>
                          </a:rPr>
                          <m:t>𝑖</m:t>
                        </m:r>
                      </m:sub>
                    </m:sSub>
                    <m:r>
                      <a:rPr lang="en-GB" sz="2200" i="1" noProof="1" dirty="0" smtClean="0">
                        <a:latin typeface="Cambria Math" panose="02040503050406030204" pitchFamily="18" charset="0"/>
                        <a:ea typeface="Verdana" panose="020B0604030504040204" pitchFamily="34" charset="0"/>
                      </a:rPr>
                      <m:t>+</m:t>
                    </m:r>
                  </m:oMath>
                </a14:m>
                <a:r>
                  <a:rPr lang="en-GB" sz="2200" noProof="1">
                    <a:ea typeface="Cambria Math" panose="02040503050406030204" pitchFamily="18"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𝜏</m:t>
                        </m:r>
                      </m:e>
                      <m:sub>
                        <m:r>
                          <a:rPr lang="en-GB" sz="2200" i="1" noProof="1" dirty="0" smtClean="0">
                            <a:latin typeface="Cambria Math" panose="02040503050406030204" pitchFamily="18" charset="0"/>
                            <a:ea typeface="Verdana" panose="020B0604030504040204" pitchFamily="34" charset="0"/>
                          </a:rPr>
                          <m:t>𝑡</m:t>
                        </m:r>
                      </m:sub>
                    </m:sSub>
                    <m:r>
                      <a:rPr lang="en-GB" sz="2200" i="1" noProof="1" dirty="0" smtClean="0">
                        <a:latin typeface="Cambria Math" panose="02040503050406030204" pitchFamily="18" charset="0"/>
                        <a:ea typeface="Verdana" panose="020B0604030504040204" pitchFamily="34" charset="0"/>
                      </a:rPr>
                      <m:t>+ </m:t>
                    </m:r>
                    <m:r>
                      <a:rPr lang="en-GB" sz="2200" i="1" noProof="1" dirty="0" smtClean="0">
                        <a:latin typeface="Cambria Math" panose="02040503050406030204" pitchFamily="18" charset="0"/>
                        <a:ea typeface="Cambria Math" panose="02040503050406030204" pitchFamily="18" charset="0"/>
                      </a:rPr>
                      <m:t>𝛽</m:t>
                    </m:r>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 </m:t>
                        </m:r>
                        <m:r>
                          <a:rPr lang="en-GB" sz="2200" i="1" noProof="1" dirty="0" smtClean="0">
                            <a:latin typeface="Cambria Math" panose="02040503050406030204" pitchFamily="18" charset="0"/>
                            <a:ea typeface="Verdana" panose="020B0604030504040204" pitchFamily="34" charset="0"/>
                          </a:rPr>
                          <m:t>𝑋</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i="1" noProof="1" dirty="0" smtClean="0">
                            <a:latin typeface="Cambria Math" panose="02040503050406030204" pitchFamily="18" charset="0"/>
                            <a:ea typeface="Verdana" panose="020B0604030504040204" pitchFamily="34" charset="0"/>
                          </a:rPr>
                          <m:t>−1</m:t>
                        </m:r>
                      </m:sub>
                    </m:sSub>
                    <m:r>
                      <a:rPr lang="en-GB" sz="2200" b="0" i="1" noProof="1" dirty="0" smtClean="0">
                        <a:latin typeface="Cambria Math" panose="02040503050406030204" pitchFamily="18" charset="0"/>
                        <a:ea typeface="Verdana" panose="020B0604030504040204" pitchFamily="34" charset="0"/>
                      </a:rPr>
                      <m:t>+ </m:t>
                    </m:r>
                    <m:r>
                      <a:rPr lang="en-GB" sz="2400" i="1" noProof="1" dirty="0" smtClean="0">
                        <a:latin typeface="Cambria Math" panose="02040503050406030204" pitchFamily="18" charset="0"/>
                        <a:ea typeface="Cambria Math" panose="02040503050406030204" pitchFamily="18" charset="0"/>
                      </a:rPr>
                      <m:t>𝛾</m:t>
                    </m:r>
                    <m:r>
                      <a:rPr lang="en-GB" sz="2400" b="0" i="1" noProof="1" dirty="0" smtClean="0">
                        <a:latin typeface="Cambria Math" panose="02040503050406030204" pitchFamily="18" charset="0"/>
                        <a:ea typeface="Cambria Math" panose="02040503050406030204" pitchFamily="18" charset="0"/>
                      </a:rPr>
                      <m:t> </m:t>
                    </m:r>
                    <m:sSub>
                      <m:sSubPr>
                        <m:ctrlPr>
                          <a:rPr lang="en-GB" sz="2400" i="1" noProof="1" dirty="0" smtClean="0">
                            <a:latin typeface="Cambria Math" panose="02040503050406030204" pitchFamily="18" charset="0"/>
                            <a:ea typeface="Verdana" panose="020B0604030504040204" pitchFamily="34" charset="0"/>
                          </a:rPr>
                        </m:ctrlPr>
                      </m:sSubPr>
                      <m:e>
                        <m:r>
                          <a:rPr lang="en-GB" sz="2400" i="1" noProof="1" dirty="0" smtClean="0">
                            <a:latin typeface="Cambria Math" panose="02040503050406030204" pitchFamily="18" charset="0"/>
                            <a:ea typeface="Verdana" panose="020B0604030504040204" pitchFamily="34" charset="0"/>
                          </a:rPr>
                          <m:t>𝑋</m:t>
                        </m:r>
                      </m:e>
                      <m:sub>
                        <m:r>
                          <a:rPr lang="en-GB" sz="2400" i="1" noProof="1" dirty="0" smtClean="0">
                            <a:latin typeface="Cambria Math" panose="02040503050406030204" pitchFamily="18" charset="0"/>
                            <a:ea typeface="Verdana" panose="020B0604030504040204" pitchFamily="34" charset="0"/>
                          </a:rPr>
                          <m:t>𝑖</m:t>
                        </m:r>
                        <m:r>
                          <a:rPr lang="en-GB" sz="2400" i="1" noProof="1" dirty="0" smtClean="0">
                            <a:latin typeface="Cambria Math" panose="02040503050406030204" pitchFamily="18" charset="0"/>
                            <a:ea typeface="Verdana" panose="020B0604030504040204" pitchFamily="34" charset="0"/>
                          </a:rPr>
                          <m:t>,</m:t>
                        </m:r>
                        <m:r>
                          <a:rPr lang="en-GB" sz="2400" i="1" noProof="1" dirty="0" smtClean="0">
                            <a:latin typeface="Cambria Math" panose="02040503050406030204" pitchFamily="18" charset="0"/>
                            <a:ea typeface="Verdana" panose="020B0604030504040204" pitchFamily="34" charset="0"/>
                          </a:rPr>
                          <m:t>𝑡</m:t>
                        </m:r>
                        <m:r>
                          <a:rPr lang="en-GB" sz="2400" i="1" noProof="1" dirty="0" smtClean="0">
                            <a:latin typeface="Cambria Math" panose="02040503050406030204" pitchFamily="18" charset="0"/>
                            <a:ea typeface="Verdana" panose="020B0604030504040204" pitchFamily="34" charset="0"/>
                          </a:rPr>
                          <m:t>−1</m:t>
                        </m:r>
                      </m:sub>
                    </m:sSub>
                    <m:sSub>
                      <m:sSubPr>
                        <m:ctrlPr>
                          <a:rPr lang="en-GB" sz="2400" i="1" noProof="1" dirty="0" smtClean="0">
                            <a:latin typeface="Cambria Math" panose="02040503050406030204" pitchFamily="18" charset="0"/>
                            <a:ea typeface="Verdana" panose="020B0604030504040204" pitchFamily="34" charset="0"/>
                          </a:rPr>
                        </m:ctrlPr>
                      </m:sSubPr>
                      <m:e>
                        <m:r>
                          <a:rPr lang="en-GB" sz="2400" i="1" noProof="1" dirty="0" smtClean="0">
                            <a:latin typeface="Cambria Math" panose="02040503050406030204" pitchFamily="18" charset="0"/>
                            <a:ea typeface="Verdana" panose="020B0604030504040204" pitchFamily="34" charset="0"/>
                          </a:rPr>
                          <m:t>𝐷</m:t>
                        </m:r>
                      </m:e>
                      <m:sub>
                        <m:r>
                          <a:rPr lang="en-GB" sz="2400" i="1" noProof="1" dirty="0" smtClean="0">
                            <a:latin typeface="Cambria Math" panose="02040503050406030204" pitchFamily="18" charset="0"/>
                            <a:ea typeface="Verdana" panose="020B0604030504040204" pitchFamily="34" charset="0"/>
                          </a:rPr>
                          <m:t>𝑡</m:t>
                        </m:r>
                      </m:sub>
                    </m:sSub>
                    <m:r>
                      <a:rPr lang="en-GB" sz="2400" b="0" i="1" noProof="1" dirty="0" smtClean="0">
                        <a:latin typeface="Cambria Math" panose="02040503050406030204" pitchFamily="18" charset="0"/>
                        <a:ea typeface="Verdana" panose="020B0604030504040204" pitchFamily="34" charset="0"/>
                      </a:rPr>
                      <m:t> </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Cambria Math" panose="02040503050406030204" pitchFamily="18" charset="0"/>
                      </a:rPr>
                      <m:t>𝜑</m:t>
                    </m:r>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 </m:t>
                        </m:r>
                        <m:r>
                          <a:rPr lang="en-GB" sz="2200" i="1" noProof="1" dirty="0" smtClean="0">
                            <a:latin typeface="Cambria Math" panose="02040503050406030204" pitchFamily="18" charset="0"/>
                            <a:ea typeface="Verdana" panose="020B0604030504040204" pitchFamily="34" charset="0"/>
                          </a:rPr>
                          <m:t>𝑍</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i="1" noProof="1" dirty="0" smtClean="0">
                            <a:latin typeface="Cambria Math" panose="02040503050406030204" pitchFamily="18" charset="0"/>
                            <a:ea typeface="Verdana" panose="020B0604030504040204" pitchFamily="34" charset="0"/>
                          </a:rPr>
                          <m:t>−1</m:t>
                        </m:r>
                      </m:sub>
                    </m:sSub>
                    <m:r>
                      <a:rPr lang="en-GB" sz="2200" i="1" noProof="1" dirty="0" smtClean="0">
                        <a:latin typeface="Cambria Math" panose="02040503050406030204" pitchFamily="18" charset="0"/>
                        <a:ea typeface="Verdana" panose="020B0604030504040204" pitchFamily="34" charset="0"/>
                      </a:rPr>
                      <m:t>+</m:t>
                    </m:r>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𝜀</m:t>
                        </m:r>
                      </m:e>
                      <m:sub>
                        <m:r>
                          <a:rPr lang="en-GB" sz="2200" i="1" noProof="1" dirty="0" smtClean="0">
                            <a:latin typeface="Cambria Math" panose="02040503050406030204" pitchFamily="18" charset="0"/>
                            <a:ea typeface="Cambria Math" panose="02040503050406030204" pitchFamily="18" charset="0"/>
                          </a:rPr>
                          <m:t>𝑖</m:t>
                        </m:r>
                        <m:r>
                          <a:rPr lang="en-GB" sz="2200" i="1" noProof="1" dirty="0" smtClean="0">
                            <a:latin typeface="Cambria Math" panose="02040503050406030204" pitchFamily="18" charset="0"/>
                            <a:ea typeface="Cambria Math" panose="02040503050406030204" pitchFamily="18" charset="0"/>
                          </a:rPr>
                          <m:t>,</m:t>
                        </m:r>
                        <m:r>
                          <a:rPr lang="en-GB" sz="2200" i="1" noProof="1" dirty="0" smtClean="0">
                            <a:latin typeface="Cambria Math" panose="02040503050406030204" pitchFamily="18" charset="0"/>
                            <a:ea typeface="Verdana" panose="020B0604030504040204" pitchFamily="34" charset="0"/>
                          </a:rPr>
                          <m:t>𝑡</m:t>
                        </m:r>
                      </m:sub>
                    </m:sSub>
                  </m:oMath>
                </a14:m>
                <a:endParaRPr lang="en-GB" sz="2000" noProof="1">
                  <a:latin typeface="Verdana" panose="020B0604030504040204" pitchFamily="34" charset="0"/>
                  <a:ea typeface="Verdana" panose="020B0604030504040204" pitchFamily="34" charset="0"/>
                </a:endParaRPr>
              </a:p>
              <a:p>
                <a:pPr>
                  <a:lnSpc>
                    <a:spcPct val="120000"/>
                  </a:lnSpc>
                  <a:spcAft>
                    <a:spcPts val="300"/>
                  </a:spcAft>
                </a:pPr>
                <a:endParaRPr lang="en-GB" sz="2000" noProof="1">
                  <a:latin typeface="Verdana" panose="020B0604030504040204" pitchFamily="34" charset="0"/>
                  <a:ea typeface="Verdana" panose="020B0604030504040204" pitchFamily="34" charset="0"/>
                </a:endParaRPr>
              </a:p>
              <a:p>
                <a:pPr>
                  <a:lnSpc>
                    <a:spcPct val="120000"/>
                  </a:lnSpc>
                  <a:spcAft>
                    <a:spcPts val="300"/>
                  </a:spcAft>
                </a:pPr>
                <a:r>
                  <a:rPr lang="en-GB" sz="2000" noProof="1">
                    <a:latin typeface="Verdana" panose="020B0604030504040204" pitchFamily="34" charset="0"/>
                    <a:ea typeface="Verdana" panose="020B0604030504040204" pitchFamily="34" charset="0"/>
                  </a:rPr>
                  <a:t>3. Additional effect (</a:t>
                </a:r>
                <a14:m>
                  <m:oMath xmlns:m="http://schemas.openxmlformats.org/officeDocument/2006/math">
                    <m:r>
                      <a:rPr lang="en-GB" sz="2000" noProof="1" dirty="0" smtClean="0">
                        <a:latin typeface="Cambria Math" panose="02040503050406030204" pitchFamily="18" charset="0"/>
                        <a:ea typeface="Verdana" panose="020B0604030504040204" pitchFamily="34" charset="0"/>
                      </a:rPr>
                      <m:t>𝛾</m:t>
                    </m:r>
                  </m:oMath>
                </a14:m>
                <a:r>
                  <a:rPr lang="en-GB" sz="2000" noProof="1">
                    <a:latin typeface="Verdana" panose="020B0604030504040204" pitchFamily="34" charset="0"/>
                    <a:ea typeface="Verdana" panose="020B0604030504040204" pitchFamily="34" charset="0"/>
                  </a:rPr>
                  <a:t>) specific to high ICT/AI in shock years</a:t>
                </a:r>
              </a:p>
              <a:p>
                <a:pPr>
                  <a:lnSpc>
                    <a:spcPct val="120000"/>
                  </a:lnSpc>
                  <a:spcAft>
                    <a:spcPts val="300"/>
                  </a:spcAft>
                </a:pPr>
                <a:r>
                  <a:rPr lang="en-GB" sz="2000" noProof="1">
                    <a:latin typeface="Verdana" panose="020B0604030504040204" pitchFamily="34" charset="0"/>
                    <a:ea typeface="Verdana" panose="020B0604030504040204" pitchFamily="34" charset="0"/>
                  </a:rPr>
                  <a:t>	</a:t>
                </a:r>
                <a:r>
                  <a:rPr lang="en-GB" sz="2200" noProof="1">
                    <a:latin typeface="Verdana" panose="020B0604030504040204" pitchFamily="34" charset="0"/>
                    <a:ea typeface="Verdana" panose="020B0604030504040204" pitchFamily="34" charset="0"/>
                  </a:rPr>
                  <a:t> </a:t>
                </a:r>
                <a14:m>
                  <m:oMath xmlns:m="http://schemas.openxmlformats.org/officeDocument/2006/math">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𝑆</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sub>
                    </m:sSub>
                    <m:r>
                      <a:rPr lang="en-GB" sz="2200" i="1" noProof="1" dirty="0" smtClean="0">
                        <a:latin typeface="Cambria Math" panose="02040503050406030204" pitchFamily="18" charset="0"/>
                        <a:ea typeface="Verdana" panose="020B0604030504040204" pitchFamily="34" charset="0"/>
                      </a:rPr>
                      <m:t>=</m:t>
                    </m:r>
                  </m:oMath>
                </a14:m>
                <a:r>
                  <a:rPr lang="en-GB" sz="2200" noProof="1">
                    <a:ea typeface="Verdana" panose="020B0604030504040204" pitchFamily="34"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𝛼</m:t>
                        </m:r>
                      </m:e>
                      <m:sub>
                        <m:r>
                          <a:rPr lang="en-GB" sz="2200" i="1" noProof="1" dirty="0" smtClean="0">
                            <a:latin typeface="Cambria Math" panose="02040503050406030204" pitchFamily="18" charset="0"/>
                            <a:ea typeface="Verdana" panose="020B0604030504040204" pitchFamily="34" charset="0"/>
                          </a:rPr>
                          <m:t>𝑖</m:t>
                        </m:r>
                      </m:sub>
                    </m:sSub>
                    <m:r>
                      <a:rPr lang="en-GB" sz="2200" i="1" noProof="1" dirty="0" smtClean="0">
                        <a:latin typeface="Cambria Math" panose="02040503050406030204" pitchFamily="18" charset="0"/>
                        <a:ea typeface="Verdana" panose="020B0604030504040204" pitchFamily="34" charset="0"/>
                      </a:rPr>
                      <m:t>+</m:t>
                    </m:r>
                  </m:oMath>
                </a14:m>
                <a:r>
                  <a:rPr lang="en-GB" sz="2200" noProof="1">
                    <a:ea typeface="Cambria Math" panose="02040503050406030204" pitchFamily="18" charset="0"/>
                  </a:rPr>
                  <a:t> </a:t>
                </a:r>
                <a14:m>
                  <m:oMath xmlns:m="http://schemas.openxmlformats.org/officeDocument/2006/math">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𝜏</m:t>
                        </m:r>
                      </m:e>
                      <m:sub>
                        <m:r>
                          <a:rPr lang="en-GB" sz="2200" i="1" noProof="1" dirty="0" smtClean="0">
                            <a:latin typeface="Cambria Math" panose="02040503050406030204" pitchFamily="18" charset="0"/>
                            <a:ea typeface="Verdana" panose="020B0604030504040204" pitchFamily="34" charset="0"/>
                          </a:rPr>
                          <m:t>𝑡</m:t>
                        </m:r>
                      </m:sub>
                    </m:sSub>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Cambria Math" panose="02040503050406030204" pitchFamily="18" charset="0"/>
                      </a:rPr>
                      <m:t>𝛽</m:t>
                    </m:r>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 </m:t>
                        </m:r>
                        <m:sSubSup>
                          <m:sSubSupPr>
                            <m:ctrlPr>
                              <a:rPr lang="en-GB" sz="2200" i="1" noProof="1" dirty="0" smtClean="0">
                                <a:latin typeface="Cambria Math" panose="02040503050406030204" pitchFamily="18" charset="0"/>
                                <a:ea typeface="Verdana" panose="020B0604030504040204" pitchFamily="34" charset="0"/>
                              </a:rPr>
                            </m:ctrlPr>
                          </m:sSubSupPr>
                          <m:e>
                            <m:r>
                              <a:rPr lang="en-GB" sz="2200" i="1" noProof="1" dirty="0" smtClean="0">
                                <a:latin typeface="Cambria Math" panose="02040503050406030204" pitchFamily="18" charset="0"/>
                                <a:ea typeface="Verdana" panose="020B0604030504040204" pitchFamily="34" charset="0"/>
                              </a:rPr>
                              <m:t>𝑋</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i="1" noProof="1" dirty="0" smtClean="0">
                                <a:latin typeface="Cambria Math" panose="02040503050406030204" pitchFamily="18" charset="0"/>
                                <a:ea typeface="Verdana" panose="020B0604030504040204" pitchFamily="34" charset="0"/>
                              </a:rPr>
                              <m:t>−1</m:t>
                            </m:r>
                          </m:sub>
                          <m:sup>
                            <m:r>
                              <a:rPr lang="en-GB" sz="2200" i="1" noProof="1" dirty="0" smtClean="0">
                                <a:latin typeface="Cambria Math" panose="02040503050406030204" pitchFamily="18" charset="0"/>
                                <a:ea typeface="Verdana" panose="020B0604030504040204" pitchFamily="34" charset="0"/>
                              </a:rPr>
                              <m:t>ℎ𝑖𝑔ℎ</m:t>
                            </m:r>
                          </m:sup>
                        </m:sSubSup>
                      </m:e>
                      <m:sub>
                        <m:r>
                          <a:rPr lang="en-GB" sz="2200" i="1" noProof="1" dirty="0" smtClean="0">
                            <a:latin typeface="Cambria Math" panose="02040503050406030204" pitchFamily="18" charset="0"/>
                            <a:ea typeface="Verdana" panose="020B0604030504040204" pitchFamily="34" charset="0"/>
                          </a:rPr>
                          <m:t> </m:t>
                        </m:r>
                      </m:sub>
                    </m:sSub>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Cambria Math" panose="02040503050406030204" pitchFamily="18" charset="0"/>
                      </a:rPr>
                      <m:t>𝛾</m:t>
                    </m:r>
                    <m:r>
                      <a:rPr lang="en-GB" sz="2200" i="1" noProof="1" dirty="0" smtClean="0">
                        <a:latin typeface="Cambria Math" panose="02040503050406030204" pitchFamily="18" charset="0"/>
                        <a:ea typeface="Cambria Math" panose="02040503050406030204" pitchFamily="18" charset="0"/>
                      </a:rPr>
                      <m:t> </m:t>
                    </m:r>
                    <m:sSubSup>
                      <m:sSubSupPr>
                        <m:ctrlPr>
                          <a:rPr lang="en-GB" sz="2200" i="1" noProof="1" dirty="0" smtClean="0">
                            <a:latin typeface="Cambria Math" panose="02040503050406030204" pitchFamily="18" charset="0"/>
                            <a:ea typeface="Verdana" panose="020B0604030504040204" pitchFamily="34" charset="0"/>
                          </a:rPr>
                        </m:ctrlPr>
                      </m:sSubSupPr>
                      <m:e>
                        <m:r>
                          <a:rPr lang="en-GB" sz="2200" i="1" noProof="1" dirty="0" smtClean="0">
                            <a:latin typeface="Cambria Math" panose="02040503050406030204" pitchFamily="18" charset="0"/>
                            <a:ea typeface="Verdana" panose="020B0604030504040204" pitchFamily="34" charset="0"/>
                          </a:rPr>
                          <m:t>𝑋</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i="1" noProof="1" dirty="0" smtClean="0">
                            <a:latin typeface="Cambria Math" panose="02040503050406030204" pitchFamily="18" charset="0"/>
                            <a:ea typeface="Verdana" panose="020B0604030504040204" pitchFamily="34" charset="0"/>
                          </a:rPr>
                          <m:t>−1</m:t>
                        </m:r>
                      </m:sub>
                      <m:sup>
                        <m:r>
                          <a:rPr lang="en-GB" sz="2200" i="1" noProof="1" dirty="0" smtClean="0">
                            <a:latin typeface="Cambria Math" panose="02040503050406030204" pitchFamily="18" charset="0"/>
                            <a:ea typeface="Verdana" panose="020B0604030504040204" pitchFamily="34" charset="0"/>
                          </a:rPr>
                          <m:t>ℎ𝑖𝑔ℎ</m:t>
                        </m:r>
                      </m:sup>
                    </m:sSubSup>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𝐷</m:t>
                        </m:r>
                      </m:e>
                      <m:sub>
                        <m:r>
                          <a:rPr lang="en-GB" sz="2200" i="1" noProof="1" dirty="0" smtClean="0">
                            <a:latin typeface="Cambria Math" panose="02040503050406030204" pitchFamily="18" charset="0"/>
                            <a:ea typeface="Verdana" panose="020B0604030504040204" pitchFamily="34" charset="0"/>
                          </a:rPr>
                          <m:t>𝑡</m:t>
                        </m:r>
                      </m:sub>
                    </m:sSub>
                    <m:r>
                      <a:rPr lang="en-GB" sz="2200" b="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Cambria Math" panose="02040503050406030204" pitchFamily="18" charset="0"/>
                      </a:rPr>
                      <m:t>𝜑</m:t>
                    </m:r>
                    <m:sSub>
                      <m:sSubPr>
                        <m:ctrlPr>
                          <a:rPr lang="en-GB" sz="2200" i="1" noProof="1" dirty="0" smtClean="0">
                            <a:latin typeface="Cambria Math" panose="02040503050406030204" pitchFamily="18" charset="0"/>
                            <a:ea typeface="Verdana" panose="020B0604030504040204" pitchFamily="34" charset="0"/>
                          </a:rPr>
                        </m:ctrlPr>
                      </m:sSubPr>
                      <m:e>
                        <m:r>
                          <a:rPr lang="en-GB" sz="2200" i="1" noProof="1" dirty="0" smtClean="0">
                            <a:latin typeface="Cambria Math" panose="02040503050406030204" pitchFamily="18" charset="0"/>
                            <a:ea typeface="Verdana" panose="020B0604030504040204" pitchFamily="34" charset="0"/>
                          </a:rPr>
                          <m:t> </m:t>
                        </m:r>
                        <m:r>
                          <a:rPr lang="en-GB" sz="2200" i="1" noProof="1" dirty="0" smtClean="0">
                            <a:latin typeface="Cambria Math" panose="02040503050406030204" pitchFamily="18" charset="0"/>
                            <a:ea typeface="Verdana" panose="020B0604030504040204" pitchFamily="34" charset="0"/>
                          </a:rPr>
                          <m:t>𝑍</m:t>
                        </m:r>
                      </m:e>
                      <m:sub>
                        <m:r>
                          <a:rPr lang="en-GB" sz="2200" i="1" noProof="1" dirty="0" smtClean="0">
                            <a:latin typeface="Cambria Math" panose="02040503050406030204" pitchFamily="18" charset="0"/>
                            <a:ea typeface="Verdana" panose="020B0604030504040204" pitchFamily="34" charset="0"/>
                          </a:rPr>
                          <m:t>𝑖</m:t>
                        </m:r>
                        <m:r>
                          <a:rPr lang="en-GB" sz="2200" i="1" noProof="1" dirty="0" smtClean="0">
                            <a:latin typeface="Cambria Math" panose="02040503050406030204" pitchFamily="18" charset="0"/>
                            <a:ea typeface="Verdana" panose="020B0604030504040204" pitchFamily="34" charset="0"/>
                          </a:rPr>
                          <m:t>,</m:t>
                        </m:r>
                        <m:r>
                          <a:rPr lang="en-GB" sz="2200" i="1" noProof="1" dirty="0" smtClean="0">
                            <a:latin typeface="Cambria Math" panose="02040503050406030204" pitchFamily="18" charset="0"/>
                            <a:ea typeface="Verdana" panose="020B0604030504040204" pitchFamily="34" charset="0"/>
                          </a:rPr>
                          <m:t>𝑡</m:t>
                        </m:r>
                        <m:r>
                          <a:rPr lang="en-GB" sz="2200" i="1" noProof="1" dirty="0" smtClean="0">
                            <a:latin typeface="Cambria Math" panose="02040503050406030204" pitchFamily="18" charset="0"/>
                            <a:ea typeface="Verdana" panose="020B0604030504040204" pitchFamily="34" charset="0"/>
                          </a:rPr>
                          <m:t>−1</m:t>
                        </m:r>
                      </m:sub>
                    </m:sSub>
                    <m:r>
                      <a:rPr lang="en-GB" sz="2200" i="1" noProof="1" dirty="0" smtClean="0">
                        <a:latin typeface="Cambria Math" panose="02040503050406030204" pitchFamily="18" charset="0"/>
                        <a:ea typeface="Verdana" panose="020B0604030504040204" pitchFamily="34" charset="0"/>
                      </a:rPr>
                      <m:t>+</m:t>
                    </m:r>
                    <m:sSub>
                      <m:sSubPr>
                        <m:ctrlPr>
                          <a:rPr lang="en-GB" sz="2200" i="1" noProof="1" dirty="0" smtClean="0">
                            <a:latin typeface="Cambria Math" panose="02040503050406030204" pitchFamily="18" charset="0"/>
                            <a:ea typeface="Cambria Math" panose="02040503050406030204" pitchFamily="18" charset="0"/>
                          </a:rPr>
                        </m:ctrlPr>
                      </m:sSubPr>
                      <m:e>
                        <m:r>
                          <a:rPr lang="en-GB" sz="2200" i="1" noProof="1" dirty="0" smtClean="0">
                            <a:latin typeface="Cambria Math" panose="02040503050406030204" pitchFamily="18" charset="0"/>
                            <a:ea typeface="Cambria Math" panose="02040503050406030204" pitchFamily="18" charset="0"/>
                          </a:rPr>
                          <m:t>𝜀</m:t>
                        </m:r>
                      </m:e>
                      <m:sub>
                        <m:r>
                          <a:rPr lang="en-GB" sz="2200" i="1" noProof="1" dirty="0" smtClean="0">
                            <a:latin typeface="Cambria Math" panose="02040503050406030204" pitchFamily="18" charset="0"/>
                            <a:ea typeface="Cambria Math" panose="02040503050406030204" pitchFamily="18" charset="0"/>
                          </a:rPr>
                          <m:t>𝑖</m:t>
                        </m:r>
                        <m:r>
                          <a:rPr lang="en-GB" sz="2200" i="1" noProof="1" dirty="0" smtClean="0">
                            <a:latin typeface="Cambria Math" panose="02040503050406030204" pitchFamily="18" charset="0"/>
                            <a:ea typeface="Cambria Math" panose="02040503050406030204" pitchFamily="18" charset="0"/>
                          </a:rPr>
                          <m:t>,</m:t>
                        </m:r>
                        <m:r>
                          <a:rPr lang="en-GB" sz="2200" i="1" noProof="1" dirty="0" smtClean="0">
                            <a:latin typeface="Cambria Math" panose="02040503050406030204" pitchFamily="18" charset="0"/>
                            <a:ea typeface="Verdana" panose="020B0604030504040204" pitchFamily="34" charset="0"/>
                          </a:rPr>
                          <m:t>𝑡</m:t>
                        </m:r>
                      </m:sub>
                    </m:sSub>
                  </m:oMath>
                </a14:m>
                <a:endParaRPr lang="en-GB" sz="2200" noProof="1">
                  <a:ea typeface="Verdana" panose="020B0604030504040204" pitchFamily="34" charset="0"/>
                </a:endParaRPr>
              </a:p>
              <a:p>
                <a:pPr>
                  <a:lnSpc>
                    <a:spcPct val="120000"/>
                  </a:lnSpc>
                  <a:spcAft>
                    <a:spcPts val="300"/>
                  </a:spcAft>
                </a:pPr>
                <a:endParaRPr lang="en-GB" sz="2200" noProof="1">
                  <a:solidFill>
                    <a:schemeClr val="tx1"/>
                  </a:solidFill>
                  <a:latin typeface="Verdana" panose="020B0604030504040204" pitchFamily="34" charset="0"/>
                  <a:ea typeface="Verdana" panose="020B0604030504040204" pitchFamily="34" charset="0"/>
                </a:endParaRPr>
              </a:p>
              <a:p>
                <a:pPr>
                  <a:lnSpc>
                    <a:spcPct val="120000"/>
                  </a:lnSpc>
                  <a:spcAft>
                    <a:spcPts val="1200"/>
                  </a:spcAft>
                </a:pPr>
                <a14:m>
                  <m:oMath xmlns:m="http://schemas.openxmlformats.org/officeDocument/2006/math">
                    <m:sSub>
                      <m:sSubPr>
                        <m:ctrlPr>
                          <a:rPr lang="en-GB" sz="1900" b="0" i="1" noProof="1" dirty="0" smtClean="0">
                            <a:solidFill>
                              <a:schemeClr val="tx1"/>
                            </a:solidFill>
                            <a:latin typeface="Cambria Math" panose="02040503050406030204" pitchFamily="18" charset="0"/>
                            <a:ea typeface="Verdana" panose="020B0604030504040204" pitchFamily="34" charset="0"/>
                          </a:rPr>
                        </m:ctrlPr>
                      </m:sSubPr>
                      <m:e>
                        <m:r>
                          <a:rPr lang="en-GB" sz="1900" b="0" i="1" noProof="1" dirty="0" smtClean="0">
                            <a:solidFill>
                              <a:schemeClr val="tx1"/>
                            </a:solidFill>
                            <a:latin typeface="Cambria Math" panose="02040503050406030204" pitchFamily="18" charset="0"/>
                            <a:ea typeface="Verdana" panose="020B0604030504040204" pitchFamily="34" charset="0"/>
                          </a:rPr>
                          <m:t>𝑆</m:t>
                        </m:r>
                      </m:e>
                      <m:sub>
                        <m:r>
                          <a:rPr lang="en-GB" sz="1900" i="1" noProof="1" dirty="0" smtClean="0">
                            <a:solidFill>
                              <a:schemeClr val="tx1"/>
                            </a:solidFill>
                            <a:latin typeface="Cambria Math" panose="02040503050406030204" pitchFamily="18" charset="0"/>
                            <a:ea typeface="Verdana" panose="020B0604030504040204" pitchFamily="34" charset="0"/>
                          </a:rPr>
                          <m:t>𝑖</m:t>
                        </m:r>
                        <m:r>
                          <a:rPr lang="en-GB" sz="1900" i="1" noProof="1" dirty="0" smtClean="0">
                            <a:solidFill>
                              <a:schemeClr val="tx1"/>
                            </a:solidFill>
                            <a:latin typeface="Cambria Math" panose="02040503050406030204" pitchFamily="18" charset="0"/>
                            <a:ea typeface="Verdana" panose="020B0604030504040204" pitchFamily="34" charset="0"/>
                          </a:rPr>
                          <m:t>,</m:t>
                        </m:r>
                        <m:r>
                          <a:rPr lang="en-GB" sz="1900" i="1" noProof="1" dirty="0" smtClean="0">
                            <a:solidFill>
                              <a:schemeClr val="tx1"/>
                            </a:solidFill>
                            <a:latin typeface="Cambria Math" panose="02040503050406030204" pitchFamily="18" charset="0"/>
                            <a:ea typeface="Verdana" panose="020B0604030504040204" pitchFamily="34" charset="0"/>
                          </a:rPr>
                          <m:t>𝑡</m:t>
                        </m:r>
                      </m:sub>
                    </m:sSub>
                    <m:r>
                      <a:rPr lang="en-GB" sz="1900" b="0" i="1" noProof="1" dirty="0" smtClean="0">
                        <a:solidFill>
                          <a:schemeClr val="tx1"/>
                        </a:solidFill>
                        <a:latin typeface="Cambria Math" panose="02040503050406030204" pitchFamily="18" charset="0"/>
                        <a:ea typeface="Verdana" panose="020B0604030504040204" pitchFamily="34" charset="0"/>
                      </a:rPr>
                      <m:t>=1 </m:t>
                    </m:r>
                    <m:r>
                      <a:rPr lang="en-GB" sz="1900" b="0" i="0" noProof="1" dirty="0" smtClean="0">
                        <a:solidFill>
                          <a:schemeClr val="tx1"/>
                        </a:solidFill>
                        <a:latin typeface="Cambria Math" panose="02040503050406030204" pitchFamily="18" charset="0"/>
                        <a:ea typeface="Verdana" panose="020B0604030504040204" pitchFamily="34" charset="0"/>
                      </a:rPr>
                      <m:t> </m:t>
                    </m:r>
                  </m:oMath>
                </a14:m>
                <a:r>
                  <a:rPr lang="en-GB" sz="1800" noProof="1">
                    <a:solidFill>
                      <a:schemeClr val="tx1"/>
                    </a:solidFill>
                  </a:rPr>
                  <a:t>if growth surprise &gt;0 (otherwise 0)</a:t>
                </a:r>
                <a:r>
                  <a:rPr lang="en-GB" sz="1800" noProof="1"/>
                  <a:t>; </a:t>
                </a:r>
                <a14:m>
                  <m:oMath xmlns:m="http://schemas.openxmlformats.org/officeDocument/2006/math">
                    <m:sSub>
                      <m:sSubPr>
                        <m:ctrlPr>
                          <a:rPr lang="en-GB" sz="1800" i="1" noProof="1" dirty="0">
                            <a:latin typeface="Cambria Math" panose="02040503050406030204" pitchFamily="18" charset="0"/>
                            <a:ea typeface="Cambria Math" panose="02040503050406030204" pitchFamily="18" charset="0"/>
                          </a:rPr>
                        </m:ctrlPr>
                      </m:sSubPr>
                      <m:e>
                        <m:r>
                          <a:rPr lang="en-GB" sz="1800" i="1" noProof="1" dirty="0">
                            <a:latin typeface="Cambria Math" panose="02040503050406030204" pitchFamily="18" charset="0"/>
                            <a:ea typeface="Cambria Math" panose="02040503050406030204" pitchFamily="18" charset="0"/>
                          </a:rPr>
                          <m:t>𝛼</m:t>
                        </m:r>
                      </m:e>
                      <m:sub>
                        <m:r>
                          <a:rPr lang="en-GB" sz="1800" i="1" noProof="1" dirty="0" smtClean="0">
                            <a:latin typeface="Cambria Math" panose="02040503050406030204" pitchFamily="18" charset="0"/>
                            <a:ea typeface="Verdana" panose="020B0604030504040204" pitchFamily="34" charset="0"/>
                          </a:rPr>
                          <m:t>𝑖</m:t>
                        </m:r>
                      </m:sub>
                    </m:sSub>
                  </m:oMath>
                </a14:m>
                <a:r>
                  <a:rPr lang="en-GB" sz="1800" noProof="1"/>
                  <a:t> is country FE; </a:t>
                </a:r>
                <a14:m>
                  <m:oMath xmlns:m="http://schemas.openxmlformats.org/officeDocument/2006/math">
                    <m:sSub>
                      <m:sSubPr>
                        <m:ctrlPr>
                          <a:rPr lang="en-GB" sz="1800" i="1" noProof="1" dirty="0" smtClean="0">
                            <a:latin typeface="Cambria Math" panose="02040503050406030204" pitchFamily="18" charset="0"/>
                            <a:ea typeface="Cambria Math" panose="02040503050406030204" pitchFamily="18" charset="0"/>
                          </a:rPr>
                        </m:ctrlPr>
                      </m:sSubPr>
                      <m:e>
                        <m:r>
                          <a:rPr lang="en-GB" sz="1800" i="1" noProof="1" dirty="0" smtClean="0">
                            <a:latin typeface="Cambria Math" panose="02040503050406030204" pitchFamily="18" charset="0"/>
                            <a:ea typeface="Cambria Math" panose="02040503050406030204" pitchFamily="18" charset="0"/>
                          </a:rPr>
                          <m:t>𝜏</m:t>
                        </m:r>
                      </m:e>
                      <m:sub>
                        <m:r>
                          <a:rPr lang="en-GB" sz="1800" i="1" noProof="1" dirty="0" smtClean="0">
                            <a:latin typeface="Cambria Math" panose="02040503050406030204" pitchFamily="18" charset="0"/>
                            <a:ea typeface="Verdana" panose="020B0604030504040204" pitchFamily="34" charset="0"/>
                          </a:rPr>
                          <m:t>𝑡</m:t>
                        </m:r>
                      </m:sub>
                    </m:sSub>
                  </m:oMath>
                </a14:m>
                <a:r>
                  <a:rPr lang="en-GB" sz="1800" noProof="1"/>
                  <a:t> is time FE</a:t>
                </a:r>
              </a:p>
              <a:p>
                <a:pPr>
                  <a:lnSpc>
                    <a:spcPct val="120000"/>
                  </a:lnSpc>
                  <a:spcAft>
                    <a:spcPts val="1200"/>
                  </a:spcAft>
                </a:pPr>
                <a14:m>
                  <m:oMath xmlns:m="http://schemas.openxmlformats.org/officeDocument/2006/math">
                    <m:sSub>
                      <m:sSubPr>
                        <m:ctrlPr>
                          <a:rPr lang="en-GB" sz="1900" i="1" noProof="1" dirty="0" smtClean="0">
                            <a:latin typeface="Cambria Math" panose="02040503050406030204" pitchFamily="18" charset="0"/>
                            <a:ea typeface="Verdana" panose="020B0604030504040204" pitchFamily="34" charset="0"/>
                          </a:rPr>
                        </m:ctrlPr>
                      </m:sSubPr>
                      <m:e>
                        <m:r>
                          <a:rPr lang="en-GB" sz="1900" i="1" noProof="1" dirty="0" smtClean="0">
                            <a:latin typeface="Cambria Math" panose="02040503050406030204" pitchFamily="18" charset="0"/>
                            <a:ea typeface="Verdana" panose="020B0604030504040204" pitchFamily="34" charset="0"/>
                          </a:rPr>
                          <m:t>𝑋</m:t>
                        </m:r>
                      </m:e>
                      <m:sub>
                        <m:r>
                          <a:rPr lang="en-GB" sz="1900" i="1" noProof="1" dirty="0" smtClean="0">
                            <a:latin typeface="Cambria Math" panose="02040503050406030204" pitchFamily="18" charset="0"/>
                            <a:ea typeface="Verdana" panose="020B0604030504040204" pitchFamily="34" charset="0"/>
                          </a:rPr>
                          <m:t>𝑖</m:t>
                        </m:r>
                        <m:r>
                          <a:rPr lang="en-GB" sz="1900" i="1" noProof="1" dirty="0" smtClean="0">
                            <a:latin typeface="Cambria Math" panose="02040503050406030204" pitchFamily="18" charset="0"/>
                            <a:ea typeface="Verdana" panose="020B0604030504040204" pitchFamily="34" charset="0"/>
                          </a:rPr>
                          <m:t>,</m:t>
                        </m:r>
                        <m:r>
                          <a:rPr lang="en-GB" sz="1900" i="1" noProof="1" dirty="0" smtClean="0">
                            <a:latin typeface="Cambria Math" panose="02040503050406030204" pitchFamily="18" charset="0"/>
                            <a:ea typeface="Verdana" panose="020B0604030504040204" pitchFamily="34" charset="0"/>
                          </a:rPr>
                          <m:t>𝑡</m:t>
                        </m:r>
                      </m:sub>
                    </m:sSub>
                  </m:oMath>
                </a14:m>
                <a:r>
                  <a:rPr lang="en-GB" sz="1800" noProof="1">
                    <a:solidFill>
                      <a:schemeClr val="tx1"/>
                    </a:solidFill>
                  </a:rPr>
                  <a:t> is ICT/AI-related variable</a:t>
                </a:r>
                <a:r>
                  <a:rPr lang="en-GB" sz="1800" noProof="1"/>
                  <a:t>; </a:t>
                </a:r>
                <a:r>
                  <a:rPr lang="en-GB" sz="1800" noProof="1">
                    <a:solidFill>
                      <a:schemeClr val="tx1"/>
                    </a:solidFill>
                  </a:rPr>
                  <a:t> </a:t>
                </a:r>
                <a14:m>
                  <m:oMath xmlns:m="http://schemas.openxmlformats.org/officeDocument/2006/math">
                    <m:sSubSup>
                      <m:sSubSupPr>
                        <m:ctrlPr>
                          <a:rPr lang="en-GB" sz="2000" i="1" noProof="1" dirty="0" smtClean="0">
                            <a:latin typeface="Cambria Math" panose="02040503050406030204" pitchFamily="18" charset="0"/>
                            <a:ea typeface="Verdana" panose="020B0604030504040204" pitchFamily="34" charset="0"/>
                          </a:rPr>
                        </m:ctrlPr>
                      </m:sSubSupPr>
                      <m:e>
                        <m:r>
                          <a:rPr lang="en-GB" sz="2000" i="1" noProof="1" dirty="0" smtClean="0">
                            <a:latin typeface="Cambria Math" panose="02040503050406030204" pitchFamily="18" charset="0"/>
                            <a:ea typeface="Verdana" panose="020B0604030504040204" pitchFamily="34" charset="0"/>
                          </a:rPr>
                          <m:t>𝑋</m:t>
                        </m:r>
                      </m:e>
                      <m:sub>
                        <m:r>
                          <a:rPr lang="en-GB" sz="2000" i="1" noProof="1" dirty="0" smtClean="0">
                            <a:latin typeface="Cambria Math" panose="02040503050406030204" pitchFamily="18" charset="0"/>
                            <a:ea typeface="Verdana" panose="020B0604030504040204" pitchFamily="34" charset="0"/>
                          </a:rPr>
                          <m:t>𝑖</m:t>
                        </m:r>
                        <m:r>
                          <a:rPr lang="en-GB" sz="2000" i="1" noProof="1" dirty="0" smtClean="0">
                            <a:latin typeface="Cambria Math" panose="02040503050406030204" pitchFamily="18" charset="0"/>
                            <a:ea typeface="Verdana" panose="020B0604030504040204" pitchFamily="34" charset="0"/>
                          </a:rPr>
                          <m:t>,</m:t>
                        </m:r>
                        <m:r>
                          <a:rPr lang="en-GB" sz="2000" i="1" noProof="1" dirty="0" smtClean="0">
                            <a:latin typeface="Cambria Math" panose="02040503050406030204" pitchFamily="18" charset="0"/>
                            <a:ea typeface="Verdana" panose="020B0604030504040204" pitchFamily="34" charset="0"/>
                          </a:rPr>
                          <m:t>𝑡</m:t>
                        </m:r>
                      </m:sub>
                      <m:sup>
                        <m:r>
                          <a:rPr lang="en-GB" sz="2000" i="1" noProof="1" dirty="0" smtClean="0">
                            <a:latin typeface="Cambria Math" panose="02040503050406030204" pitchFamily="18" charset="0"/>
                            <a:ea typeface="Verdana" panose="020B0604030504040204" pitchFamily="34" charset="0"/>
                          </a:rPr>
                          <m:t>ℎ𝑖𝑔ℎ</m:t>
                        </m:r>
                      </m:sup>
                    </m:sSubSup>
                    <m:r>
                      <a:rPr lang="en-GB" sz="2000" b="0" i="1" noProof="1" dirty="0" smtClean="0">
                        <a:latin typeface="Cambria Math" panose="02040503050406030204" pitchFamily="18" charset="0"/>
                        <a:ea typeface="Verdana" panose="020B0604030504040204" pitchFamily="34" charset="0"/>
                      </a:rPr>
                      <m:t>=</m:t>
                    </m:r>
                  </m:oMath>
                </a14:m>
                <a:r>
                  <a:rPr lang="en-GB" sz="2000" noProof="1">
                    <a:ea typeface="Verdana" panose="020B0604030504040204" pitchFamily="34" charset="0"/>
                  </a:rPr>
                  <a:t> </a:t>
                </a:r>
                <a14:m>
                  <m:oMath xmlns:m="http://schemas.openxmlformats.org/officeDocument/2006/math">
                    <m:sSub>
                      <m:sSubPr>
                        <m:ctrlPr>
                          <a:rPr lang="en-GB" sz="2000" i="1" noProof="1" dirty="0" smtClean="0">
                            <a:latin typeface="Cambria Math" panose="02040503050406030204" pitchFamily="18" charset="0"/>
                            <a:ea typeface="Verdana" panose="020B0604030504040204" pitchFamily="34" charset="0"/>
                          </a:rPr>
                        </m:ctrlPr>
                      </m:sSubPr>
                      <m:e>
                        <m:r>
                          <a:rPr lang="en-GB" sz="2000" i="1" noProof="1" dirty="0" smtClean="0">
                            <a:latin typeface="Cambria Math" panose="02040503050406030204" pitchFamily="18" charset="0"/>
                            <a:ea typeface="Verdana" panose="020B0604030504040204" pitchFamily="34" charset="0"/>
                          </a:rPr>
                          <m:t>𝑋</m:t>
                        </m:r>
                      </m:e>
                      <m:sub>
                        <m:r>
                          <a:rPr lang="en-GB" sz="2000" i="1" noProof="1" dirty="0" smtClean="0">
                            <a:latin typeface="Cambria Math" panose="02040503050406030204" pitchFamily="18" charset="0"/>
                            <a:ea typeface="Verdana" panose="020B0604030504040204" pitchFamily="34" charset="0"/>
                          </a:rPr>
                          <m:t>𝑖</m:t>
                        </m:r>
                        <m:r>
                          <a:rPr lang="en-GB" sz="2000" i="1" noProof="1" dirty="0" smtClean="0">
                            <a:latin typeface="Cambria Math" panose="02040503050406030204" pitchFamily="18" charset="0"/>
                            <a:ea typeface="Verdana" panose="020B0604030504040204" pitchFamily="34" charset="0"/>
                          </a:rPr>
                          <m:t>,</m:t>
                        </m:r>
                        <m:r>
                          <a:rPr lang="en-GB" sz="2000" i="1" noProof="1" dirty="0" smtClean="0">
                            <a:latin typeface="Cambria Math" panose="02040503050406030204" pitchFamily="18" charset="0"/>
                            <a:ea typeface="Verdana" panose="020B0604030504040204" pitchFamily="34" charset="0"/>
                          </a:rPr>
                          <m:t>𝑡</m:t>
                        </m:r>
                      </m:sub>
                    </m:sSub>
                  </m:oMath>
                </a14:m>
                <a:r>
                  <a:rPr lang="en-GB" sz="2000" noProof="1"/>
                  <a:t> if </a:t>
                </a:r>
                <a14:m>
                  <m:oMath xmlns:m="http://schemas.openxmlformats.org/officeDocument/2006/math">
                    <m:sSub>
                      <m:sSubPr>
                        <m:ctrlPr>
                          <a:rPr lang="en-GB" sz="2000" i="1" noProof="1" dirty="0" smtClean="0">
                            <a:latin typeface="Cambria Math" panose="02040503050406030204" pitchFamily="18" charset="0"/>
                            <a:ea typeface="Verdana" panose="020B0604030504040204" pitchFamily="34" charset="0"/>
                          </a:rPr>
                        </m:ctrlPr>
                      </m:sSubPr>
                      <m:e>
                        <m:r>
                          <a:rPr lang="en-GB" sz="2000" i="1" noProof="1" dirty="0" smtClean="0">
                            <a:latin typeface="Cambria Math" panose="02040503050406030204" pitchFamily="18" charset="0"/>
                            <a:ea typeface="Verdana" panose="020B0604030504040204" pitchFamily="34" charset="0"/>
                          </a:rPr>
                          <m:t>𝑋</m:t>
                        </m:r>
                      </m:e>
                      <m:sub>
                        <m:r>
                          <a:rPr lang="en-GB" sz="2000" i="1" noProof="1" dirty="0" smtClean="0">
                            <a:latin typeface="Cambria Math" panose="02040503050406030204" pitchFamily="18" charset="0"/>
                            <a:ea typeface="Verdana" panose="020B0604030504040204" pitchFamily="34" charset="0"/>
                          </a:rPr>
                          <m:t>𝑖</m:t>
                        </m:r>
                        <m:r>
                          <a:rPr lang="en-GB" sz="2000" i="1" noProof="1" dirty="0" smtClean="0">
                            <a:latin typeface="Cambria Math" panose="02040503050406030204" pitchFamily="18" charset="0"/>
                            <a:ea typeface="Verdana" panose="020B0604030504040204" pitchFamily="34" charset="0"/>
                          </a:rPr>
                          <m:t>,</m:t>
                        </m:r>
                        <m:r>
                          <a:rPr lang="en-GB" sz="2000" i="1" noProof="1" dirty="0" smtClean="0">
                            <a:latin typeface="Cambria Math" panose="02040503050406030204" pitchFamily="18" charset="0"/>
                            <a:ea typeface="Verdana" panose="020B0604030504040204" pitchFamily="34" charset="0"/>
                          </a:rPr>
                          <m:t>𝑡</m:t>
                        </m:r>
                      </m:sub>
                    </m:sSub>
                    <m:r>
                      <a:rPr lang="en-GB" sz="2000" b="0" i="1" noProof="1" dirty="0" smtClean="0">
                        <a:latin typeface="Cambria Math" panose="02040503050406030204" pitchFamily="18" charset="0"/>
                        <a:ea typeface="Verdana" panose="020B0604030504040204" pitchFamily="34" charset="0"/>
                      </a:rPr>
                      <m:t>&gt;</m:t>
                    </m:r>
                    <m:r>
                      <m:rPr>
                        <m:sty m:val="p"/>
                      </m:rPr>
                      <a:rPr lang="en-GB" sz="2000" b="0" i="0" noProof="1" dirty="0" smtClean="0">
                        <a:latin typeface="Cambria Math" panose="02040503050406030204" pitchFamily="18" charset="0"/>
                        <a:ea typeface="Verdana" panose="020B0604030504040204" pitchFamily="34" charset="0"/>
                      </a:rPr>
                      <m:t>median</m:t>
                    </m:r>
                    <m:d>
                      <m:dPr>
                        <m:ctrlPr>
                          <a:rPr lang="en-GB" sz="2000" b="0" i="1" noProof="1" dirty="0" smtClean="0">
                            <a:latin typeface="Cambria Math" panose="02040503050406030204" pitchFamily="18" charset="0"/>
                            <a:ea typeface="Verdana" panose="020B0604030504040204" pitchFamily="34" charset="0"/>
                          </a:rPr>
                        </m:ctrlPr>
                      </m:dPr>
                      <m:e>
                        <m:r>
                          <a:rPr lang="en-GB" sz="2000" b="0" i="1" noProof="1" dirty="0" smtClean="0">
                            <a:latin typeface="Cambria Math" panose="02040503050406030204" pitchFamily="18" charset="0"/>
                            <a:ea typeface="Verdana" panose="020B0604030504040204" pitchFamily="34" charset="0"/>
                          </a:rPr>
                          <m:t>𝑋</m:t>
                        </m:r>
                      </m:e>
                    </m:d>
                    <m:r>
                      <a:rPr lang="en-GB" sz="2000" b="0" i="1" noProof="1" dirty="0" smtClean="0">
                        <a:latin typeface="Cambria Math" panose="02040503050406030204" pitchFamily="18" charset="0"/>
                        <a:ea typeface="Verdana" panose="020B0604030504040204" pitchFamily="34" charset="0"/>
                      </a:rPr>
                      <m:t>, </m:t>
                    </m:r>
                    <m:r>
                      <m:rPr>
                        <m:sty m:val="p"/>
                      </m:rPr>
                      <a:rPr lang="en-GB" sz="2000" b="0" i="0" noProof="1" dirty="0" smtClean="0">
                        <a:latin typeface="Cambria Math" panose="02040503050406030204" pitchFamily="18" charset="0"/>
                        <a:ea typeface="Verdana" panose="020B0604030504040204" pitchFamily="34" charset="0"/>
                      </a:rPr>
                      <m:t>otherwise</m:t>
                    </m:r>
                    <m:r>
                      <a:rPr lang="en-GB" sz="2000" b="0" i="1" noProof="1" dirty="0" smtClean="0">
                        <a:latin typeface="Cambria Math" panose="02040503050406030204" pitchFamily="18" charset="0"/>
                        <a:ea typeface="Verdana" panose="020B0604030504040204" pitchFamily="34" charset="0"/>
                      </a:rPr>
                      <m:t> 0</m:t>
                    </m:r>
                  </m:oMath>
                </a14:m>
                <a:r>
                  <a:rPr lang="en-GB" sz="2000" noProof="1"/>
                  <a:t> </a:t>
                </a:r>
              </a:p>
              <a:p>
                <a:pPr>
                  <a:lnSpc>
                    <a:spcPct val="120000"/>
                  </a:lnSpc>
                  <a:spcAft>
                    <a:spcPts val="1200"/>
                  </a:spcAft>
                </a:pPr>
                <a14:m>
                  <m:oMath xmlns:m="http://schemas.openxmlformats.org/officeDocument/2006/math">
                    <m:sSub>
                      <m:sSubPr>
                        <m:ctrlPr>
                          <a:rPr lang="en-GB" sz="1900" i="1" noProof="1" dirty="0" smtClean="0">
                            <a:latin typeface="Cambria Math" panose="02040503050406030204" pitchFamily="18" charset="0"/>
                            <a:ea typeface="Verdana" panose="020B0604030504040204" pitchFamily="34" charset="0"/>
                          </a:rPr>
                        </m:ctrlPr>
                      </m:sSubPr>
                      <m:e>
                        <m:r>
                          <a:rPr lang="en-GB" sz="1900" i="1" noProof="1" dirty="0" smtClean="0">
                            <a:latin typeface="Cambria Math" panose="02040503050406030204" pitchFamily="18" charset="0"/>
                            <a:ea typeface="Verdana" panose="020B0604030504040204" pitchFamily="34" charset="0"/>
                          </a:rPr>
                          <m:t>𝐷</m:t>
                        </m:r>
                      </m:e>
                      <m:sub>
                        <m:r>
                          <a:rPr lang="en-GB" sz="1900" i="1" noProof="1" dirty="0" smtClean="0">
                            <a:latin typeface="Cambria Math" panose="02040503050406030204" pitchFamily="18" charset="0"/>
                            <a:ea typeface="Verdana" panose="020B0604030504040204" pitchFamily="34" charset="0"/>
                          </a:rPr>
                          <m:t>𝑡</m:t>
                        </m:r>
                      </m:sub>
                    </m:sSub>
                    <m:r>
                      <a:rPr lang="en-GB" sz="1900" b="0" i="1" noProof="1" dirty="0" smtClean="0">
                        <a:latin typeface="Cambria Math" panose="02040503050406030204" pitchFamily="18" charset="0"/>
                        <a:ea typeface="Verdana" panose="020B0604030504040204" pitchFamily="34" charset="0"/>
                      </a:rPr>
                      <m:t> </m:t>
                    </m:r>
                  </m:oMath>
                </a14:m>
                <a:r>
                  <a:rPr lang="en-GB" sz="1800" noProof="1">
                    <a:solidFill>
                      <a:schemeClr val="tx1"/>
                    </a:solidFill>
                  </a:rPr>
                  <a:t>is dummy (</a:t>
                </a:r>
                <a14:m>
                  <m:oMath xmlns:m="http://schemas.openxmlformats.org/officeDocument/2006/math">
                    <m:sSub>
                      <m:sSubPr>
                        <m:ctrlPr>
                          <a:rPr lang="en-GB" sz="1900" i="1" noProof="1" dirty="0" smtClean="0">
                            <a:latin typeface="Cambria Math" panose="02040503050406030204" pitchFamily="18" charset="0"/>
                            <a:ea typeface="Verdana" panose="020B0604030504040204" pitchFamily="34" charset="0"/>
                          </a:rPr>
                        </m:ctrlPr>
                      </m:sSubPr>
                      <m:e>
                        <m:r>
                          <a:rPr lang="en-GB" sz="1900" i="1" noProof="1" dirty="0" smtClean="0">
                            <a:latin typeface="Cambria Math" panose="02040503050406030204" pitchFamily="18" charset="0"/>
                            <a:ea typeface="Verdana" panose="020B0604030504040204" pitchFamily="34" charset="0"/>
                          </a:rPr>
                          <m:t>𝐷</m:t>
                        </m:r>
                      </m:e>
                      <m:sub>
                        <m:r>
                          <a:rPr lang="en-GB" sz="1900" i="1" noProof="1" dirty="0" smtClean="0">
                            <a:latin typeface="Cambria Math" panose="02040503050406030204" pitchFamily="18" charset="0"/>
                            <a:ea typeface="Verdana" panose="020B0604030504040204" pitchFamily="34" charset="0"/>
                          </a:rPr>
                          <m:t>𝑡</m:t>
                        </m:r>
                      </m:sub>
                    </m:sSub>
                    <m:r>
                      <a:rPr lang="en-GB" sz="1900" b="0" i="1" noProof="1" dirty="0" smtClean="0">
                        <a:latin typeface="Cambria Math" panose="02040503050406030204" pitchFamily="18" charset="0"/>
                        <a:ea typeface="Verdana" panose="020B0604030504040204" pitchFamily="34" charset="0"/>
                      </a:rPr>
                      <m:t>=1 </m:t>
                    </m:r>
                  </m:oMath>
                </a14:m>
                <a:r>
                  <a:rPr lang="en-GB" sz="1800" noProof="1"/>
                  <a:t>for shock years, otherwise 0); </a:t>
                </a:r>
                <a14:m>
                  <m:oMath xmlns:m="http://schemas.openxmlformats.org/officeDocument/2006/math">
                    <m:sSub>
                      <m:sSubPr>
                        <m:ctrlPr>
                          <a:rPr lang="en-GB" sz="1900" i="1" noProof="1" dirty="0" smtClean="0">
                            <a:latin typeface="Cambria Math" panose="02040503050406030204" pitchFamily="18" charset="0"/>
                            <a:ea typeface="Verdana" panose="020B0604030504040204" pitchFamily="34" charset="0"/>
                          </a:rPr>
                        </m:ctrlPr>
                      </m:sSubPr>
                      <m:e>
                        <m:r>
                          <a:rPr lang="en-GB" sz="1900" i="1" noProof="1" dirty="0" smtClean="0">
                            <a:latin typeface="Cambria Math" panose="02040503050406030204" pitchFamily="18" charset="0"/>
                            <a:ea typeface="Verdana" panose="020B0604030504040204" pitchFamily="34" charset="0"/>
                          </a:rPr>
                          <m:t> </m:t>
                        </m:r>
                        <m:r>
                          <a:rPr lang="en-GB" sz="1900" i="1" noProof="1" dirty="0" smtClean="0">
                            <a:latin typeface="Cambria Math" panose="02040503050406030204" pitchFamily="18" charset="0"/>
                            <a:ea typeface="Verdana" panose="020B0604030504040204" pitchFamily="34" charset="0"/>
                          </a:rPr>
                          <m:t>𝑍</m:t>
                        </m:r>
                      </m:e>
                      <m:sub>
                        <m:r>
                          <a:rPr lang="en-GB" sz="1900" i="1" noProof="1" dirty="0" smtClean="0">
                            <a:latin typeface="Cambria Math" panose="02040503050406030204" pitchFamily="18" charset="0"/>
                            <a:ea typeface="Verdana" panose="020B0604030504040204" pitchFamily="34" charset="0"/>
                          </a:rPr>
                          <m:t>𝑖</m:t>
                        </m:r>
                        <m:r>
                          <a:rPr lang="en-GB" sz="1900" i="1" noProof="1" dirty="0" smtClean="0">
                            <a:latin typeface="Cambria Math" panose="02040503050406030204" pitchFamily="18" charset="0"/>
                            <a:ea typeface="Verdana" panose="020B0604030504040204" pitchFamily="34" charset="0"/>
                          </a:rPr>
                          <m:t>,</m:t>
                        </m:r>
                        <m:r>
                          <a:rPr lang="en-GB" sz="1900" i="1" noProof="1" dirty="0" smtClean="0">
                            <a:latin typeface="Cambria Math" panose="02040503050406030204" pitchFamily="18" charset="0"/>
                            <a:ea typeface="Verdana" panose="020B0604030504040204" pitchFamily="34" charset="0"/>
                          </a:rPr>
                          <m:t>𝑡</m:t>
                        </m:r>
                      </m:sub>
                    </m:sSub>
                  </m:oMath>
                </a14:m>
                <a:r>
                  <a:rPr lang="en-GB" sz="1800" noProof="1">
                    <a:solidFill>
                      <a:schemeClr val="tx1"/>
                    </a:solidFill>
                  </a:rPr>
                  <a:t> control variables</a:t>
                </a:r>
              </a:p>
              <a:p>
                <a:pPr>
                  <a:lnSpc>
                    <a:spcPct val="120000"/>
                  </a:lnSpc>
                  <a:spcAft>
                    <a:spcPts val="1200"/>
                  </a:spcAft>
                </a:pPr>
                <a:r>
                  <a:rPr lang="en-GB" sz="1800" noProof="1"/>
                  <a:t>		</a:t>
                </a:r>
                <a:endParaRPr lang="en-GB" sz="1800" noProof="1">
                  <a:solidFill>
                    <a:schemeClr val="tx1"/>
                  </a:solidFill>
                </a:endParaRPr>
              </a:p>
              <a:p>
                <a:pPr>
                  <a:lnSpc>
                    <a:spcPct val="120000"/>
                  </a:lnSpc>
                  <a:spcAft>
                    <a:spcPts val="1200"/>
                  </a:spcAft>
                </a:pPr>
                <a:endParaRPr lang="en-GB" sz="1800" noProof="1">
                  <a:solidFill>
                    <a:schemeClr val="tx1"/>
                  </a:solidFill>
                </a:endParaRPr>
              </a:p>
            </p:txBody>
          </p:sp>
        </mc:Choice>
        <mc:Fallback xmlns="">
          <p:sp>
            <p:nvSpPr>
              <p:cNvPr id="2" name="Content Placeholder 2">
                <a:extLst>
                  <a:ext uri="{FF2B5EF4-FFF2-40B4-BE49-F238E27FC236}">
                    <a16:creationId xmlns:a16="http://schemas.microsoft.com/office/drawing/2014/main" id="{6B853D72-57E4-54DF-F916-E87E4C65C99E}"/>
                  </a:ext>
                </a:extLst>
              </p:cNvPr>
              <p:cNvSpPr>
                <a:spLocks noGrp="1" noRot="1" noChangeAspect="1" noMove="1" noResize="1" noEditPoints="1" noAdjustHandles="1" noChangeArrowheads="1" noChangeShapeType="1" noTextEdit="1"/>
              </p:cNvSpPr>
              <p:nvPr>
                <p:ph idx="1"/>
              </p:nvPr>
            </p:nvSpPr>
            <p:spPr>
              <a:xfrm>
                <a:off x="347472" y="935390"/>
                <a:ext cx="8723376" cy="6087202"/>
              </a:xfrm>
              <a:blipFill>
                <a:blip r:embed="rId3"/>
                <a:stretch>
                  <a:fillRect l="-1747" t="-1301"/>
                </a:stretch>
              </a:blipFill>
            </p:spPr>
            <p:txBody>
              <a:bodyPr/>
              <a:lstStyle/>
              <a:p>
                <a:r>
                  <a:rPr lang="en-GB">
                    <a:noFill/>
                  </a:rPr>
                  <a:t> </a:t>
                </a:r>
              </a:p>
            </p:txBody>
          </p:sp>
        </mc:Fallback>
      </mc:AlternateContent>
    </p:spTree>
    <p:extLst>
      <p:ext uri="{BB962C8B-B14F-4D97-AF65-F5344CB8AC3E}">
        <p14:creationId xmlns:p14="http://schemas.microsoft.com/office/powerpoint/2010/main" val="5156658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027D3-935D-C730-7AF0-AF109ECE8EC5}"/>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784B30AC-5ECB-6948-E309-0039374246EA}"/>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Results LPM models</a:t>
            </a:r>
          </a:p>
        </p:txBody>
      </p:sp>
      <p:sp>
        <p:nvSpPr>
          <p:cNvPr id="2" name="Content Placeholder 2">
            <a:extLst>
              <a:ext uri="{FF2B5EF4-FFF2-40B4-BE49-F238E27FC236}">
                <a16:creationId xmlns:a16="http://schemas.microsoft.com/office/drawing/2014/main" id="{9D7DFCD1-CA74-2C76-7A49-94B41E557F74}"/>
              </a:ext>
            </a:extLst>
          </p:cNvPr>
          <p:cNvSpPr>
            <a:spLocks noGrp="1"/>
          </p:cNvSpPr>
          <p:nvPr>
            <p:ph idx="1"/>
          </p:nvPr>
        </p:nvSpPr>
        <p:spPr>
          <a:xfrm>
            <a:off x="105536" y="1016441"/>
            <a:ext cx="8756744" cy="5679439"/>
          </a:xfrm>
        </p:spPr>
        <p:txBody>
          <a:bodyPr>
            <a:norm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investment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positive average effect on growth surprises</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trade exposure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additional effect on positive growth surprise in shock years, confirming the unconditional tests</a:t>
            </a:r>
          </a:p>
          <a:p>
            <a:pPr>
              <a:lnSpc>
                <a:spcPct val="120000"/>
              </a:lnSpc>
              <a:spcAft>
                <a:spcPts val="1200"/>
              </a:spcAft>
            </a:pPr>
            <a:endParaRPr lang="nl-NL" sz="1600" dirty="0">
              <a:solidFill>
                <a:schemeClr val="accent1">
                  <a:lumMod val="50000"/>
                </a:schemeClr>
              </a:solidFill>
            </a:endParaRPr>
          </a:p>
        </p:txBody>
      </p:sp>
      <mc:AlternateContent xmlns:mc="http://schemas.openxmlformats.org/markup-compatibility/2006" xmlns:a14="http://schemas.microsoft.com/office/drawing/2010/main">
        <mc:Choice Requires="a14">
          <p:sp>
            <p:nvSpPr>
              <p:cNvPr id="6" name="Tekstvak 3">
                <a:extLst>
                  <a:ext uri="{FF2B5EF4-FFF2-40B4-BE49-F238E27FC236}">
                    <a16:creationId xmlns:a16="http://schemas.microsoft.com/office/drawing/2014/main" id="{4ED6076C-5ED2-F560-9ECC-68A359BFC0CA}"/>
                  </a:ext>
                </a:extLst>
              </p:cNvPr>
              <p:cNvSpPr txBox="1"/>
              <p:nvPr/>
            </p:nvSpPr>
            <p:spPr>
              <a:xfrm>
                <a:off x="197589" y="4744958"/>
                <a:ext cx="8664691" cy="1453924"/>
              </a:xfrm>
              <a:prstGeom prst="rect">
                <a:avLst/>
              </a:prstGeom>
              <a:noFill/>
            </p:spPr>
            <p:txBody>
              <a:bodyPr wrap="square" rtlCol="0">
                <a:spAutoFit/>
              </a:bodyPr>
              <a:lstStyle/>
              <a:p>
                <a:pPr algn="just">
                  <a:defRPr/>
                </a:pPr>
                <a:r>
                  <a:rPr lang="nl-NL" sz="1100" noProof="1">
                    <a:solidFill>
                      <a:srgbClr val="002060"/>
                    </a:solidFill>
                  </a:rPr>
                  <a:t>Average marginal effect (AME) of 1 stdev change of ICT/AI variable. ***, **, * indicate 1%, 5%, 10% significance. Standard errors based on country-clustered sandwich covariance matrix (robust to heteroscedasticity and within country dependence, so countries (clusters) are assumed independent of each other). </a:t>
                </a:r>
                <a:r>
                  <a:rPr lang="en-US" sz="1100" noProof="1">
                    <a:solidFill>
                      <a:srgbClr val="002060"/>
                    </a:solidFill>
                  </a:rPr>
                  <a:t>Explanatory variables are standardised and included one period lagged (to address endogeneity concerns and numerator effects in the ratios based on GDP as numerator). In each equation, one of the AI/ICT-related variables is included in </a:t>
                </a:r>
                <a14:m>
                  <m:oMath xmlns:m="http://schemas.openxmlformats.org/officeDocument/2006/math">
                    <m:sSub>
                      <m:sSubPr>
                        <m:ctrlPr>
                          <a:rPr lang="en-US" sz="1100" i="1" noProof="1">
                            <a:latin typeface="Cambria Math" panose="02040503050406030204" pitchFamily="18" charset="0"/>
                            <a:ea typeface="Verdana" panose="020B0604030504040204" pitchFamily="34" charset="0"/>
                          </a:rPr>
                        </m:ctrlPr>
                      </m:sSubPr>
                      <m:e>
                        <m:r>
                          <a:rPr lang="en-US" sz="1100" i="1" noProof="1">
                            <a:latin typeface="Cambria Math" panose="02040503050406030204" pitchFamily="18" charset="0"/>
                            <a:ea typeface="Verdana" panose="020B0604030504040204" pitchFamily="34" charset="0"/>
                          </a:rPr>
                          <m:t>𝑋</m:t>
                        </m:r>
                      </m:e>
                      <m:sub>
                        <m:r>
                          <a:rPr lang="en-US" sz="1100" i="1" noProof="1">
                            <a:latin typeface="Cambria Math" panose="02040503050406030204" pitchFamily="18" charset="0"/>
                            <a:ea typeface="Verdana" panose="020B0604030504040204" pitchFamily="34" charset="0"/>
                          </a:rPr>
                          <m:t>𝑖</m:t>
                        </m:r>
                        <m:r>
                          <a:rPr lang="en-US" sz="1100" i="1" noProof="1">
                            <a:latin typeface="Cambria Math" panose="02040503050406030204" pitchFamily="18" charset="0"/>
                            <a:ea typeface="Verdana" panose="020B0604030504040204" pitchFamily="34" charset="0"/>
                          </a:rPr>
                          <m:t>,</m:t>
                        </m:r>
                        <m:r>
                          <a:rPr lang="en-US" sz="1100" i="1" noProof="1">
                            <a:latin typeface="Cambria Math" panose="02040503050406030204" pitchFamily="18" charset="0"/>
                            <a:ea typeface="Verdana" panose="020B0604030504040204" pitchFamily="34" charset="0"/>
                          </a:rPr>
                          <m:t>𝑡</m:t>
                        </m:r>
                      </m:sub>
                    </m:sSub>
                    <m:r>
                      <a:rPr lang="en-US" sz="1100" b="0" i="0" noProof="1" smtClean="0">
                        <a:latin typeface="Cambria Math" panose="02040503050406030204" pitchFamily="18" charset="0"/>
                        <a:ea typeface="Verdana" panose="020B0604030504040204" pitchFamily="34" charset="0"/>
                      </a:rPr>
                      <m:t>.</m:t>
                    </m:r>
                  </m:oMath>
                </a14:m>
                <a:r>
                  <a:rPr lang="en-US" sz="1100" noProof="1">
                    <a:solidFill>
                      <a:srgbClr val="002060"/>
                    </a:solidFill>
                  </a:rPr>
                  <a:t> As control variables are included i) state aid as ratio of GDP (contemporaneous value of state aid and one period lagged GDP, source </a:t>
                </a:r>
                <a:r>
                  <a:rPr lang="en-US" sz="1100" noProof="1">
                    <a:solidFill>
                      <a:srgbClr val="002060"/>
                    </a:solidFill>
                    <a:hlinkClick r:id="rId3"/>
                  </a:rPr>
                  <a:t>Eurostat</a:t>
                </a:r>
                <a:r>
                  <a:rPr lang="en-US" sz="1100" noProof="1">
                    <a:solidFill>
                      <a:srgbClr val="002060"/>
                    </a:solidFill>
                  </a:rPr>
                  <a:t>); ii) trade openness (exports + imports over GDP, source Worldbank); iii) forecast-vintage controls, with a dummy for Autumn forecasts. a dummy for t+1 forecasts and for their interaction. </a:t>
                </a:r>
                <a:endParaRPr lang="nl-NL" sz="1100" noProof="1">
                  <a:solidFill>
                    <a:srgbClr val="002060"/>
                  </a:solidFill>
                </a:endParaRPr>
              </a:p>
            </p:txBody>
          </p:sp>
        </mc:Choice>
        <mc:Fallback xmlns="">
          <p:sp>
            <p:nvSpPr>
              <p:cNvPr id="6" name="Tekstvak 3">
                <a:extLst>
                  <a:ext uri="{FF2B5EF4-FFF2-40B4-BE49-F238E27FC236}">
                    <a16:creationId xmlns:a16="http://schemas.microsoft.com/office/drawing/2014/main" id="{4ED6076C-5ED2-F560-9ECC-68A359BFC0CA}"/>
                  </a:ext>
                </a:extLst>
              </p:cNvPr>
              <p:cNvSpPr txBox="1">
                <a:spLocks noRot="1" noChangeAspect="1" noMove="1" noResize="1" noEditPoints="1" noAdjustHandles="1" noChangeArrowheads="1" noChangeShapeType="1" noTextEdit="1"/>
              </p:cNvSpPr>
              <p:nvPr/>
            </p:nvSpPr>
            <p:spPr>
              <a:xfrm>
                <a:off x="197589" y="4744958"/>
                <a:ext cx="8664691" cy="1453924"/>
              </a:xfrm>
              <a:prstGeom prst="rect">
                <a:avLst/>
              </a:prstGeom>
              <a:blipFill>
                <a:blip r:embed="rId4"/>
                <a:stretch>
                  <a:fillRect b="-1674"/>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CC406C6F-97A4-2854-9FCD-FD08F187902C}"/>
              </a:ext>
            </a:extLst>
          </p:cNvPr>
          <p:cNvPicPr>
            <a:picLocks noChangeAspect="1"/>
          </p:cNvPicPr>
          <p:nvPr/>
        </p:nvPicPr>
        <p:blipFill>
          <a:blip r:embed="rId5"/>
          <a:stretch>
            <a:fillRect/>
          </a:stretch>
        </p:blipFill>
        <p:spPr>
          <a:xfrm>
            <a:off x="3441776" y="2435733"/>
            <a:ext cx="5136134" cy="2169414"/>
          </a:xfrm>
          <a:prstGeom prst="rect">
            <a:avLst/>
          </a:prstGeom>
        </p:spPr>
      </p:pic>
      <p:pic>
        <p:nvPicPr>
          <p:cNvPr id="5" name="Picture 4">
            <a:extLst>
              <a:ext uri="{FF2B5EF4-FFF2-40B4-BE49-F238E27FC236}">
                <a16:creationId xmlns:a16="http://schemas.microsoft.com/office/drawing/2014/main" id="{E062AC67-D726-4D45-300A-EB28E70BA46D}"/>
              </a:ext>
            </a:extLst>
          </p:cNvPr>
          <p:cNvPicPr>
            <a:picLocks noChangeAspect="1"/>
          </p:cNvPicPr>
          <p:nvPr/>
        </p:nvPicPr>
        <p:blipFill>
          <a:blip r:embed="rId6"/>
          <a:stretch>
            <a:fillRect/>
          </a:stretch>
        </p:blipFill>
        <p:spPr>
          <a:xfrm>
            <a:off x="448818" y="2435733"/>
            <a:ext cx="3077972" cy="2169414"/>
          </a:xfrm>
          <a:prstGeom prst="rect">
            <a:avLst/>
          </a:prstGeom>
        </p:spPr>
      </p:pic>
    </p:spTree>
    <p:extLst>
      <p:ext uri="{BB962C8B-B14F-4D97-AF65-F5344CB8AC3E}">
        <p14:creationId xmlns:p14="http://schemas.microsoft.com/office/powerpoint/2010/main" val="9091460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B21DBA-7690-8D1C-0099-C415D51B024D}"/>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B1A8A21F-73A6-21A9-7607-658345AEC559}"/>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Correlated random-effects probit models (CRE)</a:t>
            </a:r>
          </a:p>
        </p:txBody>
      </p:sp>
      <mc:AlternateContent xmlns:mc="http://schemas.openxmlformats.org/markup-compatibility/2006">
        <mc:Choice xmlns:a14="http://schemas.microsoft.com/office/drawing/2010/main" Requires="a14">
          <p:sp>
            <p:nvSpPr>
              <p:cNvPr id="2" name="Content Placeholder 2">
                <a:extLst>
                  <a:ext uri="{FF2B5EF4-FFF2-40B4-BE49-F238E27FC236}">
                    <a16:creationId xmlns:a16="http://schemas.microsoft.com/office/drawing/2014/main" id="{4E2FFC46-D6F5-41BF-DECB-9FA98C0F56DD}"/>
                  </a:ext>
                </a:extLst>
              </p:cNvPr>
              <p:cNvSpPr>
                <a:spLocks noGrp="1"/>
              </p:cNvSpPr>
              <p:nvPr>
                <p:ph idx="1"/>
              </p:nvPr>
            </p:nvSpPr>
            <p:spPr>
              <a:xfrm>
                <a:off x="310896" y="877824"/>
                <a:ext cx="8723376" cy="6364224"/>
              </a:xfrm>
            </p:spPr>
            <p:txBody>
              <a:bodyPr>
                <a:normAutofit fontScale="85000" lnSpcReduction="10000"/>
              </a:bodyPr>
              <a:lstStyle/>
              <a:p>
                <a:pPr>
                  <a:lnSpc>
                    <a:spcPct val="120000"/>
                  </a:lnSpc>
                  <a:spcAft>
                    <a:spcPts val="300"/>
                  </a:spcAft>
                </a:pPr>
                <a:r>
                  <a:rPr lang="en-GB" sz="2400" noProof="1">
                    <a:latin typeface="Verdana" panose="020B0604030504040204" pitchFamily="34" charset="0"/>
                    <a:ea typeface="Verdana" panose="020B0604030504040204" pitchFamily="34" charset="0"/>
                  </a:rPr>
                  <a:t>1. Overall association (</a:t>
                </a:r>
                <a14:m>
                  <m:oMath xmlns:m="http://schemas.openxmlformats.org/officeDocument/2006/math">
                    <m:sSub>
                      <m:sSubPr>
                        <m:ctrlPr>
                          <a:rPr lang="en-GB" sz="2400" i="1" noProof="1">
                            <a:latin typeface="Cambria Math" panose="02040503050406030204" pitchFamily="18" charset="0"/>
                            <a:ea typeface="Cambria Math" panose="02040503050406030204" pitchFamily="18" charset="0"/>
                          </a:rPr>
                        </m:ctrlPr>
                      </m:sSubPr>
                      <m:e>
                        <m:r>
                          <a:rPr lang="en-GB" sz="2400" i="1" noProof="1">
                            <a:latin typeface="Cambria Math" panose="02040503050406030204" pitchFamily="18" charset="0"/>
                            <a:ea typeface="Cambria Math" panose="02040503050406030204" pitchFamily="18" charset="0"/>
                          </a:rPr>
                          <m:t>𝛽</m:t>
                        </m:r>
                      </m:e>
                      <m:sub>
                        <m:r>
                          <a:rPr lang="en-GB" sz="2400" i="1" noProof="1">
                            <a:latin typeface="Cambria Math" panose="02040503050406030204" pitchFamily="18" charset="0"/>
                            <a:ea typeface="Verdana" panose="020B0604030504040204" pitchFamily="34" charset="0"/>
                          </a:rPr>
                          <m:t>𝑤</m:t>
                        </m:r>
                      </m:sub>
                    </m:sSub>
                  </m:oMath>
                </a14:m>
                <a:r>
                  <a:rPr lang="en-GB" sz="2400" noProof="1">
                    <a:latin typeface="Verdana" panose="020B0604030504040204" pitchFamily="34" charset="0"/>
                    <a:ea typeface="Verdana" panose="020B0604030504040204" pitchFamily="34" charset="0"/>
                  </a:rPr>
                  <a:t>) with ICT/AI in all years</a:t>
                </a:r>
              </a:p>
              <a:p>
                <a:pPr>
                  <a:lnSpc>
                    <a:spcPct val="120000"/>
                  </a:lnSpc>
                  <a:spcAft>
                    <a:spcPts val="300"/>
                  </a:spcAft>
                </a:pPr>
                <a:r>
                  <a:rPr lang="en-GB" sz="2400" b="0" noProof="1">
                    <a:solidFill>
                      <a:schemeClr val="tx1"/>
                    </a:solidFill>
                    <a:ea typeface="Verdana" panose="020B0604030504040204" pitchFamily="34" charset="0"/>
                  </a:rPr>
                  <a:t>	</a:t>
                </a:r>
                <a14:m>
                  <m:oMath xmlns:m="http://schemas.openxmlformats.org/officeDocument/2006/math">
                    <m:sSub>
                      <m:sSubPr>
                        <m:ctrlPr>
                          <a:rPr lang="en-GB" sz="2600" b="0" i="1" noProof="1" smtClean="0">
                            <a:solidFill>
                              <a:schemeClr val="tx1"/>
                            </a:solidFill>
                            <a:latin typeface="Cambria Math" panose="02040503050406030204" pitchFamily="18" charset="0"/>
                            <a:ea typeface="Verdana" panose="020B0604030504040204" pitchFamily="34" charset="0"/>
                          </a:rPr>
                        </m:ctrlPr>
                      </m:sSubPr>
                      <m:e>
                        <m:r>
                          <a:rPr lang="en-GB" sz="2600" b="0" i="1" noProof="1" smtClean="0">
                            <a:solidFill>
                              <a:schemeClr val="tx1"/>
                            </a:solidFill>
                            <a:latin typeface="Cambria Math" panose="02040503050406030204" pitchFamily="18" charset="0"/>
                            <a:ea typeface="Verdana" panose="020B0604030504040204" pitchFamily="34" charset="0"/>
                          </a:rPr>
                          <m:t>𝑃</m:t>
                        </m:r>
                        <m:r>
                          <a:rPr lang="en-GB" sz="2600" b="0" i="1" noProof="1" smtClean="0">
                            <a:solidFill>
                              <a:schemeClr val="tx1"/>
                            </a:solidFill>
                            <a:latin typeface="Cambria Math" panose="02040503050406030204" pitchFamily="18" charset="0"/>
                            <a:ea typeface="Verdana" panose="020B0604030504040204" pitchFamily="34" charset="0"/>
                          </a:rPr>
                          <m:t>(</m:t>
                        </m:r>
                        <m:r>
                          <a:rPr lang="en-GB" sz="2600" b="0" i="1" noProof="1" smtClean="0">
                            <a:solidFill>
                              <a:schemeClr val="tx1"/>
                            </a:solidFill>
                            <a:latin typeface="Cambria Math" panose="02040503050406030204" pitchFamily="18" charset="0"/>
                            <a:ea typeface="Verdana" panose="020B0604030504040204" pitchFamily="34" charset="0"/>
                          </a:rPr>
                          <m:t>𝑆</m:t>
                        </m:r>
                      </m:e>
                      <m:sub>
                        <m:r>
                          <a:rPr lang="en-GB" sz="2600" b="0" i="1" noProof="1" smtClean="0">
                            <a:solidFill>
                              <a:schemeClr val="tx1"/>
                            </a:solidFill>
                            <a:latin typeface="Cambria Math" panose="02040503050406030204" pitchFamily="18" charset="0"/>
                            <a:ea typeface="Verdana" panose="020B0604030504040204" pitchFamily="34" charset="0"/>
                          </a:rPr>
                          <m:t>𝑖</m:t>
                        </m:r>
                        <m:r>
                          <a:rPr lang="en-GB" sz="2600" b="0" i="1" noProof="1" smtClean="0">
                            <a:solidFill>
                              <a:schemeClr val="tx1"/>
                            </a:solidFill>
                            <a:latin typeface="Cambria Math" panose="02040503050406030204" pitchFamily="18" charset="0"/>
                            <a:ea typeface="Verdana" panose="020B0604030504040204" pitchFamily="34" charset="0"/>
                          </a:rPr>
                          <m:t>,</m:t>
                        </m:r>
                        <m:r>
                          <a:rPr lang="en-GB" sz="2600" b="0" i="1" noProof="1" smtClean="0">
                            <a:solidFill>
                              <a:schemeClr val="tx1"/>
                            </a:solidFill>
                            <a:latin typeface="Cambria Math" panose="02040503050406030204" pitchFamily="18" charset="0"/>
                            <a:ea typeface="Verdana" panose="020B0604030504040204" pitchFamily="34" charset="0"/>
                          </a:rPr>
                          <m:t>𝑡</m:t>
                        </m:r>
                      </m:sub>
                    </m:sSub>
                    <m:r>
                      <a:rPr lang="en-GB" sz="2600" b="0" i="1" noProof="1" smtClean="0">
                        <a:solidFill>
                          <a:schemeClr val="tx1"/>
                        </a:solidFill>
                        <a:latin typeface="Cambria Math" panose="02040503050406030204" pitchFamily="18" charset="0"/>
                        <a:ea typeface="Verdana" panose="020B0604030504040204" pitchFamily="34" charset="0"/>
                      </a:rPr>
                      <m:t>=1| </m:t>
                    </m:r>
                    <m:r>
                      <a:rPr lang="en-GB" sz="2600" b="0" i="1" noProof="1" smtClean="0">
                        <a:solidFill>
                          <a:schemeClr val="tx1"/>
                        </a:solidFill>
                        <a:latin typeface="Cambria Math" panose="02040503050406030204" pitchFamily="18" charset="0"/>
                        <a:ea typeface="Verdana" panose="020B0604030504040204" pitchFamily="34" charset="0"/>
                      </a:rPr>
                      <m:t>𝑋</m:t>
                    </m:r>
                    <m:r>
                      <a:rPr lang="en-GB" sz="2600" b="0" i="1" noProof="1" smtClean="0">
                        <a:solidFill>
                          <a:schemeClr val="tx1"/>
                        </a:solidFill>
                        <a:latin typeface="Cambria Math" panose="02040503050406030204" pitchFamily="18" charset="0"/>
                        <a:ea typeface="Verdana" panose="020B0604030504040204" pitchFamily="34" charset="0"/>
                      </a:rPr>
                      <m:t>, </m:t>
                    </m:r>
                    <m:r>
                      <a:rPr lang="en-GB" sz="2600" b="0" i="1" noProof="1" smtClean="0">
                        <a:solidFill>
                          <a:schemeClr val="tx1"/>
                        </a:solidFill>
                        <a:latin typeface="Cambria Math" panose="02040503050406030204" pitchFamily="18" charset="0"/>
                        <a:ea typeface="Verdana" panose="020B0604030504040204" pitchFamily="34" charset="0"/>
                      </a:rPr>
                      <m:t>𝑍</m:t>
                    </m:r>
                    <m:r>
                      <a:rPr lang="en-GB" sz="2600" b="0" i="1" noProof="1" smtClean="0">
                        <a:solidFill>
                          <a:schemeClr val="tx1"/>
                        </a:solidFill>
                        <a:latin typeface="Cambria Math" panose="02040503050406030204" pitchFamily="18" charset="0"/>
                        <a:ea typeface="Verdana" panose="020B0604030504040204" pitchFamily="34" charset="0"/>
                      </a:rPr>
                      <m:t>,</m:t>
                    </m:r>
                    <m:sSub>
                      <m:sSubPr>
                        <m:ctrlPr>
                          <a:rPr lang="en-GB" sz="2800" i="1" noProof="1" dirty="0">
                            <a:latin typeface="Cambria Math" panose="02040503050406030204" pitchFamily="18" charset="0"/>
                            <a:ea typeface="Cambria Math" panose="02040503050406030204" pitchFamily="18" charset="0"/>
                          </a:rPr>
                        </m:ctrlPr>
                      </m:sSubPr>
                      <m:e>
                        <m:r>
                          <a:rPr lang="en-GB" sz="2800" i="1" noProof="1" dirty="0">
                            <a:latin typeface="Cambria Math" panose="02040503050406030204" pitchFamily="18" charset="0"/>
                            <a:ea typeface="Cambria Math" panose="02040503050406030204" pitchFamily="18" charset="0"/>
                          </a:rPr>
                          <m:t>𝛼</m:t>
                        </m:r>
                      </m:e>
                      <m:sub>
                        <m:r>
                          <a:rPr lang="en-GB" sz="2600" i="1" noProof="1" smtClean="0">
                            <a:latin typeface="Cambria Math" panose="02040503050406030204" pitchFamily="18" charset="0"/>
                            <a:ea typeface="Verdana" panose="020B0604030504040204" pitchFamily="34" charset="0"/>
                          </a:rPr>
                          <m:t>𝑖</m:t>
                        </m:r>
                      </m:sub>
                    </m:sSub>
                    <m:r>
                      <a:rPr lang="en-GB" sz="2600" b="0" i="1" noProof="1" smtClean="0">
                        <a:latin typeface="Cambria Math" panose="02040503050406030204" pitchFamily="18" charset="0"/>
                        <a:ea typeface="Verdana" panose="020B0604030504040204" pitchFamily="34" charset="0"/>
                      </a:rPr>
                      <m:t>)</m:t>
                    </m:r>
                    <m:r>
                      <a:rPr lang="en-GB" sz="2600" i="1" noProof="1" smtClean="0">
                        <a:solidFill>
                          <a:schemeClr val="tx1"/>
                        </a:solidFill>
                        <a:latin typeface="Cambria Math" panose="02040503050406030204" pitchFamily="18" charset="0"/>
                        <a:ea typeface="Verdana" panose="020B0604030504040204" pitchFamily="34" charset="0"/>
                      </a:rPr>
                      <m:t>=</m:t>
                    </m:r>
                    <m:r>
                      <a:rPr lang="en-GB" sz="2800" i="1" noProof="1" dirty="0">
                        <a:latin typeface="Cambria Math" panose="02040503050406030204" pitchFamily="18" charset="0"/>
                        <a:ea typeface="Cambria Math" panose="02040503050406030204" pitchFamily="18" charset="0"/>
                      </a:rPr>
                      <m:t>𝛼</m:t>
                    </m:r>
                  </m:oMath>
                </a14:m>
                <a:r>
                  <a:rPr lang="en-GB" sz="2600" noProof="1">
                    <a:latin typeface="Cambria Math" panose="02040503050406030204" pitchFamily="18" charset="0"/>
                    <a:ea typeface="Cambria Math" panose="02040503050406030204" pitchFamily="18" charset="0"/>
                  </a:rPr>
                  <a:t> +</a:t>
                </a:r>
                <a14:m>
                  <m:oMath xmlns:m="http://schemas.openxmlformats.org/officeDocument/2006/math">
                    <m:r>
                      <a:rPr lang="en-US" sz="2600" b="0" i="0" noProof="1" smtClean="0">
                        <a:latin typeface="Cambria Math" panose="02040503050406030204" pitchFamily="18" charset="0"/>
                        <a:ea typeface="Cambria Math" panose="02040503050406030204" pitchFamily="18" charset="0"/>
                      </a:rPr>
                      <m:t> </m:t>
                    </m:r>
                    <m:sSub>
                      <m:sSubPr>
                        <m:ctrlPr>
                          <a:rPr lang="en-GB" sz="2800" i="1" noProof="1" dirty="0">
                            <a:latin typeface="Cambria Math" panose="02040503050406030204" pitchFamily="18" charset="0"/>
                            <a:ea typeface="Cambria Math" panose="02040503050406030204" pitchFamily="18" charset="0"/>
                          </a:rPr>
                        </m:ctrlPr>
                      </m:sSubPr>
                      <m:e>
                        <m:r>
                          <a:rPr lang="en-GB" sz="2800" i="1" noProof="1" dirty="0">
                            <a:latin typeface="Cambria Math" panose="02040503050406030204" pitchFamily="18" charset="0"/>
                            <a:ea typeface="Cambria Math" panose="02040503050406030204" pitchFamily="18" charset="0"/>
                          </a:rPr>
                          <m:t>𝛼</m:t>
                        </m:r>
                      </m:e>
                      <m:sub>
                        <m:r>
                          <a:rPr lang="en-GB" sz="2600" i="1" noProof="1" smtClean="0">
                            <a:latin typeface="Cambria Math" panose="02040503050406030204" pitchFamily="18" charset="0"/>
                            <a:ea typeface="Verdana" panose="020B0604030504040204" pitchFamily="34" charset="0"/>
                          </a:rPr>
                          <m:t>𝑖</m:t>
                        </m:r>
                      </m:sub>
                    </m:sSub>
                    <m:r>
                      <a:rPr lang="en-GB" sz="2600" b="0" i="1" noProof="1" smtClean="0">
                        <a:latin typeface="Cambria Math" panose="02040503050406030204" pitchFamily="18" charset="0"/>
                        <a:ea typeface="Verdana" panose="020B0604030504040204" pitchFamily="34" charset="0"/>
                      </a:rPr>
                      <m:t> +</m:t>
                    </m:r>
                  </m:oMath>
                </a14:m>
                <a:r>
                  <a:rPr lang="en-GB" sz="2600" noProof="1">
                    <a:ea typeface="Cambria Math" panose="02040503050406030204" pitchFamily="18" charset="0"/>
                  </a:rPr>
                  <a:t> </a:t>
                </a:r>
                <a14:m>
                  <m:oMath xmlns:m="http://schemas.openxmlformats.org/officeDocument/2006/math">
                    <m:sSub>
                      <m:sSubPr>
                        <m:ctrlPr>
                          <a:rPr lang="en-GB" sz="2600" i="1" noProof="1" smtClean="0">
                            <a:latin typeface="Cambria Math" panose="02040503050406030204" pitchFamily="18" charset="0"/>
                            <a:ea typeface="Cambria Math" panose="02040503050406030204" pitchFamily="18" charset="0"/>
                          </a:rPr>
                        </m:ctrlPr>
                      </m:sSubPr>
                      <m:e>
                        <m:r>
                          <a:rPr lang="en-GB" sz="2600" i="1" noProof="1" smtClean="0">
                            <a:latin typeface="Cambria Math" panose="02040503050406030204" pitchFamily="18" charset="0"/>
                            <a:ea typeface="Cambria Math" panose="02040503050406030204" pitchFamily="18" charset="0"/>
                          </a:rPr>
                          <m:t>𝜏</m:t>
                        </m:r>
                      </m:e>
                      <m:sub>
                        <m:r>
                          <a:rPr lang="en-GB" sz="2600" b="0" i="1" noProof="1" smtClean="0">
                            <a:latin typeface="Cambria Math" panose="02040503050406030204" pitchFamily="18" charset="0"/>
                            <a:ea typeface="Verdana" panose="020B0604030504040204" pitchFamily="34" charset="0"/>
                          </a:rPr>
                          <m:t>𝑡</m:t>
                        </m:r>
                      </m:sub>
                    </m:sSub>
                    <m:r>
                      <a:rPr lang="en-GB" sz="2600" b="0" i="1" noProof="1" smtClean="0">
                        <a:latin typeface="Cambria Math" panose="02040503050406030204" pitchFamily="18" charset="0"/>
                        <a:ea typeface="Verdana" panose="020B0604030504040204" pitchFamily="34" charset="0"/>
                      </a:rPr>
                      <m:t>+ </m:t>
                    </m:r>
                    <m:sSub>
                      <m:sSubPr>
                        <m:ctrlPr>
                          <a:rPr lang="en-GB" sz="2600" i="1" noProof="1" smtClean="0">
                            <a:latin typeface="Cambria Math" panose="02040503050406030204" pitchFamily="18" charset="0"/>
                            <a:ea typeface="Cambria Math" panose="02040503050406030204" pitchFamily="18" charset="0"/>
                          </a:rPr>
                        </m:ctrlPr>
                      </m:sSubPr>
                      <m:e>
                        <m:r>
                          <a:rPr lang="en-GB" sz="2600" i="1" noProof="1" smtClean="0">
                            <a:latin typeface="Cambria Math" panose="02040503050406030204" pitchFamily="18" charset="0"/>
                            <a:ea typeface="Cambria Math" panose="02040503050406030204" pitchFamily="18" charset="0"/>
                          </a:rPr>
                          <m:t>𝛽</m:t>
                        </m:r>
                      </m:e>
                      <m:sub>
                        <m:r>
                          <a:rPr lang="en-GB" sz="2600" b="0" i="1" noProof="1" smtClean="0">
                            <a:latin typeface="Cambria Math" panose="02040503050406030204" pitchFamily="18" charset="0"/>
                            <a:ea typeface="Verdana" panose="020B0604030504040204" pitchFamily="34" charset="0"/>
                          </a:rPr>
                          <m:t>𝑤</m:t>
                        </m:r>
                      </m:sub>
                    </m:sSub>
                    <m:sSubSup>
                      <m:sSubSupPr>
                        <m:ctrlPr>
                          <a:rPr lang="en-GB" sz="2600" b="0" i="1" noProof="1" smtClean="0">
                            <a:latin typeface="Cambria Math" panose="02040503050406030204" pitchFamily="18" charset="0"/>
                            <a:ea typeface="Verdana" panose="020B0604030504040204" pitchFamily="34" charset="0"/>
                          </a:rPr>
                        </m:ctrlPr>
                      </m:sSubSupPr>
                      <m:e>
                        <m:r>
                          <a:rPr lang="en-GB" sz="2600" b="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𝑋</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r>
                          <a:rPr lang="en-GB" sz="2600" i="1" noProof="1" smtClean="0">
                            <a:latin typeface="Cambria Math" panose="02040503050406030204" pitchFamily="18" charset="0"/>
                            <a:ea typeface="Verdana" panose="020B0604030504040204" pitchFamily="34" charset="0"/>
                          </a:rPr>
                          <m:t>−1</m:t>
                        </m:r>
                      </m:sub>
                      <m:sup>
                        <m:r>
                          <a:rPr lang="en-GB" sz="2600" b="0" i="1" noProof="1" smtClean="0">
                            <a:latin typeface="Cambria Math" panose="02040503050406030204" pitchFamily="18" charset="0"/>
                            <a:ea typeface="Verdana" panose="020B0604030504040204" pitchFamily="34" charset="0"/>
                          </a:rPr>
                          <m:t>𝑤</m:t>
                        </m:r>
                      </m:sup>
                    </m:sSubSup>
                    <m:r>
                      <a:rPr lang="en-GB" sz="2600" b="0" i="1" noProof="1" smtClean="0">
                        <a:latin typeface="Cambria Math" panose="02040503050406030204" pitchFamily="18" charset="0"/>
                        <a:ea typeface="Verdana" panose="020B0604030504040204" pitchFamily="34" charset="0"/>
                      </a:rPr>
                      <m:t>+</m:t>
                    </m:r>
                    <m:sSub>
                      <m:sSubPr>
                        <m:ctrlPr>
                          <a:rPr lang="en-GB" sz="2600" i="1" noProof="1" smtClean="0">
                            <a:latin typeface="Cambria Math" panose="02040503050406030204" pitchFamily="18" charset="0"/>
                            <a:ea typeface="Cambria Math" panose="02040503050406030204" pitchFamily="18" charset="0"/>
                          </a:rPr>
                        </m:ctrlPr>
                      </m:sSubPr>
                      <m:e>
                        <m:r>
                          <a:rPr lang="en-GB" sz="2600" i="1" noProof="1" smtClean="0">
                            <a:latin typeface="Cambria Math" panose="02040503050406030204" pitchFamily="18" charset="0"/>
                            <a:ea typeface="Cambria Math" panose="02040503050406030204" pitchFamily="18" charset="0"/>
                          </a:rPr>
                          <m:t>𝛽</m:t>
                        </m:r>
                      </m:e>
                      <m:sub>
                        <m:r>
                          <a:rPr lang="en-GB" sz="2600" b="0" i="1" noProof="1" smtClean="0">
                            <a:latin typeface="Cambria Math" panose="02040503050406030204" pitchFamily="18" charset="0"/>
                            <a:ea typeface="Verdana" panose="020B0604030504040204" pitchFamily="34" charset="0"/>
                          </a:rPr>
                          <m:t>𝐵</m:t>
                        </m:r>
                      </m:sub>
                    </m:sSub>
                    <m:r>
                      <a:rPr lang="en-GB" sz="2600" b="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𝑋</m:t>
                        </m:r>
                      </m:e>
                      <m:sub>
                        <m:r>
                          <a:rPr lang="en-GB" sz="2600" i="1" noProof="1" smtClean="0">
                            <a:latin typeface="Cambria Math" panose="02040503050406030204" pitchFamily="18" charset="0"/>
                            <a:ea typeface="Verdana" panose="020B0604030504040204" pitchFamily="34" charset="0"/>
                          </a:rPr>
                          <m:t>𝑖</m:t>
                        </m:r>
                      </m:sub>
                      <m:sup>
                        <m:r>
                          <a:rPr lang="en-GB" sz="2600" b="0" i="1" noProof="1" smtClean="0">
                            <a:latin typeface="Cambria Math" panose="02040503050406030204" pitchFamily="18" charset="0"/>
                            <a:ea typeface="Verdana" panose="020B0604030504040204" pitchFamily="34" charset="0"/>
                          </a:rPr>
                          <m:t>𝐵</m:t>
                        </m:r>
                      </m:sup>
                    </m:sSubSup>
                  </m:oMath>
                </a14:m>
                <a:endParaRPr lang="en-GB" sz="2600" i="1" noProof="1">
                  <a:latin typeface="Cambria Math" panose="02040503050406030204" pitchFamily="18" charset="0"/>
                  <a:ea typeface="Verdana" panose="020B0604030504040204" pitchFamily="34" charset="0"/>
                </a:endParaRPr>
              </a:p>
              <a:p>
                <a:pPr>
                  <a:lnSpc>
                    <a:spcPct val="120000"/>
                  </a:lnSpc>
                  <a:spcAft>
                    <a:spcPts val="300"/>
                  </a:spcAft>
                </a:pPr>
                <a14:m>
                  <m:oMathPara xmlns:m="http://schemas.openxmlformats.org/officeDocument/2006/math">
                    <m:oMath>
                      <m:r>
                        <a:rPr lang="en-GB" sz="2600" i="1" noProof="1" smtClean="0">
                          <a:latin typeface="Cambria Math" panose="02040503050406030204" pitchFamily="18" charset="0"/>
                          <a:ea typeface="Verdana" panose="020B0604030504040204" pitchFamily="34" charset="0"/>
                        </a:rPr>
                        <m:t>+</m:t>
                      </m:r>
                      <m:r>
                        <a:rPr lang="en-GB" sz="2600" b="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Cambria Math" panose="02040503050406030204" pitchFamily="18" charset="0"/>
                            </a:rPr>
                          </m:ctrlPr>
                        </m:sSubSupPr>
                        <m:e>
                          <m:r>
                            <a:rPr lang="en-GB" sz="2600" i="1" noProof="1" smtClean="0">
                              <a:latin typeface="Cambria Math" panose="02040503050406030204" pitchFamily="18" charset="0"/>
                              <a:ea typeface="Cambria Math" panose="02040503050406030204" pitchFamily="18" charset="0"/>
                            </a:rPr>
                            <m:t>𝜑</m:t>
                          </m:r>
                        </m:e>
                        <m:sub>
                          <m:r>
                            <a:rPr lang="en-GB" sz="2600" b="0" i="1" noProof="1" smtClean="0">
                              <a:latin typeface="Cambria Math" panose="02040503050406030204" pitchFamily="18" charset="0"/>
                              <a:ea typeface="Verdana" panose="020B0604030504040204" pitchFamily="34" charset="0"/>
                            </a:rPr>
                            <m:t>𝑤</m:t>
                          </m:r>
                        </m:sub>
                        <m:sup>
                          <m:r>
                            <a:rPr lang="en-GB" sz="2600" b="0" i="1" noProof="1" smtClean="0">
                              <a:latin typeface="Cambria Math" panose="02040503050406030204" pitchFamily="18" charset="0"/>
                              <a:ea typeface="Verdana" panose="020B0604030504040204" pitchFamily="34" charset="0"/>
                            </a:rPr>
                            <m:t>′</m:t>
                          </m:r>
                        </m:sup>
                      </m:sSubSup>
                      <m:sSubSup>
                        <m:sSubSupPr>
                          <m:ctrlPr>
                            <a:rPr lang="en-GB" sz="2600" b="0" i="1" noProof="1" smtClean="0">
                              <a:latin typeface="Cambria Math" panose="02040503050406030204" pitchFamily="18" charset="0"/>
                              <a:ea typeface="Verdana" panose="020B0604030504040204" pitchFamily="34" charset="0"/>
                            </a:rPr>
                          </m:ctrlPr>
                        </m:sSubSupPr>
                        <m:e>
                          <m:r>
                            <a:rPr lang="en-GB" sz="2600" b="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𝑍</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r>
                            <a:rPr lang="en-GB" sz="2600" i="1" noProof="1" smtClean="0">
                              <a:latin typeface="Cambria Math" panose="02040503050406030204" pitchFamily="18" charset="0"/>
                              <a:ea typeface="Verdana" panose="020B0604030504040204" pitchFamily="34" charset="0"/>
                            </a:rPr>
                            <m:t>−1</m:t>
                          </m:r>
                        </m:sub>
                        <m:sup>
                          <m:r>
                            <a:rPr lang="en-GB" sz="2600" i="1" noProof="1" smtClean="0">
                              <a:latin typeface="Cambria Math" panose="02040503050406030204" pitchFamily="18" charset="0"/>
                              <a:ea typeface="Verdana" panose="020B0604030504040204" pitchFamily="34" charset="0"/>
                            </a:rPr>
                            <m:t>𝑤</m:t>
                          </m:r>
                        </m:sup>
                      </m:sSubSup>
                      <m:r>
                        <a:rPr lang="en-GB" sz="2600" i="1" noProof="1" smtClean="0">
                          <a:latin typeface="Cambria Math" panose="02040503050406030204" pitchFamily="18" charset="0"/>
                          <a:ea typeface="Verdana" panose="020B0604030504040204" pitchFamily="34" charset="0"/>
                        </a:rPr>
                        <m:t>+</m:t>
                      </m:r>
                      <m:sSubSup>
                        <m:sSubSupPr>
                          <m:ctrlPr>
                            <a:rPr lang="en-GB" sz="2600" i="1" noProof="1" smtClean="0">
                              <a:latin typeface="Cambria Math" panose="02040503050406030204" pitchFamily="18" charset="0"/>
                              <a:ea typeface="Cambria Math" panose="02040503050406030204" pitchFamily="18" charset="0"/>
                            </a:rPr>
                          </m:ctrlPr>
                        </m:sSubSupPr>
                        <m:e>
                          <m:r>
                            <a:rPr lang="en-GB" sz="2600" i="1" noProof="1" smtClean="0">
                              <a:latin typeface="Cambria Math" panose="02040503050406030204" pitchFamily="18" charset="0"/>
                              <a:ea typeface="Cambria Math" panose="02040503050406030204" pitchFamily="18" charset="0"/>
                            </a:rPr>
                            <m:t>𝜑</m:t>
                          </m:r>
                        </m:e>
                        <m:sub>
                          <m:r>
                            <a:rPr lang="en-GB" sz="2600" b="0" i="1" noProof="1" smtClean="0">
                              <a:latin typeface="Cambria Math" panose="02040503050406030204" pitchFamily="18" charset="0"/>
                              <a:ea typeface="Verdana" panose="020B0604030504040204" pitchFamily="34" charset="0"/>
                            </a:rPr>
                            <m:t>𝐵</m:t>
                          </m:r>
                        </m:sub>
                        <m:sup>
                          <m:r>
                            <a:rPr lang="en-GB" sz="2600" i="1" noProof="1" smtClean="0">
                              <a:latin typeface="Cambria Math" panose="02040503050406030204" pitchFamily="18" charset="0"/>
                              <a:ea typeface="Verdana" panose="020B0604030504040204" pitchFamily="34" charset="0"/>
                            </a:rPr>
                            <m:t>′</m:t>
                          </m:r>
                        </m:sup>
                      </m:sSubSup>
                      <m:sSubSup>
                        <m:sSubSupPr>
                          <m:ctrlPr>
                            <a:rPr lang="en-GB" sz="2600" b="0" i="1" noProof="1" smtClean="0">
                              <a:latin typeface="Cambria Math" panose="02040503050406030204" pitchFamily="18" charset="0"/>
                              <a:ea typeface="Verdana" panose="020B0604030504040204" pitchFamily="34" charset="0"/>
                            </a:rPr>
                          </m:ctrlPr>
                        </m:sSubSupPr>
                        <m:e>
                          <m:r>
                            <a:rPr lang="en-GB" sz="2600" b="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𝑍</m:t>
                          </m:r>
                        </m:e>
                        <m:sub>
                          <m:r>
                            <a:rPr lang="en-GB" sz="2600" i="1" noProof="1" smtClean="0">
                              <a:latin typeface="Cambria Math" panose="02040503050406030204" pitchFamily="18" charset="0"/>
                              <a:ea typeface="Verdana" panose="020B0604030504040204" pitchFamily="34" charset="0"/>
                            </a:rPr>
                            <m:t>𝑖</m:t>
                          </m:r>
                        </m:sub>
                        <m:sup>
                          <m:r>
                            <a:rPr lang="en-GB" sz="2600" i="1" noProof="1" smtClean="0">
                              <a:latin typeface="Cambria Math" panose="02040503050406030204" pitchFamily="18" charset="0"/>
                              <a:ea typeface="Verdana" panose="020B0604030504040204" pitchFamily="34" charset="0"/>
                            </a:rPr>
                            <m:t>𝐵</m:t>
                          </m:r>
                        </m:sup>
                      </m:sSubSup>
                      <m:r>
                        <a:rPr lang="en-GB" sz="2600" i="1" noProof="1" smtClean="0">
                          <a:latin typeface="Cambria Math" panose="02040503050406030204" pitchFamily="18" charset="0"/>
                          <a:ea typeface="Verdana" panose="020B0604030504040204" pitchFamily="34" charset="0"/>
                        </a:rPr>
                        <m:t>+</m:t>
                      </m:r>
                      <m:r>
                        <m:rPr>
                          <m:nor/>
                        </m:rPr>
                        <a:rPr lang="en-GB" sz="2600" i="0" noProof="1" smtClean="0">
                          <a:ea typeface="Cambria Math" panose="02040503050406030204" pitchFamily="18" charset="0"/>
                        </a:rPr>
                        <m:t> </m:t>
                      </m:r>
                      <m:sSub>
                        <m:sSubPr>
                          <m:ctrlPr>
                            <a:rPr lang="en-GB" sz="2600" i="1" noProof="1" smtClean="0">
                              <a:latin typeface="Cambria Math" panose="02040503050406030204" pitchFamily="18" charset="0"/>
                              <a:ea typeface="Cambria Math" panose="02040503050406030204" pitchFamily="18" charset="0"/>
                            </a:rPr>
                          </m:ctrlPr>
                        </m:sSubPr>
                        <m:e>
                          <m:r>
                            <a:rPr lang="en-GB" sz="2600" i="1" noProof="1" smtClean="0">
                              <a:latin typeface="Cambria Math" panose="02040503050406030204" pitchFamily="18" charset="0"/>
                              <a:ea typeface="Cambria Math" panose="02040503050406030204" pitchFamily="18" charset="0"/>
                            </a:rPr>
                            <m:t>𝜀</m:t>
                          </m:r>
                        </m:e>
                        <m:sub>
                          <m:r>
                            <a:rPr lang="en-GB" sz="2600" b="0" i="1" noProof="1" smtClean="0">
                              <a:latin typeface="Cambria Math" panose="02040503050406030204" pitchFamily="18" charset="0"/>
                              <a:ea typeface="Cambria Math" panose="02040503050406030204" pitchFamily="18" charset="0"/>
                            </a:rPr>
                            <m:t>𝑖</m:t>
                          </m:r>
                          <m:r>
                            <a:rPr lang="en-GB" sz="2600" b="0" i="1" noProof="1" smtClean="0">
                              <a:latin typeface="Cambria Math" panose="02040503050406030204" pitchFamily="18" charset="0"/>
                              <a:ea typeface="Cambria Math" panose="02040503050406030204" pitchFamily="18" charset="0"/>
                            </a:rPr>
                            <m:t>,</m:t>
                          </m:r>
                          <m:r>
                            <a:rPr lang="en-GB" sz="2600" i="1" noProof="1" smtClean="0">
                              <a:latin typeface="Cambria Math" panose="02040503050406030204" pitchFamily="18" charset="0"/>
                              <a:ea typeface="Verdana" panose="020B0604030504040204" pitchFamily="34" charset="0"/>
                            </a:rPr>
                            <m:t>𝑡</m:t>
                          </m:r>
                        </m:sub>
                      </m:sSub>
                    </m:oMath>
                  </m:oMathPara>
                </a14:m>
                <a:endParaRPr lang="en-GB" sz="26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GB" sz="1800" noProof="1">
                  <a:latin typeface="Verdana" panose="020B0604030504040204" pitchFamily="34" charset="0"/>
                  <a:ea typeface="Verdana" panose="020B0604030504040204" pitchFamily="34" charset="0"/>
                </a:endParaRPr>
              </a:p>
              <a:p>
                <a:pPr>
                  <a:lnSpc>
                    <a:spcPct val="120000"/>
                  </a:lnSpc>
                  <a:spcAft>
                    <a:spcPts val="300"/>
                  </a:spcAft>
                </a:pPr>
                <a:r>
                  <a:rPr lang="en-GB" sz="2400" noProof="1">
                    <a:latin typeface="Verdana" panose="020B0604030504040204" pitchFamily="34" charset="0"/>
                    <a:ea typeface="Verdana" panose="020B0604030504040204" pitchFamily="34" charset="0"/>
                  </a:rPr>
                  <a:t>2. Additional association (</a:t>
                </a:r>
                <a14:m>
                  <m:oMath xmlns:m="http://schemas.openxmlformats.org/officeDocument/2006/math">
                    <m:sSub>
                      <m:sSubPr>
                        <m:ctrlPr>
                          <a:rPr lang="en-GB" sz="2400" i="1" noProof="1">
                            <a:latin typeface="Cambria Math" panose="02040503050406030204" pitchFamily="18" charset="0"/>
                            <a:ea typeface="Cambria Math" panose="02040503050406030204" pitchFamily="18" charset="0"/>
                          </a:rPr>
                        </m:ctrlPr>
                      </m:sSubPr>
                      <m:e>
                        <m:r>
                          <a:rPr lang="en-GB" sz="2400" i="1" noProof="1">
                            <a:latin typeface="Cambria Math" panose="02040503050406030204" pitchFamily="18" charset="0"/>
                            <a:ea typeface="Cambria Math" panose="02040503050406030204" pitchFamily="18" charset="0"/>
                          </a:rPr>
                          <m:t>𝛾</m:t>
                        </m:r>
                      </m:e>
                      <m:sub>
                        <m:r>
                          <a:rPr lang="en-GB" sz="2400" i="1" noProof="1">
                            <a:latin typeface="Cambria Math" panose="02040503050406030204" pitchFamily="18" charset="0"/>
                            <a:ea typeface="Verdana" panose="020B0604030504040204" pitchFamily="34" charset="0"/>
                          </a:rPr>
                          <m:t>𝑤</m:t>
                        </m:r>
                      </m:sub>
                    </m:sSub>
                  </m:oMath>
                </a14:m>
                <a:r>
                  <a:rPr lang="en-GB" sz="2400" noProof="1">
                    <a:latin typeface="Verdana" panose="020B0604030504040204" pitchFamily="34" charset="0"/>
                    <a:ea typeface="Verdana" panose="020B0604030504040204" pitchFamily="34" charset="0"/>
                  </a:rPr>
                  <a:t>) with ICT/AI in shock years</a:t>
                </a:r>
              </a:p>
              <a:p>
                <a:pPr>
                  <a:lnSpc>
                    <a:spcPct val="120000"/>
                  </a:lnSpc>
                  <a:spcAft>
                    <a:spcPts val="300"/>
                  </a:spcAft>
                </a:pPr>
                <a:r>
                  <a:rPr lang="en-GB" sz="2400" noProof="1">
                    <a:latin typeface="Verdana" panose="020B0604030504040204" pitchFamily="34" charset="0"/>
                    <a:ea typeface="Verdana" panose="020B0604030504040204" pitchFamily="34" charset="0"/>
                  </a:rPr>
                  <a:t>	 </a:t>
                </a:r>
                <a14:m>
                  <m:oMath xmlns:m="http://schemas.openxmlformats.org/officeDocument/2006/math">
                    <m:sSub>
                      <m:sSubPr>
                        <m:ctrlPr>
                          <a:rPr lang="en-GB" sz="2600" i="1" noProof="1" smtClean="0">
                            <a:latin typeface="Cambria Math" panose="02040503050406030204" pitchFamily="18" charset="0"/>
                            <a:ea typeface="Verdana" panose="020B0604030504040204" pitchFamily="34" charset="0"/>
                          </a:rPr>
                        </m:ctrlPr>
                      </m:sSubPr>
                      <m:e>
                        <m:r>
                          <a:rPr lang="en-GB" sz="2600" i="1" noProof="1" smtClean="0">
                            <a:latin typeface="Cambria Math" panose="02040503050406030204" pitchFamily="18" charset="0"/>
                            <a:ea typeface="Verdana" panose="020B0604030504040204" pitchFamily="34" charset="0"/>
                          </a:rPr>
                          <m:t>𝑃</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𝑆</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sub>
                    </m:sSub>
                    <m:r>
                      <a:rPr lang="en-GB" sz="2600" i="1" noProof="1" smtClean="0">
                        <a:latin typeface="Cambria Math" panose="02040503050406030204" pitchFamily="18" charset="0"/>
                        <a:ea typeface="Verdana" panose="020B0604030504040204" pitchFamily="34" charset="0"/>
                      </a:rPr>
                      <m:t>=1| </m:t>
                    </m:r>
                    <m:r>
                      <a:rPr lang="en-GB" sz="2600" i="1" noProof="1" smtClean="0">
                        <a:latin typeface="Cambria Math" panose="02040503050406030204" pitchFamily="18" charset="0"/>
                        <a:ea typeface="Verdana" panose="020B0604030504040204" pitchFamily="34" charset="0"/>
                      </a:rPr>
                      <m:t>𝑋</m:t>
                    </m:r>
                    <m:r>
                      <a:rPr lang="en-GB" sz="260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𝑍</m:t>
                    </m:r>
                    <m:r>
                      <a:rPr lang="en-GB" sz="2600" i="1" noProof="1" smtClean="0">
                        <a:latin typeface="Cambria Math" panose="02040503050406030204" pitchFamily="18" charset="0"/>
                        <a:ea typeface="Verdana" panose="020B0604030504040204" pitchFamily="34" charset="0"/>
                      </a:rPr>
                      <m:t>,</m:t>
                    </m:r>
                    <m:r>
                      <a:rPr lang="en-GB" sz="2600" b="0" i="1" noProof="1" smtClean="0">
                        <a:latin typeface="Cambria Math" panose="02040503050406030204" pitchFamily="18" charset="0"/>
                        <a:ea typeface="Verdana" panose="020B0604030504040204" pitchFamily="34" charset="0"/>
                      </a:rPr>
                      <m:t>𝑌</m:t>
                    </m:r>
                    <m:r>
                      <a:rPr lang="en-GB" sz="2600" b="0" i="1" noProof="1" smtClean="0">
                        <a:latin typeface="Cambria Math" panose="02040503050406030204" pitchFamily="18" charset="0"/>
                        <a:ea typeface="Verdana" panose="020B0604030504040204" pitchFamily="34" charset="0"/>
                      </a:rPr>
                      <m:t>,</m:t>
                    </m:r>
                    <m:sSub>
                      <m:sSubPr>
                        <m:ctrlPr>
                          <a:rPr lang="en-GB" sz="2800" i="1" noProof="1" dirty="0">
                            <a:latin typeface="Cambria Math" panose="02040503050406030204" pitchFamily="18" charset="0"/>
                            <a:ea typeface="Cambria Math" panose="02040503050406030204" pitchFamily="18" charset="0"/>
                          </a:rPr>
                        </m:ctrlPr>
                      </m:sSubPr>
                      <m:e>
                        <m:r>
                          <a:rPr lang="en-GB" sz="2800" i="1" noProof="1" dirty="0">
                            <a:latin typeface="Cambria Math" panose="02040503050406030204" pitchFamily="18" charset="0"/>
                            <a:ea typeface="Cambria Math" panose="02040503050406030204" pitchFamily="18" charset="0"/>
                          </a:rPr>
                          <m:t>𝛼</m:t>
                        </m:r>
                      </m:e>
                      <m:sub>
                        <m:r>
                          <a:rPr lang="en-GB" sz="2600" i="1" noProof="1" smtClean="0">
                            <a:latin typeface="Cambria Math" panose="02040503050406030204" pitchFamily="18" charset="0"/>
                            <a:ea typeface="Verdana" panose="020B0604030504040204" pitchFamily="34" charset="0"/>
                          </a:rPr>
                          <m:t>𝑖</m:t>
                        </m:r>
                      </m:sub>
                    </m:sSub>
                    <m:r>
                      <a:rPr lang="en-GB" sz="2600" i="1" noProof="1" smtClean="0">
                        <a:latin typeface="Cambria Math" panose="02040503050406030204" pitchFamily="18" charset="0"/>
                        <a:ea typeface="Verdana" panose="020B0604030504040204" pitchFamily="34" charset="0"/>
                      </a:rPr>
                      <m:t>)=</m:t>
                    </m:r>
                  </m:oMath>
                </a14:m>
                <a:r>
                  <a:rPr lang="en-GB" sz="2600" noProof="1">
                    <a:ea typeface="Verdana" panose="020B0604030504040204" pitchFamily="34" charset="0"/>
                  </a:rPr>
                  <a:t> ... </a:t>
                </a:r>
                <a14:m>
                  <m:oMath xmlns:m="http://schemas.openxmlformats.org/officeDocument/2006/math">
                    <m:r>
                      <a:rPr lang="en-GB" sz="2600" i="1" noProof="1" smtClean="0">
                        <a:latin typeface="Cambria Math" panose="02040503050406030204" pitchFamily="18" charset="0"/>
                        <a:ea typeface="Verdana" panose="020B0604030504040204" pitchFamily="34" charset="0"/>
                      </a:rPr>
                      <m:t>+</m:t>
                    </m:r>
                    <m:r>
                      <a:rPr lang="en-GB" sz="2600" b="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Cambria Math" panose="02040503050406030204" pitchFamily="18" charset="0"/>
                          </a:rPr>
                        </m:ctrlPr>
                      </m:sSubSupPr>
                      <m:e>
                        <m:r>
                          <a:rPr lang="en-GB" sz="2600" i="1" noProof="1" smtClean="0">
                            <a:latin typeface="Cambria Math" panose="02040503050406030204" pitchFamily="18" charset="0"/>
                            <a:ea typeface="Cambria Math" panose="02040503050406030204" pitchFamily="18" charset="0"/>
                          </a:rPr>
                          <m:t>𝛾</m:t>
                        </m:r>
                      </m:e>
                      <m:sub>
                        <m:r>
                          <a:rPr lang="en-GB" sz="2600" i="1" noProof="1" smtClean="0">
                            <a:latin typeface="Cambria Math" panose="02040503050406030204" pitchFamily="18" charset="0"/>
                            <a:ea typeface="Verdana" panose="020B0604030504040204" pitchFamily="34" charset="0"/>
                          </a:rPr>
                          <m:t>𝑤</m:t>
                        </m:r>
                      </m:sub>
                      <m:sup>
                        <m:r>
                          <a:rPr lang="en-GB" sz="2600" i="1" noProof="1" smtClean="0">
                            <a:latin typeface="Cambria Math" panose="02040503050406030204" pitchFamily="18" charset="0"/>
                            <a:ea typeface="Verdana" panose="020B0604030504040204" pitchFamily="34" charset="0"/>
                          </a:rPr>
                          <m:t>′</m:t>
                        </m:r>
                      </m:sup>
                    </m:sSubSup>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𝑌</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r>
                          <a:rPr lang="en-GB" sz="2600" i="1" noProof="1" smtClean="0">
                            <a:latin typeface="Cambria Math" panose="02040503050406030204" pitchFamily="18" charset="0"/>
                            <a:ea typeface="Verdana" panose="020B0604030504040204" pitchFamily="34" charset="0"/>
                          </a:rPr>
                          <m:t>−1</m:t>
                        </m:r>
                      </m:sub>
                      <m:sup>
                        <m:r>
                          <a:rPr lang="en-GB" sz="2600" i="1" noProof="1" smtClean="0">
                            <a:latin typeface="Cambria Math" panose="02040503050406030204" pitchFamily="18" charset="0"/>
                            <a:ea typeface="Verdana" panose="020B0604030504040204" pitchFamily="34" charset="0"/>
                          </a:rPr>
                          <m:t>𝑤</m:t>
                        </m:r>
                      </m:sup>
                    </m:sSubSup>
                    <m:r>
                      <a:rPr lang="en-GB" sz="2600" b="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m:t>
                    </m:r>
                    <m:r>
                      <a:rPr lang="en-GB" sz="2600" b="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Cambria Math" panose="02040503050406030204" pitchFamily="18" charset="0"/>
                          </a:rPr>
                        </m:ctrlPr>
                      </m:sSubSupPr>
                      <m:e>
                        <m:r>
                          <a:rPr lang="en-GB" sz="2600" i="1" noProof="1" smtClean="0">
                            <a:latin typeface="Cambria Math" panose="02040503050406030204" pitchFamily="18" charset="0"/>
                            <a:ea typeface="Cambria Math" panose="02040503050406030204" pitchFamily="18" charset="0"/>
                          </a:rPr>
                          <m:t>𝛾</m:t>
                        </m:r>
                      </m:e>
                      <m:sub>
                        <m:r>
                          <a:rPr lang="en-GB" sz="2600" i="1" noProof="1" smtClean="0">
                            <a:latin typeface="Cambria Math" panose="02040503050406030204" pitchFamily="18" charset="0"/>
                            <a:ea typeface="Verdana" panose="020B0604030504040204" pitchFamily="34" charset="0"/>
                          </a:rPr>
                          <m:t>𝐵</m:t>
                        </m:r>
                      </m:sub>
                      <m:sup>
                        <m:r>
                          <a:rPr lang="en-GB" sz="2600" i="1" noProof="1" smtClean="0">
                            <a:latin typeface="Cambria Math" panose="02040503050406030204" pitchFamily="18" charset="0"/>
                            <a:ea typeface="Verdana" panose="020B0604030504040204" pitchFamily="34" charset="0"/>
                          </a:rPr>
                          <m:t>′</m:t>
                        </m:r>
                      </m:sup>
                    </m:sSubSup>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𝑌</m:t>
                        </m:r>
                      </m:e>
                      <m:sub>
                        <m:r>
                          <a:rPr lang="en-GB" sz="2600" i="1" noProof="1" smtClean="0">
                            <a:latin typeface="Cambria Math" panose="02040503050406030204" pitchFamily="18" charset="0"/>
                            <a:ea typeface="Verdana" panose="020B0604030504040204" pitchFamily="34" charset="0"/>
                          </a:rPr>
                          <m:t>𝑖</m:t>
                        </m:r>
                      </m:sub>
                      <m:sup>
                        <m:r>
                          <a:rPr lang="en-GB" sz="2600" i="1" noProof="1" smtClean="0">
                            <a:latin typeface="Cambria Math" panose="02040503050406030204" pitchFamily="18" charset="0"/>
                            <a:ea typeface="Verdana" panose="020B0604030504040204" pitchFamily="34" charset="0"/>
                          </a:rPr>
                          <m:t>𝐵</m:t>
                        </m:r>
                      </m:sup>
                    </m:sSubSup>
                    <m:r>
                      <a:rPr lang="en-GB" sz="2600" b="0" i="1" noProof="1" smtClean="0">
                        <a:latin typeface="Cambria Math" panose="02040503050406030204" pitchFamily="18" charset="0"/>
                        <a:ea typeface="Verdana" panose="020B0604030504040204" pitchFamily="34" charset="0"/>
                      </a:rPr>
                      <m:t> </m:t>
                    </m:r>
                  </m:oMath>
                </a14:m>
                <a:r>
                  <a:rPr lang="en-GB" sz="2600" noProof="1">
                    <a:latin typeface="Verdana" panose="020B0604030504040204" pitchFamily="34" charset="0"/>
                    <a:ea typeface="Verdana" panose="020B0604030504040204" pitchFamily="34" charset="0"/>
                  </a:rPr>
                  <a:t>…</a:t>
                </a:r>
              </a:p>
              <a:p>
                <a:pPr>
                  <a:lnSpc>
                    <a:spcPct val="120000"/>
                  </a:lnSpc>
                  <a:spcAft>
                    <a:spcPts val="300"/>
                  </a:spcAft>
                </a:pPr>
                <a:endParaRPr lang="en-GB" sz="2000" noProof="1">
                  <a:latin typeface="Verdana" panose="020B0604030504040204" pitchFamily="34" charset="0"/>
                  <a:ea typeface="Verdana" panose="020B0604030504040204" pitchFamily="34" charset="0"/>
                </a:endParaRPr>
              </a:p>
              <a:p>
                <a:pPr>
                  <a:lnSpc>
                    <a:spcPct val="120000"/>
                  </a:lnSpc>
                  <a:spcAft>
                    <a:spcPts val="300"/>
                  </a:spcAft>
                </a:pPr>
                <a:r>
                  <a:rPr lang="en-GB" sz="2400" noProof="1">
                    <a:latin typeface="Verdana" panose="020B0604030504040204" pitchFamily="34" charset="0"/>
                    <a:ea typeface="Verdana" panose="020B0604030504040204" pitchFamily="34" charset="0"/>
                  </a:rPr>
                  <a:t>3. Additional association (</a:t>
                </a:r>
                <a14:m>
                  <m:oMath xmlns:m="http://schemas.openxmlformats.org/officeDocument/2006/math">
                    <m:sSub>
                      <m:sSubPr>
                        <m:ctrlPr>
                          <a:rPr lang="en-GB" sz="2400" i="1" noProof="1">
                            <a:latin typeface="Cambria Math" panose="02040503050406030204" pitchFamily="18" charset="0"/>
                            <a:ea typeface="Cambria Math" panose="02040503050406030204" pitchFamily="18" charset="0"/>
                          </a:rPr>
                        </m:ctrlPr>
                      </m:sSubPr>
                      <m:e>
                        <m:r>
                          <a:rPr lang="en-GB" sz="2400" i="1" noProof="1">
                            <a:latin typeface="Cambria Math" panose="02040503050406030204" pitchFamily="18" charset="0"/>
                            <a:ea typeface="Cambria Math" panose="02040503050406030204" pitchFamily="18" charset="0"/>
                          </a:rPr>
                          <m:t>𝛾</m:t>
                        </m:r>
                      </m:e>
                      <m:sub>
                        <m:r>
                          <a:rPr lang="en-GB" sz="2400" i="1" noProof="1">
                            <a:latin typeface="Cambria Math" panose="02040503050406030204" pitchFamily="18" charset="0"/>
                            <a:ea typeface="Verdana" panose="020B0604030504040204" pitchFamily="34" charset="0"/>
                          </a:rPr>
                          <m:t>𝑤</m:t>
                        </m:r>
                      </m:sub>
                    </m:sSub>
                  </m:oMath>
                </a14:m>
                <a:r>
                  <a:rPr lang="en-GB" sz="2400" noProof="1">
                    <a:latin typeface="Verdana" panose="020B0604030504040204" pitchFamily="34" charset="0"/>
                    <a:ea typeface="Verdana" panose="020B0604030504040204" pitchFamily="34" charset="0"/>
                  </a:rPr>
                  <a:t>) specific to high ICT/AI in shock years</a:t>
                </a:r>
              </a:p>
              <a:p>
                <a:pPr>
                  <a:lnSpc>
                    <a:spcPct val="120000"/>
                  </a:lnSpc>
                  <a:spcAft>
                    <a:spcPts val="300"/>
                  </a:spcAft>
                </a:pPr>
                <a:r>
                  <a:rPr lang="en-GB" sz="2000" noProof="1">
                    <a:latin typeface="Verdana" panose="020B0604030504040204" pitchFamily="34" charset="0"/>
                    <a:ea typeface="Verdana" panose="020B0604030504040204" pitchFamily="34" charset="0"/>
                  </a:rPr>
                  <a:t>	</a:t>
                </a:r>
                <a:r>
                  <a:rPr lang="en-GB" sz="2200" noProof="1">
                    <a:latin typeface="Verdana" panose="020B0604030504040204" pitchFamily="34" charset="0"/>
                    <a:ea typeface="Verdana" panose="020B0604030504040204" pitchFamily="34" charset="0"/>
                  </a:rPr>
                  <a:t> </a:t>
                </a:r>
                <a14:m>
                  <m:oMath xmlns:m="http://schemas.openxmlformats.org/officeDocument/2006/math">
                    <m:sSub>
                      <m:sSubPr>
                        <m:ctrlPr>
                          <a:rPr lang="en-GB" sz="2600" i="1" noProof="1" smtClean="0">
                            <a:latin typeface="Cambria Math" panose="02040503050406030204" pitchFamily="18" charset="0"/>
                            <a:ea typeface="Verdana" panose="020B0604030504040204" pitchFamily="34" charset="0"/>
                          </a:rPr>
                        </m:ctrlPr>
                      </m:sSubPr>
                      <m:e>
                        <m:r>
                          <a:rPr lang="en-GB" sz="2600" i="1" noProof="1" smtClean="0">
                            <a:latin typeface="Cambria Math" panose="02040503050406030204" pitchFamily="18" charset="0"/>
                            <a:ea typeface="Verdana" panose="020B0604030504040204" pitchFamily="34" charset="0"/>
                          </a:rPr>
                          <m:t>𝑃</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𝑆</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sub>
                    </m:sSub>
                    <m:r>
                      <a:rPr lang="en-GB" sz="2600" i="1" noProof="1" smtClean="0">
                        <a:latin typeface="Cambria Math" panose="02040503050406030204" pitchFamily="18" charset="0"/>
                        <a:ea typeface="Verdana" panose="020B0604030504040204" pitchFamily="34" charset="0"/>
                      </a:rPr>
                      <m:t>=1| </m:t>
                    </m:r>
                    <m:r>
                      <a:rPr lang="en-GB" sz="2600" i="1" noProof="1" smtClean="0">
                        <a:latin typeface="Cambria Math" panose="02040503050406030204" pitchFamily="18" charset="0"/>
                        <a:ea typeface="Verdana" panose="020B0604030504040204" pitchFamily="34" charset="0"/>
                      </a:rPr>
                      <m:t>𝑋</m:t>
                    </m:r>
                    <m:r>
                      <a:rPr lang="en-GB" sz="260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𝑍</m:t>
                    </m:r>
                    <m:r>
                      <a:rPr lang="en-GB" sz="2600" i="1" noProof="1" smtClean="0">
                        <a:latin typeface="Cambria Math" panose="02040503050406030204" pitchFamily="18" charset="0"/>
                        <a:ea typeface="Verdana" panose="020B0604030504040204" pitchFamily="34" charset="0"/>
                      </a:rPr>
                      <m:t>,</m:t>
                    </m:r>
                    <m:sSup>
                      <m:sSupPr>
                        <m:ctrlPr>
                          <a:rPr lang="en-GB" sz="2600" b="0" i="1" noProof="1" smtClean="0">
                            <a:latin typeface="Cambria Math" panose="02040503050406030204" pitchFamily="18" charset="0"/>
                            <a:ea typeface="Verdana" panose="020B0604030504040204" pitchFamily="34" charset="0"/>
                          </a:rPr>
                        </m:ctrlPr>
                      </m:sSupPr>
                      <m:e>
                        <m:r>
                          <a:rPr lang="en-GB" sz="2600" b="0" i="1" noProof="1" smtClean="0">
                            <a:latin typeface="Cambria Math" panose="02040503050406030204" pitchFamily="18" charset="0"/>
                            <a:ea typeface="Verdana" panose="020B0604030504040204" pitchFamily="34" charset="0"/>
                          </a:rPr>
                          <m:t>𝑌</m:t>
                        </m:r>
                      </m:e>
                      <m:sup>
                        <m:r>
                          <a:rPr lang="en-GB" sz="2600" b="0" i="1" noProof="1" smtClean="0">
                            <a:latin typeface="Cambria Math" panose="02040503050406030204" pitchFamily="18" charset="0"/>
                            <a:ea typeface="Verdana" panose="020B0604030504040204" pitchFamily="34" charset="0"/>
                          </a:rPr>
                          <m:t>ℎ𝑖𝑔ℎ</m:t>
                        </m:r>
                      </m:sup>
                    </m:sSup>
                    <m:r>
                      <a:rPr lang="en-GB" sz="2600" b="0" i="1" noProof="1" smtClean="0">
                        <a:latin typeface="Cambria Math" panose="02040503050406030204" pitchFamily="18" charset="0"/>
                        <a:ea typeface="Verdana" panose="020B0604030504040204" pitchFamily="34" charset="0"/>
                      </a:rPr>
                      <m:t>,</m:t>
                    </m:r>
                    <m:sSub>
                      <m:sSubPr>
                        <m:ctrlPr>
                          <a:rPr lang="en-GB" sz="2600" i="1" noProof="1">
                            <a:latin typeface="Cambria Math" panose="02040503050406030204" pitchFamily="18" charset="0"/>
                            <a:ea typeface="Cambria Math" panose="02040503050406030204" pitchFamily="18" charset="0"/>
                          </a:rPr>
                        </m:ctrlPr>
                      </m:sSubPr>
                      <m:e>
                        <m:r>
                          <a:rPr lang="en-GB" sz="2600" i="1" noProof="1">
                            <a:latin typeface="Cambria Math" panose="02040503050406030204" pitchFamily="18" charset="0"/>
                            <a:ea typeface="Cambria Math" panose="02040503050406030204" pitchFamily="18" charset="0"/>
                          </a:rPr>
                          <m:t>𝛼</m:t>
                        </m:r>
                      </m:e>
                      <m:sub>
                        <m:r>
                          <a:rPr lang="en-GB" sz="2600" i="1" noProof="1" smtClean="0">
                            <a:latin typeface="Cambria Math" panose="02040503050406030204" pitchFamily="18" charset="0"/>
                            <a:ea typeface="Verdana" panose="020B0604030504040204" pitchFamily="34" charset="0"/>
                          </a:rPr>
                          <m:t>𝑖</m:t>
                        </m:r>
                      </m:sub>
                    </m:sSub>
                    <m:r>
                      <a:rPr lang="en-GB" sz="2600" i="1" noProof="1" smtClean="0">
                        <a:latin typeface="Cambria Math" panose="02040503050406030204" pitchFamily="18" charset="0"/>
                        <a:ea typeface="Verdana" panose="020B0604030504040204" pitchFamily="34" charset="0"/>
                      </a:rPr>
                      <m:t>)=</m:t>
                    </m:r>
                  </m:oMath>
                </a14:m>
                <a:r>
                  <a:rPr lang="en-GB" sz="2600" i="1" noProof="1">
                    <a:latin typeface="Cambria Math" panose="02040503050406030204" pitchFamily="18" charset="0"/>
                    <a:ea typeface="Verdana" panose="020B0604030504040204" pitchFamily="34" charset="0"/>
                  </a:rPr>
                  <a:t>  ... </a:t>
                </a:r>
                <a14:m>
                  <m:oMath xmlns:m="http://schemas.openxmlformats.org/officeDocument/2006/math">
                    <m:r>
                      <a:rPr lang="en-GB" sz="260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𝛾</m:t>
                        </m:r>
                      </m:e>
                      <m:sub>
                        <m:r>
                          <a:rPr lang="en-GB" sz="2600" i="1" noProof="1" smtClean="0">
                            <a:latin typeface="Cambria Math" panose="02040503050406030204" pitchFamily="18" charset="0"/>
                            <a:ea typeface="Verdana" panose="020B0604030504040204" pitchFamily="34" charset="0"/>
                          </a:rPr>
                          <m:t>𝑤</m:t>
                        </m:r>
                      </m:sub>
                      <m:sup>
                        <m:r>
                          <a:rPr lang="en-GB" sz="2600" i="1" noProof="1" smtClean="0">
                            <a:latin typeface="Cambria Math" panose="02040503050406030204" pitchFamily="18" charset="0"/>
                            <a:ea typeface="Verdana" panose="020B0604030504040204" pitchFamily="34" charset="0"/>
                          </a:rPr>
                          <m:t>′</m:t>
                        </m:r>
                      </m:sup>
                    </m:sSubSup>
                    <m:sSubSup>
                      <m:sSubSupPr>
                        <m:ctrlPr>
                          <a:rPr lang="en-GB" sz="2600" b="0" i="1" noProof="1" smtClean="0">
                            <a:latin typeface="Cambria Math" panose="02040503050406030204" pitchFamily="18" charset="0"/>
                            <a:ea typeface="Verdana" panose="020B0604030504040204" pitchFamily="34" charset="0"/>
                          </a:rPr>
                        </m:ctrlPr>
                      </m:sSubSupPr>
                      <m:e>
                        <m:r>
                          <a:rPr lang="en-GB" sz="2600" b="0" i="1" noProof="1" smtClean="0">
                            <a:latin typeface="Cambria Math" panose="02040503050406030204" pitchFamily="18" charset="0"/>
                            <a:ea typeface="Verdana" panose="020B0604030504040204" pitchFamily="34" charset="0"/>
                          </a:rPr>
                          <m:t> </m:t>
                        </m:r>
                        <m:r>
                          <a:rPr lang="en-GB" sz="2600" b="0" i="1" noProof="1" smtClean="0">
                            <a:latin typeface="Cambria Math" panose="02040503050406030204" pitchFamily="18" charset="0"/>
                            <a:ea typeface="Verdana" panose="020B0604030504040204" pitchFamily="34" charset="0"/>
                          </a:rPr>
                          <m:t>𝑌</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r>
                          <a:rPr lang="en-GB" sz="2600" i="1" noProof="1" smtClean="0">
                            <a:latin typeface="Cambria Math" panose="02040503050406030204" pitchFamily="18" charset="0"/>
                            <a:ea typeface="Verdana" panose="020B0604030504040204" pitchFamily="34" charset="0"/>
                          </a:rPr>
                          <m:t>−1</m:t>
                        </m:r>
                      </m:sub>
                      <m:sup>
                        <m:r>
                          <a:rPr lang="en-GB" sz="2600" b="0" i="1" noProof="1" smtClean="0">
                            <a:latin typeface="Cambria Math" panose="02040503050406030204" pitchFamily="18" charset="0"/>
                            <a:ea typeface="Verdana" panose="020B0604030504040204" pitchFamily="34" charset="0"/>
                          </a:rPr>
                          <m:t>𝑤</m:t>
                        </m:r>
                        <m:r>
                          <a:rPr lang="en-GB" sz="2600" b="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ℎ𝑖𝑔ℎ</m:t>
                        </m:r>
                      </m:sup>
                    </m:sSubSup>
                    <m:r>
                      <a:rPr lang="en-GB" sz="2600" i="1" noProof="1" smtClean="0">
                        <a:latin typeface="Cambria Math" panose="02040503050406030204" pitchFamily="18" charset="0"/>
                        <a:ea typeface="Verdana" panose="020B0604030504040204" pitchFamily="34" charset="0"/>
                      </a:rPr>
                      <m:t>+</m:t>
                    </m:r>
                    <m:r>
                      <a:rPr lang="en-GB" sz="2600" b="0" i="1" noProof="1" smtClean="0">
                        <a:latin typeface="Cambria Math" panose="02040503050406030204" pitchFamily="18" charset="0"/>
                        <a:ea typeface="Verdana" panose="020B0604030504040204" pitchFamily="34" charset="0"/>
                      </a:rPr>
                      <m:t> </m:t>
                    </m:r>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𝛾</m:t>
                        </m:r>
                      </m:e>
                      <m:sub>
                        <m:r>
                          <a:rPr lang="en-GB" sz="2600" b="0" i="1" noProof="1" smtClean="0">
                            <a:latin typeface="Cambria Math" panose="02040503050406030204" pitchFamily="18" charset="0"/>
                            <a:ea typeface="Verdana" panose="020B0604030504040204" pitchFamily="34" charset="0"/>
                          </a:rPr>
                          <m:t>𝐵</m:t>
                        </m:r>
                      </m:sub>
                      <m:sup>
                        <m:r>
                          <a:rPr lang="en-GB" sz="2600" i="1" noProof="1" smtClean="0">
                            <a:latin typeface="Cambria Math" panose="02040503050406030204" pitchFamily="18" charset="0"/>
                            <a:ea typeface="Verdana" panose="020B0604030504040204" pitchFamily="34" charset="0"/>
                          </a:rPr>
                          <m:t>′</m:t>
                        </m:r>
                      </m:sup>
                    </m:sSubSup>
                    <m:sSubSup>
                      <m:sSubSupPr>
                        <m:ctrlPr>
                          <a:rPr lang="en-GB" sz="2600" i="1" noProof="1" smtClean="0">
                            <a:latin typeface="Cambria Math" panose="02040503050406030204" pitchFamily="18" charset="0"/>
                            <a:ea typeface="Verdana" panose="020B0604030504040204" pitchFamily="34" charset="0"/>
                          </a:rPr>
                        </m:ctrlPr>
                      </m:sSubSupPr>
                      <m:e>
                        <m:r>
                          <a:rPr lang="en-GB" sz="260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𝑌</m:t>
                        </m:r>
                      </m:e>
                      <m:sub>
                        <m:r>
                          <a:rPr lang="en-GB" sz="2600" i="1" noProof="1" smtClean="0">
                            <a:latin typeface="Cambria Math" panose="02040503050406030204" pitchFamily="18" charset="0"/>
                            <a:ea typeface="Verdana" panose="020B0604030504040204" pitchFamily="34" charset="0"/>
                          </a:rPr>
                          <m:t>𝑖</m:t>
                        </m:r>
                        <m:r>
                          <a:rPr lang="en-GB" sz="2600" i="1" noProof="1" smtClean="0">
                            <a:latin typeface="Cambria Math" panose="02040503050406030204" pitchFamily="18" charset="0"/>
                            <a:ea typeface="Verdana" panose="020B0604030504040204" pitchFamily="34" charset="0"/>
                          </a:rPr>
                          <m:t>,</m:t>
                        </m:r>
                        <m:r>
                          <a:rPr lang="en-GB" sz="2600" i="1" noProof="1" smtClean="0">
                            <a:latin typeface="Cambria Math" panose="02040503050406030204" pitchFamily="18" charset="0"/>
                            <a:ea typeface="Verdana" panose="020B0604030504040204" pitchFamily="34" charset="0"/>
                          </a:rPr>
                          <m:t>𝑡</m:t>
                        </m:r>
                        <m:r>
                          <a:rPr lang="en-GB" sz="2600" i="1" noProof="1" smtClean="0">
                            <a:latin typeface="Cambria Math" panose="02040503050406030204" pitchFamily="18" charset="0"/>
                            <a:ea typeface="Verdana" panose="020B0604030504040204" pitchFamily="34" charset="0"/>
                          </a:rPr>
                          <m:t>−1</m:t>
                        </m:r>
                      </m:sub>
                      <m:sup>
                        <m:r>
                          <a:rPr lang="en-GB" sz="2600" b="0" i="1" noProof="1" smtClean="0">
                            <a:latin typeface="Cambria Math" panose="02040503050406030204" pitchFamily="18" charset="0"/>
                            <a:ea typeface="Verdana" panose="020B0604030504040204" pitchFamily="34" charset="0"/>
                          </a:rPr>
                          <m:t>𝐵</m:t>
                        </m:r>
                        <m:r>
                          <a:rPr lang="en-GB" sz="2600" i="1" noProof="1" smtClean="0">
                            <a:latin typeface="Cambria Math" panose="02040503050406030204" pitchFamily="18" charset="0"/>
                            <a:ea typeface="Verdana" panose="020B0604030504040204" pitchFamily="34" charset="0"/>
                          </a:rPr>
                          <m:t>,  </m:t>
                        </m:r>
                        <m:r>
                          <a:rPr lang="en-GB" sz="2600" i="1" noProof="1" smtClean="0">
                            <a:latin typeface="Cambria Math" panose="02040503050406030204" pitchFamily="18" charset="0"/>
                            <a:ea typeface="Verdana" panose="020B0604030504040204" pitchFamily="34" charset="0"/>
                          </a:rPr>
                          <m:t>ℎ𝑖𝑔ℎ</m:t>
                        </m:r>
                      </m:sup>
                    </m:sSubSup>
                  </m:oMath>
                </a14:m>
                <a:r>
                  <a:rPr lang="en-GB" sz="2600" i="1" noProof="1">
                    <a:latin typeface="Cambria Math" panose="02040503050406030204" pitchFamily="18" charset="0"/>
                    <a:ea typeface="Verdana" panose="020B0604030504040204" pitchFamily="34" charset="0"/>
                  </a:rPr>
                  <a:t>…</a:t>
                </a:r>
              </a:p>
              <a:p>
                <a:pPr>
                  <a:lnSpc>
                    <a:spcPct val="120000"/>
                  </a:lnSpc>
                  <a:spcAft>
                    <a:spcPts val="300"/>
                  </a:spcAft>
                </a:pPr>
                <a:endParaRPr lang="en-GB" sz="2200" noProof="1">
                  <a:solidFill>
                    <a:schemeClr val="tx1"/>
                  </a:solidFill>
                  <a:latin typeface="Verdana" panose="020B0604030504040204" pitchFamily="34" charset="0"/>
                  <a:ea typeface="Verdana" panose="020B0604030504040204" pitchFamily="34" charset="0"/>
                </a:endParaRPr>
              </a:p>
              <a:p>
                <a:pPr>
                  <a:lnSpc>
                    <a:spcPct val="120000"/>
                  </a:lnSpc>
                  <a:spcAft>
                    <a:spcPts val="1200"/>
                  </a:spcAft>
                </a:pPr>
                <a14:m>
                  <m:oMath xmlns:m="http://schemas.openxmlformats.org/officeDocument/2006/math">
                    <m:sSub>
                      <m:sSubPr>
                        <m:ctrlPr>
                          <a:rPr lang="en-GB" sz="1900" b="0" i="1" noProof="1" smtClean="0">
                            <a:solidFill>
                              <a:schemeClr val="tx1"/>
                            </a:solidFill>
                            <a:latin typeface="Cambria Math" panose="02040503050406030204" pitchFamily="18" charset="0"/>
                            <a:ea typeface="Verdana" panose="020B0604030504040204" pitchFamily="34" charset="0"/>
                          </a:rPr>
                        </m:ctrlPr>
                      </m:sSubPr>
                      <m:e>
                        <m:r>
                          <a:rPr lang="en-GB" sz="1900" b="0" i="1" noProof="1" smtClean="0">
                            <a:solidFill>
                              <a:schemeClr val="tx1"/>
                            </a:solidFill>
                            <a:latin typeface="Cambria Math" panose="02040503050406030204" pitchFamily="18" charset="0"/>
                            <a:ea typeface="Verdana" panose="020B0604030504040204" pitchFamily="34" charset="0"/>
                          </a:rPr>
                          <m:t>𝑆</m:t>
                        </m:r>
                      </m:e>
                      <m:sub>
                        <m:r>
                          <a:rPr lang="en-GB" sz="1900" i="1" noProof="1" smtClean="0">
                            <a:solidFill>
                              <a:schemeClr val="tx1"/>
                            </a:solidFill>
                            <a:latin typeface="Cambria Math" panose="02040503050406030204" pitchFamily="18" charset="0"/>
                            <a:ea typeface="Verdana" panose="020B0604030504040204" pitchFamily="34" charset="0"/>
                          </a:rPr>
                          <m:t>𝑖</m:t>
                        </m:r>
                        <m:r>
                          <a:rPr lang="en-GB" sz="1900" i="1" noProof="1" smtClean="0">
                            <a:solidFill>
                              <a:schemeClr val="tx1"/>
                            </a:solidFill>
                            <a:latin typeface="Cambria Math" panose="02040503050406030204" pitchFamily="18" charset="0"/>
                            <a:ea typeface="Verdana" panose="020B0604030504040204" pitchFamily="34" charset="0"/>
                          </a:rPr>
                          <m:t>,</m:t>
                        </m:r>
                        <m:r>
                          <a:rPr lang="en-GB" sz="1900" i="1" noProof="1" smtClean="0">
                            <a:solidFill>
                              <a:schemeClr val="tx1"/>
                            </a:solidFill>
                            <a:latin typeface="Cambria Math" panose="02040503050406030204" pitchFamily="18" charset="0"/>
                            <a:ea typeface="Verdana" panose="020B0604030504040204" pitchFamily="34" charset="0"/>
                          </a:rPr>
                          <m:t>𝑡</m:t>
                        </m:r>
                      </m:sub>
                    </m:sSub>
                    <m:r>
                      <a:rPr lang="en-GB" sz="1900" b="0" i="1" noProof="1" smtClean="0">
                        <a:solidFill>
                          <a:schemeClr val="tx1"/>
                        </a:solidFill>
                        <a:latin typeface="Cambria Math" panose="02040503050406030204" pitchFamily="18" charset="0"/>
                        <a:ea typeface="Verdana" panose="020B0604030504040204" pitchFamily="34" charset="0"/>
                      </a:rPr>
                      <m:t>=1 </m:t>
                    </m:r>
                    <m:r>
                      <a:rPr lang="en-GB" sz="1900" b="0" i="0" noProof="1" smtClean="0">
                        <a:solidFill>
                          <a:schemeClr val="tx1"/>
                        </a:solidFill>
                        <a:latin typeface="Cambria Math" panose="02040503050406030204" pitchFamily="18" charset="0"/>
                        <a:ea typeface="Verdana" panose="020B0604030504040204" pitchFamily="34" charset="0"/>
                      </a:rPr>
                      <m:t> </m:t>
                    </m:r>
                  </m:oMath>
                </a14:m>
                <a:r>
                  <a:rPr lang="en-GB" sz="1900" dirty="0">
                    <a:solidFill>
                      <a:schemeClr val="tx1"/>
                    </a:solidFill>
                  </a:rPr>
                  <a:t>if growth surprise &gt;0 (otherwise 0)</a:t>
                </a:r>
                <a:r>
                  <a:rPr lang="en-GB" sz="1900" dirty="0"/>
                  <a:t>; </a:t>
                </a:r>
                <a14:m>
                  <m:oMath xmlns:m="http://schemas.openxmlformats.org/officeDocument/2006/math">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sub>
                    </m:sSub>
                  </m:oMath>
                </a14:m>
                <a:r>
                  <a:rPr lang="en-GB" sz="1900" dirty="0">
                    <a:solidFill>
                      <a:schemeClr val="tx1"/>
                    </a:solidFill>
                  </a:rPr>
                  <a:t> is ICT/AI-related variable</a:t>
                </a:r>
              </a:p>
              <a:p>
                <a:pPr>
                  <a:lnSpc>
                    <a:spcPct val="120000"/>
                  </a:lnSpc>
                  <a:spcAft>
                    <a:spcPts val="1200"/>
                  </a:spcAft>
                </a:pPr>
                <a14:m>
                  <m:oMath xmlns:m="http://schemas.openxmlformats.org/officeDocument/2006/math">
                    <m:sSub>
                      <m:sSubPr>
                        <m:ctrlPr>
                          <a:rPr lang="en-GB" sz="1900" i="1" noProof="1" smtClean="0">
                            <a:latin typeface="Cambria Math" panose="02040503050406030204" pitchFamily="18" charset="0"/>
                            <a:ea typeface="Cambria Math" panose="02040503050406030204" pitchFamily="18" charset="0"/>
                          </a:rPr>
                        </m:ctrlPr>
                      </m:sSubPr>
                      <m:e>
                        <m:r>
                          <a:rPr lang="en-GB" sz="1900" i="1" noProof="1" smtClean="0">
                            <a:latin typeface="Cambria Math" panose="02040503050406030204" pitchFamily="18" charset="0"/>
                            <a:ea typeface="Cambria Math" panose="02040503050406030204" pitchFamily="18" charset="0"/>
                          </a:rPr>
                          <m:t>𝛽</m:t>
                        </m:r>
                      </m:e>
                      <m:sub>
                        <m:r>
                          <a:rPr lang="en-GB" sz="1900" i="1" noProof="1" smtClean="0">
                            <a:latin typeface="Cambria Math" panose="02040503050406030204" pitchFamily="18" charset="0"/>
                            <a:ea typeface="Verdana" panose="020B0604030504040204" pitchFamily="34" charset="0"/>
                          </a:rPr>
                          <m:t>𝑤</m:t>
                        </m:r>
                      </m:sub>
                    </m:sSub>
                    <m:r>
                      <a:rPr lang="en-GB" sz="1900" i="1" noProof="1" smtClean="0">
                        <a:latin typeface="Cambria Math" panose="02040503050406030204" pitchFamily="18" charset="0"/>
                        <a:ea typeface="Verdana" panose="020B0604030504040204" pitchFamily="34" charset="0"/>
                      </a:rPr>
                      <m:t>=</m:t>
                    </m:r>
                  </m:oMath>
                </a14:m>
                <a:r>
                  <a:rPr lang="en-GB" sz="1900" noProof="1">
                    <a:ea typeface="Verdana" panose="020B0604030504040204" pitchFamily="34" charset="0"/>
                  </a:rPr>
                  <a:t> </a:t>
                </a:r>
                <a:r>
                  <a:rPr lang="en-GB" sz="1900" dirty="0"/>
                  <a:t>(within-country ICT/AI exposure coefficient); </a:t>
                </a:r>
                <a14:m>
                  <m:oMath xmlns:m="http://schemas.openxmlformats.org/officeDocument/2006/math">
                    <m:sSub>
                      <m:sSubPr>
                        <m:ctrlPr>
                          <a:rPr lang="en-GB" sz="1900" i="1" noProof="1" smtClean="0">
                            <a:latin typeface="Cambria Math" panose="02040503050406030204" pitchFamily="18" charset="0"/>
                            <a:ea typeface="Cambria Math" panose="02040503050406030204" pitchFamily="18" charset="0"/>
                          </a:rPr>
                        </m:ctrlPr>
                      </m:sSubPr>
                      <m:e>
                        <m:r>
                          <a:rPr lang="en-GB" sz="1900" i="1" noProof="1" smtClean="0">
                            <a:latin typeface="Cambria Math" panose="02040503050406030204" pitchFamily="18" charset="0"/>
                            <a:ea typeface="Cambria Math" panose="02040503050406030204" pitchFamily="18" charset="0"/>
                          </a:rPr>
                          <m:t>𝛽</m:t>
                        </m:r>
                      </m:e>
                      <m:sub>
                        <m:r>
                          <a:rPr lang="en-GB" sz="1900" i="1" noProof="1" smtClean="0">
                            <a:latin typeface="Cambria Math" panose="02040503050406030204" pitchFamily="18" charset="0"/>
                            <a:ea typeface="Verdana" panose="020B0604030504040204" pitchFamily="34" charset="0"/>
                          </a:rPr>
                          <m:t>𝐵</m:t>
                        </m:r>
                      </m:sub>
                    </m:sSub>
                  </m:oMath>
                </a14:m>
                <a:r>
                  <a:rPr lang="en-GB" sz="1900" dirty="0"/>
                  <a:t> (between-country coefficient)</a:t>
                </a:r>
                <a:endParaRPr lang="en-GB" sz="1900" dirty="0">
                  <a:solidFill>
                    <a:schemeClr val="tx1"/>
                  </a:solidFill>
                </a:endParaRPr>
              </a:p>
              <a:p>
                <a:pPr>
                  <a:lnSpc>
                    <a:spcPct val="120000"/>
                  </a:lnSpc>
                  <a:spcAft>
                    <a:spcPts val="1200"/>
                  </a:spcAft>
                </a:pPr>
                <a14:m>
                  <m:oMath xmlns:m="http://schemas.openxmlformats.org/officeDocument/2006/math">
                    <m:sSubSup>
                      <m:sSubSupPr>
                        <m:ctrlPr>
                          <a:rPr lang="en-GB" sz="1900" i="1" noProof="1" smtClean="0">
                            <a:latin typeface="Cambria Math" panose="02040503050406030204" pitchFamily="18" charset="0"/>
                            <a:ea typeface="Verdana" panose="020B0604030504040204" pitchFamily="34" charset="0"/>
                          </a:rPr>
                        </m:ctrlPr>
                      </m:sSubSupPr>
                      <m:e>
                        <m:r>
                          <a:rPr lang="en-GB" sz="1900" i="1" noProof="1" smtClean="0">
                            <a:latin typeface="Cambria Math" panose="02040503050406030204" pitchFamily="18" charset="0"/>
                            <a:ea typeface="Verdana" panose="020B0604030504040204" pitchFamily="34" charset="0"/>
                          </a:rPr>
                          <m:t> </m:t>
                        </m:r>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i="1" noProof="1" smtClean="0">
                            <a:latin typeface="Cambria Math" panose="02040503050406030204" pitchFamily="18" charset="0"/>
                            <a:ea typeface="Verdana" panose="020B0604030504040204" pitchFamily="34" charset="0"/>
                          </a:rPr>
                          <m:t>−1</m:t>
                        </m:r>
                      </m:sub>
                      <m:sup>
                        <m:r>
                          <a:rPr lang="en-GB" sz="1900" i="1" noProof="1" smtClean="0">
                            <a:latin typeface="Cambria Math" panose="02040503050406030204" pitchFamily="18" charset="0"/>
                            <a:ea typeface="Verdana" panose="020B0604030504040204" pitchFamily="34" charset="0"/>
                          </a:rPr>
                          <m:t>𝑤</m:t>
                        </m:r>
                      </m:sup>
                    </m:sSubSup>
                    <m:r>
                      <a:rPr lang="en-GB" sz="1900" b="0" i="1" noProof="1" smtClean="0">
                        <a:latin typeface="Cambria Math" panose="02040503050406030204" pitchFamily="18" charset="0"/>
                        <a:ea typeface="Verdana" panose="020B0604030504040204" pitchFamily="34" charset="0"/>
                      </a:rPr>
                      <m:t>=</m:t>
                    </m:r>
                  </m:oMath>
                </a14:m>
                <a:r>
                  <a:rPr lang="en-GB" sz="1900" noProof="1">
                    <a:ea typeface="Verdana" panose="020B0604030504040204" pitchFamily="34" charset="0"/>
                  </a:rPr>
                  <a:t> </a:t>
                </a:r>
                <a14:m>
                  <m:oMath xmlns:m="http://schemas.openxmlformats.org/officeDocument/2006/math">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b="0" i="1" noProof="1" smtClean="0">
                            <a:latin typeface="Cambria Math" panose="02040503050406030204" pitchFamily="18" charset="0"/>
                            <a:ea typeface="Verdana" panose="020B0604030504040204" pitchFamily="34" charset="0"/>
                          </a:rPr>
                          <m:t>−1</m:t>
                        </m:r>
                      </m:sub>
                    </m:sSub>
                    <m:r>
                      <a:rPr lang="en-GB" sz="1900" b="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 </m:t>
                    </m:r>
                    <m:acc>
                      <m:accPr>
                        <m:chr m:val="̅"/>
                        <m:ctrlPr>
                          <a:rPr lang="en-GB" sz="1900" b="0" i="1" noProof="1" smtClean="0">
                            <a:latin typeface="Cambria Math" panose="02040503050406030204" pitchFamily="18" charset="0"/>
                            <a:ea typeface="Verdana" panose="020B0604030504040204" pitchFamily="34" charset="0"/>
                          </a:rPr>
                        </m:ctrlPr>
                      </m:accPr>
                      <m:e>
                        <m:sSub>
                          <m:sSubPr>
                            <m:ctrlPr>
                              <a:rPr lang="en-GB" sz="1900" b="0" i="1" noProof="1" smtClean="0">
                                <a:latin typeface="Cambria Math" panose="02040503050406030204" pitchFamily="18" charset="0"/>
                                <a:ea typeface="Verdana" panose="020B0604030504040204" pitchFamily="34" charset="0"/>
                              </a:rPr>
                            </m:ctrlPr>
                          </m:sSubPr>
                          <m:e>
                            <m:r>
                              <a:rPr lang="en-GB" sz="1900" b="0" i="1" noProof="1" smtClean="0">
                                <a:latin typeface="Cambria Math" panose="02040503050406030204" pitchFamily="18" charset="0"/>
                                <a:ea typeface="Verdana" panose="020B0604030504040204" pitchFamily="34" charset="0"/>
                              </a:rPr>
                              <m:t>𝑋</m:t>
                            </m:r>
                          </m:e>
                          <m:sub>
                            <m:r>
                              <a:rPr lang="en-GB" sz="1900" b="0" i="1" noProof="1" smtClean="0">
                                <a:latin typeface="Cambria Math" panose="02040503050406030204" pitchFamily="18" charset="0"/>
                                <a:ea typeface="Verdana" panose="020B0604030504040204" pitchFamily="34" charset="0"/>
                              </a:rPr>
                              <m:t>𝑖</m:t>
                            </m:r>
                          </m:sub>
                        </m:sSub>
                      </m:e>
                    </m:acc>
                    <m:r>
                      <a:rPr lang="en-GB" sz="1900" b="0" i="0" noProof="1" smtClean="0">
                        <a:latin typeface="Cambria Math" panose="02040503050406030204" pitchFamily="18" charset="0"/>
                        <a:ea typeface="Verdana" panose="020B0604030504040204" pitchFamily="34" charset="0"/>
                      </a:rPr>
                      <m:t> </m:t>
                    </m:r>
                  </m:oMath>
                </a14:m>
                <a:r>
                  <a:rPr lang="en-GB" sz="1900" dirty="0"/>
                  <a:t>(within-country change)</a:t>
                </a:r>
                <a:r>
                  <a:rPr lang="en-GB" sz="1900" dirty="0">
                    <a:solidFill>
                      <a:schemeClr val="tx1"/>
                    </a:solidFill>
                  </a:rPr>
                  <a:t>; </a:t>
                </a:r>
                <a14:m>
                  <m:oMath xmlns:m="http://schemas.openxmlformats.org/officeDocument/2006/math">
                    <m:sSubSup>
                      <m:sSubSupPr>
                        <m:ctrlPr>
                          <a:rPr lang="en-GB" sz="1900" b="0" i="1" noProof="1" smtClean="0">
                            <a:latin typeface="Cambria Math" panose="02040503050406030204" pitchFamily="18" charset="0"/>
                            <a:ea typeface="Verdana" panose="020B0604030504040204" pitchFamily="34" charset="0"/>
                          </a:rPr>
                        </m:ctrlPr>
                      </m:sSubSupPr>
                      <m:e>
                        <m:r>
                          <a:rPr lang="en-GB" sz="1900" b="0" i="1" noProof="1" smtClean="0">
                            <a:latin typeface="Cambria Math" panose="02040503050406030204" pitchFamily="18" charset="0"/>
                            <a:ea typeface="Verdana" panose="020B0604030504040204" pitchFamily="34" charset="0"/>
                          </a:rPr>
                          <m:t> </m:t>
                        </m:r>
                        <m:r>
                          <a:rPr lang="en-GB" sz="1900" i="1" noProof="1" smtClean="0">
                            <a:latin typeface="Cambria Math" panose="02040503050406030204" pitchFamily="18" charset="0"/>
                            <a:ea typeface="Verdana" panose="020B0604030504040204" pitchFamily="34" charset="0"/>
                          </a:rPr>
                          <m:t> </m:t>
                        </m:r>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sub>
                      <m:sup>
                        <m:r>
                          <a:rPr lang="en-GB" sz="1900" b="0" i="1" noProof="1" smtClean="0">
                            <a:latin typeface="Cambria Math" panose="02040503050406030204" pitchFamily="18" charset="0"/>
                            <a:ea typeface="Verdana" panose="020B0604030504040204" pitchFamily="34" charset="0"/>
                          </a:rPr>
                          <m:t>𝐵</m:t>
                        </m:r>
                      </m:sup>
                    </m:sSubSup>
                    <m:r>
                      <a:rPr lang="en-GB" sz="1900" i="1" noProof="1" smtClean="0">
                        <a:latin typeface="Cambria Math" panose="02040503050406030204" pitchFamily="18" charset="0"/>
                        <a:ea typeface="Verdana" panose="020B0604030504040204" pitchFamily="34" charset="0"/>
                      </a:rPr>
                      <m:t>=</m:t>
                    </m:r>
                  </m:oMath>
                </a14:m>
                <a:r>
                  <a:rPr lang="en-GB" sz="1900" noProof="1">
                    <a:ea typeface="Verdana" panose="020B0604030504040204" pitchFamily="34" charset="0"/>
                  </a:rPr>
                  <a:t> </a:t>
                </a:r>
                <a14:m>
                  <m:oMath xmlns:m="http://schemas.openxmlformats.org/officeDocument/2006/math">
                    <m:acc>
                      <m:accPr>
                        <m:chr m:val="̅"/>
                        <m:ctrlPr>
                          <a:rPr lang="en-GB" sz="1900" i="1" noProof="1" smtClean="0">
                            <a:latin typeface="Cambria Math" panose="02040503050406030204" pitchFamily="18" charset="0"/>
                            <a:ea typeface="Verdana" panose="020B0604030504040204" pitchFamily="34" charset="0"/>
                          </a:rPr>
                        </m:ctrlPr>
                      </m:accPr>
                      <m:e>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sub>
                        </m:sSub>
                      </m:e>
                    </m:acc>
                  </m:oMath>
                </a14:m>
                <a:r>
                  <a:rPr lang="en-GB" sz="1900" dirty="0"/>
                  <a:t> (between-country differences)</a:t>
                </a:r>
              </a:p>
              <a:p>
                <a:pPr>
                  <a:lnSpc>
                    <a:spcPct val="120000"/>
                  </a:lnSpc>
                  <a:spcAft>
                    <a:spcPts val="1200"/>
                  </a:spcAft>
                </a:pPr>
                <a:r>
                  <a:rPr lang="en-GB" sz="1900" dirty="0"/>
                  <a:t>		</a:t>
                </a:r>
                <a14:m>
                  <m:oMath xmlns:m="http://schemas.openxmlformats.org/officeDocument/2006/math">
                    <m:sSub>
                      <m:sSubPr>
                        <m:ctrlPr>
                          <a:rPr lang="en-GB" sz="1900" b="0" i="1" noProof="1" smtClean="0">
                            <a:latin typeface="Cambria Math" panose="02040503050406030204" pitchFamily="18" charset="0"/>
                            <a:ea typeface="Verdana" panose="020B0604030504040204" pitchFamily="34" charset="0"/>
                          </a:rPr>
                        </m:ctrlPr>
                      </m:sSubPr>
                      <m:e>
                        <m:r>
                          <a:rPr lang="en-GB" sz="1900" b="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i="1" noProof="1" smtClean="0">
                            <a:latin typeface="Cambria Math" panose="02040503050406030204" pitchFamily="18" charset="0"/>
                            <a:ea typeface="Verdana" panose="020B0604030504040204" pitchFamily="34" charset="0"/>
                          </a:rPr>
                          <m:t>−1</m:t>
                        </m:r>
                      </m:sub>
                    </m:sSub>
                    <m:r>
                      <a:rPr lang="en-GB" sz="1900" b="0" i="1" noProof="1" smtClean="0">
                        <a:latin typeface="Cambria Math" panose="02040503050406030204" pitchFamily="18" charset="0"/>
                        <a:ea typeface="Verdana" panose="020B0604030504040204" pitchFamily="34" charset="0"/>
                      </a:rPr>
                      <m:t>= </m:t>
                    </m:r>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𝑋</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i="1" noProof="1" smtClean="0">
                            <a:latin typeface="Cambria Math" panose="02040503050406030204" pitchFamily="18" charset="0"/>
                            <a:ea typeface="Verdana" panose="020B0604030504040204" pitchFamily="34" charset="0"/>
                          </a:rPr>
                          <m:t>−1</m:t>
                        </m:r>
                      </m:sub>
                    </m:sSub>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𝐷</m:t>
                        </m:r>
                      </m:e>
                      <m:sub>
                        <m:r>
                          <a:rPr lang="en-GB" sz="1900" i="1" noProof="1" smtClean="0">
                            <a:latin typeface="Cambria Math" panose="02040503050406030204" pitchFamily="18" charset="0"/>
                            <a:ea typeface="Verdana" panose="020B0604030504040204" pitchFamily="34" charset="0"/>
                          </a:rPr>
                          <m:t>𝑡</m:t>
                        </m:r>
                      </m:sub>
                    </m:sSub>
                  </m:oMath>
                </a14:m>
                <a:r>
                  <a:rPr lang="en-GB" sz="1900" noProof="1"/>
                  <a:t> ;    </a:t>
                </a:r>
                <a14:m>
                  <m:oMath xmlns:m="http://schemas.openxmlformats.org/officeDocument/2006/math">
                    <m:sSubSup>
                      <m:sSubSupPr>
                        <m:ctrlPr>
                          <a:rPr lang="en-GB" sz="1900" i="1" noProof="1" smtClean="0">
                            <a:latin typeface="Cambria Math" panose="02040503050406030204" pitchFamily="18" charset="0"/>
                            <a:ea typeface="Verdana" panose="020B0604030504040204" pitchFamily="34" charset="0"/>
                          </a:rPr>
                        </m:ctrlPr>
                      </m:sSubSupPr>
                      <m:e>
                        <m:r>
                          <a:rPr lang="en-GB" sz="1900" i="1" noProof="1" smtClean="0">
                            <a:latin typeface="Cambria Math" panose="02040503050406030204" pitchFamily="18" charset="0"/>
                            <a:ea typeface="Verdana" panose="020B0604030504040204" pitchFamily="34" charset="0"/>
                          </a:rPr>
                          <m:t> </m:t>
                        </m:r>
                        <m:r>
                          <a:rPr lang="en-GB" sz="190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i="1" noProof="1" smtClean="0">
                            <a:latin typeface="Cambria Math" panose="02040503050406030204" pitchFamily="18" charset="0"/>
                            <a:ea typeface="Verdana" panose="020B0604030504040204" pitchFamily="34" charset="0"/>
                          </a:rPr>
                          <m:t>−1</m:t>
                        </m:r>
                      </m:sub>
                      <m:sup>
                        <m:r>
                          <a:rPr lang="en-GB" sz="1900" i="1" noProof="1" smtClean="0">
                            <a:latin typeface="Cambria Math" panose="02040503050406030204" pitchFamily="18" charset="0"/>
                            <a:ea typeface="Verdana" panose="020B0604030504040204" pitchFamily="34" charset="0"/>
                          </a:rPr>
                          <m:t>𝑤</m:t>
                        </m:r>
                      </m:sup>
                    </m:sSubSup>
                    <m:sSub>
                      <m:sSubPr>
                        <m:ctrlPr>
                          <a:rPr lang="en-GB" sz="1900" b="0" i="1" noProof="1" smtClean="0">
                            <a:latin typeface="Cambria Math" panose="02040503050406030204" pitchFamily="18" charset="0"/>
                            <a:ea typeface="Verdana" panose="020B0604030504040204" pitchFamily="34" charset="0"/>
                          </a:rPr>
                        </m:ctrlPr>
                      </m:sSubPr>
                      <m:e>
                        <m:r>
                          <a:rPr lang="en-GB" sz="1900" b="0" i="1" noProof="1" smtClean="0">
                            <a:latin typeface="Cambria Math" panose="02040503050406030204" pitchFamily="18" charset="0"/>
                            <a:ea typeface="Verdana" panose="020B0604030504040204" pitchFamily="34" charset="0"/>
                          </a:rPr>
                          <m:t>=</m:t>
                        </m:r>
                        <m:r>
                          <a:rPr lang="en-GB" sz="1900" b="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r>
                          <a:rPr lang="en-GB" sz="1900" i="1" noProof="1" smtClean="0">
                            <a:latin typeface="Cambria Math" panose="02040503050406030204" pitchFamily="18" charset="0"/>
                            <a:ea typeface="Verdana" panose="020B0604030504040204" pitchFamily="34" charset="0"/>
                          </a:rPr>
                          <m:t>,</m:t>
                        </m:r>
                        <m:r>
                          <a:rPr lang="en-GB" sz="1900" i="1" noProof="1" smtClean="0">
                            <a:latin typeface="Cambria Math" panose="02040503050406030204" pitchFamily="18" charset="0"/>
                            <a:ea typeface="Verdana" panose="020B0604030504040204" pitchFamily="34" charset="0"/>
                          </a:rPr>
                          <m:t>𝑡</m:t>
                        </m:r>
                        <m:r>
                          <a:rPr lang="en-GB" sz="1900" i="1" noProof="1" smtClean="0">
                            <a:latin typeface="Cambria Math" panose="02040503050406030204" pitchFamily="18" charset="0"/>
                            <a:ea typeface="Verdana" panose="020B0604030504040204" pitchFamily="34" charset="0"/>
                          </a:rPr>
                          <m:t>−1</m:t>
                        </m:r>
                      </m:sub>
                    </m:sSub>
                    <m:r>
                      <a:rPr lang="en-GB" sz="1900" i="1" noProof="1" smtClean="0">
                        <a:latin typeface="Cambria Math" panose="02040503050406030204" pitchFamily="18" charset="0"/>
                        <a:ea typeface="Verdana" panose="020B0604030504040204" pitchFamily="34" charset="0"/>
                      </a:rPr>
                      <m:t>−</m:t>
                    </m:r>
                    <m:acc>
                      <m:accPr>
                        <m:chr m:val="̅"/>
                        <m:ctrlPr>
                          <a:rPr lang="en-GB" sz="1900" i="1" noProof="1" smtClean="0">
                            <a:latin typeface="Cambria Math" panose="02040503050406030204" pitchFamily="18" charset="0"/>
                            <a:ea typeface="Verdana" panose="020B0604030504040204" pitchFamily="34" charset="0"/>
                          </a:rPr>
                        </m:ctrlPr>
                      </m:accPr>
                      <m:e>
                        <m:sSub>
                          <m:sSubPr>
                            <m:ctrlPr>
                              <a:rPr lang="en-GB" sz="1900" i="1" noProof="1" smtClean="0">
                                <a:latin typeface="Cambria Math" panose="02040503050406030204" pitchFamily="18" charset="0"/>
                                <a:ea typeface="Verdana" panose="020B0604030504040204" pitchFamily="34" charset="0"/>
                              </a:rPr>
                            </m:ctrlPr>
                          </m:sSubPr>
                          <m:e>
                            <m:r>
                              <a:rPr lang="en-GB" sz="190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sub>
                        </m:sSub>
                      </m:e>
                    </m:acc>
                  </m:oMath>
                </a14:m>
                <a:r>
                  <a:rPr lang="en-GB" sz="1900" noProof="1"/>
                  <a:t> ;  </a:t>
                </a:r>
                <a14:m>
                  <m:oMath xmlns:m="http://schemas.openxmlformats.org/officeDocument/2006/math">
                    <m:sSubSup>
                      <m:sSubSupPr>
                        <m:ctrlPr>
                          <a:rPr lang="en-GB" sz="1900" i="1" noProof="1" smtClean="0">
                            <a:latin typeface="Cambria Math" panose="02040503050406030204" pitchFamily="18" charset="0"/>
                            <a:ea typeface="Verdana" panose="020B0604030504040204" pitchFamily="34" charset="0"/>
                          </a:rPr>
                        </m:ctrlPr>
                      </m:sSubSupPr>
                      <m:e>
                        <m:r>
                          <a:rPr lang="en-GB" sz="1900" i="1" noProof="1" smtClean="0">
                            <a:latin typeface="Cambria Math" panose="02040503050406030204" pitchFamily="18" charset="0"/>
                            <a:ea typeface="Verdana" panose="020B0604030504040204" pitchFamily="34" charset="0"/>
                          </a:rPr>
                          <m:t>  </m:t>
                        </m:r>
                        <m:r>
                          <a:rPr lang="en-GB" sz="1900" b="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sub>
                      <m:sup>
                        <m:r>
                          <a:rPr lang="en-GB" sz="1900" i="1" noProof="1" smtClean="0">
                            <a:latin typeface="Cambria Math" panose="02040503050406030204" pitchFamily="18" charset="0"/>
                            <a:ea typeface="Verdana" panose="020B0604030504040204" pitchFamily="34" charset="0"/>
                          </a:rPr>
                          <m:t>𝐵</m:t>
                        </m:r>
                      </m:sup>
                    </m:sSubSup>
                    <m:r>
                      <a:rPr lang="en-GB" sz="1900" i="1" noProof="1" smtClean="0">
                        <a:latin typeface="Cambria Math" panose="02040503050406030204" pitchFamily="18" charset="0"/>
                        <a:ea typeface="Verdana" panose="020B0604030504040204" pitchFamily="34" charset="0"/>
                      </a:rPr>
                      <m:t>=</m:t>
                    </m:r>
                  </m:oMath>
                </a14:m>
                <a:r>
                  <a:rPr lang="en-GB" sz="1900" noProof="1">
                    <a:ea typeface="Verdana" panose="020B0604030504040204" pitchFamily="34" charset="0"/>
                  </a:rPr>
                  <a:t> </a:t>
                </a:r>
                <a14:m>
                  <m:oMath xmlns:m="http://schemas.openxmlformats.org/officeDocument/2006/math">
                    <m:acc>
                      <m:accPr>
                        <m:chr m:val="̅"/>
                        <m:ctrlPr>
                          <a:rPr lang="en-GB" sz="1900" b="0" i="1" noProof="1" smtClean="0">
                            <a:latin typeface="Cambria Math" panose="02040503050406030204" pitchFamily="18" charset="0"/>
                            <a:ea typeface="Verdana" panose="020B0604030504040204" pitchFamily="34" charset="0"/>
                          </a:rPr>
                        </m:ctrlPr>
                      </m:accPr>
                      <m:e>
                        <m:sSub>
                          <m:sSubPr>
                            <m:ctrlPr>
                              <a:rPr lang="en-GB" sz="1900" b="0" i="1" noProof="1" smtClean="0">
                                <a:latin typeface="Cambria Math" panose="02040503050406030204" pitchFamily="18" charset="0"/>
                                <a:ea typeface="Verdana" panose="020B0604030504040204" pitchFamily="34" charset="0"/>
                              </a:rPr>
                            </m:ctrlPr>
                          </m:sSubPr>
                          <m:e>
                            <m:r>
                              <a:rPr lang="en-GB" sz="1900" b="0" i="1" noProof="1" smtClean="0">
                                <a:latin typeface="Cambria Math" panose="02040503050406030204" pitchFamily="18" charset="0"/>
                                <a:ea typeface="Verdana" panose="020B0604030504040204" pitchFamily="34" charset="0"/>
                              </a:rPr>
                              <m:t>𝑌</m:t>
                            </m:r>
                          </m:e>
                          <m:sub>
                            <m:r>
                              <a:rPr lang="en-GB" sz="1900" i="1" noProof="1" smtClean="0">
                                <a:latin typeface="Cambria Math" panose="02040503050406030204" pitchFamily="18" charset="0"/>
                                <a:ea typeface="Verdana" panose="020B0604030504040204" pitchFamily="34" charset="0"/>
                              </a:rPr>
                              <m:t>𝑖</m:t>
                            </m:r>
                          </m:sub>
                        </m:sSub>
                      </m:e>
                    </m:acc>
                  </m:oMath>
                </a14:m>
                <a:r>
                  <a:rPr lang="en-GB" sz="1900" noProof="1"/>
                  <a:t>	; </a:t>
                </a:r>
                <a14:m>
                  <m:oMath xmlns:m="http://schemas.openxmlformats.org/officeDocument/2006/math">
                    <m:sSub>
                      <m:sSubPr>
                        <m:ctrlPr>
                          <a:rPr lang="en-GB" sz="2000" i="1" noProof="1" dirty="0">
                            <a:latin typeface="Cambria Math" panose="02040503050406030204" pitchFamily="18" charset="0"/>
                            <a:ea typeface="Cambria Math" panose="02040503050406030204" pitchFamily="18" charset="0"/>
                          </a:rPr>
                        </m:ctrlPr>
                      </m:sSubPr>
                      <m:e>
                        <m:r>
                          <a:rPr lang="en-GB" sz="2000" i="1" noProof="1" dirty="0">
                            <a:latin typeface="Cambria Math" panose="02040503050406030204" pitchFamily="18" charset="0"/>
                            <a:ea typeface="Cambria Math" panose="02040503050406030204" pitchFamily="18" charset="0"/>
                          </a:rPr>
                          <m:t>𝛼</m:t>
                        </m:r>
                      </m:e>
                      <m:sub>
                        <m:r>
                          <a:rPr lang="en-GB" sz="2000" i="1" noProof="1">
                            <a:latin typeface="Cambria Math" panose="02040503050406030204" pitchFamily="18" charset="0"/>
                            <a:ea typeface="Verdana" panose="020B0604030504040204" pitchFamily="34" charset="0"/>
                          </a:rPr>
                          <m:t>𝑖</m:t>
                        </m:r>
                      </m:sub>
                    </m:sSub>
                  </m:oMath>
                </a14:m>
                <a:r>
                  <a:rPr lang="en-GB" sz="1900" noProof="1"/>
                  <a:t> is random effect</a:t>
                </a:r>
              </a:p>
              <a:p>
                <a:pPr>
                  <a:lnSpc>
                    <a:spcPct val="120000"/>
                  </a:lnSpc>
                  <a:spcAft>
                    <a:spcPts val="1200"/>
                  </a:spcAft>
                </a:pPr>
                <a:r>
                  <a:rPr lang="en-GB" sz="1800" dirty="0"/>
                  <a:t>		</a:t>
                </a:r>
                <a:endParaRPr lang="en-GB" sz="1800" dirty="0">
                  <a:solidFill>
                    <a:schemeClr val="tx1"/>
                  </a:solidFill>
                </a:endParaRPr>
              </a:p>
              <a:p>
                <a:pPr>
                  <a:lnSpc>
                    <a:spcPct val="120000"/>
                  </a:lnSpc>
                  <a:spcAft>
                    <a:spcPts val="1200"/>
                  </a:spcAft>
                </a:pPr>
                <a:endParaRPr lang="en-GB" sz="1800" dirty="0">
                  <a:solidFill>
                    <a:schemeClr val="tx1"/>
                  </a:solidFill>
                </a:endParaRPr>
              </a:p>
            </p:txBody>
          </p:sp>
        </mc:Choice>
        <mc:Fallback>
          <p:sp>
            <p:nvSpPr>
              <p:cNvPr id="2" name="Content Placeholder 2">
                <a:extLst>
                  <a:ext uri="{FF2B5EF4-FFF2-40B4-BE49-F238E27FC236}">
                    <a16:creationId xmlns:a16="http://schemas.microsoft.com/office/drawing/2014/main" id="{4E2FFC46-D6F5-41BF-DECB-9FA98C0F56DD}"/>
                  </a:ext>
                </a:extLst>
              </p:cNvPr>
              <p:cNvSpPr>
                <a:spLocks noGrp="1" noRot="1" noChangeAspect="1" noMove="1" noResize="1" noEditPoints="1" noAdjustHandles="1" noChangeArrowheads="1" noChangeShapeType="1" noTextEdit="1"/>
              </p:cNvSpPr>
              <p:nvPr>
                <p:ph idx="1"/>
              </p:nvPr>
            </p:nvSpPr>
            <p:spPr>
              <a:xfrm>
                <a:off x="310896" y="877824"/>
                <a:ext cx="8723376" cy="6364224"/>
              </a:xfrm>
              <a:blipFill>
                <a:blip r:embed="rId3"/>
                <a:stretch>
                  <a:fillRect l="-1747" t="-1245"/>
                </a:stretch>
              </a:blipFill>
            </p:spPr>
            <p:txBody>
              <a:bodyPr/>
              <a:lstStyle/>
              <a:p>
                <a:r>
                  <a:rPr lang="en-GB">
                    <a:noFill/>
                  </a:rPr>
                  <a:t> </a:t>
                </a:r>
              </a:p>
            </p:txBody>
          </p:sp>
        </mc:Fallback>
      </mc:AlternateContent>
    </p:spTree>
    <p:extLst>
      <p:ext uri="{BB962C8B-B14F-4D97-AF65-F5344CB8AC3E}">
        <p14:creationId xmlns:p14="http://schemas.microsoft.com/office/powerpoint/2010/main" val="37453198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EA225-5025-E775-0BD3-776D66DBA8A8}"/>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E303A361-90E1-35B2-AE64-2B40EE87BE60}"/>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Results CRE probit models</a:t>
            </a:r>
          </a:p>
        </p:txBody>
      </p:sp>
      <p:sp>
        <p:nvSpPr>
          <p:cNvPr id="2" name="Content Placeholder 2">
            <a:extLst>
              <a:ext uri="{FF2B5EF4-FFF2-40B4-BE49-F238E27FC236}">
                <a16:creationId xmlns:a16="http://schemas.microsoft.com/office/drawing/2014/main" id="{A3001772-3E0A-65B5-1F29-4C5CF7BC0C4D}"/>
              </a:ext>
            </a:extLst>
          </p:cNvPr>
          <p:cNvSpPr>
            <a:spLocks noGrp="1"/>
          </p:cNvSpPr>
          <p:nvPr>
            <p:ph idx="1"/>
          </p:nvPr>
        </p:nvSpPr>
        <p:spPr>
          <a:xfrm>
            <a:off x="105536" y="1016441"/>
            <a:ext cx="8756744" cy="5679439"/>
          </a:xfrm>
        </p:spPr>
        <p:txBody>
          <a:bodyPr>
            <a:norm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investment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positive average effect on growth surprises</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trade exposure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additional effect on positive growth surprise in shock years, confirming the unconditional tests</a:t>
            </a:r>
          </a:p>
          <a:p>
            <a:pPr>
              <a:lnSpc>
                <a:spcPct val="120000"/>
              </a:lnSpc>
              <a:spcAft>
                <a:spcPts val="1200"/>
              </a:spcAft>
            </a:pPr>
            <a:endParaRPr lang="nl-NL" sz="1600" dirty="0">
              <a:solidFill>
                <a:schemeClr val="accent1">
                  <a:lumMod val="50000"/>
                </a:schemeClr>
              </a:solidFill>
            </a:endParaRPr>
          </a:p>
        </p:txBody>
      </p:sp>
      <mc:AlternateContent xmlns:mc="http://schemas.openxmlformats.org/markup-compatibility/2006" xmlns:a14="http://schemas.microsoft.com/office/drawing/2010/main">
        <mc:Choice Requires="a14">
          <p:sp>
            <p:nvSpPr>
              <p:cNvPr id="6" name="Tekstvak 3">
                <a:extLst>
                  <a:ext uri="{FF2B5EF4-FFF2-40B4-BE49-F238E27FC236}">
                    <a16:creationId xmlns:a16="http://schemas.microsoft.com/office/drawing/2014/main" id="{A7CF6141-D8EB-7171-49B8-DB2C33D6D240}"/>
                  </a:ext>
                </a:extLst>
              </p:cNvPr>
              <p:cNvSpPr txBox="1"/>
              <p:nvPr/>
            </p:nvSpPr>
            <p:spPr>
              <a:xfrm>
                <a:off x="197589" y="4744958"/>
                <a:ext cx="8664691" cy="1453924"/>
              </a:xfrm>
              <a:prstGeom prst="rect">
                <a:avLst/>
              </a:prstGeom>
              <a:noFill/>
            </p:spPr>
            <p:txBody>
              <a:bodyPr wrap="square" rtlCol="0">
                <a:spAutoFit/>
              </a:bodyPr>
              <a:lstStyle/>
              <a:p>
                <a:pPr algn="just">
                  <a:defRPr/>
                </a:pPr>
                <a:r>
                  <a:rPr lang="nl-NL" sz="1100" noProof="1">
                    <a:solidFill>
                      <a:srgbClr val="002060"/>
                    </a:solidFill>
                  </a:rPr>
                  <a:t>Average marginal effect (AME) of 1 stdev change of ICT/AI variable. ***, **, * indicate 1%, 5%, 10% significance. Standard errors based on country-clustered sandwich covariance matrix (robust to heteroscedasticity and within country dependence, so countries (clusters) are assumed independent of each other). </a:t>
                </a:r>
                <a:r>
                  <a:rPr lang="en-US" sz="1100" noProof="1">
                    <a:solidFill>
                      <a:srgbClr val="002060"/>
                    </a:solidFill>
                  </a:rPr>
                  <a:t>Explanatory variables are standardised and included one period lagged (to address endogeneity concerns and numerator effects in the ratios based on GDP as numerator). In each equation, one of the AI/ICT-related variables is included in </a:t>
                </a:r>
                <a14:m>
                  <m:oMath xmlns:m="http://schemas.openxmlformats.org/officeDocument/2006/math">
                    <m:sSub>
                      <m:sSubPr>
                        <m:ctrlPr>
                          <a:rPr lang="en-US" sz="1100" i="1" noProof="1">
                            <a:latin typeface="Cambria Math" panose="02040503050406030204" pitchFamily="18" charset="0"/>
                            <a:ea typeface="Verdana" panose="020B0604030504040204" pitchFamily="34" charset="0"/>
                          </a:rPr>
                        </m:ctrlPr>
                      </m:sSubPr>
                      <m:e>
                        <m:r>
                          <a:rPr lang="en-US" sz="1100" i="1" noProof="1">
                            <a:latin typeface="Cambria Math" panose="02040503050406030204" pitchFamily="18" charset="0"/>
                            <a:ea typeface="Verdana" panose="020B0604030504040204" pitchFamily="34" charset="0"/>
                          </a:rPr>
                          <m:t>𝑋</m:t>
                        </m:r>
                      </m:e>
                      <m:sub>
                        <m:r>
                          <a:rPr lang="en-US" sz="1100" i="1" noProof="1">
                            <a:latin typeface="Cambria Math" panose="02040503050406030204" pitchFamily="18" charset="0"/>
                            <a:ea typeface="Verdana" panose="020B0604030504040204" pitchFamily="34" charset="0"/>
                          </a:rPr>
                          <m:t>𝑖</m:t>
                        </m:r>
                        <m:r>
                          <a:rPr lang="en-US" sz="1100" i="1" noProof="1">
                            <a:latin typeface="Cambria Math" panose="02040503050406030204" pitchFamily="18" charset="0"/>
                            <a:ea typeface="Verdana" panose="020B0604030504040204" pitchFamily="34" charset="0"/>
                          </a:rPr>
                          <m:t>,</m:t>
                        </m:r>
                        <m:r>
                          <a:rPr lang="en-US" sz="1100" i="1" noProof="1">
                            <a:latin typeface="Cambria Math" panose="02040503050406030204" pitchFamily="18" charset="0"/>
                            <a:ea typeface="Verdana" panose="020B0604030504040204" pitchFamily="34" charset="0"/>
                          </a:rPr>
                          <m:t>𝑡</m:t>
                        </m:r>
                      </m:sub>
                    </m:sSub>
                    <m:r>
                      <a:rPr lang="en-US" sz="1100" b="0" i="0" noProof="1" smtClean="0">
                        <a:latin typeface="Cambria Math" panose="02040503050406030204" pitchFamily="18" charset="0"/>
                        <a:ea typeface="Verdana" panose="020B0604030504040204" pitchFamily="34" charset="0"/>
                      </a:rPr>
                      <m:t>.</m:t>
                    </m:r>
                  </m:oMath>
                </a14:m>
                <a:r>
                  <a:rPr lang="en-US" sz="1100" noProof="1">
                    <a:solidFill>
                      <a:srgbClr val="002060"/>
                    </a:solidFill>
                  </a:rPr>
                  <a:t> As control variables are included i) state aid as ratio of GDP (contemporaneous value of state aid and one period lagged GDP, source </a:t>
                </a:r>
                <a:r>
                  <a:rPr lang="en-US" sz="1100" noProof="1">
                    <a:solidFill>
                      <a:srgbClr val="002060"/>
                    </a:solidFill>
                    <a:hlinkClick r:id="rId3"/>
                  </a:rPr>
                  <a:t>Eurostat</a:t>
                </a:r>
                <a:r>
                  <a:rPr lang="en-US" sz="1100" noProof="1">
                    <a:solidFill>
                      <a:srgbClr val="002060"/>
                    </a:solidFill>
                  </a:rPr>
                  <a:t>); ii) trade openness (exports + imports over GDP, source Worldbank); iii) forecast-vintage controls, with a dummy for Autumn forecasts. a dummy for t+1 forecasts and for their interaction. </a:t>
                </a:r>
                <a:endParaRPr lang="nl-NL" sz="1100" noProof="1">
                  <a:solidFill>
                    <a:srgbClr val="002060"/>
                  </a:solidFill>
                </a:endParaRPr>
              </a:p>
            </p:txBody>
          </p:sp>
        </mc:Choice>
        <mc:Fallback xmlns="">
          <p:sp>
            <p:nvSpPr>
              <p:cNvPr id="6" name="Tekstvak 3">
                <a:extLst>
                  <a:ext uri="{FF2B5EF4-FFF2-40B4-BE49-F238E27FC236}">
                    <a16:creationId xmlns:a16="http://schemas.microsoft.com/office/drawing/2014/main" id="{A7CF6141-D8EB-7171-49B8-DB2C33D6D240}"/>
                  </a:ext>
                </a:extLst>
              </p:cNvPr>
              <p:cNvSpPr txBox="1">
                <a:spLocks noRot="1" noChangeAspect="1" noMove="1" noResize="1" noEditPoints="1" noAdjustHandles="1" noChangeArrowheads="1" noChangeShapeType="1" noTextEdit="1"/>
              </p:cNvSpPr>
              <p:nvPr/>
            </p:nvSpPr>
            <p:spPr>
              <a:xfrm>
                <a:off x="197589" y="4744958"/>
                <a:ext cx="8664691" cy="1453924"/>
              </a:xfrm>
              <a:prstGeom prst="rect">
                <a:avLst/>
              </a:prstGeom>
              <a:blipFill>
                <a:blip r:embed="rId4"/>
                <a:stretch>
                  <a:fillRect b="-1674"/>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1934FC63-0880-B9C7-3990-4C41059B0EE7}"/>
              </a:ext>
            </a:extLst>
          </p:cNvPr>
          <p:cNvPicPr>
            <a:picLocks noChangeAspect="1"/>
          </p:cNvPicPr>
          <p:nvPr/>
        </p:nvPicPr>
        <p:blipFill>
          <a:blip r:embed="rId5"/>
          <a:stretch>
            <a:fillRect/>
          </a:stretch>
        </p:blipFill>
        <p:spPr>
          <a:xfrm>
            <a:off x="512826" y="2435733"/>
            <a:ext cx="3077972" cy="2169414"/>
          </a:xfrm>
          <a:prstGeom prst="rect">
            <a:avLst/>
          </a:prstGeom>
        </p:spPr>
      </p:pic>
      <p:pic>
        <p:nvPicPr>
          <p:cNvPr id="3" name="Picture 2">
            <a:extLst>
              <a:ext uri="{FF2B5EF4-FFF2-40B4-BE49-F238E27FC236}">
                <a16:creationId xmlns:a16="http://schemas.microsoft.com/office/drawing/2014/main" id="{BA1AEE6B-C3CF-FAEB-FF58-BBA90707E8D1}"/>
              </a:ext>
            </a:extLst>
          </p:cNvPr>
          <p:cNvPicPr>
            <a:picLocks noChangeAspect="1"/>
          </p:cNvPicPr>
          <p:nvPr/>
        </p:nvPicPr>
        <p:blipFill>
          <a:blip r:embed="rId6"/>
          <a:stretch>
            <a:fillRect/>
          </a:stretch>
        </p:blipFill>
        <p:spPr>
          <a:xfrm>
            <a:off x="3525121" y="2435733"/>
            <a:ext cx="4858006" cy="2169415"/>
          </a:xfrm>
          <a:prstGeom prst="rect">
            <a:avLst/>
          </a:prstGeom>
        </p:spPr>
      </p:pic>
    </p:spTree>
    <p:extLst>
      <p:ext uri="{BB962C8B-B14F-4D97-AF65-F5344CB8AC3E}">
        <p14:creationId xmlns:p14="http://schemas.microsoft.com/office/powerpoint/2010/main" val="27902786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CD0D6-1CFA-E426-08B0-AF5055AC2BF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EDEA4FF-77B4-1210-0800-2B8BF9AA0C3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Conclusions</a:t>
            </a:r>
          </a:p>
        </p:txBody>
      </p:sp>
      <p:sp>
        <p:nvSpPr>
          <p:cNvPr id="2" name="Content Placeholder 2">
            <a:extLst>
              <a:ext uri="{FF2B5EF4-FFF2-40B4-BE49-F238E27FC236}">
                <a16:creationId xmlns:a16="http://schemas.microsoft.com/office/drawing/2014/main" id="{EFBED4CC-73CB-5E21-890E-866BC0B3643A}"/>
              </a:ext>
            </a:extLst>
          </p:cNvPr>
          <p:cNvSpPr>
            <a:spLocks noGrp="1"/>
          </p:cNvSpPr>
          <p:nvPr>
            <p:ph idx="1"/>
          </p:nvPr>
        </p:nvSpPr>
        <p:spPr>
          <a:xfrm>
            <a:off x="281720" y="1072550"/>
            <a:ext cx="8396454" cy="5679439"/>
          </a:xfrm>
        </p:spPr>
        <p:txBody>
          <a:bodyPr>
            <a:normAutofit/>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Positive growth surprises more common in shock years than in normal years, pointing to larger than expected resilience</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ICT/AI-related corporate investment matters in normal times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AI equity investment does not play this role and even seems to be a relative disadvantage during shocks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Trade exposure has been a resilience channel in shock years (AI-stock market correlation has not) …</a:t>
            </a:r>
          </a:p>
          <a:p>
            <a:pPr>
              <a:lnSpc>
                <a:spcPct val="120000"/>
              </a:lnSpc>
              <a:spcAft>
                <a:spcPts val="1200"/>
              </a:spcAft>
            </a:pPr>
            <a:r>
              <a:rPr lang="en-US" sz="2000" noProof="1">
                <a:latin typeface="Verdana" panose="020B0604030504040204" pitchFamily="34" charset="0"/>
                <a:ea typeface="Verdana" panose="020B0604030504040204" pitchFamily="34" charset="0"/>
              </a:rPr>
              <a:t>	… but </a:t>
            </a:r>
            <a:r>
              <a:rPr lang="en-US" sz="2000" noProof="1">
                <a:latin typeface="Verdana" panose="020B0604030504040204" pitchFamily="34" charset="0"/>
                <a:ea typeface="Verdana" panose="020B0604030504040204" pitchFamily="34" charset="0"/>
                <a:cs typeface="Arial" panose="020B0604020202020204" pitchFamily="34" charset="0"/>
              </a:rPr>
              <a:t>if a future shock would originate from the AI sector 	itself, high-tech trade exposure could turn from an 	advantage into a vulnerability</a:t>
            </a: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a:lnSpc>
                <a:spcPct val="120000"/>
              </a:lnSpc>
              <a:spcAft>
                <a:spcPts val="1200"/>
              </a:spcAft>
            </a:pPr>
            <a:endParaRPr lang="nl-NL" sz="1600" dirty="0">
              <a:solidFill>
                <a:schemeClr val="accent1">
                  <a:lumMod val="50000"/>
                </a:schemeClr>
              </a:solidFill>
            </a:endParaRPr>
          </a:p>
        </p:txBody>
      </p:sp>
    </p:spTree>
    <p:extLst>
      <p:ext uri="{BB962C8B-B14F-4D97-AF65-F5344CB8AC3E}">
        <p14:creationId xmlns:p14="http://schemas.microsoft.com/office/powerpoint/2010/main" val="37776620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71139-22FF-EBBF-773A-91572EAD08B7}"/>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98F2D218-3382-A4F9-611C-8C2FC2F0440C}"/>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Background slides</a:t>
            </a:r>
          </a:p>
        </p:txBody>
      </p:sp>
    </p:spTree>
    <p:extLst>
      <p:ext uri="{BB962C8B-B14F-4D97-AF65-F5344CB8AC3E}">
        <p14:creationId xmlns:p14="http://schemas.microsoft.com/office/powerpoint/2010/main" val="36663425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3FEDE-A68E-263C-78AD-8A94B89C1D6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A3DE4CC-1235-6A5B-5226-EACB34CDA045}"/>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Wild swings in semiconductor short-term </a:t>
            </a:r>
            <a:r>
              <a:rPr lang="nl-NL" sz="2400" dirty="0" err="1">
                <a:solidFill>
                  <a:schemeClr val="bg1"/>
                </a:solidFill>
              </a:rPr>
              <a:t>cycle</a:t>
            </a:r>
            <a:endParaRPr lang="nl-NL" sz="2400" dirty="0">
              <a:solidFill>
                <a:srgbClr val="FF0000"/>
              </a:solidFill>
            </a:endParaRPr>
          </a:p>
        </p:txBody>
      </p:sp>
      <p:sp>
        <p:nvSpPr>
          <p:cNvPr id="6" name="Content Placeholder 2">
            <a:extLst>
              <a:ext uri="{FF2B5EF4-FFF2-40B4-BE49-F238E27FC236}">
                <a16:creationId xmlns:a16="http://schemas.microsoft.com/office/drawing/2014/main" id="{1E8422D5-2452-DB5E-9929-FF6B42FB6722}"/>
              </a:ext>
            </a:extLst>
          </p:cNvPr>
          <p:cNvSpPr>
            <a:spLocks noGrp="1"/>
          </p:cNvSpPr>
          <p:nvPr>
            <p:ph idx="1"/>
          </p:nvPr>
        </p:nvSpPr>
        <p:spPr>
          <a:xfrm>
            <a:off x="146303" y="935391"/>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solidFill>
                  <a:schemeClr val="accent1">
                    <a:lumMod val="50000"/>
                  </a:schemeClr>
                </a:solidFill>
                <a:latin typeface="Verdana" panose="020B0604030504040204" pitchFamily="34" charset="0"/>
                <a:ea typeface="Verdana" panose="020B0604030504040204" pitchFamily="34" charset="0"/>
              </a:rPr>
              <a:t>Short-term semiconductor cycle more volatile than traditional stocks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F8831F86-71DE-C3FE-B109-F7E9B5952F04}"/>
              </a:ext>
            </a:extLst>
          </p:cNvPr>
          <p:cNvSpPr txBox="1"/>
          <p:nvPr/>
        </p:nvSpPr>
        <p:spPr>
          <a:xfrm>
            <a:off x="3790386" y="5833124"/>
            <a:ext cx="5207311" cy="461665"/>
          </a:xfrm>
          <a:prstGeom prst="rect">
            <a:avLst/>
          </a:prstGeom>
          <a:noFill/>
        </p:spPr>
        <p:txBody>
          <a:bodyPr wrap="square" rtlCol="0">
            <a:spAutoFit/>
          </a:bodyPr>
          <a:lstStyle/>
          <a:p>
            <a:pPr>
              <a:defRPr/>
            </a:pPr>
            <a:r>
              <a:rPr lang="nl-NL" sz="1200" dirty="0" err="1">
                <a:solidFill>
                  <a:srgbClr val="002060"/>
                </a:solidFill>
              </a:rPr>
              <a:t>Annual</a:t>
            </a:r>
            <a:r>
              <a:rPr lang="nl-NL" sz="1200" dirty="0">
                <a:solidFill>
                  <a:srgbClr val="002060"/>
                </a:solidFill>
              </a:rPr>
              <a:t> log return of STOXX Europe 600 and Semiconductor stock index (SOX), source Yahoo Finance. </a:t>
            </a:r>
            <a:r>
              <a:rPr lang="nl-NL" sz="1200" dirty="0">
                <a:solidFill>
                  <a:srgbClr val="002060"/>
                </a:solidFill>
                <a:hlinkClick r:id="rId3" action="ppaction://hlinksldjump"/>
              </a:rPr>
              <a:t>Link</a:t>
            </a:r>
            <a:r>
              <a:rPr lang="nl-NL" sz="1200" dirty="0">
                <a:solidFill>
                  <a:srgbClr val="002060"/>
                </a:solidFill>
              </a:rPr>
              <a:t> back.</a:t>
            </a:r>
          </a:p>
        </p:txBody>
      </p:sp>
      <p:pic>
        <p:nvPicPr>
          <p:cNvPr id="3" name="Picture 2">
            <a:extLst>
              <a:ext uri="{FF2B5EF4-FFF2-40B4-BE49-F238E27FC236}">
                <a16:creationId xmlns:a16="http://schemas.microsoft.com/office/drawing/2014/main" id="{91A85948-69E3-BFEE-81F1-A1C9C4ED33BD}"/>
              </a:ext>
            </a:extLst>
          </p:cNvPr>
          <p:cNvPicPr>
            <a:picLocks noChangeAspect="1"/>
          </p:cNvPicPr>
          <p:nvPr/>
        </p:nvPicPr>
        <p:blipFill>
          <a:blip r:embed="rId4"/>
          <a:stretch>
            <a:fillRect/>
          </a:stretch>
        </p:blipFill>
        <p:spPr>
          <a:xfrm>
            <a:off x="3538729" y="1533014"/>
            <a:ext cx="5458968" cy="3514473"/>
          </a:xfrm>
          <a:prstGeom prst="rect">
            <a:avLst/>
          </a:prstGeom>
        </p:spPr>
      </p:pic>
    </p:spTree>
    <p:extLst>
      <p:ext uri="{BB962C8B-B14F-4D97-AF65-F5344CB8AC3E}">
        <p14:creationId xmlns:p14="http://schemas.microsoft.com/office/powerpoint/2010/main" val="14736962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651E-039A-5D85-5C26-C3731B5E62B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3D671E-1B58-DEFA-8900-436B363D6930}"/>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8" name="Tekstvak 3">
            <a:extLst>
              <a:ext uri="{FF2B5EF4-FFF2-40B4-BE49-F238E27FC236}">
                <a16:creationId xmlns:a16="http://schemas.microsoft.com/office/drawing/2014/main" id="{21C63CC4-9F1C-6D6D-9FEF-9D04021E36EE}"/>
              </a:ext>
            </a:extLst>
          </p:cNvPr>
          <p:cNvSpPr txBox="1"/>
          <p:nvPr/>
        </p:nvSpPr>
        <p:spPr>
          <a:xfrm>
            <a:off x="4820687" y="5251888"/>
            <a:ext cx="4087369" cy="646331"/>
          </a:xfrm>
          <a:prstGeom prst="rect">
            <a:avLst/>
          </a:prstGeom>
          <a:noFill/>
        </p:spPr>
        <p:txBody>
          <a:bodyPr wrap="square" rtlCol="0">
            <a:spAutoFit/>
          </a:bodyPr>
          <a:lstStyle/>
          <a:p>
            <a:pPr>
              <a:defRPr/>
            </a:pPr>
            <a:r>
              <a:rPr lang="nl-NL" sz="1200" dirty="0">
                <a:solidFill>
                  <a:srgbClr val="002060"/>
                </a:solidFill>
              </a:rPr>
              <a:t>Number of </a:t>
            </a:r>
            <a:r>
              <a:rPr lang="nl-NL" sz="1200" dirty="0" err="1">
                <a:solidFill>
                  <a:srgbClr val="002060"/>
                </a:solidFill>
              </a:rPr>
              <a:t>incoming</a:t>
            </a:r>
            <a:r>
              <a:rPr lang="nl-NL" sz="1200" dirty="0">
                <a:solidFill>
                  <a:srgbClr val="002060"/>
                </a:solidFill>
              </a:rPr>
              <a:t> </a:t>
            </a:r>
            <a:r>
              <a:rPr lang="nl-NL" sz="1200" dirty="0" err="1">
                <a:solidFill>
                  <a:srgbClr val="002060"/>
                </a:solidFill>
              </a:rPr>
              <a:t>equity</a:t>
            </a:r>
            <a:r>
              <a:rPr lang="nl-NL" sz="1200" dirty="0">
                <a:solidFill>
                  <a:srgbClr val="002060"/>
                </a:solidFill>
              </a:rPr>
              <a:t> </a:t>
            </a:r>
            <a:r>
              <a:rPr lang="nl-NL" sz="1200" dirty="0" err="1">
                <a:solidFill>
                  <a:srgbClr val="002060"/>
                </a:solidFill>
              </a:rPr>
              <a:t>investments</a:t>
            </a:r>
            <a:r>
              <a:rPr lang="nl-NL" sz="1200" dirty="0">
                <a:solidFill>
                  <a:srgbClr val="002060"/>
                </a:solidFill>
              </a:rPr>
              <a:t> in AI fields, </a:t>
            </a:r>
            <a:r>
              <a:rPr lang="nl-NL" sz="1200" dirty="0" err="1">
                <a:solidFill>
                  <a:srgbClr val="002060"/>
                </a:solidFill>
              </a:rPr>
              <a:t>scaled</a:t>
            </a:r>
            <a:r>
              <a:rPr lang="nl-NL" sz="1200" dirty="0">
                <a:solidFill>
                  <a:srgbClr val="002060"/>
                </a:solidFill>
              </a:rPr>
              <a:t> </a:t>
            </a:r>
            <a:r>
              <a:rPr lang="nl-NL" sz="1200" dirty="0" err="1">
                <a:solidFill>
                  <a:srgbClr val="002060"/>
                </a:solidFill>
              </a:rPr>
              <a:t>by</a:t>
            </a:r>
            <a:r>
              <a:rPr lang="nl-NL" sz="1200" dirty="0">
                <a:solidFill>
                  <a:srgbClr val="002060"/>
                </a:solidFill>
              </a:rPr>
              <a:t> GDP. </a:t>
            </a:r>
            <a:r>
              <a:rPr lang="nl-NL" sz="1200" dirty="0" err="1">
                <a:solidFill>
                  <a:srgbClr val="002060"/>
                </a:solidFill>
              </a:rPr>
              <a:t>Annual</a:t>
            </a:r>
            <a:r>
              <a:rPr lang="nl-NL" sz="1200" dirty="0">
                <a:solidFill>
                  <a:srgbClr val="002060"/>
                </a:solidFill>
              </a:rPr>
              <a:t> data 2015-2025 (Source: </a:t>
            </a:r>
            <a:r>
              <a:rPr lang="en-US" sz="1200" dirty="0">
                <a:solidFill>
                  <a:srgbClr val="002060"/>
                </a:solidFill>
              </a:rPr>
              <a:t>ETO's CAT, </a:t>
            </a:r>
            <a:r>
              <a:rPr lang="en-US" sz="1200" dirty="0">
                <a:solidFill>
                  <a:srgbClr val="002060"/>
                </a:solidFill>
                <a:hlinkClick r:id="rId3"/>
              </a:rPr>
              <a:t>Country Activity Tracker</a:t>
            </a:r>
            <a:r>
              <a:rPr lang="en-US" sz="1200" dirty="0">
                <a:solidFill>
                  <a:srgbClr val="002060"/>
                </a:solidFill>
              </a:rPr>
              <a:t>)</a:t>
            </a:r>
            <a:r>
              <a:rPr lang="nl-NL" sz="1200" dirty="0">
                <a:solidFill>
                  <a:srgbClr val="002060"/>
                </a:solidFill>
              </a:rPr>
              <a:t>.</a:t>
            </a:r>
          </a:p>
        </p:txBody>
      </p:sp>
      <p:pic>
        <p:nvPicPr>
          <p:cNvPr id="7" name="Picture 6">
            <a:extLst>
              <a:ext uri="{FF2B5EF4-FFF2-40B4-BE49-F238E27FC236}">
                <a16:creationId xmlns:a16="http://schemas.microsoft.com/office/drawing/2014/main" id="{00D67D2D-8767-2D3D-DB1A-994B39847091}"/>
              </a:ext>
            </a:extLst>
          </p:cNvPr>
          <p:cNvPicPr>
            <a:picLocks noChangeAspect="1"/>
          </p:cNvPicPr>
          <p:nvPr/>
        </p:nvPicPr>
        <p:blipFill>
          <a:blip r:embed="rId4"/>
          <a:stretch>
            <a:fillRect/>
          </a:stretch>
        </p:blipFill>
        <p:spPr>
          <a:xfrm>
            <a:off x="4661999" y="1728216"/>
            <a:ext cx="4335697" cy="3203135"/>
          </a:xfrm>
          <a:prstGeom prst="rect">
            <a:avLst/>
          </a:prstGeom>
        </p:spPr>
      </p:pic>
      <p:sp>
        <p:nvSpPr>
          <p:cNvPr id="11" name="Tekstvak 3">
            <a:extLst>
              <a:ext uri="{FF2B5EF4-FFF2-40B4-BE49-F238E27FC236}">
                <a16:creationId xmlns:a16="http://schemas.microsoft.com/office/drawing/2014/main" id="{7D1FCEE6-8AAC-959D-A8E8-B4CF4C9F0122}"/>
              </a:ext>
            </a:extLst>
          </p:cNvPr>
          <p:cNvSpPr txBox="1"/>
          <p:nvPr/>
        </p:nvSpPr>
        <p:spPr>
          <a:xfrm>
            <a:off x="304990" y="5053409"/>
            <a:ext cx="4087369" cy="1200329"/>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investment in </a:t>
            </a:r>
            <a:r>
              <a:rPr lang="nl-NL" sz="1200" dirty="0" err="1">
                <a:solidFill>
                  <a:srgbClr val="002060"/>
                </a:solidFill>
              </a:rPr>
              <a:t>total</a:t>
            </a:r>
            <a:r>
              <a:rPr lang="nl-NL" sz="1200" dirty="0">
                <a:solidFill>
                  <a:srgbClr val="002060"/>
                </a:solidFill>
              </a:rPr>
              <a:t> GFCF</a:t>
            </a:r>
          </a:p>
          <a:p>
            <a:pPr>
              <a:defRPr/>
            </a:pPr>
            <a:r>
              <a:rPr lang="nl-NL" sz="1200" dirty="0" err="1">
                <a:solidFill>
                  <a:srgbClr val="002060"/>
                </a:solidFill>
              </a:rPr>
              <a:t>Annual</a:t>
            </a:r>
            <a:r>
              <a:rPr lang="nl-NL" sz="1200" dirty="0">
                <a:solidFill>
                  <a:srgbClr val="002060"/>
                </a:solidFill>
              </a:rPr>
              <a:t> data 2000-2025 (</a:t>
            </a:r>
            <a:r>
              <a:rPr lang="nl-NL" sz="1200" dirty="0" err="1">
                <a:solidFill>
                  <a:srgbClr val="002060"/>
                </a:solidFill>
              </a:rPr>
              <a:t>for</a:t>
            </a:r>
            <a:r>
              <a:rPr lang="nl-NL" sz="1200" dirty="0">
                <a:solidFill>
                  <a:srgbClr val="002060"/>
                </a:solidFill>
              </a:rPr>
              <a:t> </a:t>
            </a:r>
            <a:r>
              <a:rPr lang="nl-NL" sz="1200" dirty="0" err="1">
                <a:solidFill>
                  <a:srgbClr val="002060"/>
                </a:solidFill>
              </a:rPr>
              <a:t>countries</a:t>
            </a:r>
            <a:r>
              <a:rPr lang="nl-NL" sz="1200" dirty="0">
                <a:solidFill>
                  <a:srgbClr val="002060"/>
                </a:solidFill>
              </a:rPr>
              <a:t> of </a:t>
            </a:r>
            <a:r>
              <a:rPr lang="nl-NL" sz="1200" dirty="0" err="1">
                <a:solidFill>
                  <a:srgbClr val="002060"/>
                </a:solidFill>
              </a:rPr>
              <a:t>which</a:t>
            </a:r>
            <a:r>
              <a:rPr lang="nl-NL" sz="1200" dirty="0">
                <a:solidFill>
                  <a:srgbClr val="002060"/>
                </a:solidFill>
              </a:rPr>
              <a:t> 2025 data is </a:t>
            </a:r>
            <a:r>
              <a:rPr lang="nl-NL" sz="1200" dirty="0" err="1">
                <a:solidFill>
                  <a:srgbClr val="002060"/>
                </a:solidFill>
              </a:rPr>
              <a:t>not</a:t>
            </a:r>
            <a:r>
              <a:rPr lang="nl-NL" sz="1200" dirty="0">
                <a:solidFill>
                  <a:srgbClr val="002060"/>
                </a:solidFill>
              </a:rPr>
              <a:t> </a:t>
            </a:r>
            <a:r>
              <a:rPr lang="nl-NL" sz="1200" dirty="0" err="1">
                <a:solidFill>
                  <a:srgbClr val="002060"/>
                </a:solidFill>
              </a:rPr>
              <a:t>available</a:t>
            </a:r>
            <a:r>
              <a:rPr lang="nl-NL" sz="1200" dirty="0">
                <a:solidFill>
                  <a:srgbClr val="002060"/>
                </a:solidFill>
              </a:rPr>
              <a:t> </a:t>
            </a:r>
            <a:r>
              <a:rPr lang="nl-NL" sz="1200" dirty="0" err="1">
                <a:solidFill>
                  <a:srgbClr val="002060"/>
                </a:solidFill>
              </a:rPr>
              <a:t>yet</a:t>
            </a:r>
            <a:r>
              <a:rPr lang="nl-NL" sz="1200" dirty="0">
                <a:solidFill>
                  <a:srgbClr val="002060"/>
                </a:solidFill>
              </a:rPr>
              <a:t>; 2024 data is </a:t>
            </a:r>
            <a:r>
              <a:rPr lang="nl-NL" sz="1200" dirty="0" err="1">
                <a:solidFill>
                  <a:srgbClr val="002060"/>
                </a:solidFill>
              </a:rPr>
              <a:t>used</a:t>
            </a:r>
            <a:r>
              <a:rPr lang="nl-NL" sz="1200" dirty="0">
                <a:solidFill>
                  <a:srgbClr val="002060"/>
                </a:solidFill>
              </a:rPr>
              <a:t>). Product </a:t>
            </a:r>
            <a:r>
              <a:rPr lang="nl-NL" sz="1200" dirty="0" err="1">
                <a:solidFill>
                  <a:srgbClr val="002060"/>
                </a:solidFill>
              </a:rPr>
              <a:t>groups</a:t>
            </a:r>
            <a:r>
              <a:rPr lang="nl-NL" sz="1200" dirty="0">
                <a:solidFill>
                  <a:srgbClr val="002060"/>
                </a:solidFill>
              </a:rPr>
              <a:t>: </a:t>
            </a:r>
            <a:r>
              <a:rPr lang="pt-BR" sz="1200" dirty="0">
                <a:solidFill>
                  <a:srgbClr val="002060"/>
                </a:solidFill>
              </a:rPr>
              <a:t>N1132G, N1173G, N112G_secJ, N117G_secJ, N1173G_secJ (source: </a:t>
            </a:r>
            <a:r>
              <a:rPr lang="pt-BR" sz="1200" dirty="0">
                <a:solidFill>
                  <a:srgbClr val="002060"/>
                </a:solidFill>
                <a:hlinkClick r:id="rId5"/>
              </a:rPr>
              <a:t>Eurostat</a:t>
            </a:r>
            <a:r>
              <a:rPr lang="pt-BR" sz="1200" dirty="0">
                <a:solidFill>
                  <a:srgbClr val="002060"/>
                </a:solidFill>
              </a:rPr>
              <a:t>).</a:t>
            </a: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338A2D59-53C8-50EE-C6F5-E44B1EC58C7B}"/>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6" action="ppaction://hlinksldjump"/>
              </a:rPr>
              <a:t>Link</a:t>
            </a:r>
            <a:r>
              <a:rPr lang="nl-NL" sz="1200" dirty="0">
                <a:solidFill>
                  <a:srgbClr val="002060"/>
                </a:solidFill>
              </a:rPr>
              <a:t> back</a:t>
            </a:r>
          </a:p>
        </p:txBody>
      </p:sp>
      <p:sp>
        <p:nvSpPr>
          <p:cNvPr id="4" name="Tekstvak 3">
            <a:extLst>
              <a:ext uri="{FF2B5EF4-FFF2-40B4-BE49-F238E27FC236}">
                <a16:creationId xmlns:a16="http://schemas.microsoft.com/office/drawing/2014/main" id="{80A3C609-6383-27DE-510C-C64F4B0DBC92}"/>
              </a:ext>
            </a:extLst>
          </p:cNvPr>
          <p:cNvSpPr txBox="1"/>
          <p:nvPr/>
        </p:nvSpPr>
        <p:spPr>
          <a:xfrm>
            <a:off x="5181412" y="975170"/>
            <a:ext cx="3726644" cy="584775"/>
          </a:xfrm>
          <a:prstGeom prst="rect">
            <a:avLst/>
          </a:prstGeom>
          <a:noFill/>
        </p:spPr>
        <p:txBody>
          <a:bodyPr wrap="square" rtlCol="0">
            <a:spAutoFit/>
          </a:bodyPr>
          <a:lstStyle/>
          <a:p>
            <a:pPr>
              <a:defRPr/>
            </a:pPr>
            <a:r>
              <a:rPr lang="nl-NL" sz="1600" noProof="1">
                <a:solidFill>
                  <a:srgbClr val="002060"/>
                </a:solidFill>
              </a:rPr>
              <a:t>Number of equity investments in AI fields</a:t>
            </a:r>
            <a:endParaRPr lang="nl-NL" sz="1600" dirty="0">
              <a:solidFill>
                <a:srgbClr val="002060"/>
              </a:solidFill>
            </a:endParaRPr>
          </a:p>
        </p:txBody>
      </p:sp>
      <p:sp>
        <p:nvSpPr>
          <p:cNvPr id="6" name="Tekstvak 3">
            <a:extLst>
              <a:ext uri="{FF2B5EF4-FFF2-40B4-BE49-F238E27FC236}">
                <a16:creationId xmlns:a16="http://schemas.microsoft.com/office/drawing/2014/main" id="{0AC6B175-D1D2-F0DB-D461-D0CAED9EE46F}"/>
              </a:ext>
            </a:extLst>
          </p:cNvPr>
          <p:cNvSpPr txBox="1"/>
          <p:nvPr/>
        </p:nvSpPr>
        <p:spPr>
          <a:xfrm>
            <a:off x="596671" y="1098280"/>
            <a:ext cx="3726644" cy="338554"/>
          </a:xfrm>
          <a:prstGeom prst="rect">
            <a:avLst/>
          </a:prstGeom>
          <a:noFill/>
        </p:spPr>
        <p:txBody>
          <a:bodyPr wrap="square" rtlCol="0">
            <a:spAutoFit/>
          </a:bodyPr>
          <a:lstStyle/>
          <a:p>
            <a:pPr>
              <a:defRPr/>
            </a:pPr>
            <a:r>
              <a:rPr lang="nl-NL" sz="1600" noProof="1">
                <a:solidFill>
                  <a:srgbClr val="002060"/>
                </a:solidFill>
              </a:rPr>
              <a:t>ICT/AI investment ratio</a:t>
            </a:r>
            <a:endParaRPr lang="nl-NL" sz="1600" dirty="0">
              <a:solidFill>
                <a:srgbClr val="002060"/>
              </a:solidFill>
            </a:endParaRPr>
          </a:p>
        </p:txBody>
      </p:sp>
      <p:pic>
        <p:nvPicPr>
          <p:cNvPr id="3" name="Picture 2">
            <a:extLst>
              <a:ext uri="{FF2B5EF4-FFF2-40B4-BE49-F238E27FC236}">
                <a16:creationId xmlns:a16="http://schemas.microsoft.com/office/drawing/2014/main" id="{8A7EFEE7-907A-EF9C-42CF-70E7257DAC35}"/>
              </a:ext>
            </a:extLst>
          </p:cNvPr>
          <p:cNvPicPr>
            <a:picLocks noChangeAspect="1"/>
          </p:cNvPicPr>
          <p:nvPr/>
        </p:nvPicPr>
        <p:blipFill>
          <a:blip r:embed="rId7"/>
          <a:stretch>
            <a:fillRect/>
          </a:stretch>
        </p:blipFill>
        <p:spPr>
          <a:xfrm>
            <a:off x="146304" y="1728216"/>
            <a:ext cx="4048523" cy="3063240"/>
          </a:xfrm>
          <a:prstGeom prst="rect">
            <a:avLst/>
          </a:prstGeom>
        </p:spPr>
      </p:pic>
    </p:spTree>
    <p:extLst>
      <p:ext uri="{BB962C8B-B14F-4D97-AF65-F5344CB8AC3E}">
        <p14:creationId xmlns:p14="http://schemas.microsoft.com/office/powerpoint/2010/main" val="3748330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6C947-4B1F-5814-B5F0-19183D09F00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C9CA68-4F8B-00E1-9EA9-77192F3EDB84}"/>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8" name="Tekstvak 3">
            <a:extLst>
              <a:ext uri="{FF2B5EF4-FFF2-40B4-BE49-F238E27FC236}">
                <a16:creationId xmlns:a16="http://schemas.microsoft.com/office/drawing/2014/main" id="{0677632A-56D3-3DDB-C434-EB0FC24E2732}"/>
              </a:ext>
            </a:extLst>
          </p:cNvPr>
          <p:cNvSpPr txBox="1"/>
          <p:nvPr/>
        </p:nvSpPr>
        <p:spPr>
          <a:xfrm>
            <a:off x="4902230" y="5051417"/>
            <a:ext cx="4087369" cy="646331"/>
          </a:xfrm>
          <a:prstGeom prst="rect">
            <a:avLst/>
          </a:prstGeom>
          <a:noFill/>
        </p:spPr>
        <p:txBody>
          <a:bodyPr wrap="square" rtlCol="0">
            <a:spAutoFit/>
          </a:bodyPr>
          <a:lstStyle/>
          <a:p>
            <a:pPr>
              <a:defRPr/>
            </a:pPr>
            <a:r>
              <a:rPr lang="nl-NL" sz="1200" dirty="0">
                <a:solidFill>
                  <a:srgbClr val="002060"/>
                </a:solidFill>
              </a:rPr>
              <a:t>Rolling </a:t>
            </a:r>
            <a:r>
              <a:rPr lang="nl-NL" sz="1200" dirty="0" err="1">
                <a:solidFill>
                  <a:srgbClr val="002060"/>
                </a:solidFill>
              </a:rPr>
              <a:t>correlation</a:t>
            </a:r>
            <a:r>
              <a:rPr lang="nl-NL" sz="1200" dirty="0">
                <a:solidFill>
                  <a:srgbClr val="002060"/>
                </a:solidFill>
              </a:rPr>
              <a:t> </a:t>
            </a:r>
            <a:r>
              <a:rPr lang="nl-NL" sz="1200" dirty="0" err="1">
                <a:solidFill>
                  <a:srgbClr val="002060"/>
                </a:solidFill>
              </a:rPr>
              <a:t>between</a:t>
            </a:r>
            <a:r>
              <a:rPr lang="nl-NL" sz="1200" dirty="0">
                <a:solidFill>
                  <a:srgbClr val="002060"/>
                </a:solidFill>
              </a:rPr>
              <a:t> </a:t>
            </a:r>
            <a:r>
              <a:rPr lang="nl-NL" sz="1200" dirty="0" err="1">
                <a:solidFill>
                  <a:srgbClr val="002060"/>
                </a:solidFill>
              </a:rPr>
              <a:t>national</a:t>
            </a:r>
            <a:r>
              <a:rPr lang="nl-NL" sz="1200" dirty="0">
                <a:solidFill>
                  <a:srgbClr val="002060"/>
                </a:solidFill>
              </a:rPr>
              <a:t> stock index and SOX index (8 </a:t>
            </a:r>
            <a:r>
              <a:rPr lang="nl-NL" sz="1200" dirty="0" err="1">
                <a:solidFill>
                  <a:srgbClr val="002060"/>
                </a:solidFill>
              </a:rPr>
              <a:t>quarters</a:t>
            </a:r>
            <a:r>
              <a:rPr lang="nl-NL" sz="1200" dirty="0">
                <a:solidFill>
                  <a:srgbClr val="002060"/>
                </a:solidFill>
              </a:rPr>
              <a:t> </a:t>
            </a:r>
            <a:r>
              <a:rPr lang="nl-NL" sz="1200" dirty="0" err="1">
                <a:solidFill>
                  <a:srgbClr val="002060"/>
                </a:solidFill>
              </a:rPr>
              <a:t>window</a:t>
            </a:r>
            <a:r>
              <a:rPr lang="nl-NL" sz="1200" dirty="0">
                <a:solidFill>
                  <a:srgbClr val="002060"/>
                </a:solidFill>
              </a:rPr>
              <a:t>). </a:t>
            </a:r>
            <a:r>
              <a:rPr lang="nl-NL" sz="1200" dirty="0" err="1">
                <a:solidFill>
                  <a:srgbClr val="002060"/>
                </a:solidFill>
              </a:rPr>
              <a:t>Quarterly</a:t>
            </a:r>
            <a:r>
              <a:rPr lang="nl-NL" sz="1200" dirty="0">
                <a:solidFill>
                  <a:srgbClr val="002060"/>
                </a:solidFill>
              </a:rPr>
              <a:t> data 2000Q1-2026Q2 (Source: Yahoo Finance).</a:t>
            </a:r>
          </a:p>
        </p:txBody>
      </p:sp>
      <p:sp>
        <p:nvSpPr>
          <p:cNvPr id="11" name="Tekstvak 3">
            <a:extLst>
              <a:ext uri="{FF2B5EF4-FFF2-40B4-BE49-F238E27FC236}">
                <a16:creationId xmlns:a16="http://schemas.microsoft.com/office/drawing/2014/main" id="{D6974398-2614-1310-0782-A3E80B13A2FD}"/>
              </a:ext>
            </a:extLst>
          </p:cNvPr>
          <p:cNvSpPr txBox="1"/>
          <p:nvPr/>
        </p:nvSpPr>
        <p:spPr>
          <a:xfrm>
            <a:off x="207038" y="4774417"/>
            <a:ext cx="4034734" cy="1384995"/>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exports in </a:t>
            </a:r>
            <a:r>
              <a:rPr lang="nl-NL" sz="1200" dirty="0" err="1">
                <a:solidFill>
                  <a:srgbClr val="002060"/>
                </a:solidFill>
              </a:rPr>
              <a:t>total</a:t>
            </a:r>
            <a:r>
              <a:rPr lang="nl-NL" sz="1200" dirty="0">
                <a:solidFill>
                  <a:srgbClr val="002060"/>
                </a:solidFill>
              </a:rPr>
              <a:t> </a:t>
            </a:r>
            <a:r>
              <a:rPr lang="nl-NL" sz="1200" dirty="0" err="1">
                <a:solidFill>
                  <a:srgbClr val="002060"/>
                </a:solidFill>
              </a:rPr>
              <a:t>goods</a:t>
            </a:r>
            <a:r>
              <a:rPr lang="nl-NL" sz="1200" dirty="0">
                <a:solidFill>
                  <a:srgbClr val="002060"/>
                </a:solidFill>
              </a:rPr>
              <a:t> exports, </a:t>
            </a:r>
            <a:r>
              <a:rPr lang="nl-NL" sz="1200" dirty="0" err="1">
                <a:solidFill>
                  <a:srgbClr val="002060"/>
                </a:solidFill>
              </a:rPr>
              <a:t>Annual</a:t>
            </a:r>
            <a:r>
              <a:rPr lang="nl-NL" sz="1200" dirty="0">
                <a:solidFill>
                  <a:srgbClr val="002060"/>
                </a:solidFill>
              </a:rPr>
              <a:t> data 2000-2025. </a:t>
            </a:r>
            <a:r>
              <a:rPr lang="en-US" sz="1200" dirty="0">
                <a:solidFill>
                  <a:srgbClr val="002060"/>
                </a:solidFill>
              </a:rPr>
              <a:t>Products groups: HS 8471.50, HS 8471.80, HS 8473.30, HS 8486.10, HS 8486.20, HS 8486.30, HS 8486.40, HS 8486.90 </a:t>
            </a:r>
            <a:r>
              <a:rPr lang="pt-BR" sz="1200" dirty="0">
                <a:solidFill>
                  <a:srgbClr val="002060"/>
                </a:solidFill>
              </a:rPr>
              <a:t>(source: </a:t>
            </a:r>
            <a:r>
              <a:rPr lang="pt-BR" sz="1200" dirty="0">
                <a:solidFill>
                  <a:srgbClr val="002060"/>
                </a:solidFill>
                <a:hlinkClick r:id="rId3"/>
              </a:rPr>
              <a:t>Eurostat</a:t>
            </a:r>
            <a:r>
              <a:rPr lang="pt-BR" sz="1200" dirty="0">
                <a:solidFill>
                  <a:srgbClr val="002060"/>
                </a:solidFill>
              </a:rPr>
              <a:t>, Comext, HS2022).</a:t>
            </a:r>
            <a:endParaRPr lang="en-US" sz="1200" dirty="0">
              <a:solidFill>
                <a:srgbClr val="002060"/>
              </a:solidFill>
            </a:endParaRP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4329BB17-F16F-495E-1F2E-C473B8ADC642}"/>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4" action="ppaction://hlinksldjump"/>
              </a:rPr>
              <a:t>Link</a:t>
            </a:r>
            <a:r>
              <a:rPr lang="nl-NL" sz="1200" dirty="0">
                <a:solidFill>
                  <a:srgbClr val="002060"/>
                </a:solidFill>
              </a:rPr>
              <a:t> back</a:t>
            </a:r>
          </a:p>
        </p:txBody>
      </p:sp>
      <p:pic>
        <p:nvPicPr>
          <p:cNvPr id="4" name="Picture 3">
            <a:extLst>
              <a:ext uri="{FF2B5EF4-FFF2-40B4-BE49-F238E27FC236}">
                <a16:creationId xmlns:a16="http://schemas.microsoft.com/office/drawing/2014/main" id="{D752BB6B-84D3-1A02-4BE3-8EAA21B12319}"/>
              </a:ext>
            </a:extLst>
          </p:cNvPr>
          <p:cNvPicPr>
            <a:picLocks noChangeAspect="1"/>
          </p:cNvPicPr>
          <p:nvPr/>
        </p:nvPicPr>
        <p:blipFill>
          <a:blip r:embed="rId5"/>
          <a:stretch>
            <a:fillRect/>
          </a:stretch>
        </p:blipFill>
        <p:spPr>
          <a:xfrm>
            <a:off x="4902229" y="1522726"/>
            <a:ext cx="3949219" cy="3200400"/>
          </a:xfrm>
          <a:prstGeom prst="rect">
            <a:avLst/>
          </a:prstGeom>
        </p:spPr>
      </p:pic>
      <p:sp>
        <p:nvSpPr>
          <p:cNvPr id="6" name="Tekstvak 3">
            <a:extLst>
              <a:ext uri="{FF2B5EF4-FFF2-40B4-BE49-F238E27FC236}">
                <a16:creationId xmlns:a16="http://schemas.microsoft.com/office/drawing/2014/main" id="{42ACDE40-4CF9-25D5-B152-CDE514C54D15}"/>
              </a:ext>
            </a:extLst>
          </p:cNvPr>
          <p:cNvSpPr txBox="1"/>
          <p:nvPr/>
        </p:nvSpPr>
        <p:spPr>
          <a:xfrm>
            <a:off x="5013517" y="921978"/>
            <a:ext cx="3726644" cy="584775"/>
          </a:xfrm>
          <a:prstGeom prst="rect">
            <a:avLst/>
          </a:prstGeom>
          <a:noFill/>
        </p:spPr>
        <p:txBody>
          <a:bodyPr wrap="square" rtlCol="0">
            <a:spAutoFit/>
          </a:bodyPr>
          <a:lstStyle/>
          <a:p>
            <a:pPr>
              <a:defRPr/>
            </a:pPr>
            <a:r>
              <a:rPr lang="nl-NL" sz="1600" noProof="1">
                <a:solidFill>
                  <a:srgbClr val="002060"/>
                </a:solidFill>
              </a:rPr>
              <a:t>Correlation national stock index and SOX index</a:t>
            </a:r>
            <a:endParaRPr lang="nl-NL" sz="1600" dirty="0">
              <a:solidFill>
                <a:srgbClr val="002060"/>
              </a:solidFill>
            </a:endParaRPr>
          </a:p>
        </p:txBody>
      </p:sp>
      <p:sp>
        <p:nvSpPr>
          <p:cNvPr id="12" name="Tekstvak 3">
            <a:extLst>
              <a:ext uri="{FF2B5EF4-FFF2-40B4-BE49-F238E27FC236}">
                <a16:creationId xmlns:a16="http://schemas.microsoft.com/office/drawing/2014/main" id="{37AFEB65-C677-E635-F153-64D4EC70C109}"/>
              </a:ext>
            </a:extLst>
          </p:cNvPr>
          <p:cNvSpPr txBox="1"/>
          <p:nvPr/>
        </p:nvSpPr>
        <p:spPr>
          <a:xfrm>
            <a:off x="567762" y="978295"/>
            <a:ext cx="3726644" cy="338554"/>
          </a:xfrm>
          <a:prstGeom prst="rect">
            <a:avLst/>
          </a:prstGeom>
          <a:noFill/>
        </p:spPr>
        <p:txBody>
          <a:bodyPr wrap="square" rtlCol="0">
            <a:spAutoFit/>
          </a:bodyPr>
          <a:lstStyle/>
          <a:p>
            <a:pPr>
              <a:defRPr/>
            </a:pPr>
            <a:r>
              <a:rPr lang="nl-NL" sz="1600" noProof="1">
                <a:solidFill>
                  <a:srgbClr val="002060"/>
                </a:solidFill>
              </a:rPr>
              <a:t>ICT/AI-related export share</a:t>
            </a:r>
            <a:endParaRPr lang="nl-NL" sz="1600" dirty="0">
              <a:solidFill>
                <a:srgbClr val="002060"/>
              </a:solidFill>
            </a:endParaRPr>
          </a:p>
        </p:txBody>
      </p:sp>
      <p:pic>
        <p:nvPicPr>
          <p:cNvPr id="5" name="Picture 4">
            <a:extLst>
              <a:ext uri="{FF2B5EF4-FFF2-40B4-BE49-F238E27FC236}">
                <a16:creationId xmlns:a16="http://schemas.microsoft.com/office/drawing/2014/main" id="{7596D83C-A172-D741-78FB-EBEC12FF1632}"/>
              </a:ext>
            </a:extLst>
          </p:cNvPr>
          <p:cNvPicPr>
            <a:picLocks noChangeAspect="1"/>
          </p:cNvPicPr>
          <p:nvPr/>
        </p:nvPicPr>
        <p:blipFill>
          <a:blip r:embed="rId6"/>
          <a:stretch>
            <a:fillRect/>
          </a:stretch>
        </p:blipFill>
        <p:spPr>
          <a:xfrm>
            <a:off x="111598" y="1698111"/>
            <a:ext cx="4460402" cy="2849630"/>
          </a:xfrm>
          <a:prstGeom prst="rect">
            <a:avLst/>
          </a:prstGeom>
        </p:spPr>
      </p:pic>
    </p:spTree>
    <p:extLst>
      <p:ext uri="{BB962C8B-B14F-4D97-AF65-F5344CB8AC3E}">
        <p14:creationId xmlns:p14="http://schemas.microsoft.com/office/powerpoint/2010/main" val="2407438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DEE4E-62EE-0BE5-AD2F-11094599F35C}"/>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03204D0B-CF7E-0BFC-4F0F-962010862E0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Robustness tests</a:t>
            </a:r>
          </a:p>
        </p:txBody>
      </p:sp>
      <p:sp>
        <p:nvSpPr>
          <p:cNvPr id="2" name="Content Placeholder 2">
            <a:extLst>
              <a:ext uri="{FF2B5EF4-FFF2-40B4-BE49-F238E27FC236}">
                <a16:creationId xmlns:a16="http://schemas.microsoft.com/office/drawing/2014/main" id="{69505807-7DB6-66DD-D0C3-991E02849C08}"/>
              </a:ext>
            </a:extLst>
          </p:cNvPr>
          <p:cNvSpPr>
            <a:spLocks noGrp="1"/>
          </p:cNvSpPr>
          <p:nvPr>
            <p:ph idx="1"/>
          </p:nvPr>
        </p:nvSpPr>
        <p:spPr>
          <a:xfrm>
            <a:off x="438652" y="803136"/>
            <a:ext cx="8129275" cy="5287564"/>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Trade data based on Eurostat CPA instead of HS →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Forecast vintage controls →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Different choice of shock years (to do)</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Modified stock index correlation variable (to do)</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Other control variables (to do)</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341592472"/>
      </p:ext>
    </p:extLst>
  </p:cSld>
  <p:clrMapOvr>
    <a:masterClrMapping/>
  </p:clrMapOvr>
</p:sld>
</file>

<file path=ppt/theme/theme1.xml><?xml version="1.0" encoding="utf-8"?>
<a:theme xmlns:a="http://schemas.openxmlformats.org/drawingml/2006/main" name="1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2.xml><?xml version="1.0" encoding="utf-8"?>
<a:theme xmlns:a="http://schemas.openxmlformats.org/drawingml/2006/main" name="3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1ddf9560-f40a-4faa-b693-65e98d55b544}" enabled="1" method="Privileged" siteId="{9ecbd628-0072-405d-8567-32c6750b0d3e}" removed="0"/>
</clbl:labelList>
</file>

<file path=docProps/app.xml><?xml version="1.0" encoding="utf-8"?>
<Properties xmlns="http://schemas.openxmlformats.org/officeDocument/2006/extended-properties" xmlns:vt="http://schemas.openxmlformats.org/officeDocument/2006/docPropsVTypes">
  <Template>LichteAchtergrond4x3</Template>
  <TotalTime>2267</TotalTime>
  <Words>2547</Words>
  <Application>Microsoft Office PowerPoint</Application>
  <PresentationFormat>On-screen Show (4:3)</PresentationFormat>
  <Paragraphs>167</Paragraphs>
  <Slides>17</Slides>
  <Notes>17</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17</vt:i4>
      </vt:variant>
    </vt:vector>
  </HeadingPairs>
  <TitlesOfParts>
    <vt:vector size="26" baseType="lpstr">
      <vt:lpstr>Aptos</vt:lpstr>
      <vt:lpstr>Arial</vt:lpstr>
      <vt:lpstr>Calibri</vt:lpstr>
      <vt:lpstr>Cambria Math</vt:lpstr>
      <vt:lpstr>Courier New</vt:lpstr>
      <vt:lpstr>Verdana</vt:lpstr>
      <vt:lpstr>Wingdings</vt:lpstr>
      <vt:lpstr>1_LichteAchtergrond4x3</vt:lpstr>
      <vt:lpstr>3_LichteAchtergrond4x3</vt:lpstr>
      <vt:lpstr>PowerPoint Presentation</vt:lpstr>
      <vt:lpstr>Semiconductor super-cycle seems immune to shocks</vt:lpstr>
      <vt:lpstr>Empirical approach</vt:lpstr>
      <vt:lpstr>AI-related exposure</vt:lpstr>
      <vt:lpstr>Shock resilience</vt:lpstr>
      <vt:lpstr>AI-related investment</vt:lpstr>
      <vt:lpstr>AI-related trade and stock market exposure</vt:lpstr>
      <vt:lpstr>Linear probability models (LPM)</vt:lpstr>
      <vt:lpstr>Results LPM models</vt:lpstr>
      <vt:lpstr>Correlated random-effects probit models (CRE)</vt:lpstr>
      <vt:lpstr>Results CRE probit models</vt:lpstr>
      <vt:lpstr>Conclusions</vt:lpstr>
      <vt:lpstr>Background slides</vt:lpstr>
      <vt:lpstr>Wild swings in semiconductor short-term cycle</vt:lpstr>
      <vt:lpstr>AI-related investment</vt:lpstr>
      <vt:lpstr>AI-related trade and stock market exposure</vt:lpstr>
      <vt:lpstr>Robustness tests</vt:lpstr>
    </vt:vector>
  </TitlesOfParts>
  <Company>De Nederlandsche Bank N.V.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Jan Willem van den End (EBO_CMA)</dc:creator>
  <dc:description/>
  <cp:lastModifiedBy>Jan Willem van den End (EBO_CMA)</cp:lastModifiedBy>
  <cp:revision>17</cp:revision>
  <cp:lastPrinted>2021-12-14T08:32:52Z</cp:lastPrinted>
  <dcterms:created xsi:type="dcterms:W3CDTF">2026-09-18T13:31:25Z</dcterms:created>
  <dcterms:modified xsi:type="dcterms:W3CDTF">2026-10-10T15:23:24Z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LichteAchtergrond4x3:5\1_LichteAchtergrond4x3:5\3_LichteAchtergrond4x3:5</vt:lpwstr>
  </property>
  <property fmtid="{D5CDD505-2E9C-101B-9397-08002B2CF9AE}" pid="3" name="ClassificationContentMarkingHeaderText">
    <vt:lpwstr>| DNB PUBLIC |</vt:lpwstr>
  </property>
</Properties>
</file>