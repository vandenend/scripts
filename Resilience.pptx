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8" r:id="rId1"/>
    <p:sldMasterId id="2147483708" r:id="rId2"/>
  </p:sldMasterIdLst>
  <p:notesMasterIdLst>
    <p:notesMasterId r:id="rId18"/>
  </p:notesMasterIdLst>
  <p:handoutMasterIdLst>
    <p:handoutMasterId r:id="rId19"/>
  </p:handoutMasterIdLst>
  <p:sldIdLst>
    <p:sldId id="781" r:id="rId3"/>
    <p:sldId id="768" r:id="rId4"/>
    <p:sldId id="795" r:id="rId5"/>
    <p:sldId id="657" r:id="rId6"/>
    <p:sldId id="786" r:id="rId7"/>
    <p:sldId id="784" r:id="rId8"/>
    <p:sldId id="792" r:id="rId9"/>
    <p:sldId id="793" r:id="rId10"/>
    <p:sldId id="796" r:id="rId11"/>
    <p:sldId id="790" r:id="rId12"/>
    <p:sldId id="783" r:id="rId13"/>
    <p:sldId id="782" r:id="rId14"/>
    <p:sldId id="791" r:id="rId15"/>
    <p:sldId id="794" r:id="rId16"/>
    <p:sldId id="797" r:id="rId17"/>
  </p:sldIdLst>
  <p:sldSz cx="9144000" cy="6858000" type="screen4x3"/>
  <p:notesSz cx="6805613" cy="99441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59AA52A-C8DC-0079-4B3D-3D94CB4CC93F}" name="Sleijpen, O.C.H.M. (Olaf) (DIR_DIR)" initials="SO((" userId="S::o.c.h.m.sleijpen@dnb.nl::e1834a21-b3b8-47a2-be81-be8d1b72480a" providerId="AD"/>
  <p188:author id="{114EDE45-E8DB-37B7-C237-E6B69FEBD181}" name="Hebbink, G.E. (Gerbert) (EBO_CMA)" initials="HG((" userId="S::g.e.hebbink@dnb.nl::444fd58c-4ff3-4106-ad46-ede14c697b3e" providerId="AD"/>
  <p188:author id="{19AFD3AA-EF12-0A5E-B173-A3D533F398FE}" name="Robert-Paul Berben (EBO_ECMO)" initials="RB" userId="S::r.p.berben@dnb.nl::e0d9533d-c10d-4fed-b4b8-e1abed61a76a" providerId="AD"/>
  <p188:author id="{B57F0CF1-687C-DE38-9287-2219F7DAA597}" name="Henneman, M.L. (Maria) (COM_COM)" initials="HM((" userId="S::M.L.Henneman@dnb.nl::93a05259-aa37-4f46-ab68-ed256dca0c3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10099"/>
    <a:srgbClr val="9B9000"/>
    <a:srgbClr val="002060"/>
    <a:srgbClr val="211261"/>
    <a:srgbClr val="2B323C"/>
    <a:srgbClr val="0000FF"/>
    <a:srgbClr val="7F7F7F"/>
    <a:srgbClr val="162257"/>
    <a:srgbClr val="44287F"/>
    <a:srgbClr val="9B9B9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3B43BEF-9B9B-431D-9308-0B2B126B7992}" v="16" dt="2026-09-29T19:16:39.558"/>
  </p1510:revLst>
</p1510:revInfo>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Stijl, gemiddeld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Stijl, gemiddeld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Stijl, gemiddeld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Stijl, gemiddeld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Stijl, gemiddeld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Stijl, gemiddeld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1180" y="52"/>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notesMaster" Target="notesMasters/notesMaster1.xml"/><Relationship Id="rId26" Type="http://schemas.microsoft.com/office/2018/10/relationships/authors" Target="authors.xml"/><Relationship Id="rId3" Type="http://schemas.openxmlformats.org/officeDocument/2006/relationships/slide" Target="slides/slide1.xml"/><Relationship Id="rId21"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microsoft.com/office/2015/10/relationships/revisionInfo" Target="revisionInfo.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microsoft.com/office/2016/11/relationships/changesInfo" Target="changesInfos/changesInfo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handoutMaster" Target="handoutMasters/handout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n Willem van den End (EBO_CMA)" userId="32ade95a-e024-4672-952f-5ed8641a9e00" providerId="ADAL" clId="{3BBBE02E-ACD4-4586-9407-5E79BF620DF1}"/>
    <pc:docChg chg="undo redo custSel addSld modSld">
      <pc:chgData name="Jan Willem van den End (EBO_CMA)" userId="32ade95a-e024-4672-952f-5ed8641a9e00" providerId="ADAL" clId="{3BBBE02E-ACD4-4586-9407-5E79BF620DF1}" dt="2026-09-29T19:17:32.259" v="5883" actId="1076"/>
      <pc:docMkLst>
        <pc:docMk/>
      </pc:docMkLst>
      <pc:sldChg chg="delSp modSp mod">
        <pc:chgData name="Jan Willem van den End (EBO_CMA)" userId="32ade95a-e024-4672-952f-5ed8641a9e00" providerId="ADAL" clId="{3BBBE02E-ACD4-4586-9407-5E79BF620DF1}" dt="2026-09-29T19:17:20.417" v="5882" actId="1076"/>
        <pc:sldMkLst>
          <pc:docMk/>
          <pc:sldMk cId="3588697" sldId="657"/>
        </pc:sldMkLst>
        <pc:spChg chg="mod">
          <ac:chgData name="Jan Willem van den End (EBO_CMA)" userId="32ade95a-e024-4672-952f-5ed8641a9e00" providerId="ADAL" clId="{3BBBE02E-ACD4-4586-9407-5E79BF620DF1}" dt="2026-09-29T19:17:20.417" v="5882" actId="1076"/>
          <ac:spMkLst>
            <pc:docMk/>
            <pc:sldMk cId="3588697" sldId="657"/>
            <ac:spMk id="2" creationId="{8F3D8D65-3E89-7468-E586-D814DD2BD102}"/>
          </ac:spMkLst>
        </pc:spChg>
      </pc:sldChg>
      <pc:sldChg chg="modSp mod">
        <pc:chgData name="Jan Willem van den End (EBO_CMA)" userId="32ade95a-e024-4672-952f-5ed8641a9e00" providerId="ADAL" clId="{3BBBE02E-ACD4-4586-9407-5E79BF620DF1}" dt="2026-09-25T10:45:34.501" v="5500" actId="20577"/>
        <pc:sldMkLst>
          <pc:docMk/>
          <pc:sldMk cId="1203207517" sldId="768"/>
        </pc:sldMkLst>
        <pc:spChg chg="mod">
          <ac:chgData name="Jan Willem van den End (EBO_CMA)" userId="32ade95a-e024-4672-952f-5ed8641a9e00" providerId="ADAL" clId="{3BBBE02E-ACD4-4586-9407-5E79BF620DF1}" dt="2026-09-25T10:45:34.501" v="5500" actId="20577"/>
          <ac:spMkLst>
            <pc:docMk/>
            <pc:sldMk cId="1203207517" sldId="768"/>
            <ac:spMk id="8" creationId="{545BE5F7-F057-18CF-DA77-201D8BAEDAF2}"/>
          </ac:spMkLst>
        </pc:spChg>
      </pc:sldChg>
      <pc:sldChg chg="modSp mod">
        <pc:chgData name="Jan Willem van den End (EBO_CMA)" userId="32ade95a-e024-4672-952f-5ed8641a9e00" providerId="ADAL" clId="{3BBBE02E-ACD4-4586-9407-5E79BF620DF1}" dt="2026-09-24T09:53:12.219" v="4093"/>
        <pc:sldMkLst>
          <pc:docMk/>
          <pc:sldMk cId="1473696260" sldId="782"/>
        </pc:sldMkLst>
        <pc:spChg chg="mod">
          <ac:chgData name="Jan Willem van den End (EBO_CMA)" userId="32ade95a-e024-4672-952f-5ed8641a9e00" providerId="ADAL" clId="{3BBBE02E-ACD4-4586-9407-5E79BF620DF1}" dt="2026-09-24T09:53:12.219" v="4093"/>
          <ac:spMkLst>
            <pc:docMk/>
            <pc:sldMk cId="1473696260" sldId="782"/>
            <ac:spMk id="8" creationId="{F8831F86-71DE-C3FE-B109-F7E9B5952F04}"/>
          </ac:spMkLst>
        </pc:spChg>
      </pc:sldChg>
      <pc:sldChg chg="addSp delSp modSp mod">
        <pc:chgData name="Jan Willem van den End (EBO_CMA)" userId="32ade95a-e024-4672-952f-5ed8641a9e00" providerId="ADAL" clId="{3BBBE02E-ACD4-4586-9407-5E79BF620DF1}" dt="2026-09-29T19:08:51.624" v="5708" actId="1076"/>
        <pc:sldMkLst>
          <pc:docMk/>
          <pc:sldMk cId="2428101549" sldId="784"/>
        </pc:sldMkLst>
        <pc:spChg chg="mod">
          <ac:chgData name="Jan Willem van den End (EBO_CMA)" userId="32ade95a-e024-4672-952f-5ed8641a9e00" providerId="ADAL" clId="{3BBBE02E-ACD4-4586-9407-5E79BF620DF1}" dt="2026-09-25T10:05:05.902" v="5061" actId="1035"/>
          <ac:spMkLst>
            <pc:docMk/>
            <pc:sldMk cId="2428101549" sldId="784"/>
            <ac:spMk id="5" creationId="{0EEE5C01-F407-B286-8291-7A84B3BBB14E}"/>
          </ac:spMkLst>
        </pc:spChg>
        <pc:spChg chg="mod">
          <ac:chgData name="Jan Willem van den End (EBO_CMA)" userId="32ade95a-e024-4672-952f-5ed8641a9e00" providerId="ADAL" clId="{3BBBE02E-ACD4-4586-9407-5E79BF620DF1}" dt="2026-09-25T10:09:42.045" v="5079" actId="20577"/>
          <ac:spMkLst>
            <pc:docMk/>
            <pc:sldMk cId="2428101549" sldId="784"/>
            <ac:spMk id="6" creationId="{613E110F-8AEE-A02C-2032-1F07DE944DEB}"/>
          </ac:spMkLst>
        </pc:spChg>
        <pc:spChg chg="add mod">
          <ac:chgData name="Jan Willem van den End (EBO_CMA)" userId="32ade95a-e024-4672-952f-5ed8641a9e00" providerId="ADAL" clId="{3BBBE02E-ACD4-4586-9407-5E79BF620DF1}" dt="2026-09-25T11:36:40.711" v="5518" actId="20577"/>
          <ac:spMkLst>
            <pc:docMk/>
            <pc:sldMk cId="2428101549" sldId="784"/>
            <ac:spMk id="13" creationId="{C8DC46B8-5E08-30F3-1EE3-CB90635026CE}"/>
          </ac:spMkLst>
        </pc:spChg>
        <pc:picChg chg="mod">
          <ac:chgData name="Jan Willem van den End (EBO_CMA)" userId="32ade95a-e024-4672-952f-5ed8641a9e00" providerId="ADAL" clId="{3BBBE02E-ACD4-4586-9407-5E79BF620DF1}" dt="2026-09-29T19:08:49.382" v="5707" actId="14100"/>
          <ac:picMkLst>
            <pc:docMk/>
            <pc:sldMk cId="2428101549" sldId="784"/>
            <ac:picMk id="3" creationId="{B68D3A0C-D014-485F-5A02-9F50BA67BD89}"/>
          </ac:picMkLst>
        </pc:picChg>
        <pc:picChg chg="mod">
          <ac:chgData name="Jan Willem van den End (EBO_CMA)" userId="32ade95a-e024-4672-952f-5ed8641a9e00" providerId="ADAL" clId="{3BBBE02E-ACD4-4586-9407-5E79BF620DF1}" dt="2026-09-29T19:08:51.624" v="5708" actId="1076"/>
          <ac:picMkLst>
            <pc:docMk/>
            <pc:sldMk cId="2428101549" sldId="784"/>
            <ac:picMk id="4" creationId="{AFFB3634-5B82-136E-F947-D33F3E34AD6C}"/>
          </ac:picMkLst>
        </pc:picChg>
        <pc:picChg chg="del mod">
          <ac:chgData name="Jan Willem van den End (EBO_CMA)" userId="32ade95a-e024-4672-952f-5ed8641a9e00" providerId="ADAL" clId="{3BBBE02E-ACD4-4586-9407-5E79BF620DF1}" dt="2026-09-29T19:07:59.062" v="5700" actId="478"/>
          <ac:picMkLst>
            <pc:docMk/>
            <pc:sldMk cId="2428101549" sldId="784"/>
            <ac:picMk id="10" creationId="{FC7B6F34-37FE-D63D-7B8B-54AB0BA70756}"/>
          </ac:picMkLst>
        </pc:picChg>
        <pc:picChg chg="del mod">
          <ac:chgData name="Jan Willem van den End (EBO_CMA)" userId="32ade95a-e024-4672-952f-5ed8641a9e00" providerId="ADAL" clId="{3BBBE02E-ACD4-4586-9407-5E79BF620DF1}" dt="2026-09-29T19:08:32.770" v="5704" actId="478"/>
          <ac:picMkLst>
            <pc:docMk/>
            <pc:sldMk cId="2428101549" sldId="784"/>
            <ac:picMk id="11" creationId="{9865C647-8D5F-98A1-58E5-AEFAF3242ABD}"/>
          </ac:picMkLst>
        </pc:picChg>
      </pc:sldChg>
      <pc:sldChg chg="modSp mod">
        <pc:chgData name="Jan Willem van den End (EBO_CMA)" userId="32ade95a-e024-4672-952f-5ed8641a9e00" providerId="ADAL" clId="{3BBBE02E-ACD4-4586-9407-5E79BF620DF1}" dt="2026-09-19T07:22:24.819" v="1551" actId="20577"/>
        <pc:sldMkLst>
          <pc:docMk/>
          <pc:sldMk cId="4129420739" sldId="786"/>
        </pc:sldMkLst>
        <pc:spChg chg="mod">
          <ac:chgData name="Jan Willem van den End (EBO_CMA)" userId="32ade95a-e024-4672-952f-5ed8641a9e00" providerId="ADAL" clId="{3BBBE02E-ACD4-4586-9407-5E79BF620DF1}" dt="2026-09-19T07:22:24.819" v="1551" actId="20577"/>
          <ac:spMkLst>
            <pc:docMk/>
            <pc:sldMk cId="4129420739" sldId="786"/>
            <ac:spMk id="8" creationId="{233DCD29-1BC1-E6E9-61D7-A3B8C24AFEC7}"/>
          </ac:spMkLst>
        </pc:spChg>
      </pc:sldChg>
      <pc:sldChg chg="modSp mod">
        <pc:chgData name="Jan Willem van den End (EBO_CMA)" userId="32ade95a-e024-4672-952f-5ed8641a9e00" providerId="ADAL" clId="{3BBBE02E-ACD4-4586-9407-5E79BF620DF1}" dt="2026-09-29T19:14:24.559" v="5805" actId="20577"/>
        <pc:sldMkLst>
          <pc:docMk/>
          <pc:sldMk cId="3777662078" sldId="790"/>
        </pc:sldMkLst>
        <pc:spChg chg="mod">
          <ac:chgData name="Jan Willem van den End (EBO_CMA)" userId="32ade95a-e024-4672-952f-5ed8641a9e00" providerId="ADAL" clId="{3BBBE02E-ACD4-4586-9407-5E79BF620DF1}" dt="2026-09-29T19:14:24.559" v="5805" actId="20577"/>
          <ac:spMkLst>
            <pc:docMk/>
            <pc:sldMk cId="3777662078" sldId="790"/>
            <ac:spMk id="2" creationId="{EFBED4CC-73CB-5E21-890E-866BC0B3643A}"/>
          </ac:spMkLst>
        </pc:spChg>
        <pc:spChg chg="mod">
          <ac:chgData name="Jan Willem van den End (EBO_CMA)" userId="32ade95a-e024-4672-952f-5ed8641a9e00" providerId="ADAL" clId="{3BBBE02E-ACD4-4586-9407-5E79BF620DF1}" dt="2026-09-18T19:27:10.448" v="1158" actId="20577"/>
          <ac:spMkLst>
            <pc:docMk/>
            <pc:sldMk cId="3777662078" sldId="790"/>
            <ac:spMk id="9" creationId="{2EDEA4FF-77B4-1210-0800-2B8BF9AA0C33}"/>
          </ac:spMkLst>
        </pc:spChg>
      </pc:sldChg>
      <pc:sldChg chg="delSp modSp mod">
        <pc:chgData name="Jan Willem van den End (EBO_CMA)" userId="32ade95a-e024-4672-952f-5ed8641a9e00" providerId="ADAL" clId="{3BBBE02E-ACD4-4586-9407-5E79BF620DF1}" dt="2026-09-29T19:15:17.932" v="5809" actId="6549"/>
        <pc:sldMkLst>
          <pc:docMk/>
          <pc:sldMk cId="374833015" sldId="791"/>
        </pc:sldMkLst>
        <pc:spChg chg="mod">
          <ac:chgData name="Jan Willem van den End (EBO_CMA)" userId="32ade95a-e024-4672-952f-5ed8641a9e00" providerId="ADAL" clId="{3BBBE02E-ACD4-4586-9407-5E79BF620DF1}" dt="2026-09-25T10:43:33.513" v="5406" actId="20577"/>
          <ac:spMkLst>
            <pc:docMk/>
            <pc:sldMk cId="374833015" sldId="791"/>
            <ac:spMk id="4" creationId="{80A3C609-6383-27DE-510C-C64F4B0DBC92}"/>
          </ac:spMkLst>
        </pc:spChg>
        <pc:spChg chg="mod">
          <ac:chgData name="Jan Willem van den End (EBO_CMA)" userId="32ade95a-e024-4672-952f-5ed8641a9e00" providerId="ADAL" clId="{3BBBE02E-ACD4-4586-9407-5E79BF620DF1}" dt="2026-09-29T19:15:17.932" v="5809" actId="6549"/>
          <ac:spMkLst>
            <pc:docMk/>
            <pc:sldMk cId="374833015" sldId="791"/>
            <ac:spMk id="8" creationId="{21C63CC4-9F1C-6D6D-9FEF-9D04021E36EE}"/>
          </ac:spMkLst>
        </pc:spChg>
        <pc:spChg chg="mod">
          <ac:chgData name="Jan Willem van den End (EBO_CMA)" userId="32ade95a-e024-4672-952f-5ed8641a9e00" providerId="ADAL" clId="{3BBBE02E-ACD4-4586-9407-5E79BF620DF1}" dt="2026-09-23T10:25:55.343" v="4048" actId="6549"/>
          <ac:spMkLst>
            <pc:docMk/>
            <pc:sldMk cId="374833015" sldId="791"/>
            <ac:spMk id="11" creationId="{7D1FCEE6-8AAC-959D-A8E8-B4CF4C9F0122}"/>
          </ac:spMkLst>
        </pc:spChg>
        <pc:picChg chg="mod">
          <ac:chgData name="Jan Willem van den End (EBO_CMA)" userId="32ade95a-e024-4672-952f-5ed8641a9e00" providerId="ADAL" clId="{3BBBE02E-ACD4-4586-9407-5E79BF620DF1}" dt="2026-09-23T10:25:19.998" v="4015" actId="1076"/>
          <ac:picMkLst>
            <pc:docMk/>
            <pc:sldMk cId="374833015" sldId="791"/>
            <ac:picMk id="3" creationId="{8A7EFEE7-907A-EF9C-42CF-70E7257DAC35}"/>
          </ac:picMkLst>
        </pc:picChg>
      </pc:sldChg>
      <pc:sldChg chg="addSp delSp modSp mod">
        <pc:chgData name="Jan Willem van den End (EBO_CMA)" userId="32ade95a-e024-4672-952f-5ed8641a9e00" providerId="ADAL" clId="{3BBBE02E-ACD4-4586-9407-5E79BF620DF1}" dt="2026-09-29T19:11:01.220" v="5723" actId="1076"/>
        <pc:sldMkLst>
          <pc:docMk/>
          <pc:sldMk cId="2304846322" sldId="792"/>
        </pc:sldMkLst>
        <pc:spChg chg="mod">
          <ac:chgData name="Jan Willem van den End (EBO_CMA)" userId="32ade95a-e024-4672-952f-5ed8641a9e00" providerId="ADAL" clId="{3BBBE02E-ACD4-4586-9407-5E79BF620DF1}" dt="2026-09-25T10:04:33.062" v="5051" actId="1038"/>
          <ac:spMkLst>
            <pc:docMk/>
            <pc:sldMk cId="2304846322" sldId="792"/>
            <ac:spMk id="5" creationId="{64CF75E5-0A93-A50A-135C-BD487E25C478}"/>
          </ac:spMkLst>
        </pc:spChg>
        <pc:spChg chg="mod">
          <ac:chgData name="Jan Willem van den End (EBO_CMA)" userId="32ade95a-e024-4672-952f-5ed8641a9e00" providerId="ADAL" clId="{3BBBE02E-ACD4-4586-9407-5E79BF620DF1}" dt="2026-09-29T19:10:03.460" v="5714" actId="20577"/>
          <ac:spMkLst>
            <pc:docMk/>
            <pc:sldMk cId="2304846322" sldId="792"/>
            <ac:spMk id="6" creationId="{CF9708F7-32AE-5645-3159-CE1174AB0729}"/>
          </ac:spMkLst>
        </pc:spChg>
        <pc:spChg chg="mod">
          <ac:chgData name="Jan Willem van den End (EBO_CMA)" userId="32ade95a-e024-4672-952f-5ed8641a9e00" providerId="ADAL" clId="{3BBBE02E-ACD4-4586-9407-5E79BF620DF1}" dt="2026-09-25T11:36:54.569" v="5519"/>
          <ac:spMkLst>
            <pc:docMk/>
            <pc:sldMk cId="2304846322" sldId="792"/>
            <ac:spMk id="8" creationId="{AEE2C5DE-2B6A-1A21-C169-797AC72B8FC2}"/>
          </ac:spMkLst>
        </pc:spChg>
        <pc:picChg chg="mod">
          <ac:chgData name="Jan Willem van den End (EBO_CMA)" userId="32ade95a-e024-4672-952f-5ed8641a9e00" providerId="ADAL" clId="{3BBBE02E-ACD4-4586-9407-5E79BF620DF1}" dt="2026-09-29T19:10:39.056" v="5719" actId="14100"/>
          <ac:picMkLst>
            <pc:docMk/>
            <pc:sldMk cId="2304846322" sldId="792"/>
            <ac:picMk id="3" creationId="{E4247869-22B3-74B1-C2DC-BC2BF3DF0889}"/>
          </ac:picMkLst>
        </pc:picChg>
        <pc:picChg chg="mod">
          <ac:chgData name="Jan Willem van den End (EBO_CMA)" userId="32ade95a-e024-4672-952f-5ed8641a9e00" providerId="ADAL" clId="{3BBBE02E-ACD4-4586-9407-5E79BF620DF1}" dt="2026-09-29T19:11:01.220" v="5723" actId="1076"/>
          <ac:picMkLst>
            <pc:docMk/>
            <pc:sldMk cId="2304846322" sldId="792"/>
            <ac:picMk id="4" creationId="{0231C4B6-AE28-A975-F5EB-43D3FA1E2ADA}"/>
          </ac:picMkLst>
        </pc:picChg>
        <pc:picChg chg="del mod">
          <ac:chgData name="Jan Willem van den End (EBO_CMA)" userId="32ade95a-e024-4672-952f-5ed8641a9e00" providerId="ADAL" clId="{3BBBE02E-ACD4-4586-9407-5E79BF620DF1}" dt="2026-09-29T19:10:15.163" v="5715" actId="478"/>
          <ac:picMkLst>
            <pc:docMk/>
            <pc:sldMk cId="2304846322" sldId="792"/>
            <ac:picMk id="10" creationId="{8ED05194-3FC9-0803-C7D5-C61C218BC7C9}"/>
          </ac:picMkLst>
        </pc:picChg>
        <pc:picChg chg="del mod">
          <ac:chgData name="Jan Willem van den End (EBO_CMA)" userId="32ade95a-e024-4672-952f-5ed8641a9e00" providerId="ADAL" clId="{3BBBE02E-ACD4-4586-9407-5E79BF620DF1}" dt="2026-09-29T19:10:40.725" v="5720" actId="478"/>
          <ac:picMkLst>
            <pc:docMk/>
            <pc:sldMk cId="2304846322" sldId="792"/>
            <ac:picMk id="11" creationId="{F62A9DDD-9890-E970-E360-5F7C952A0047}"/>
          </ac:picMkLst>
        </pc:picChg>
      </pc:sldChg>
      <pc:sldChg chg="modSp mod modNotesTx">
        <pc:chgData name="Jan Willem van den End (EBO_CMA)" userId="32ade95a-e024-4672-952f-5ed8641a9e00" providerId="ADAL" clId="{3BBBE02E-ACD4-4586-9407-5E79BF620DF1}" dt="2026-09-29T19:17:32.259" v="5883" actId="1076"/>
        <pc:sldMkLst>
          <pc:docMk/>
          <pc:sldMk cId="515665883" sldId="793"/>
        </pc:sldMkLst>
        <pc:spChg chg="mod">
          <ac:chgData name="Jan Willem van den End (EBO_CMA)" userId="32ade95a-e024-4672-952f-5ed8641a9e00" providerId="ADAL" clId="{3BBBE02E-ACD4-4586-9407-5E79BF620DF1}" dt="2026-09-29T19:17:32.259" v="5883" actId="1076"/>
          <ac:spMkLst>
            <pc:docMk/>
            <pc:sldMk cId="515665883" sldId="793"/>
            <ac:spMk id="2" creationId="{6B853D72-57E4-54DF-F916-E87E4C65C99E}"/>
          </ac:spMkLst>
        </pc:spChg>
      </pc:sldChg>
      <pc:sldChg chg="delSp modSp mod modNotesTx">
        <pc:chgData name="Jan Willem van den End (EBO_CMA)" userId="32ade95a-e024-4672-952f-5ed8641a9e00" providerId="ADAL" clId="{3BBBE02E-ACD4-4586-9407-5E79BF620DF1}" dt="2026-09-29T19:15:39.472" v="5810" actId="20577"/>
        <pc:sldMkLst>
          <pc:docMk/>
          <pc:sldMk cId="240743824" sldId="794"/>
        </pc:sldMkLst>
        <pc:spChg chg="mod">
          <ac:chgData name="Jan Willem van den End (EBO_CMA)" userId="32ade95a-e024-4672-952f-5ed8641a9e00" providerId="ADAL" clId="{3BBBE02E-ACD4-4586-9407-5E79BF620DF1}" dt="2026-09-29T19:15:39.472" v="5810" actId="20577"/>
          <ac:spMkLst>
            <pc:docMk/>
            <pc:sldMk cId="240743824" sldId="794"/>
            <ac:spMk id="8" creationId="{0677632A-56D3-3DDB-C434-EB0FC24E2732}"/>
          </ac:spMkLst>
        </pc:spChg>
        <pc:spChg chg="mod">
          <ac:chgData name="Jan Willem van den End (EBO_CMA)" userId="32ade95a-e024-4672-952f-5ed8641a9e00" providerId="ADAL" clId="{3BBBE02E-ACD4-4586-9407-5E79BF620DF1}" dt="2026-09-25T09:33:54.734" v="4688" actId="20577"/>
          <ac:spMkLst>
            <pc:docMk/>
            <pc:sldMk cId="240743824" sldId="794"/>
            <ac:spMk id="11" creationId="{D6974398-2614-1310-0782-A3E80B13A2FD}"/>
          </ac:spMkLst>
        </pc:spChg>
        <pc:picChg chg="mod">
          <ac:chgData name="Jan Willem van den End (EBO_CMA)" userId="32ade95a-e024-4672-952f-5ed8641a9e00" providerId="ADAL" clId="{3BBBE02E-ACD4-4586-9407-5E79BF620DF1}" dt="2026-09-20T19:31:44.104" v="2061" actId="1076"/>
          <ac:picMkLst>
            <pc:docMk/>
            <pc:sldMk cId="240743824" sldId="794"/>
            <ac:picMk id="4" creationId="{D752BB6B-84D3-1A02-4BE3-8EAA21B12319}"/>
          </ac:picMkLst>
        </pc:picChg>
        <pc:picChg chg="mod">
          <ac:chgData name="Jan Willem van den End (EBO_CMA)" userId="32ade95a-e024-4672-952f-5ed8641a9e00" providerId="ADAL" clId="{3BBBE02E-ACD4-4586-9407-5E79BF620DF1}" dt="2026-09-23T10:16:30.622" v="3973" actId="1076"/>
          <ac:picMkLst>
            <pc:docMk/>
            <pc:sldMk cId="240743824" sldId="794"/>
            <ac:picMk id="5" creationId="{7596D83C-A172-D741-78FB-EBEC12FF1632}"/>
          </ac:picMkLst>
        </pc:picChg>
      </pc:sldChg>
      <pc:sldChg chg="modSp mod">
        <pc:chgData name="Jan Willem van den End (EBO_CMA)" userId="32ade95a-e024-4672-952f-5ed8641a9e00" providerId="ADAL" clId="{3BBBE02E-ACD4-4586-9407-5E79BF620DF1}" dt="2026-09-22T06:51:42.256" v="2752" actId="20577"/>
        <pc:sldMkLst>
          <pc:docMk/>
          <pc:sldMk cId="165802264" sldId="795"/>
        </pc:sldMkLst>
        <pc:spChg chg="mod">
          <ac:chgData name="Jan Willem van den End (EBO_CMA)" userId="32ade95a-e024-4672-952f-5ed8641a9e00" providerId="ADAL" clId="{3BBBE02E-ACD4-4586-9407-5E79BF620DF1}" dt="2026-09-22T06:51:42.256" v="2752" actId="20577"/>
          <ac:spMkLst>
            <pc:docMk/>
            <pc:sldMk cId="165802264" sldId="795"/>
            <ac:spMk id="2" creationId="{7415D86D-5542-3552-758F-1923FC3E3C99}"/>
          </ac:spMkLst>
        </pc:spChg>
      </pc:sldChg>
      <pc:sldChg chg="addSp delSp modSp mod">
        <pc:chgData name="Jan Willem van den End (EBO_CMA)" userId="32ade95a-e024-4672-952f-5ed8641a9e00" providerId="ADAL" clId="{3BBBE02E-ACD4-4586-9407-5E79BF620DF1}" dt="2026-09-29T12:12:08.434" v="5626" actId="1076"/>
        <pc:sldMkLst>
          <pc:docMk/>
          <pc:sldMk cId="909146083" sldId="796"/>
        </pc:sldMkLst>
        <pc:spChg chg="mod">
          <ac:chgData name="Jan Willem van den End (EBO_CMA)" userId="32ade95a-e024-4672-952f-5ed8641a9e00" providerId="ADAL" clId="{3BBBE02E-ACD4-4586-9407-5E79BF620DF1}" dt="2026-09-23T09:40:37.381" v="3725" actId="1076"/>
          <ac:spMkLst>
            <pc:docMk/>
            <pc:sldMk cId="909146083" sldId="796"/>
            <ac:spMk id="2" creationId="{9D7DFCD1-CA74-2C76-7A49-94B41E557F74}"/>
          </ac:spMkLst>
        </pc:spChg>
        <pc:spChg chg="add mod">
          <ac:chgData name="Jan Willem van den End (EBO_CMA)" userId="32ade95a-e024-4672-952f-5ed8641a9e00" providerId="ADAL" clId="{3BBBE02E-ACD4-4586-9407-5E79BF620DF1}" dt="2026-09-29T12:06:55.697" v="5618" actId="20577"/>
          <ac:spMkLst>
            <pc:docMk/>
            <pc:sldMk cId="909146083" sldId="796"/>
            <ac:spMk id="6" creationId="{4ED6076C-5ED2-F560-9ECC-68A359BFC0CA}"/>
          </ac:spMkLst>
        </pc:spChg>
        <pc:picChg chg="mod">
          <ac:chgData name="Jan Willem van den End (EBO_CMA)" userId="32ade95a-e024-4672-952f-5ed8641a9e00" providerId="ADAL" clId="{3BBBE02E-ACD4-4586-9407-5E79BF620DF1}" dt="2026-09-29T12:12:08.434" v="5626" actId="1076"/>
          <ac:picMkLst>
            <pc:docMk/>
            <pc:sldMk cId="909146083" sldId="796"/>
            <ac:picMk id="3" creationId="{6492589E-33A7-C5CD-04E6-4BE9402B49C5}"/>
          </ac:picMkLst>
        </pc:picChg>
        <pc:picChg chg="del mod">
          <ac:chgData name="Jan Willem van den End (EBO_CMA)" userId="32ade95a-e024-4672-952f-5ed8641a9e00" providerId="ADAL" clId="{3BBBE02E-ACD4-4586-9407-5E79BF620DF1}" dt="2026-09-29T12:11:44.654" v="5619" actId="478"/>
          <ac:picMkLst>
            <pc:docMk/>
            <pc:sldMk cId="909146083" sldId="796"/>
            <ac:picMk id="10" creationId="{C9A895D5-4DBA-4775-3A49-739C761362E5}"/>
          </ac:picMkLst>
        </pc:picChg>
      </pc:sldChg>
      <pc:sldChg chg="modSp add mod modNotesTx">
        <pc:chgData name="Jan Willem van den End (EBO_CMA)" userId="32ade95a-e024-4672-952f-5ed8641a9e00" providerId="ADAL" clId="{3BBBE02E-ACD4-4586-9407-5E79BF620DF1}" dt="2026-09-29T19:16:39.558" v="5878"/>
        <pc:sldMkLst>
          <pc:docMk/>
          <pc:sldMk cId="341592472" sldId="797"/>
        </pc:sldMkLst>
        <pc:spChg chg="mod">
          <ac:chgData name="Jan Willem van den End (EBO_CMA)" userId="32ade95a-e024-4672-952f-5ed8641a9e00" providerId="ADAL" clId="{3BBBE02E-ACD4-4586-9407-5E79BF620DF1}" dt="2026-09-29T19:16:39.558" v="5878"/>
          <ac:spMkLst>
            <pc:docMk/>
            <pc:sldMk cId="341592472" sldId="797"/>
            <ac:spMk id="2" creationId="{69505807-7DB6-66DD-D0C3-991E02849C08}"/>
          </ac:spMkLst>
        </pc:spChg>
        <pc:spChg chg="mod">
          <ac:chgData name="Jan Willem van den End (EBO_CMA)" userId="32ade95a-e024-4672-952f-5ed8641a9e00" providerId="ADAL" clId="{3BBBE02E-ACD4-4586-9407-5E79BF620DF1}" dt="2026-09-23T09:32:59.846" v="3495" actId="6549"/>
          <ac:spMkLst>
            <pc:docMk/>
            <pc:sldMk cId="341592472" sldId="797"/>
            <ac:spMk id="9" creationId="{03204D0B-CF7E-0BFC-4F0F-962010862E03}"/>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49575" cy="4968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sz="quarter" idx="1"/>
          </p:nvPr>
        </p:nvSpPr>
        <p:spPr>
          <a:xfrm>
            <a:off x="3854450" y="0"/>
            <a:ext cx="2949575" cy="496888"/>
          </a:xfrm>
          <a:prstGeom prst="rect">
            <a:avLst/>
          </a:prstGeom>
        </p:spPr>
        <p:txBody>
          <a:bodyPr vert="horz" lIns="91440" tIns="45720" rIns="91440" bIns="45720" rtlCol="0"/>
          <a:lstStyle>
            <a:lvl1pPr algn="r">
              <a:defRPr sz="1200"/>
            </a:lvl1pPr>
          </a:lstStyle>
          <a:p>
            <a:fld id="{C26BBE9F-2231-4498-A3E5-DFB02EDDD594}" type="datetimeFigureOut">
              <a:rPr lang="nl-NL" smtClean="0"/>
              <a:t>29-9-2026</a:t>
            </a:fld>
            <a:endParaRPr lang="nl-NL"/>
          </a:p>
        </p:txBody>
      </p:sp>
      <p:sp>
        <p:nvSpPr>
          <p:cNvPr id="4" name="Tijdelijke aanduiding voor voettekst 3"/>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nl-NL"/>
          </a:p>
        </p:txBody>
      </p:sp>
      <p:sp>
        <p:nvSpPr>
          <p:cNvPr id="5" name="Tijdelijke aanduiding voor dianummer 4"/>
          <p:cNvSpPr>
            <a:spLocks noGrp="1"/>
          </p:cNvSpPr>
          <p:nvPr>
            <p:ph type="sldNum" sz="quarter" idx="3"/>
          </p:nvPr>
        </p:nvSpPr>
        <p:spPr>
          <a:xfrm>
            <a:off x="3854450" y="9445625"/>
            <a:ext cx="2949575" cy="496888"/>
          </a:xfrm>
          <a:prstGeom prst="rect">
            <a:avLst/>
          </a:prstGeom>
        </p:spPr>
        <p:txBody>
          <a:bodyPr vert="horz" lIns="91440" tIns="45720" rIns="91440" bIns="45720" rtlCol="0" anchor="b"/>
          <a:lstStyle>
            <a:lvl1pPr algn="r">
              <a:defRPr sz="1200"/>
            </a:lvl1pPr>
          </a:lstStyle>
          <a:p>
            <a:fld id="{956F0578-CC77-4CC6-8BD4-1C24732170C0}" type="slidenum">
              <a:rPr lang="nl-NL" smtClean="0"/>
              <a:t>‹#›</a:t>
            </a:fld>
            <a:endParaRPr lang="nl-NL"/>
          </a:p>
        </p:txBody>
      </p:sp>
    </p:spTree>
    <p:extLst>
      <p:ext uri="{BB962C8B-B14F-4D97-AF65-F5344CB8AC3E}">
        <p14:creationId xmlns:p14="http://schemas.microsoft.com/office/powerpoint/2010/main" val="76216919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49099" cy="498932"/>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54939" y="0"/>
            <a:ext cx="2949099" cy="498932"/>
          </a:xfrm>
          <a:prstGeom prst="rect">
            <a:avLst/>
          </a:prstGeom>
        </p:spPr>
        <p:txBody>
          <a:bodyPr vert="horz" lIns="91440" tIns="45720" rIns="91440" bIns="45720" rtlCol="0"/>
          <a:lstStyle>
            <a:lvl1pPr algn="r">
              <a:defRPr sz="1200"/>
            </a:lvl1pPr>
          </a:lstStyle>
          <a:p>
            <a:fld id="{900D5B51-A3C5-4FC7-8A0D-54EFEFAFACD3}" type="datetimeFigureOut">
              <a:rPr lang="nl-NL" smtClean="0"/>
              <a:t>29-9-2026</a:t>
            </a:fld>
            <a:endParaRPr lang="nl-NL"/>
          </a:p>
        </p:txBody>
      </p:sp>
      <p:sp>
        <p:nvSpPr>
          <p:cNvPr id="4" name="Tijdelijke aanduiding voor dia-afbeelding 3"/>
          <p:cNvSpPr>
            <a:spLocks noGrp="1" noRot="1" noChangeAspect="1"/>
          </p:cNvSpPr>
          <p:nvPr>
            <p:ph type="sldImg" idx="2"/>
          </p:nvPr>
        </p:nvSpPr>
        <p:spPr>
          <a:xfrm>
            <a:off x="1166813" y="1243013"/>
            <a:ext cx="4471987" cy="3355975"/>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0562" y="4785598"/>
            <a:ext cx="5444490" cy="3915489"/>
          </a:xfrm>
          <a:prstGeom prst="rect">
            <a:avLst/>
          </a:prstGeom>
        </p:spPr>
        <p:txBody>
          <a:bodyPr vert="horz" lIns="91440" tIns="45720" rIns="91440" bIns="45720" rtlCol="0"/>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9445170"/>
            <a:ext cx="2949099" cy="498931"/>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54939" y="9445170"/>
            <a:ext cx="2949099" cy="498931"/>
          </a:xfrm>
          <a:prstGeom prst="rect">
            <a:avLst/>
          </a:prstGeom>
        </p:spPr>
        <p:txBody>
          <a:bodyPr vert="horz" lIns="91440" tIns="45720" rIns="91440" bIns="45720" rtlCol="0" anchor="b"/>
          <a:lstStyle>
            <a:lvl1pPr algn="r">
              <a:defRPr sz="1200"/>
            </a:lvl1pPr>
          </a:lstStyle>
          <a:p>
            <a:fld id="{F9513F78-5509-4637-B397-C3DEABA56153}" type="slidenum">
              <a:rPr lang="nl-NL" smtClean="0"/>
              <a:t>‹#›</a:t>
            </a:fld>
            <a:endParaRPr lang="nl-NL"/>
          </a:p>
        </p:txBody>
      </p:sp>
    </p:spTree>
    <p:extLst>
      <p:ext uri="{BB962C8B-B14F-4D97-AF65-F5344CB8AC3E}">
        <p14:creationId xmlns:p14="http://schemas.microsoft.com/office/powerpoint/2010/main" val="41388509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endParaRPr lang="nl-NL"/>
          </a:p>
        </p:txBody>
      </p:sp>
      <p:sp>
        <p:nvSpPr>
          <p:cNvPr id="4" name="Tijdelijke aanduiding voor dianummer 3"/>
          <p:cNvSpPr>
            <a:spLocks noGrp="1"/>
          </p:cNvSpPr>
          <p:nvPr>
            <p:ph type="sldNum" sz="quarter" idx="5"/>
          </p:nvPr>
        </p:nvSpPr>
        <p:spPr/>
        <p:txBody>
          <a:bodyPr/>
          <a:lstStyle/>
          <a:p>
            <a:fld id="{F9513F78-5509-4637-B397-C3DEABA56153}" type="slidenum">
              <a:rPr lang="nl-NL" smtClean="0"/>
              <a:t>1</a:t>
            </a:fld>
            <a:endParaRPr lang="nl-NL"/>
          </a:p>
        </p:txBody>
      </p:sp>
    </p:spTree>
    <p:extLst>
      <p:ext uri="{BB962C8B-B14F-4D97-AF65-F5344CB8AC3E}">
        <p14:creationId xmlns:p14="http://schemas.microsoft.com/office/powerpoint/2010/main" val="295545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pPr marL="0" indent="0">
              <a:buFontTx/>
              <a:buNone/>
            </a:pPr>
            <a:endParaRPr lang="nl-NL" i="0" baseline="0"/>
          </a:p>
        </p:txBody>
      </p:sp>
      <p:sp>
        <p:nvSpPr>
          <p:cNvPr id="4" name="Tijdelijke aanduiding voor dianummer 3"/>
          <p:cNvSpPr>
            <a:spLocks noGrp="1"/>
          </p:cNvSpPr>
          <p:nvPr>
            <p:ph type="sldNum" sz="quarter" idx="10"/>
          </p:nvPr>
        </p:nvSpPr>
        <p:spPr/>
        <p:txBody>
          <a:bodyPr/>
          <a:lstStyle/>
          <a:p>
            <a:fld id="{F9513F78-5509-4637-B397-C3DEABA56153}" type="slidenum">
              <a:rPr lang="nl-NL" smtClean="0">
                <a:solidFill>
                  <a:prstClr val="black"/>
                </a:solidFill>
              </a:rPr>
              <a:pPr/>
              <a:t>2</a:t>
            </a:fld>
            <a:endParaRPr lang="nl-NL">
              <a:solidFill>
                <a:prstClr val="black"/>
              </a:solidFill>
            </a:endParaRPr>
          </a:p>
        </p:txBody>
      </p:sp>
    </p:spTree>
    <p:extLst>
      <p:ext uri="{BB962C8B-B14F-4D97-AF65-F5344CB8AC3E}">
        <p14:creationId xmlns:p14="http://schemas.microsoft.com/office/powerpoint/2010/main" val="18482934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6A921-151D-0DF3-6FAB-E2178B70AC37}"/>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A8D2CC52-7055-C4F5-9776-623326025D10}"/>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8349AC74-CDDA-DD36-1991-DAE35EA6E60B}"/>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ACE3154-DBE9-5AA3-E1EA-0FF8C6084707}"/>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76092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txBody>
          <a:bodyPr/>
          <a:lstStyle/>
          <a:p>
            <a:endParaRPr lang="en-US"/>
          </a:p>
        </p:txBody>
      </p:sp>
      <p:sp>
        <p:nvSpPr>
          <p:cNvPr id="3" name="Tijdelijke aanduiding voor notities 2"/>
          <p:cNvSpPr>
            <a:spLocks noGrp="1"/>
          </p:cNvSpPr>
          <p:nvPr>
            <p:ph type="body" idx="1"/>
          </p:nvPr>
        </p:nvSpPr>
        <p:spPr/>
        <p:txBody>
          <a:bodyPr/>
          <a:lstStyle/>
          <a:p>
            <a:pPr marL="171450" indent="-171450">
              <a:buFontTx/>
              <a:buChar char="-"/>
            </a:pPr>
            <a:endParaRPr lang="nl-NL"/>
          </a:p>
        </p:txBody>
      </p:sp>
      <p:sp>
        <p:nvSpPr>
          <p:cNvPr id="4" name="Tijdelijke aanduiding voor dianummer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736597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2F355-1972-2393-BE86-3ED62A5F296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0949E41C-3A1B-7506-9467-350925154D7F}"/>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A6DA90D2-1A07-3CDD-DC37-B10D687FEBF4}"/>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7E40117-2FC2-AD64-7A69-257DCDF9CD57}"/>
              </a:ext>
            </a:extLst>
          </p:cNvPr>
          <p:cNvSpPr>
            <a:spLocks noGrp="1"/>
          </p:cNvSpPr>
          <p:nvPr>
            <p:ph type="sldNum" sz="quarter" idx="10"/>
          </p:nvPr>
        </p:nvSpPr>
        <p:spPr/>
        <p:txBody>
          <a:bodyPr/>
          <a:lstStyle/>
          <a:p>
            <a:fld id="{F9513F78-5509-4637-B397-C3DEABA56153}" type="slidenum">
              <a:rPr lang="nl-NL" smtClean="0">
                <a:solidFill>
                  <a:prstClr val="black"/>
                </a:solidFill>
              </a:rPr>
              <a:pPr/>
              <a:t>5</a:t>
            </a:fld>
            <a:endParaRPr lang="nl-NL">
              <a:solidFill>
                <a:prstClr val="black"/>
              </a:solidFill>
            </a:endParaRPr>
          </a:p>
        </p:txBody>
      </p:sp>
    </p:spTree>
    <p:extLst>
      <p:ext uri="{BB962C8B-B14F-4D97-AF65-F5344CB8AC3E}">
        <p14:creationId xmlns:p14="http://schemas.microsoft.com/office/powerpoint/2010/main" val="35814445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31EF1A-2BFE-FC73-A652-E93653709EB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08E45FAF-A103-FAAB-7970-46F9F5DD781A}"/>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0EDCB2AF-C97E-CB13-E1A4-6EFAD0321743}"/>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BB08B61-6468-52E0-E472-F09207F523A7}"/>
              </a:ext>
            </a:extLst>
          </p:cNvPr>
          <p:cNvSpPr>
            <a:spLocks noGrp="1"/>
          </p:cNvSpPr>
          <p:nvPr>
            <p:ph type="sldNum" sz="quarter" idx="10"/>
          </p:nvPr>
        </p:nvSpPr>
        <p:spPr/>
        <p:txBody>
          <a:bodyPr/>
          <a:lstStyle/>
          <a:p>
            <a:fld id="{F9513F78-5509-4637-B397-C3DEABA56153}" type="slidenum">
              <a:rPr lang="nl-NL" smtClean="0">
                <a:solidFill>
                  <a:prstClr val="black"/>
                </a:solidFill>
              </a:rPr>
              <a:pPr/>
              <a:t>6</a:t>
            </a:fld>
            <a:endParaRPr lang="nl-NL">
              <a:solidFill>
                <a:prstClr val="black"/>
              </a:solidFill>
            </a:endParaRPr>
          </a:p>
        </p:txBody>
      </p:sp>
    </p:spTree>
    <p:extLst>
      <p:ext uri="{BB962C8B-B14F-4D97-AF65-F5344CB8AC3E}">
        <p14:creationId xmlns:p14="http://schemas.microsoft.com/office/powerpoint/2010/main" val="1947068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48E58-CB75-905B-068E-CDD7A9D2A0BE}"/>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687A6651-9D8C-041E-6221-CB4A80DAA58D}"/>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F634D1AC-E4B8-E07C-05B4-D7A415247C10}"/>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3026BB5A-DB7F-2C88-876D-A4F0BE83B448}"/>
              </a:ext>
            </a:extLst>
          </p:cNvPr>
          <p:cNvSpPr>
            <a:spLocks noGrp="1"/>
          </p:cNvSpPr>
          <p:nvPr>
            <p:ph type="sldNum" sz="quarter" idx="10"/>
          </p:nvPr>
        </p:nvSpPr>
        <p:spPr/>
        <p:txBody>
          <a:bodyPr/>
          <a:lstStyle/>
          <a:p>
            <a:fld id="{F9513F78-5509-4637-B397-C3DEABA56153}" type="slidenum">
              <a:rPr lang="nl-NL" smtClean="0">
                <a:solidFill>
                  <a:prstClr val="black"/>
                </a:solidFill>
              </a:rPr>
              <a:pPr/>
              <a:t>7</a:t>
            </a:fld>
            <a:endParaRPr lang="nl-NL">
              <a:solidFill>
                <a:prstClr val="black"/>
              </a:solidFill>
            </a:endParaRPr>
          </a:p>
        </p:txBody>
      </p:sp>
    </p:spTree>
    <p:extLst>
      <p:ext uri="{BB962C8B-B14F-4D97-AF65-F5344CB8AC3E}">
        <p14:creationId xmlns:p14="http://schemas.microsoft.com/office/powerpoint/2010/main" val="36219242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0BC5-06E4-392E-9044-211CD5CF8EC8}"/>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C3A3BA49-0B7A-D781-55F9-636B649C7531}"/>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8F9248E1-2394-BB6E-ACF7-C8BB520C4467}"/>
              </a:ext>
            </a:extLst>
          </p:cNvPr>
          <p:cNvSpPr>
            <a:spLocks noGrp="1"/>
          </p:cNvSpPr>
          <p:nvPr>
            <p:ph type="body" idx="1"/>
          </p:nvPr>
        </p:nvSpPr>
        <p:spPr/>
        <p:txBody>
          <a:bodyPr/>
          <a:lstStyle/>
          <a:p>
            <a:pPr marL="171450" indent="-171450">
              <a:buFontTx/>
              <a:buChar char="-"/>
            </a:pPr>
            <a:r>
              <a:rPr lang="nl-NL" dirty="0" err="1"/>
              <a:t>Each</a:t>
            </a:r>
            <a:r>
              <a:rPr lang="nl-NL" dirty="0"/>
              <a:t> </a:t>
            </a:r>
            <a:r>
              <a:rPr lang="nl-NL" dirty="0" err="1"/>
              <a:t>year</a:t>
            </a:r>
            <a:r>
              <a:rPr lang="nl-NL" dirty="0"/>
              <a:t> the </a:t>
            </a:r>
            <a:r>
              <a:rPr lang="nl-NL" dirty="0" err="1"/>
              <a:t>median</a:t>
            </a:r>
            <a:r>
              <a:rPr lang="nl-NL" dirty="0"/>
              <a:t> </a:t>
            </a:r>
            <a:r>
              <a:rPr lang="nl-NL" dirty="0" err="1"/>
              <a:t>threshold</a:t>
            </a:r>
            <a:r>
              <a:rPr lang="nl-NL" dirty="0"/>
              <a:t> </a:t>
            </a:r>
            <a:r>
              <a:rPr lang="nl-NL" dirty="0" err="1"/>
              <a:t>for</a:t>
            </a:r>
            <a:r>
              <a:rPr lang="nl-NL" dirty="0"/>
              <a:t> </a:t>
            </a:r>
            <a:r>
              <a:rPr lang="nl-NL" dirty="0" err="1"/>
              <a:t>Above</a:t>
            </a:r>
            <a:r>
              <a:rPr lang="nl-NL" dirty="0"/>
              <a:t> </a:t>
            </a:r>
            <a:r>
              <a:rPr lang="nl-NL" dirty="0" err="1"/>
              <a:t>vs</a:t>
            </a:r>
            <a:r>
              <a:rPr lang="nl-NL" dirty="0"/>
              <a:t> Below changes, </a:t>
            </a:r>
            <a:r>
              <a:rPr lang="nl-NL" dirty="0" err="1"/>
              <a:t>so</a:t>
            </a:r>
            <a:r>
              <a:rPr lang="nl-NL" dirty="0"/>
              <a:t>: </a:t>
            </a:r>
            <a:r>
              <a:rPr lang="nl-NL" dirty="0" err="1"/>
              <a:t>each</a:t>
            </a:r>
            <a:r>
              <a:rPr lang="nl-NL" dirty="0"/>
              <a:t> </a:t>
            </a:r>
            <a:r>
              <a:rPr lang="nl-NL" dirty="0" err="1"/>
              <a:t>year</a:t>
            </a:r>
            <a:r>
              <a:rPr lang="nl-NL" dirty="0"/>
              <a:t> the </a:t>
            </a:r>
            <a:r>
              <a:rPr lang="nl-NL" dirty="0" err="1"/>
              <a:t>Above</a:t>
            </a:r>
            <a:r>
              <a:rPr lang="nl-NL" dirty="0"/>
              <a:t> and Below </a:t>
            </a:r>
            <a:r>
              <a:rPr lang="nl-NL" dirty="0" err="1"/>
              <a:t>groups</a:t>
            </a:r>
            <a:r>
              <a:rPr lang="nl-NL" dirty="0"/>
              <a:t> of </a:t>
            </a:r>
            <a:r>
              <a:rPr lang="nl-NL" dirty="0" err="1"/>
              <a:t>countries</a:t>
            </a:r>
            <a:r>
              <a:rPr lang="nl-NL" dirty="0"/>
              <a:t> </a:t>
            </a:r>
            <a:r>
              <a:rPr lang="nl-NL" dirty="0" err="1"/>
              <a:t>differ</a:t>
            </a:r>
            <a:r>
              <a:rPr lang="nl-NL"/>
              <a:t>.</a:t>
            </a:r>
            <a:endParaRPr lang="nl-NL" dirty="0"/>
          </a:p>
        </p:txBody>
      </p:sp>
      <p:sp>
        <p:nvSpPr>
          <p:cNvPr id="4" name="Tijdelijke aanduiding voor dianummer 3">
            <a:extLst>
              <a:ext uri="{FF2B5EF4-FFF2-40B4-BE49-F238E27FC236}">
                <a16:creationId xmlns:a16="http://schemas.microsoft.com/office/drawing/2014/main" id="{33D28C7A-35E3-D7B6-1A04-5292B9F6D93E}"/>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9779568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FF143D-9E44-94EC-AB52-06F1DEC0DFB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48347234-BA72-C5A5-000F-B7C8EE2A67A9}"/>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67B9C725-AD21-6CD5-3DA4-207B353C143D}"/>
              </a:ext>
            </a:extLst>
          </p:cNvPr>
          <p:cNvSpPr>
            <a:spLocks noGrp="1"/>
          </p:cNvSpPr>
          <p:nvPr>
            <p:ph type="body" idx="1"/>
          </p:nvPr>
        </p:nvSpPr>
        <p:spPr/>
        <p:txBody>
          <a:bodyPr/>
          <a:lstStyle/>
          <a:p>
            <a:pPr marL="171450" indent="-171450">
              <a:buFontTx/>
              <a:buChar char="-"/>
            </a:pPr>
            <a:endParaRPr lang="nl-NL" dirty="0"/>
          </a:p>
        </p:txBody>
      </p:sp>
      <p:sp>
        <p:nvSpPr>
          <p:cNvPr id="4" name="Tijdelijke aanduiding voor dianummer 3">
            <a:extLst>
              <a:ext uri="{FF2B5EF4-FFF2-40B4-BE49-F238E27FC236}">
                <a16:creationId xmlns:a16="http://schemas.microsoft.com/office/drawing/2014/main" id="{A4204FB8-B708-D4FF-C770-62C729146F74}"/>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389336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96EA2-6791-8BA7-3E1D-8AA418416243}"/>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2C2B42AB-3FC6-66F4-EDB9-3794F38C39E3}"/>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76266033-F159-99E4-AB2E-A64BA45BAE07}"/>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271191F-9E85-0AC2-25F8-021F793E6889}"/>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2248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D72A8A-A84A-97A5-1457-BC14F74B5259}"/>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E01C7A8D-4AD4-9718-24B4-E3DD7A672EF5}"/>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45B00884-682F-ABB0-4450-31B342A5997F}"/>
              </a:ext>
            </a:extLst>
          </p:cNvPr>
          <p:cNvSpPr>
            <a:spLocks noGrp="1"/>
          </p:cNvSpPr>
          <p:nvPr>
            <p:ph type="body" idx="1"/>
          </p:nvPr>
        </p:nvSpPr>
        <p:spPr/>
        <p:txBody>
          <a:bodyPr/>
          <a:lstStyle/>
          <a:p>
            <a:pPr marL="171450" indent="-171450">
              <a:buFontTx/>
              <a:buChar char="-"/>
            </a:pPr>
            <a:endParaRPr lang="nl-NL"/>
          </a:p>
        </p:txBody>
      </p:sp>
      <p:sp>
        <p:nvSpPr>
          <p:cNvPr id="4" name="Tijdelijke aanduiding voor dianummer 3">
            <a:extLst>
              <a:ext uri="{FF2B5EF4-FFF2-40B4-BE49-F238E27FC236}">
                <a16:creationId xmlns:a16="http://schemas.microsoft.com/office/drawing/2014/main" id="{9540CA2C-E628-470B-77EC-A64F9E7DE842}"/>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627428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F11D1-111C-2097-AF1B-AC0E2514559C}"/>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533E7C0D-B7FA-4003-29ED-9A68D1D38643}"/>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1D2409FC-30BF-11D2-8F14-E878B41EDE03}"/>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F7DB7752-4697-5BFC-EE65-CBB78901BE3F}"/>
              </a:ext>
            </a:extLst>
          </p:cNvPr>
          <p:cNvSpPr>
            <a:spLocks noGrp="1"/>
          </p:cNvSpPr>
          <p:nvPr>
            <p:ph type="sldNum" sz="quarter" idx="10"/>
          </p:nvPr>
        </p:nvSpPr>
        <p:spPr/>
        <p:txBody>
          <a:bodyPr/>
          <a:lstStyle/>
          <a:p>
            <a:fld id="{F9513F78-5509-4637-B397-C3DEABA56153}" type="slidenum">
              <a:rPr lang="nl-NL" smtClean="0">
                <a:solidFill>
                  <a:prstClr val="black"/>
                </a:solidFill>
              </a:rPr>
              <a:pPr/>
              <a:t>12</a:t>
            </a:fld>
            <a:endParaRPr lang="nl-NL">
              <a:solidFill>
                <a:prstClr val="black"/>
              </a:solidFill>
            </a:endParaRPr>
          </a:p>
        </p:txBody>
      </p:sp>
    </p:spTree>
    <p:extLst>
      <p:ext uri="{BB962C8B-B14F-4D97-AF65-F5344CB8AC3E}">
        <p14:creationId xmlns:p14="http://schemas.microsoft.com/office/powerpoint/2010/main" val="7879702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5DE61E-40DD-9FCB-7415-8004BAD0958A}"/>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14660F3A-AA3B-1B45-807B-E34E346A9402}"/>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A2CDDDEC-3085-D7C1-3586-164751189CA0}"/>
              </a:ext>
            </a:extLst>
          </p:cNvPr>
          <p:cNvSpPr>
            <a:spLocks noGrp="1"/>
          </p:cNvSpPr>
          <p:nvPr>
            <p:ph type="body" idx="1"/>
          </p:nvPr>
        </p:nvSpPr>
        <p:spPr/>
        <p:txBody>
          <a:bodyPr/>
          <a:lstStyle/>
          <a:p>
            <a:pPr marL="0" indent="0">
              <a:buFontTx/>
              <a:buNone/>
            </a:pPr>
            <a:endParaRPr lang="nl-NL" i="0" baseline="0"/>
          </a:p>
        </p:txBody>
      </p:sp>
      <p:sp>
        <p:nvSpPr>
          <p:cNvPr id="4" name="Tijdelijke aanduiding voor dianummer 3">
            <a:extLst>
              <a:ext uri="{FF2B5EF4-FFF2-40B4-BE49-F238E27FC236}">
                <a16:creationId xmlns:a16="http://schemas.microsoft.com/office/drawing/2014/main" id="{1BC49F77-D952-93CD-01F1-A7374ECB05C7}"/>
              </a:ext>
            </a:extLst>
          </p:cNvPr>
          <p:cNvSpPr>
            <a:spLocks noGrp="1"/>
          </p:cNvSpPr>
          <p:nvPr>
            <p:ph type="sldNum" sz="quarter" idx="10"/>
          </p:nvPr>
        </p:nvSpPr>
        <p:spPr/>
        <p:txBody>
          <a:bodyPr/>
          <a:lstStyle/>
          <a:p>
            <a:fld id="{F9513F78-5509-4637-B397-C3DEABA56153}" type="slidenum">
              <a:rPr lang="nl-NL" smtClean="0">
                <a:solidFill>
                  <a:prstClr val="black"/>
                </a:solidFill>
              </a:rPr>
              <a:pPr/>
              <a:t>13</a:t>
            </a:fld>
            <a:endParaRPr lang="nl-NL">
              <a:solidFill>
                <a:prstClr val="black"/>
              </a:solidFill>
            </a:endParaRPr>
          </a:p>
        </p:txBody>
      </p:sp>
    </p:spTree>
    <p:extLst>
      <p:ext uri="{BB962C8B-B14F-4D97-AF65-F5344CB8AC3E}">
        <p14:creationId xmlns:p14="http://schemas.microsoft.com/office/powerpoint/2010/main" val="16498637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E0B703-6763-3A02-0CD1-2AA5E1B12EC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F4C337D0-D3BF-4189-B369-1E9D295871F0}"/>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14911D73-3315-29CE-AA78-CA06D883825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NL" i="0" baseline="0" dirty="0"/>
          </a:p>
        </p:txBody>
      </p:sp>
      <p:sp>
        <p:nvSpPr>
          <p:cNvPr id="4" name="Tijdelijke aanduiding voor dianummer 3">
            <a:extLst>
              <a:ext uri="{FF2B5EF4-FFF2-40B4-BE49-F238E27FC236}">
                <a16:creationId xmlns:a16="http://schemas.microsoft.com/office/drawing/2014/main" id="{DDB81D25-FC8A-9EA8-7378-54154F5B79F8}"/>
              </a:ext>
            </a:extLst>
          </p:cNvPr>
          <p:cNvSpPr>
            <a:spLocks noGrp="1"/>
          </p:cNvSpPr>
          <p:nvPr>
            <p:ph type="sldNum" sz="quarter" idx="10"/>
          </p:nvPr>
        </p:nvSpPr>
        <p:spPr/>
        <p:txBody>
          <a:bodyPr/>
          <a:lstStyle/>
          <a:p>
            <a:fld id="{F9513F78-5509-4637-B397-C3DEABA56153}" type="slidenum">
              <a:rPr lang="nl-NL" smtClean="0">
                <a:solidFill>
                  <a:prstClr val="black"/>
                </a:solidFill>
              </a:rPr>
              <a:pPr/>
              <a:t>14</a:t>
            </a:fld>
            <a:endParaRPr lang="nl-NL">
              <a:solidFill>
                <a:prstClr val="black"/>
              </a:solidFill>
            </a:endParaRPr>
          </a:p>
        </p:txBody>
      </p:sp>
    </p:spTree>
    <p:extLst>
      <p:ext uri="{BB962C8B-B14F-4D97-AF65-F5344CB8AC3E}">
        <p14:creationId xmlns:p14="http://schemas.microsoft.com/office/powerpoint/2010/main" val="349394605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36740-ACF0-1F8D-EFE0-B2B9B646E6DE}"/>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94242CD5-8079-4695-C2BE-761D6D79ACDF}"/>
              </a:ext>
            </a:extLst>
          </p:cNvPr>
          <p:cNvSpPr>
            <a:spLocks noGrp="1" noRot="1" noChangeAspect="1"/>
          </p:cNvSpPr>
          <p:nvPr>
            <p:ph type="sldImg"/>
          </p:nvPr>
        </p:nvSpPr>
        <p:spPr/>
        <p:txBody>
          <a:bodyPr/>
          <a:lstStyle/>
          <a:p>
            <a:endParaRPr lang="en-US"/>
          </a:p>
        </p:txBody>
      </p:sp>
      <p:sp>
        <p:nvSpPr>
          <p:cNvPr id="3" name="Tijdelijke aanduiding voor notities 2">
            <a:extLst>
              <a:ext uri="{FF2B5EF4-FFF2-40B4-BE49-F238E27FC236}">
                <a16:creationId xmlns:a16="http://schemas.microsoft.com/office/drawing/2014/main" id="{7953C6CF-2BBF-0983-ABCB-AAD49ED7E86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NL" sz="1200" noProof="1">
                <a:latin typeface="Arial" panose="020B0604020202020204" pitchFamily="34" charset="0"/>
                <a:ea typeface="Verdana" panose="020B0604030504040204" pitchFamily="34" charset="0"/>
                <a:cs typeface="Arial" panose="020B0604020202020204" pitchFamily="34" charset="0"/>
              </a:rPr>
              <a:t>Robustness check with CPA data (goods) intra + extra-EA trade for the 10 countries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CPA 2.2 261 Electronic components and boards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CPA 2.2 262 Computers and peripheral equipment</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nl-NL" sz="1200" noProof="1">
                <a:latin typeface="Arial" panose="020B0604020202020204" pitchFamily="34" charset="0"/>
                <a:ea typeface="Verdana" panose="020B0604030504040204" pitchFamily="34" charset="0"/>
                <a:cs typeface="Arial" panose="020B0604020202020204" pitchFamily="34" charset="0"/>
              </a:rPr>
              <a:t>CPA 2.2 2899  </a:t>
            </a:r>
            <a:r>
              <a:rPr lang="en-NL" sz="1200" b="0" i="0" kern="1200" dirty="0">
                <a:solidFill>
                  <a:schemeClr val="tx1"/>
                </a:solidFill>
                <a:effectLst/>
                <a:latin typeface="+mn-lt"/>
                <a:ea typeface="+mn-ea"/>
                <a:cs typeface="+mn-cs"/>
              </a:rPr>
              <a:t>Other special-purpose machinery </a:t>
            </a:r>
            <a:r>
              <a:rPr lang="en-NL" sz="1200" b="0" i="0" kern="1200" dirty="0" err="1">
                <a:solidFill>
                  <a:schemeClr val="tx1"/>
                </a:solidFill>
                <a:effectLst/>
                <a:latin typeface="+mn-lt"/>
                <a:ea typeface="+mn-ea"/>
                <a:cs typeface="+mn-cs"/>
              </a:rPr>
              <a:t>n.e.c.</a:t>
            </a:r>
            <a:endParaRPr lang="en-NL"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nl-NL" sz="1200" noProof="1">
                <a:latin typeface="Arial" panose="020B0604020202020204" pitchFamily="34" charset="0"/>
                <a:ea typeface="Verdana" panose="020B0604030504040204" pitchFamily="34" charset="0"/>
                <a:cs typeface="Arial" panose="020B0604020202020204" pitchFamily="34" charset="0"/>
              </a:rPr>
              <a:t>Data for computer services (Eurostat: EBOPS, </a:t>
            </a:r>
            <a:r>
              <a:rPr lang="en-NL" sz="1200" b="0" i="0" kern="1200" dirty="0">
                <a:solidFill>
                  <a:schemeClr val="tx1"/>
                </a:solidFill>
                <a:effectLst/>
                <a:latin typeface="+mn-lt"/>
                <a:ea typeface="+mn-ea"/>
                <a:cs typeface="+mn-cs"/>
              </a:rPr>
              <a:t>International Trade in Services, ITS</a:t>
            </a:r>
            <a:r>
              <a:rPr lang="en-US" sz="1200" b="0" i="0" kern="1200" dirty="0">
                <a:solidFill>
                  <a:schemeClr val="tx1"/>
                </a:solidFill>
                <a:effectLst/>
                <a:latin typeface="+mn-lt"/>
                <a:ea typeface="+mn-ea"/>
                <a:cs typeface="+mn-cs"/>
              </a:rPr>
              <a:t> are just limitedly available (for some countries just starting in 2013, while 2025 data is not yet available for any country)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=&gt; to fetch these data =&gt;collect_ai_data_eur_serv.py // spreadsheet with data including services = ai_data_eur_serv.xls</a:t>
            </a:r>
            <a:endParaRPr lang="nl-NL" i="0" baseline="0" dirty="0"/>
          </a:p>
        </p:txBody>
      </p:sp>
      <p:sp>
        <p:nvSpPr>
          <p:cNvPr id="4" name="Tijdelijke aanduiding voor dianummer 3">
            <a:extLst>
              <a:ext uri="{FF2B5EF4-FFF2-40B4-BE49-F238E27FC236}">
                <a16:creationId xmlns:a16="http://schemas.microsoft.com/office/drawing/2014/main" id="{2CF62F4D-F0F1-75BD-73A5-CA3185063205}"/>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9513F78-5509-4637-B397-C3DEABA56153}" type="slidenum">
              <a:rPr kumimoji="0" lang="nl-NL"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nl-NL"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0621850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TiteldiaDNBGrijs2">
    <p:bg>
      <p:bgPr>
        <a:solidFill>
          <a:srgbClr val="B8450E"/>
        </a:solidFill>
        <a:effectLst/>
      </p:bgPr>
    </p:bg>
    <p:spTree>
      <p:nvGrpSpPr>
        <p:cNvPr id="1" name=""/>
        <p:cNvGrpSpPr/>
        <p:nvPr/>
      </p:nvGrpSpPr>
      <p:grpSpPr>
        <a:xfrm>
          <a:off x="0" y="0"/>
          <a:ext cx="0" cy="0"/>
          <a:chOff x="0" y="0"/>
          <a:chExt cx="0" cy="0"/>
        </a:xfrm>
      </p:grpSpPr>
      <p:sp>
        <p:nvSpPr>
          <p:cNvPr id="9" name="Rechthoek 8"/>
          <p:cNvSpPr/>
          <p:nvPr userDrawn="1"/>
        </p:nvSpPr>
        <p:spPr bwMode="gray">
          <a:xfrm>
            <a:off x="316829" y="2202312"/>
            <a:ext cx="7912770" cy="2446339"/>
          </a:xfrm>
          <a:prstGeom prst="rect">
            <a:avLst/>
          </a:prstGeom>
          <a:solidFill>
            <a:srgbClr val="410099"/>
          </a:solidFill>
          <a:ln>
            <a:noFill/>
          </a:ln>
        </p:spPr>
        <p:style>
          <a:lnRef idx="2">
            <a:schemeClr val="accent5">
              <a:shade val="50000"/>
            </a:schemeClr>
          </a:lnRef>
          <a:fillRef idx="1">
            <a:schemeClr val="accent5"/>
          </a:fillRef>
          <a:effectRef idx="0">
            <a:schemeClr val="accent5"/>
          </a:effectRef>
          <a:fontRef idx="minor">
            <a:schemeClr val="lt1"/>
          </a:fontRef>
        </p:style>
        <p:txBody>
          <a:bodyPr lIns="201600" rIns="201600" rtlCol="0" anchor="ctr"/>
          <a:lstStyle/>
          <a:p>
            <a:pPr algn="ctr"/>
            <a:endParaRPr lang="nl-NL" sz="2400">
              <a:solidFill>
                <a:prstClr val="white"/>
              </a:solidFill>
            </a:endParaRPr>
          </a:p>
        </p:txBody>
      </p:sp>
      <p:pic>
        <p:nvPicPr>
          <p:cNvPr id="10" name="Picture 2" descr="R:\Projecten\000_TID_DNBPPT\van_tid\DNB_merkteken_pos_eurosysteemwit_rgb-groot.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gray">
          <a:xfrm>
            <a:off x="308808" y="4765514"/>
            <a:ext cx="2438400" cy="781050"/>
          </a:xfrm>
          <a:prstGeom prst="rect">
            <a:avLst/>
          </a:prstGeom>
          <a:noFill/>
          <a:extLst>
            <a:ext uri="{909E8E84-426E-40DD-AFC4-6F175D3DCCD1}">
              <a14:hiddenFill xmlns:a14="http://schemas.microsoft.com/office/drawing/2010/main">
                <a:solidFill>
                  <a:srgbClr val="FFFFFF"/>
                </a:solidFill>
              </a14:hiddenFill>
            </a:ext>
          </a:extLst>
        </p:spPr>
      </p:pic>
      <p:sp>
        <p:nvSpPr>
          <p:cNvPr id="13" name="Title 1"/>
          <p:cNvSpPr txBox="1">
            <a:spLocks/>
          </p:cNvSpPr>
          <p:nvPr userDrawn="1"/>
        </p:nvSpPr>
        <p:spPr bwMode="gray">
          <a:xfrm>
            <a:off x="323528" y="4149080"/>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Vooruitzichten </a:t>
            </a:r>
            <a:endParaRPr lang="en-US" sz="2800"/>
          </a:p>
        </p:txBody>
      </p:sp>
      <p:sp>
        <p:nvSpPr>
          <p:cNvPr id="15" name="Title 1"/>
          <p:cNvSpPr txBox="1">
            <a:spLocks/>
          </p:cNvSpPr>
          <p:nvPr userDrawn="1"/>
        </p:nvSpPr>
        <p:spPr bwMode="gray">
          <a:xfrm>
            <a:off x="323528" y="3645024"/>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Ontwikkelingen en</a:t>
            </a:r>
            <a:endParaRPr lang="en-US" sz="2800"/>
          </a:p>
        </p:txBody>
      </p:sp>
      <p:sp>
        <p:nvSpPr>
          <p:cNvPr id="16" name="Title 1"/>
          <p:cNvSpPr txBox="1">
            <a:spLocks/>
          </p:cNvSpPr>
          <p:nvPr userDrawn="1"/>
        </p:nvSpPr>
        <p:spPr bwMode="gray">
          <a:xfrm>
            <a:off x="323528" y="3136277"/>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Economische </a:t>
            </a:r>
            <a:endParaRPr lang="en-US" sz="2800"/>
          </a:p>
        </p:txBody>
      </p:sp>
    </p:spTree>
    <p:extLst>
      <p:ext uri="{BB962C8B-B14F-4D97-AF65-F5344CB8AC3E}">
        <p14:creationId xmlns:p14="http://schemas.microsoft.com/office/powerpoint/2010/main" val="3725265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eldiaDNBGrijs2">
    <p:bg>
      <p:bgPr>
        <a:solidFill>
          <a:srgbClr val="84CDC7"/>
        </a:solidFill>
        <a:effectLst/>
      </p:bgPr>
    </p:bg>
    <p:spTree>
      <p:nvGrpSpPr>
        <p:cNvPr id="1" name=""/>
        <p:cNvGrpSpPr/>
        <p:nvPr/>
      </p:nvGrpSpPr>
      <p:grpSpPr>
        <a:xfrm>
          <a:off x="0" y="0"/>
          <a:ext cx="0" cy="0"/>
          <a:chOff x="0" y="0"/>
          <a:chExt cx="0" cy="0"/>
        </a:xfrm>
      </p:grpSpPr>
      <p:sp>
        <p:nvSpPr>
          <p:cNvPr id="9" name="Rechthoek 8"/>
          <p:cNvSpPr/>
          <p:nvPr userDrawn="1"/>
        </p:nvSpPr>
        <p:spPr bwMode="gray">
          <a:xfrm>
            <a:off x="712995" y="3751911"/>
            <a:ext cx="5383005" cy="1761921"/>
          </a:xfrm>
          <a:prstGeom prst="rect">
            <a:avLst/>
          </a:prstGeom>
          <a:solidFill>
            <a:srgbClr val="410099"/>
          </a:solidFill>
          <a:ln>
            <a:noFill/>
          </a:ln>
        </p:spPr>
        <p:style>
          <a:lnRef idx="2">
            <a:schemeClr val="accent5">
              <a:shade val="50000"/>
            </a:schemeClr>
          </a:lnRef>
          <a:fillRef idx="1">
            <a:schemeClr val="accent5"/>
          </a:fillRef>
          <a:effectRef idx="0">
            <a:schemeClr val="accent5"/>
          </a:effectRef>
          <a:fontRef idx="minor">
            <a:schemeClr val="lt1"/>
          </a:fontRef>
        </p:style>
        <p:txBody>
          <a:bodyPr lIns="201600" rIns="201600" rtlCol="0" anchor="ctr"/>
          <a:lstStyle/>
          <a:p>
            <a:pPr algn="ctr"/>
            <a:endParaRPr lang="nl-NL" sz="2400">
              <a:solidFill>
                <a:prstClr val="white"/>
              </a:solidFill>
            </a:endParaRPr>
          </a:p>
        </p:txBody>
      </p:sp>
      <p:pic>
        <p:nvPicPr>
          <p:cNvPr id="10" name="Picture 2" descr="R:\Projecten\000_TID_DNBPPT\van_tid\DNB_merkteken_pos_eurosysteemwit_rgb-groot.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gray">
          <a:xfrm>
            <a:off x="712995" y="5611401"/>
            <a:ext cx="2438400" cy="781050"/>
          </a:xfrm>
          <a:prstGeom prst="rect">
            <a:avLst/>
          </a:prstGeom>
          <a:noFill/>
          <a:extLst>
            <a:ext uri="{909E8E84-426E-40DD-AFC4-6F175D3DCCD1}">
              <a14:hiddenFill xmlns:a14="http://schemas.microsoft.com/office/drawing/2010/main">
                <a:solidFill>
                  <a:srgbClr val="FFFFFF"/>
                </a:solidFill>
              </a14:hiddenFill>
            </a:ext>
          </a:extLst>
        </p:spPr>
      </p:pic>
      <p:sp>
        <p:nvSpPr>
          <p:cNvPr id="13" name="Title 1"/>
          <p:cNvSpPr txBox="1">
            <a:spLocks/>
          </p:cNvSpPr>
          <p:nvPr userDrawn="1"/>
        </p:nvSpPr>
        <p:spPr bwMode="gray">
          <a:xfrm>
            <a:off x="645257" y="4952296"/>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Vooruitzichten </a:t>
            </a:r>
            <a:endParaRPr lang="en-US" sz="2800"/>
          </a:p>
        </p:txBody>
      </p:sp>
      <p:sp>
        <p:nvSpPr>
          <p:cNvPr id="15" name="Title 1"/>
          <p:cNvSpPr txBox="1">
            <a:spLocks/>
          </p:cNvSpPr>
          <p:nvPr userDrawn="1"/>
        </p:nvSpPr>
        <p:spPr bwMode="gray">
          <a:xfrm>
            <a:off x="645256" y="4531027"/>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Ontwikkelingen en</a:t>
            </a:r>
            <a:endParaRPr lang="en-US" sz="2800"/>
          </a:p>
        </p:txBody>
      </p:sp>
      <p:sp>
        <p:nvSpPr>
          <p:cNvPr id="16" name="Title 1"/>
          <p:cNvSpPr txBox="1">
            <a:spLocks/>
          </p:cNvSpPr>
          <p:nvPr userDrawn="1"/>
        </p:nvSpPr>
        <p:spPr bwMode="gray">
          <a:xfrm>
            <a:off x="645256" y="4124124"/>
            <a:ext cx="7912769" cy="508747"/>
          </a:xfrm>
          <a:prstGeom prst="rect">
            <a:avLst/>
          </a:prstGeom>
          <a:noFill/>
          <a:ln>
            <a:noFill/>
          </a:ln>
        </p:spPr>
        <p:txBody>
          <a:bodyPr vert="horz" lIns="201600" tIns="0" rIns="201600" bIns="0" rtlCol="0" anchor="t" anchorCtr="0">
            <a:normAutofit/>
          </a:bodyPr>
          <a:lstStyle>
            <a:lvl1pPr algn="l" defTabSz="914400" rtl="0" eaLnBrk="1" latinLnBrk="0" hangingPunct="1">
              <a:lnSpc>
                <a:spcPts val="3750"/>
              </a:lnSpc>
              <a:spcBef>
                <a:spcPct val="0"/>
              </a:spcBef>
              <a:buNone/>
              <a:defRPr sz="3200" kern="1200">
                <a:solidFill>
                  <a:srgbClr val="EAE7F4"/>
                </a:solidFill>
                <a:latin typeface="+mj-lt"/>
                <a:ea typeface="+mj-ea"/>
                <a:cs typeface="+mj-cs"/>
              </a:defRPr>
            </a:lvl1pPr>
          </a:lstStyle>
          <a:p>
            <a:r>
              <a:rPr lang="nl-NL" sz="2800"/>
              <a:t>Economische </a:t>
            </a:r>
            <a:endParaRPr lang="en-US" sz="2800"/>
          </a:p>
        </p:txBody>
      </p:sp>
    </p:spTree>
    <p:extLst>
      <p:ext uri="{BB962C8B-B14F-4D97-AF65-F5344CB8AC3E}">
        <p14:creationId xmlns:p14="http://schemas.microsoft.com/office/powerpoint/2010/main" val="4018404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el en objec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NL"/>
              <a:t>Klik om de stijl te bewerken</a:t>
            </a:r>
            <a:endParaRPr lang="en-US"/>
          </a:p>
        </p:txBody>
      </p:sp>
      <p:sp>
        <p:nvSpPr>
          <p:cNvPr id="3" name="Content Placeholder 2"/>
          <p:cNvSpPr>
            <a:spLocks noGrp="1"/>
          </p:cNvSpPr>
          <p:nvPr>
            <p:ph idx="1"/>
          </p:nvPr>
        </p:nvSpPr>
        <p:spPr/>
        <p:txBody>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7" name="Date Placeholder 3"/>
          <p:cNvSpPr>
            <a:spLocks noGrp="1"/>
          </p:cNvSpPr>
          <p:nvPr>
            <p:ph type="dt" sz="half" idx="2"/>
          </p:nvPr>
        </p:nvSpPr>
        <p:spPr>
          <a:xfrm>
            <a:off x="7417599" y="6418800"/>
            <a:ext cx="1314182" cy="146200"/>
          </a:xfrm>
          <a:prstGeom prst="rect">
            <a:avLst/>
          </a:prstGeom>
        </p:spPr>
        <p:txBody>
          <a:bodyPr vert="horz" lIns="0" tIns="0" rIns="0" bIns="0" rtlCol="0" anchor="t" anchorCtr="0"/>
          <a:lstStyle>
            <a:lvl1pPr algn="r">
              <a:defRPr sz="1050">
                <a:solidFill>
                  <a:schemeClr val="tx1"/>
                </a:solidFill>
              </a:defRPr>
            </a:lvl1pPr>
          </a:lstStyle>
          <a:p>
            <a:r>
              <a:rPr lang="en-US"/>
              <a:t>&lt;d maand&gt; 2015</a:t>
            </a:r>
            <a:endParaRPr lang="nl-NL"/>
          </a:p>
        </p:txBody>
      </p:sp>
      <p:sp>
        <p:nvSpPr>
          <p:cNvPr id="8" name="Footer Placeholder 4"/>
          <p:cNvSpPr>
            <a:spLocks noGrp="1"/>
          </p:cNvSpPr>
          <p:nvPr>
            <p:ph type="ftr" sz="quarter" idx="3"/>
          </p:nvPr>
        </p:nvSpPr>
        <p:spPr>
          <a:xfrm>
            <a:off x="2912882" y="6418800"/>
            <a:ext cx="4506016" cy="147600"/>
          </a:xfrm>
          <a:prstGeom prst="rect">
            <a:avLst/>
          </a:prstGeom>
        </p:spPr>
        <p:txBody>
          <a:bodyPr vert="horz" lIns="0" tIns="0" rIns="0" bIns="0" rtlCol="0" anchor="t" anchorCtr="0"/>
          <a:lstStyle>
            <a:lvl1pPr algn="r">
              <a:defRPr sz="1050">
                <a:solidFill>
                  <a:schemeClr val="tx1"/>
                </a:solidFill>
              </a:defRPr>
            </a:lvl1pPr>
          </a:lstStyle>
          <a:p>
            <a:r>
              <a:rPr lang="nl-NL"/>
              <a:t>kies Invoegen-&gt;'Koptekst en voettekst' voor &lt;auteur, functie&gt; en</a:t>
            </a:r>
          </a:p>
        </p:txBody>
      </p:sp>
      <p:sp>
        <p:nvSpPr>
          <p:cNvPr id="9" name="Slide Number Placeholder 5"/>
          <p:cNvSpPr>
            <a:spLocks noGrp="1"/>
          </p:cNvSpPr>
          <p:nvPr>
            <p:ph type="sldNum" sz="quarter" idx="4"/>
          </p:nvPr>
        </p:nvSpPr>
        <p:spPr>
          <a:xfrm>
            <a:off x="2149309" y="6418800"/>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pPr/>
              <a:t>‹#›</a:t>
            </a:fld>
            <a:endParaRPr lang="nl-NL"/>
          </a:p>
        </p:txBody>
      </p:sp>
    </p:spTree>
    <p:extLst>
      <p:ext uri="{BB962C8B-B14F-4D97-AF65-F5344CB8AC3E}">
        <p14:creationId xmlns:p14="http://schemas.microsoft.com/office/powerpoint/2010/main" val="18092276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Leeg">
    <p:spTree>
      <p:nvGrpSpPr>
        <p:cNvPr id="1" name=""/>
        <p:cNvGrpSpPr/>
        <p:nvPr/>
      </p:nvGrpSpPr>
      <p:grpSpPr>
        <a:xfrm>
          <a:off x="0" y="0"/>
          <a:ext cx="0" cy="0"/>
          <a:chOff x="0" y="0"/>
          <a:chExt cx="0" cy="0"/>
        </a:xfrm>
      </p:grpSpPr>
      <p:sp>
        <p:nvSpPr>
          <p:cNvPr id="5" name="Date Placeholder 3"/>
          <p:cNvSpPr>
            <a:spLocks noGrp="1"/>
          </p:cNvSpPr>
          <p:nvPr>
            <p:ph type="dt" sz="half" idx="2"/>
          </p:nvPr>
        </p:nvSpPr>
        <p:spPr>
          <a:xfrm>
            <a:off x="7417599" y="6418800"/>
            <a:ext cx="1314182" cy="146200"/>
          </a:xfrm>
          <a:prstGeom prst="rect">
            <a:avLst/>
          </a:prstGeom>
        </p:spPr>
        <p:txBody>
          <a:bodyPr vert="horz" lIns="0" tIns="0" rIns="0" bIns="0" rtlCol="0" anchor="t" anchorCtr="0"/>
          <a:lstStyle>
            <a:lvl1pPr algn="r">
              <a:defRPr sz="1050">
                <a:solidFill>
                  <a:schemeClr val="tx1"/>
                </a:solidFill>
              </a:defRPr>
            </a:lvl1pPr>
          </a:lstStyle>
          <a:p>
            <a:r>
              <a:rPr lang="en-US"/>
              <a:t>&lt;d maand&gt; 2015</a:t>
            </a:r>
            <a:endParaRPr lang="nl-NL"/>
          </a:p>
        </p:txBody>
      </p:sp>
      <p:sp>
        <p:nvSpPr>
          <p:cNvPr id="6" name="Footer Placeholder 4"/>
          <p:cNvSpPr>
            <a:spLocks noGrp="1"/>
          </p:cNvSpPr>
          <p:nvPr>
            <p:ph type="ftr" sz="quarter" idx="3"/>
          </p:nvPr>
        </p:nvSpPr>
        <p:spPr>
          <a:xfrm>
            <a:off x="2912882" y="6418800"/>
            <a:ext cx="4506016" cy="147600"/>
          </a:xfrm>
          <a:prstGeom prst="rect">
            <a:avLst/>
          </a:prstGeom>
        </p:spPr>
        <p:txBody>
          <a:bodyPr vert="horz" lIns="0" tIns="0" rIns="0" bIns="0" rtlCol="0" anchor="t" anchorCtr="0"/>
          <a:lstStyle>
            <a:lvl1pPr algn="r">
              <a:defRPr sz="1050">
                <a:solidFill>
                  <a:schemeClr val="tx1"/>
                </a:solidFill>
              </a:defRPr>
            </a:lvl1pPr>
          </a:lstStyle>
          <a:p>
            <a:r>
              <a:rPr lang="nl-NL"/>
              <a:t>kies Invoegen-&gt;'Koptekst en voettekst' voor &lt;auteur, functie&gt; en</a:t>
            </a:r>
          </a:p>
        </p:txBody>
      </p:sp>
      <p:sp>
        <p:nvSpPr>
          <p:cNvPr id="7" name="Slide Number Placeholder 5"/>
          <p:cNvSpPr>
            <a:spLocks noGrp="1"/>
          </p:cNvSpPr>
          <p:nvPr>
            <p:ph type="sldNum" sz="quarter" idx="4"/>
          </p:nvPr>
        </p:nvSpPr>
        <p:spPr>
          <a:xfrm>
            <a:off x="2149309" y="6418800"/>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pPr/>
              <a:t>‹#›</a:t>
            </a:fld>
            <a:endParaRPr lang="nl-NL"/>
          </a:p>
        </p:txBody>
      </p:sp>
    </p:spTree>
    <p:extLst>
      <p:ext uri="{BB962C8B-B14F-4D97-AF65-F5344CB8AC3E}">
        <p14:creationId xmlns:p14="http://schemas.microsoft.com/office/powerpoint/2010/main" val="392476609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026" name="Picture 2" descr="R:\Projecten\000_TID_DNBPPT\van_tid\DNB_merkteken_pos_rgb-klein.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1561" y="6242400"/>
            <a:ext cx="1527175" cy="48736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295200" y="399600"/>
            <a:ext cx="8568000" cy="674288"/>
          </a:xfrm>
          <a:prstGeom prst="rect">
            <a:avLst/>
          </a:prstGeom>
        </p:spPr>
        <p:txBody>
          <a:bodyPr vert="horz" lIns="0" tIns="0" rIns="0" bIns="0" rtlCol="0" anchor="t" anchorCtr="0">
            <a:noAutofit/>
          </a:bodyPr>
          <a:lstStyle/>
          <a:p>
            <a:r>
              <a:rPr lang="nl-NL"/>
              <a:t>Klik om de stijl te bewerken</a:t>
            </a:r>
            <a:endParaRPr lang="en-US"/>
          </a:p>
        </p:txBody>
      </p:sp>
      <p:sp>
        <p:nvSpPr>
          <p:cNvPr id="3" name="Text Placeholder 2"/>
          <p:cNvSpPr>
            <a:spLocks noGrp="1"/>
          </p:cNvSpPr>
          <p:nvPr>
            <p:ph type="body" idx="1"/>
          </p:nvPr>
        </p:nvSpPr>
        <p:spPr>
          <a:xfrm>
            <a:off x="295200" y="1353600"/>
            <a:ext cx="8553600" cy="4608000"/>
          </a:xfrm>
          <a:prstGeom prst="rect">
            <a:avLst/>
          </a:prstGeom>
        </p:spPr>
        <p:txBody>
          <a:bodyPr vert="horz" lIns="0" tIns="0" rIns="0" bIns="0" rtlCol="0" anchor="t" anchorCtr="0">
            <a:noAutofit/>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9" name="Date Placeholder 3"/>
          <p:cNvSpPr>
            <a:spLocks noGrp="1"/>
          </p:cNvSpPr>
          <p:nvPr>
            <p:ph type="dt" sz="half" idx="2"/>
          </p:nvPr>
        </p:nvSpPr>
        <p:spPr>
          <a:xfrm>
            <a:off x="7417599" y="6421305"/>
            <a:ext cx="1314182" cy="146200"/>
          </a:xfrm>
          <a:prstGeom prst="rect">
            <a:avLst/>
          </a:prstGeom>
        </p:spPr>
        <p:txBody>
          <a:bodyPr vert="horz" lIns="0" tIns="0" rIns="0" bIns="0" rtlCol="0" anchor="t" anchorCtr="0"/>
          <a:lstStyle>
            <a:lvl1pPr algn="r">
              <a:defRPr sz="1050">
                <a:solidFill>
                  <a:schemeClr val="tx1"/>
                </a:solidFill>
              </a:defRPr>
            </a:lvl1pPr>
          </a:lstStyle>
          <a:p>
            <a:r>
              <a:rPr lang="en-US">
                <a:solidFill>
                  <a:prstClr val="black"/>
                </a:solidFill>
              </a:rPr>
              <a:t>&lt;d </a:t>
            </a:r>
            <a:r>
              <a:rPr lang="en-US" err="1">
                <a:solidFill>
                  <a:prstClr val="black"/>
                </a:solidFill>
              </a:rPr>
              <a:t>maand</a:t>
            </a:r>
            <a:r>
              <a:rPr lang="en-US">
                <a:solidFill>
                  <a:prstClr val="black"/>
                </a:solidFill>
              </a:rPr>
              <a:t>&gt; 2015</a:t>
            </a:r>
            <a:endParaRPr lang="nl-NL">
              <a:solidFill>
                <a:prstClr val="black"/>
              </a:solidFill>
            </a:endParaRPr>
          </a:p>
        </p:txBody>
      </p:sp>
      <p:sp>
        <p:nvSpPr>
          <p:cNvPr id="10" name="Footer Placeholder 4"/>
          <p:cNvSpPr>
            <a:spLocks noGrp="1"/>
          </p:cNvSpPr>
          <p:nvPr>
            <p:ph type="ftr" sz="quarter" idx="3"/>
          </p:nvPr>
        </p:nvSpPr>
        <p:spPr>
          <a:xfrm>
            <a:off x="2912882" y="6421612"/>
            <a:ext cx="4506016" cy="147600"/>
          </a:xfrm>
          <a:prstGeom prst="rect">
            <a:avLst/>
          </a:prstGeom>
        </p:spPr>
        <p:txBody>
          <a:bodyPr vert="horz" lIns="0" tIns="0" rIns="0" bIns="0" rtlCol="0" anchor="t" anchorCtr="0"/>
          <a:lstStyle>
            <a:lvl1pPr algn="r">
              <a:defRPr sz="1050">
                <a:solidFill>
                  <a:schemeClr val="tx1"/>
                </a:solidFill>
              </a:defRPr>
            </a:lvl1pPr>
          </a:lstStyle>
          <a:p>
            <a:r>
              <a:rPr lang="nl-NL">
                <a:solidFill>
                  <a:prstClr val="black"/>
                </a:solidFill>
              </a:rPr>
              <a:t>kies Invoegen-&gt;'Koptekst en voettekst' voor &lt;auteur, functie&gt; en</a:t>
            </a:r>
          </a:p>
        </p:txBody>
      </p:sp>
      <p:sp>
        <p:nvSpPr>
          <p:cNvPr id="11" name="Slide Number Placeholder 5"/>
          <p:cNvSpPr>
            <a:spLocks noGrp="1"/>
          </p:cNvSpPr>
          <p:nvPr>
            <p:ph type="sldNum" sz="quarter" idx="4"/>
          </p:nvPr>
        </p:nvSpPr>
        <p:spPr>
          <a:xfrm>
            <a:off x="2149309" y="6420525"/>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solidFill>
                  <a:prstClr val="black"/>
                </a:solidFill>
              </a:rPr>
              <a:pPr/>
              <a:t>‹#›</a:t>
            </a:fld>
            <a:endParaRPr lang="nl-NL">
              <a:solidFill>
                <a:prstClr val="black"/>
              </a:solidFill>
            </a:endParaRPr>
          </a:p>
        </p:txBody>
      </p:sp>
      <p:sp>
        <p:nvSpPr>
          <p:cNvPr id="5" name="TextBox 4">
            <a:extLst>
              <a:ext uri="{FF2B5EF4-FFF2-40B4-BE49-F238E27FC236}">
                <a16:creationId xmlns:a16="http://schemas.microsoft.com/office/drawing/2014/main" id="{0F419613-3326-3B0A-A276-3ECE2A30D205}"/>
              </a:ext>
            </a:extLst>
          </p:cNvPr>
          <p:cNvSpPr txBox="1"/>
          <p:nvPr>
            <p:extLst>
              <p:ext uri="{1162E1C5-73C7-4A58-AE30-91384D911F3F}">
                <p184:classification xmlns:p184="http://schemas.microsoft.com/office/powerpoint/2018/4/main" val="hdr"/>
              </p:ext>
            </p:extLst>
          </p:nvPr>
        </p:nvSpPr>
        <p:spPr>
          <a:xfrm>
            <a:off x="63500" y="63500"/>
            <a:ext cx="842963" cy="152400"/>
          </a:xfrm>
          <a:prstGeom prst="rect">
            <a:avLst/>
          </a:prstGeom>
        </p:spPr>
        <p:txBody>
          <a:bodyPr horzOverflow="overflow" lIns="0" tIns="0" rIns="0" bIns="0">
            <a:spAutoFit/>
          </a:bodyPr>
          <a:lstStyle/>
          <a:p>
            <a:pPr algn="l"/>
            <a:r>
              <a:rPr lang="en-GB" sz="1000">
                <a:solidFill>
                  <a:srgbClr val="7FAA39">
                    <a:alpha val="50000"/>
                  </a:srgbClr>
                </a:solidFill>
                <a:latin typeface="Aptos" panose="020B0004020202020204" pitchFamily="34" charset="0"/>
              </a:rPr>
              <a:t>| DNB PUBLIC |</a:t>
            </a:r>
          </a:p>
        </p:txBody>
      </p:sp>
    </p:spTree>
    <p:extLst>
      <p:ext uri="{BB962C8B-B14F-4D97-AF65-F5344CB8AC3E}">
        <p14:creationId xmlns:p14="http://schemas.microsoft.com/office/powerpoint/2010/main" val="1457511077"/>
      </p:ext>
    </p:extLst>
  </p:cSld>
  <p:clrMap bg1="lt1" tx1="dk1" bg2="lt2" tx2="dk2" accent1="accent1" accent2="accent2" accent3="accent3" accent4="accent4" accent5="accent5" accent6="accent6" hlink="hlink" folHlink="folHlink"/>
  <p:sldLayoutIdLst>
    <p:sldLayoutId id="2147483689" r:id="rId1"/>
  </p:sldLayoutIdLst>
  <p:hf hdr="0"/>
  <p:txStyles>
    <p:titleStyle>
      <a:lvl1pPr algn="l" defTabSz="914400" rtl="0" eaLnBrk="1" latinLnBrk="0" hangingPunct="1">
        <a:lnSpc>
          <a:spcPts val="3750"/>
        </a:lnSpc>
        <a:spcBef>
          <a:spcPct val="0"/>
        </a:spcBef>
        <a:buNone/>
        <a:defRPr sz="3000" kern="1200">
          <a:solidFill>
            <a:schemeClr val="tx1"/>
          </a:solidFill>
          <a:latin typeface="+mj-lt"/>
          <a:ea typeface="+mj-ea"/>
          <a:cs typeface="+mj-cs"/>
        </a:defRPr>
      </a:lvl1pPr>
    </p:titleStyle>
    <p:body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026" name="Picture 2" descr="R:\Projecten\000_TID_DNBPPT\van_tid\DNB_merkteken_pos_rgb-klein.png"/>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01561" y="6242400"/>
            <a:ext cx="1527175" cy="487363"/>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295200" y="399600"/>
            <a:ext cx="8568000" cy="674288"/>
          </a:xfrm>
          <a:prstGeom prst="rect">
            <a:avLst/>
          </a:prstGeom>
        </p:spPr>
        <p:txBody>
          <a:bodyPr vert="horz" lIns="0" tIns="0" rIns="0" bIns="0" rtlCol="0" anchor="t" anchorCtr="0">
            <a:noAutofit/>
          </a:bodyPr>
          <a:lstStyle/>
          <a:p>
            <a:r>
              <a:rPr lang="nl-NL"/>
              <a:t>Klik om de stijl te bewerken</a:t>
            </a:r>
            <a:endParaRPr lang="en-US"/>
          </a:p>
        </p:txBody>
      </p:sp>
      <p:sp>
        <p:nvSpPr>
          <p:cNvPr id="3" name="Text Placeholder 2"/>
          <p:cNvSpPr>
            <a:spLocks noGrp="1"/>
          </p:cNvSpPr>
          <p:nvPr>
            <p:ph type="body" idx="1"/>
          </p:nvPr>
        </p:nvSpPr>
        <p:spPr>
          <a:xfrm>
            <a:off x="295200" y="1353600"/>
            <a:ext cx="8553600" cy="4608000"/>
          </a:xfrm>
          <a:prstGeom prst="rect">
            <a:avLst/>
          </a:prstGeom>
        </p:spPr>
        <p:txBody>
          <a:bodyPr vert="horz" lIns="0" tIns="0" rIns="0" bIns="0" rtlCol="0" anchor="t" anchorCtr="0">
            <a:noAutofit/>
          </a:bodyPr>
          <a:lstStyle/>
          <a:p>
            <a:pPr lvl="0"/>
            <a:r>
              <a:rPr lang="nl-NL"/>
              <a:t>Klik om de modelstijlen te bewerken</a:t>
            </a:r>
          </a:p>
          <a:p>
            <a:pPr lvl="1"/>
            <a:r>
              <a:rPr lang="nl-NL"/>
              <a:t>Tweede niveau</a:t>
            </a:r>
          </a:p>
          <a:p>
            <a:pPr lvl="2"/>
            <a:r>
              <a:rPr lang="nl-NL"/>
              <a:t>Derde niveau</a:t>
            </a:r>
          </a:p>
          <a:p>
            <a:pPr lvl="3"/>
            <a:r>
              <a:rPr lang="nl-NL"/>
              <a:t>Vierde niveau</a:t>
            </a:r>
          </a:p>
          <a:p>
            <a:pPr lvl="4"/>
            <a:r>
              <a:rPr lang="nl-NL"/>
              <a:t>Vijfde niveau</a:t>
            </a:r>
            <a:endParaRPr lang="en-US"/>
          </a:p>
        </p:txBody>
      </p:sp>
      <p:sp>
        <p:nvSpPr>
          <p:cNvPr id="9" name="Date Placeholder 3"/>
          <p:cNvSpPr>
            <a:spLocks noGrp="1"/>
          </p:cNvSpPr>
          <p:nvPr>
            <p:ph type="dt" sz="half" idx="2"/>
          </p:nvPr>
        </p:nvSpPr>
        <p:spPr>
          <a:xfrm>
            <a:off x="7417599" y="6421305"/>
            <a:ext cx="1314182" cy="146200"/>
          </a:xfrm>
          <a:prstGeom prst="rect">
            <a:avLst/>
          </a:prstGeom>
        </p:spPr>
        <p:txBody>
          <a:bodyPr vert="horz" lIns="0" tIns="0" rIns="0" bIns="0" rtlCol="0" anchor="t" anchorCtr="0"/>
          <a:lstStyle>
            <a:lvl1pPr algn="r">
              <a:defRPr sz="1050">
                <a:solidFill>
                  <a:schemeClr val="tx1"/>
                </a:solidFill>
              </a:defRPr>
            </a:lvl1pPr>
          </a:lstStyle>
          <a:p>
            <a:r>
              <a:rPr lang="en-US">
                <a:solidFill>
                  <a:prstClr val="black"/>
                </a:solidFill>
              </a:rPr>
              <a:t>&lt;d </a:t>
            </a:r>
            <a:r>
              <a:rPr lang="en-US" err="1">
                <a:solidFill>
                  <a:prstClr val="black"/>
                </a:solidFill>
              </a:rPr>
              <a:t>maand</a:t>
            </a:r>
            <a:r>
              <a:rPr lang="en-US">
                <a:solidFill>
                  <a:prstClr val="black"/>
                </a:solidFill>
              </a:rPr>
              <a:t>&gt; 2015</a:t>
            </a:r>
            <a:endParaRPr lang="nl-NL">
              <a:solidFill>
                <a:prstClr val="black"/>
              </a:solidFill>
            </a:endParaRPr>
          </a:p>
        </p:txBody>
      </p:sp>
      <p:sp>
        <p:nvSpPr>
          <p:cNvPr id="10" name="Footer Placeholder 4"/>
          <p:cNvSpPr>
            <a:spLocks noGrp="1"/>
          </p:cNvSpPr>
          <p:nvPr>
            <p:ph type="ftr" sz="quarter" idx="3"/>
          </p:nvPr>
        </p:nvSpPr>
        <p:spPr>
          <a:xfrm>
            <a:off x="2912882" y="6421612"/>
            <a:ext cx="4506016" cy="147600"/>
          </a:xfrm>
          <a:prstGeom prst="rect">
            <a:avLst/>
          </a:prstGeom>
        </p:spPr>
        <p:txBody>
          <a:bodyPr vert="horz" lIns="0" tIns="0" rIns="0" bIns="0" rtlCol="0" anchor="t" anchorCtr="0"/>
          <a:lstStyle>
            <a:lvl1pPr algn="r">
              <a:defRPr sz="1050">
                <a:solidFill>
                  <a:schemeClr val="tx1"/>
                </a:solidFill>
              </a:defRPr>
            </a:lvl1pPr>
          </a:lstStyle>
          <a:p>
            <a:r>
              <a:rPr lang="nl-NL">
                <a:solidFill>
                  <a:prstClr val="black"/>
                </a:solidFill>
              </a:rPr>
              <a:t>kies Invoegen-&gt;'Koptekst en voettekst' voor &lt;auteur, functie&gt; en</a:t>
            </a:r>
          </a:p>
        </p:txBody>
      </p:sp>
      <p:sp>
        <p:nvSpPr>
          <p:cNvPr id="11" name="Slide Number Placeholder 5"/>
          <p:cNvSpPr>
            <a:spLocks noGrp="1"/>
          </p:cNvSpPr>
          <p:nvPr>
            <p:ph type="sldNum" sz="quarter" idx="4"/>
          </p:nvPr>
        </p:nvSpPr>
        <p:spPr>
          <a:xfrm>
            <a:off x="2149309" y="6420525"/>
            <a:ext cx="603318" cy="147600"/>
          </a:xfrm>
          <a:prstGeom prst="rect">
            <a:avLst/>
          </a:prstGeom>
        </p:spPr>
        <p:txBody>
          <a:bodyPr vert="horz" lIns="0" tIns="0" rIns="0" bIns="0" rtlCol="0" anchor="t" anchorCtr="1"/>
          <a:lstStyle>
            <a:lvl1pPr algn="ctr">
              <a:defRPr sz="1050">
                <a:solidFill>
                  <a:schemeClr val="tx1"/>
                </a:solidFill>
              </a:defRPr>
            </a:lvl1pPr>
          </a:lstStyle>
          <a:p>
            <a:fld id="{73EE6724-4521-4EF8-974D-BA1C7F9CD007}" type="slidenum">
              <a:rPr lang="nl-NL" smtClean="0">
                <a:solidFill>
                  <a:prstClr val="black"/>
                </a:solidFill>
              </a:rPr>
              <a:pPr/>
              <a:t>‹#›</a:t>
            </a:fld>
            <a:endParaRPr lang="nl-NL">
              <a:solidFill>
                <a:prstClr val="black"/>
              </a:solidFill>
            </a:endParaRPr>
          </a:p>
        </p:txBody>
      </p:sp>
      <p:sp>
        <p:nvSpPr>
          <p:cNvPr id="5" name="TextBox 4">
            <a:extLst>
              <a:ext uri="{FF2B5EF4-FFF2-40B4-BE49-F238E27FC236}">
                <a16:creationId xmlns:a16="http://schemas.microsoft.com/office/drawing/2014/main" id="{48FE1AA8-430C-925C-4B49-CA9E5538C465}"/>
              </a:ext>
            </a:extLst>
          </p:cNvPr>
          <p:cNvSpPr txBox="1"/>
          <p:nvPr>
            <p:extLst>
              <p:ext uri="{1162E1C5-73C7-4A58-AE30-91384D911F3F}">
                <p184:classification xmlns:p184="http://schemas.microsoft.com/office/powerpoint/2018/4/main" val="hdr"/>
              </p:ext>
            </p:extLst>
          </p:nvPr>
        </p:nvSpPr>
        <p:spPr>
          <a:xfrm>
            <a:off x="63500" y="63500"/>
            <a:ext cx="842963" cy="152400"/>
          </a:xfrm>
          <a:prstGeom prst="rect">
            <a:avLst/>
          </a:prstGeom>
        </p:spPr>
        <p:txBody>
          <a:bodyPr horzOverflow="overflow" lIns="0" tIns="0" rIns="0" bIns="0">
            <a:spAutoFit/>
          </a:bodyPr>
          <a:lstStyle/>
          <a:p>
            <a:pPr algn="l"/>
            <a:r>
              <a:rPr lang="en-GB" sz="1000">
                <a:solidFill>
                  <a:srgbClr val="7FAA39">
                    <a:alpha val="50000"/>
                  </a:srgbClr>
                </a:solidFill>
                <a:latin typeface="Aptos" panose="020B0004020202020204" pitchFamily="34" charset="0"/>
              </a:rPr>
              <a:t>| DNB PUBLIC |</a:t>
            </a:r>
          </a:p>
        </p:txBody>
      </p:sp>
    </p:spTree>
    <p:extLst>
      <p:ext uri="{BB962C8B-B14F-4D97-AF65-F5344CB8AC3E}">
        <p14:creationId xmlns:p14="http://schemas.microsoft.com/office/powerpoint/2010/main" val="4132329856"/>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Lst>
  <p:hf hdr="0"/>
  <p:txStyles>
    <p:titleStyle>
      <a:lvl1pPr algn="l" defTabSz="914400" rtl="0" eaLnBrk="1" latinLnBrk="0" hangingPunct="1">
        <a:lnSpc>
          <a:spcPts val="3750"/>
        </a:lnSpc>
        <a:spcBef>
          <a:spcPct val="0"/>
        </a:spcBef>
        <a:buNone/>
        <a:defRPr sz="3000" kern="1200">
          <a:solidFill>
            <a:schemeClr val="tx1"/>
          </a:solidFill>
          <a:latin typeface="+mj-lt"/>
          <a:ea typeface="+mj-ea"/>
          <a:cs typeface="+mj-cs"/>
        </a:defRPr>
      </a:lvl1pPr>
    </p:titleStyle>
    <p:body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slide" Target="slide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slide" Target="slide13.xml"/><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slide" Target="slide14.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6.jpeg"/></Relationships>
</file>

<file path=ppt/slides/_rels/slide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8.jpe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hyperlink" Target="https://competition-policy.ec.europa.eu/state-aid/scoreboard/scoreboard-state-aid-data_en" TargetMode="External"/><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10.emf"/></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3" Type="http://schemas.openxmlformats.org/officeDocument/2006/relationships/hyperlink" Target="https://cat.eto.tech/?dataset=Investment&amp;expanded=Summary-metrics%2CChanges-over-time" TargetMode="External"/><Relationship Id="rId7" Type="http://schemas.openxmlformats.org/officeDocument/2006/relationships/image" Target="../media/image13.jpe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slide" Target="slide4.xml"/><Relationship Id="rId5" Type="http://schemas.openxmlformats.org/officeDocument/2006/relationships/hyperlink" Target="https://ec.europa.eu/eurostat/databrowser/view/nama_10_a64_p5__custom_22387728/default/table" TargetMode="External"/><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hyperlink" Target="https://ec.europa.eu/eurostat/comext/newxtweb/setupdimselection.do" TargetMode="External"/><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15.jpeg"/><Relationship Id="rId5" Type="http://schemas.openxmlformats.org/officeDocument/2006/relationships/image" Target="../media/image14.jpeg"/><Relationship Id="rId4" Type="http://schemas.openxmlformats.org/officeDocument/2006/relationships/slide" Target="slide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2">
            <a:extLst>
              <a:ext uri="{FF2B5EF4-FFF2-40B4-BE49-F238E27FC236}">
                <a16:creationId xmlns:a16="http://schemas.microsoft.com/office/drawing/2014/main" id="{A23DEFEE-159F-2F13-C617-6B4633392BB4}"/>
              </a:ext>
            </a:extLst>
          </p:cNvPr>
          <p:cNvSpPr txBox="1">
            <a:spLocks/>
          </p:cNvSpPr>
          <p:nvPr/>
        </p:nvSpPr>
        <p:spPr>
          <a:xfrm>
            <a:off x="418880" y="807374"/>
            <a:ext cx="8469088" cy="5679439"/>
          </a:xfrm>
          <a:prstGeom prst="rect">
            <a:avLst/>
          </a:prstGeom>
        </p:spPr>
        <p:txBody>
          <a:bodyPr>
            <a:normAutofit/>
          </a:bodyPr>
          <a:lstStyle>
            <a:lvl1pPr marL="0" indent="0" algn="l" defTabSz="914400" rtl="0" eaLnBrk="1" latinLnBrk="0" hangingPunct="1">
              <a:lnSpc>
                <a:spcPts val="2250"/>
              </a:lnSpc>
              <a:spcBef>
                <a:spcPts val="0"/>
              </a:spcBef>
              <a:buFont typeface="Arial" panose="020B0604020202020204" pitchFamily="34" charset="0"/>
              <a:buNone/>
              <a:defRPr sz="1500" b="0" kern="1200">
                <a:solidFill>
                  <a:schemeClr val="tx1"/>
                </a:solidFill>
                <a:latin typeface="+mn-lt"/>
                <a:ea typeface="+mn-ea"/>
                <a:cs typeface="+mn-cs"/>
              </a:defRPr>
            </a:lvl1pPr>
            <a:lvl2pPr marL="0" indent="0" algn="l" defTabSz="914400" rtl="0" eaLnBrk="1" latinLnBrk="0" hangingPunct="1">
              <a:lnSpc>
                <a:spcPts val="1800"/>
              </a:lnSpc>
              <a:spcBef>
                <a:spcPts val="0"/>
              </a:spcBef>
              <a:buSzPct val="125000"/>
              <a:buFontTx/>
              <a:buNone/>
              <a:defRPr sz="1850" b="1" kern="1200">
                <a:solidFill>
                  <a:schemeClr val="tx1"/>
                </a:solidFill>
                <a:latin typeface="+mn-lt"/>
                <a:ea typeface="+mn-ea"/>
                <a:cs typeface="+mn-cs"/>
              </a:defRPr>
            </a:lvl2pPr>
            <a:lvl3pPr marL="180975"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3pPr>
            <a:lvl4pPr marL="36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4pPr>
            <a:lvl5pPr marL="540000" indent="-180975" algn="l" defTabSz="914400" rtl="0" eaLnBrk="1" latinLnBrk="0" hangingPunct="1">
              <a:lnSpc>
                <a:spcPts val="2250"/>
              </a:lnSpc>
              <a:spcBef>
                <a:spcPts val="0"/>
              </a:spcBef>
              <a:buSzPct val="125000"/>
              <a:buFont typeface="Wingdings" panose="05000000000000000000" pitchFamily="2" charset="2"/>
              <a:buChar char="§"/>
              <a:defRPr sz="1500" b="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20000"/>
              </a:lnSpc>
              <a:spcAft>
                <a:spcPts val="1200"/>
              </a:spcAft>
            </a:pPr>
            <a:endParaRPr lang="en-US" sz="3400" noProof="1">
              <a:latin typeface="Verdana" panose="020B0604030504040204" pitchFamily="34" charset="0"/>
              <a:ea typeface="Verdana" panose="020B0604030504040204" pitchFamily="34" charset="0"/>
            </a:endParaRPr>
          </a:p>
          <a:p>
            <a:pPr algn="ctr">
              <a:lnSpc>
                <a:spcPct val="120000"/>
              </a:lnSpc>
              <a:spcAft>
                <a:spcPts val="1200"/>
              </a:spcAft>
            </a:pPr>
            <a:r>
              <a:rPr lang="en-US" sz="3400" noProof="1">
                <a:latin typeface="Verdana" panose="020B0604030504040204" pitchFamily="34" charset="0"/>
                <a:ea typeface="Verdana" panose="020B0604030504040204" pitchFamily="34" charset="0"/>
              </a:rPr>
              <a:t>AI and shock resilience: </a:t>
            </a:r>
          </a:p>
          <a:p>
            <a:pPr algn="ctr">
              <a:lnSpc>
                <a:spcPct val="120000"/>
              </a:lnSpc>
              <a:spcAft>
                <a:spcPts val="1200"/>
              </a:spcAft>
            </a:pPr>
            <a:r>
              <a:rPr lang="en-US" sz="3400" noProof="1">
                <a:latin typeface="Verdana" panose="020B0604030504040204" pitchFamily="34" charset="0"/>
                <a:ea typeface="Verdana" panose="020B0604030504040204" pitchFamily="34" charset="0"/>
              </a:rPr>
              <a:t>Indications from euro area economies</a:t>
            </a:r>
            <a:endParaRPr lang="nl-NL" sz="3400" dirty="0"/>
          </a:p>
        </p:txBody>
      </p:sp>
    </p:spTree>
    <p:extLst>
      <p:ext uri="{BB962C8B-B14F-4D97-AF65-F5344CB8AC3E}">
        <p14:creationId xmlns:p14="http://schemas.microsoft.com/office/powerpoint/2010/main" val="28350172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Semiconductor super-</a:t>
            </a:r>
            <a:r>
              <a:rPr lang="nl-NL" sz="2400" dirty="0" err="1">
                <a:solidFill>
                  <a:schemeClr val="bg1"/>
                </a:solidFill>
              </a:rPr>
              <a:t>cycle</a:t>
            </a:r>
            <a:r>
              <a:rPr lang="nl-NL" sz="2400" dirty="0">
                <a:solidFill>
                  <a:schemeClr val="bg1"/>
                </a:solidFill>
              </a:rPr>
              <a:t> </a:t>
            </a:r>
            <a:r>
              <a:rPr lang="nl-NL" sz="2400" dirty="0" err="1">
                <a:solidFill>
                  <a:schemeClr val="bg1"/>
                </a:solidFill>
              </a:rPr>
              <a:t>seems</a:t>
            </a:r>
            <a:r>
              <a:rPr lang="nl-NL" sz="2400" dirty="0">
                <a:solidFill>
                  <a:schemeClr val="bg1"/>
                </a:solidFill>
              </a:rPr>
              <a:t> immune </a:t>
            </a:r>
            <a:r>
              <a:rPr lang="nl-NL" sz="2400" dirty="0" err="1">
                <a:solidFill>
                  <a:schemeClr val="bg1"/>
                </a:solidFill>
              </a:rPr>
              <a:t>to</a:t>
            </a:r>
            <a:r>
              <a:rPr lang="nl-NL" sz="2400" dirty="0">
                <a:solidFill>
                  <a:schemeClr val="bg1"/>
                </a:solidFill>
              </a:rPr>
              <a:t> shocks</a:t>
            </a:r>
            <a:endParaRPr lang="nl-NL" sz="2400" dirty="0">
              <a:solidFill>
                <a:srgbClr val="FF0000"/>
              </a:solidFill>
            </a:endParaRPr>
          </a:p>
        </p:txBody>
      </p:sp>
      <p:sp>
        <p:nvSpPr>
          <p:cNvPr id="6" name="Content Placeholder 2">
            <a:extLst>
              <a:ext uri="{FF2B5EF4-FFF2-40B4-BE49-F238E27FC236}">
                <a16:creationId xmlns:a16="http://schemas.microsoft.com/office/drawing/2014/main" id="{E5F77E79-9F6B-4517-B974-99DAACE11DF6}"/>
              </a:ext>
            </a:extLst>
          </p:cNvPr>
          <p:cNvSpPr>
            <a:spLocks noGrp="1"/>
          </p:cNvSpPr>
          <p:nvPr>
            <p:ph idx="1"/>
          </p:nvPr>
        </p:nvSpPr>
        <p:spPr>
          <a:xfrm>
            <a:off x="128015" y="1111359"/>
            <a:ext cx="2962657" cy="4989922"/>
          </a:xfrm>
        </p:spPr>
        <p:txBody>
          <a:bodyPr>
            <a:normAutofit/>
          </a:bodyPr>
          <a:lstStyle/>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Strong upward trend in semiconductor market not derailed by global shocks</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Does this mean that economies more exposed to ICT-tech (AI) are also more resilient to shocks?</a:t>
            </a:r>
          </a:p>
          <a:p>
            <a:pPr>
              <a:lnSpc>
                <a:spcPct val="120000"/>
              </a:lnSpc>
              <a:spcAft>
                <a:spcPts val="1200"/>
              </a:spcAft>
            </a:pPr>
            <a:endParaRPr lang="nl-NL" sz="1600" dirty="0">
              <a:solidFill>
                <a:schemeClr val="accent1">
                  <a:lumMod val="50000"/>
                </a:schemeClr>
              </a:solidFill>
            </a:endParaRPr>
          </a:p>
        </p:txBody>
      </p:sp>
      <p:pic>
        <p:nvPicPr>
          <p:cNvPr id="5" name="Picture 4">
            <a:extLst>
              <a:ext uri="{FF2B5EF4-FFF2-40B4-BE49-F238E27FC236}">
                <a16:creationId xmlns:a16="http://schemas.microsoft.com/office/drawing/2014/main" id="{8C31B433-F3FC-898E-A2C4-1A7649456F35}"/>
              </a:ext>
            </a:extLst>
          </p:cNvPr>
          <p:cNvPicPr>
            <a:picLocks noChangeAspect="1"/>
          </p:cNvPicPr>
          <p:nvPr/>
        </p:nvPicPr>
        <p:blipFill>
          <a:blip r:embed="rId3"/>
          <a:stretch>
            <a:fillRect/>
          </a:stretch>
        </p:blipFill>
        <p:spPr>
          <a:xfrm>
            <a:off x="3493008" y="1522669"/>
            <a:ext cx="5650992" cy="3897624"/>
          </a:xfrm>
          <a:prstGeom prst="rect">
            <a:avLst/>
          </a:prstGeom>
        </p:spPr>
      </p:pic>
      <p:sp>
        <p:nvSpPr>
          <p:cNvPr id="8" name="Tekstvak 3">
            <a:extLst>
              <a:ext uri="{FF2B5EF4-FFF2-40B4-BE49-F238E27FC236}">
                <a16:creationId xmlns:a16="http://schemas.microsoft.com/office/drawing/2014/main" id="{545BE5F7-F057-18CF-DA77-201D8BAEDAF2}"/>
              </a:ext>
            </a:extLst>
          </p:cNvPr>
          <p:cNvSpPr txBox="1"/>
          <p:nvPr/>
        </p:nvSpPr>
        <p:spPr>
          <a:xfrm>
            <a:off x="3767327" y="5639616"/>
            <a:ext cx="5376673" cy="1015663"/>
          </a:xfrm>
          <a:prstGeom prst="rect">
            <a:avLst/>
          </a:prstGeom>
          <a:noFill/>
        </p:spPr>
        <p:txBody>
          <a:bodyPr wrap="square" rtlCol="0">
            <a:spAutoFit/>
          </a:bodyPr>
          <a:lstStyle/>
          <a:p>
            <a:pPr>
              <a:defRPr/>
            </a:pPr>
            <a:r>
              <a:rPr lang="nl-NL" sz="1200" dirty="0">
                <a:solidFill>
                  <a:srgbClr val="002060"/>
                </a:solidFill>
              </a:rPr>
              <a:t>Semiconductor stock index (SOX), </a:t>
            </a:r>
            <a:r>
              <a:rPr lang="nl-NL" sz="1200" dirty="0" err="1">
                <a:solidFill>
                  <a:srgbClr val="002060"/>
                </a:solidFill>
              </a:rPr>
              <a:t>controlled</a:t>
            </a:r>
            <a:r>
              <a:rPr lang="nl-NL" sz="1200" dirty="0">
                <a:solidFill>
                  <a:srgbClr val="002060"/>
                </a:solidFill>
              </a:rPr>
              <a:t> </a:t>
            </a:r>
            <a:r>
              <a:rPr lang="nl-NL" sz="1200" dirty="0" err="1">
                <a:solidFill>
                  <a:srgbClr val="002060"/>
                </a:solidFill>
              </a:rPr>
              <a:t>for</a:t>
            </a:r>
            <a:r>
              <a:rPr lang="nl-NL" sz="1200" dirty="0">
                <a:solidFill>
                  <a:srgbClr val="002060"/>
                </a:solidFill>
              </a:rPr>
              <a:t> </a:t>
            </a:r>
            <a:r>
              <a:rPr lang="nl-NL" sz="1200" dirty="0" err="1">
                <a:solidFill>
                  <a:srgbClr val="002060"/>
                </a:solidFill>
              </a:rPr>
              <a:t>by</a:t>
            </a:r>
            <a:r>
              <a:rPr lang="nl-NL" sz="1200" dirty="0">
                <a:solidFill>
                  <a:srgbClr val="002060"/>
                </a:solidFill>
              </a:rPr>
              <a:t> </a:t>
            </a:r>
            <a:r>
              <a:rPr lang="nl-NL" sz="1200" dirty="0" err="1">
                <a:solidFill>
                  <a:srgbClr val="002060"/>
                </a:solidFill>
              </a:rPr>
              <a:t>broad</a:t>
            </a:r>
            <a:r>
              <a:rPr lang="nl-NL" sz="1200" dirty="0">
                <a:solidFill>
                  <a:srgbClr val="002060"/>
                </a:solidFill>
              </a:rPr>
              <a:t> traditional stock index (STOXX Europe 600). Global </a:t>
            </a:r>
            <a:r>
              <a:rPr lang="nl-NL" sz="1200" dirty="0" err="1">
                <a:solidFill>
                  <a:srgbClr val="002060"/>
                </a:solidFill>
              </a:rPr>
              <a:t>uncertainty</a:t>
            </a:r>
            <a:r>
              <a:rPr lang="nl-NL" sz="1200" dirty="0">
                <a:solidFill>
                  <a:srgbClr val="002060"/>
                </a:solidFill>
              </a:rPr>
              <a:t> </a:t>
            </a:r>
            <a:r>
              <a:rPr lang="nl-NL" sz="1200">
                <a:solidFill>
                  <a:srgbClr val="002060"/>
                </a:solidFill>
              </a:rPr>
              <a:t>is first </a:t>
            </a:r>
            <a:r>
              <a:rPr lang="nl-NL" sz="1200" dirty="0" err="1">
                <a:solidFill>
                  <a:srgbClr val="002060"/>
                </a:solidFill>
              </a:rPr>
              <a:t>principal</a:t>
            </a:r>
            <a:r>
              <a:rPr lang="nl-NL" sz="1200" dirty="0">
                <a:solidFill>
                  <a:srgbClr val="002060"/>
                </a:solidFill>
              </a:rPr>
              <a:t> component of EPU, GPR, VIX (</a:t>
            </a:r>
            <a:r>
              <a:rPr lang="nl-NL" sz="1200" dirty="0" err="1">
                <a:solidFill>
                  <a:srgbClr val="002060"/>
                </a:solidFill>
              </a:rPr>
              <a:t>standardised</a:t>
            </a:r>
            <a:r>
              <a:rPr lang="nl-NL" sz="1200" dirty="0">
                <a:solidFill>
                  <a:srgbClr val="002060"/>
                </a:solidFill>
              </a:rPr>
              <a:t>).</a:t>
            </a:r>
          </a:p>
          <a:p>
            <a:pPr>
              <a:defRPr/>
            </a:pPr>
            <a:endParaRPr lang="nl-NL" sz="1200" dirty="0">
              <a:solidFill>
                <a:srgbClr val="002060"/>
              </a:solidFill>
              <a:hlinkClick r:id="rId4" action="ppaction://hlinksldjump"/>
            </a:endParaRPr>
          </a:p>
          <a:p>
            <a:pPr>
              <a:defRPr/>
            </a:pPr>
            <a:r>
              <a:rPr lang="nl-NL" sz="1200" dirty="0">
                <a:solidFill>
                  <a:srgbClr val="002060"/>
                </a:solidFill>
                <a:hlinkClick r:id="rId4" action="ppaction://hlinksldjump"/>
              </a:rPr>
              <a:t>Link</a:t>
            </a:r>
            <a:r>
              <a:rPr lang="nl-NL" sz="1200" dirty="0">
                <a:solidFill>
                  <a:srgbClr val="002060"/>
                </a:solidFill>
              </a:rPr>
              <a:t> </a:t>
            </a:r>
            <a:r>
              <a:rPr lang="nl-NL" sz="1200" dirty="0" err="1">
                <a:solidFill>
                  <a:srgbClr val="002060"/>
                </a:solidFill>
              </a:rPr>
              <a:t>to</a:t>
            </a:r>
            <a:r>
              <a:rPr lang="nl-NL" sz="1200" dirty="0">
                <a:solidFill>
                  <a:srgbClr val="002060"/>
                </a:solidFill>
              </a:rPr>
              <a:t> short-term </a:t>
            </a:r>
            <a:r>
              <a:rPr lang="nl-NL" sz="1200" dirty="0" err="1">
                <a:solidFill>
                  <a:srgbClr val="002060"/>
                </a:solidFill>
              </a:rPr>
              <a:t>cycle</a:t>
            </a:r>
            <a:endParaRPr lang="nl-NL" sz="1200" dirty="0">
              <a:solidFill>
                <a:srgbClr val="002060"/>
              </a:solidFill>
            </a:endParaRPr>
          </a:p>
        </p:txBody>
      </p:sp>
    </p:spTree>
    <p:extLst>
      <p:ext uri="{BB962C8B-B14F-4D97-AF65-F5344CB8AC3E}">
        <p14:creationId xmlns:p14="http://schemas.microsoft.com/office/powerpoint/2010/main" val="12032075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8CE812-DB4E-6877-6B4B-63CFA22DC170}"/>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BC7CDFAD-06A8-46EF-4776-25D11166D76F}"/>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Empirical approach</a:t>
            </a:r>
          </a:p>
        </p:txBody>
      </p:sp>
      <p:sp>
        <p:nvSpPr>
          <p:cNvPr id="2" name="Content Placeholder 2">
            <a:extLst>
              <a:ext uri="{FF2B5EF4-FFF2-40B4-BE49-F238E27FC236}">
                <a16:creationId xmlns:a16="http://schemas.microsoft.com/office/drawing/2014/main" id="{7415D86D-5542-3552-758F-1923FC3E3C99}"/>
              </a:ext>
            </a:extLst>
          </p:cNvPr>
          <p:cNvSpPr>
            <a:spLocks noGrp="1"/>
          </p:cNvSpPr>
          <p:nvPr>
            <p:ph idx="1"/>
          </p:nvPr>
        </p:nvSpPr>
        <p:spPr>
          <a:xfrm>
            <a:off x="438653" y="803135"/>
            <a:ext cx="7781804" cy="5679439"/>
          </a:xfrm>
        </p:spPr>
        <p:txBody>
          <a:bodyPr>
            <a:normAutofit/>
          </a:bodyPr>
          <a:lstStyle/>
          <a:p>
            <a:pPr marL="342900" indent="-342900">
              <a:lnSpc>
                <a:spcPct val="120000"/>
              </a:lnSpc>
              <a:spcAft>
                <a:spcPts val="1200"/>
              </a:spcAft>
              <a:buFont typeface="Arial" panose="020B0604020202020204" pitchFamily="34" charset="0"/>
              <a:buChar char="•"/>
            </a:pPr>
            <a:endParaRPr lang="nl-NL" sz="2000" noProof="1">
              <a:solidFill>
                <a:schemeClr val="accent1">
                  <a:lumMod val="50000"/>
                </a:schemeClr>
              </a:solidFill>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GDP growth surprises linked to ICT/AI-related activity</a:t>
            </a:r>
          </a:p>
          <a:p>
            <a:pPr marL="342900" indent="-342900">
              <a:lnSpc>
                <a:spcPct val="120000"/>
              </a:lnSpc>
              <a:spcAft>
                <a:spcPts val="1200"/>
              </a:spcAft>
              <a:buFont typeface="Arial" panose="020B0604020202020204" pitchFamily="34" charset="0"/>
              <a:buChar char="•"/>
            </a:pPr>
            <a:endParaRPr lang="nl-NL" sz="2000" noProof="1">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Data for 10 euro area countries, 2011-2025</a:t>
            </a:r>
          </a:p>
          <a:p>
            <a:pPr marL="342900" indent="-34290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Eur Com bi-annual forecast vintages</a:t>
            </a:r>
          </a:p>
          <a:p>
            <a:pPr marL="342900" indent="-342900">
              <a:lnSpc>
                <a:spcPct val="120000"/>
              </a:lnSpc>
              <a:spcAft>
                <a:spcPts val="1200"/>
              </a:spcAft>
              <a:buFont typeface="Arial" panose="020B0604020202020204" pitchFamily="34" charset="0"/>
              <a:buChar char="•"/>
            </a:pPr>
            <a:endParaRPr lang="nl-NL" sz="2000" noProof="1">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Unconditional bivariate tests</a:t>
            </a:r>
          </a:p>
          <a:p>
            <a:pPr marL="342900" indent="-342900">
              <a:lnSpc>
                <a:spcPct val="120000"/>
              </a:lnSpc>
              <a:spcAft>
                <a:spcPts val="1200"/>
              </a:spcAft>
              <a:buFont typeface="Arial" panose="020B0604020202020204" pitchFamily="34" charset="0"/>
              <a:buChar char="•"/>
            </a:pPr>
            <a:r>
              <a:rPr lang="nl-NL" sz="2000" noProof="1">
                <a:latin typeface="Verdana" panose="020B0604030504040204" pitchFamily="34" charset="0"/>
                <a:ea typeface="Verdana" panose="020B0604030504040204" pitchFamily="34" charset="0"/>
              </a:rPr>
              <a:t>Panel probit regressions</a:t>
            </a:r>
          </a:p>
          <a:p>
            <a:pPr marL="285750" indent="-285750">
              <a:lnSpc>
                <a:spcPct val="120000"/>
              </a:lnSpc>
              <a:spcAft>
                <a:spcPts val="1200"/>
              </a:spcAft>
              <a:buFont typeface="Arial" panose="020B0604020202020204" pitchFamily="34" charset="0"/>
              <a:buChar char="•"/>
            </a:pPr>
            <a:endParaRPr lang="nl-NL" sz="1600" dirty="0">
              <a:solidFill>
                <a:schemeClr val="accent1">
                  <a:lumMod val="50000"/>
                </a:schemeClr>
              </a:solidFill>
            </a:endParaRPr>
          </a:p>
        </p:txBody>
      </p:sp>
    </p:spTree>
    <p:extLst>
      <p:ext uri="{BB962C8B-B14F-4D97-AF65-F5344CB8AC3E}">
        <p14:creationId xmlns:p14="http://schemas.microsoft.com/office/powerpoint/2010/main" val="1658022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1"/>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AI-related exposure</a:t>
            </a:r>
          </a:p>
        </p:txBody>
      </p:sp>
      <p:sp>
        <p:nvSpPr>
          <p:cNvPr id="2" name="Content Placeholder 2">
            <a:extLst>
              <a:ext uri="{FF2B5EF4-FFF2-40B4-BE49-F238E27FC236}">
                <a16:creationId xmlns:a16="http://schemas.microsoft.com/office/drawing/2014/main" id="{8F3D8D65-3E89-7468-E586-D814DD2BD102}"/>
              </a:ext>
            </a:extLst>
          </p:cNvPr>
          <p:cNvSpPr>
            <a:spLocks noGrp="1"/>
          </p:cNvSpPr>
          <p:nvPr>
            <p:ph idx="1"/>
          </p:nvPr>
        </p:nvSpPr>
        <p:spPr>
          <a:xfrm>
            <a:off x="287906" y="775703"/>
            <a:ext cx="8746366" cy="5679439"/>
          </a:xfrm>
        </p:spPr>
        <p:txBody>
          <a:bodyPr>
            <a:normAutofit/>
          </a:bodyPr>
          <a:lstStyle/>
          <a:p>
            <a:pPr>
              <a:lnSpc>
                <a:spcPct val="120000"/>
              </a:lnSpc>
              <a:spcAft>
                <a:spcPts val="1200"/>
              </a:spcAft>
            </a:pPr>
            <a:r>
              <a:rPr lang="en-US" sz="2000" noProof="1">
                <a:latin typeface="Verdana" panose="020B0604030504040204" pitchFamily="34" charset="0"/>
                <a:ea typeface="Verdana" panose="020B0604030504040204" pitchFamily="34" charset="0"/>
              </a:rPr>
              <a:t>Investment channel</a:t>
            </a:r>
            <a:endParaRPr lang="nl-NL" sz="2000" noProof="1">
              <a:latin typeface="Verdana" panose="020B0604030504040204" pitchFamily="34" charset="0"/>
              <a:ea typeface="Verdana" panose="020B0604030504040204" pitchFamily="34" charset="0"/>
            </a:endParaRPr>
          </a:p>
          <a:p>
            <a:pPr marL="285750" indent="-285750">
              <a:lnSpc>
                <a:spcPct val="10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ICT/AI-investment can improve shock resilience by enhancing firms’ flexibility, information processing and supply chain management </a:t>
            </a:r>
            <a:r>
              <a:rPr lang="en-US" sz="1800" noProof="1">
                <a:latin typeface="Verdana" panose="020B0604030504040204" pitchFamily="34" charset="0"/>
                <a:ea typeface="Verdana" panose="020B0604030504040204" pitchFamily="34" charset="0"/>
              </a:rPr>
              <a:t>(Moujahid et al., 2025)</a:t>
            </a:r>
          </a:p>
          <a:p>
            <a:pPr marL="702900" lvl="3" indent="-342900">
              <a:lnSpc>
                <a:spcPct val="100000"/>
              </a:lnSpc>
              <a:spcAft>
                <a:spcPts val="300"/>
              </a:spcAft>
              <a:buSzPct val="100000"/>
              <a:buFont typeface="Courier New" panose="02070309020205020404" pitchFamily="49" charset="0"/>
              <a:buChar char="o"/>
            </a:pPr>
            <a:r>
              <a:rPr lang="nl-NL" sz="2000" noProof="1">
                <a:latin typeface="Verdana" panose="020B0604030504040204" pitchFamily="34" charset="0"/>
                <a:ea typeface="Verdana" panose="020B0604030504040204" pitchFamily="34" charset="0"/>
              </a:rPr>
              <a:t>digital </a:t>
            </a:r>
            <a:r>
              <a:rPr lang="nl-NL" sz="2000" noProof="1">
                <a:latin typeface="Verdana" panose="020B0604030504040204" pitchFamily="34" charset="0"/>
                <a:ea typeface="Verdana" panose="020B0604030504040204" pitchFamily="34" charset="0"/>
                <a:hlinkClick r:id="rId3" action="ppaction://hlinksldjump"/>
              </a:rPr>
              <a:t>investm</a:t>
            </a:r>
            <a:r>
              <a:rPr lang="nl-NL" sz="2000" noProof="1">
                <a:latin typeface="Verdana" panose="020B0604030504040204" pitchFamily="34" charset="0"/>
                <a:ea typeface="Verdana" panose="020B0604030504040204" pitchFamily="34" charset="0"/>
              </a:rPr>
              <a:t> by corporations, equity investm in AI firms</a:t>
            </a:r>
          </a:p>
          <a:p>
            <a:pPr>
              <a:lnSpc>
                <a:spcPct val="120000"/>
              </a:lnSpc>
              <a:spcAft>
                <a:spcPts val="1200"/>
              </a:spcAft>
            </a:pPr>
            <a:endParaRPr lang="nl-NL" sz="2000" noProof="1">
              <a:latin typeface="Verdana" panose="020B0604030504040204" pitchFamily="34" charset="0"/>
              <a:ea typeface="Verdana" panose="020B0604030504040204" pitchFamily="34" charset="0"/>
            </a:endParaRPr>
          </a:p>
          <a:p>
            <a:pPr>
              <a:lnSpc>
                <a:spcPct val="120000"/>
              </a:lnSpc>
              <a:spcAft>
                <a:spcPts val="1200"/>
              </a:spcAft>
            </a:pPr>
            <a:r>
              <a:rPr lang="en-US" sz="2000" noProof="1">
                <a:latin typeface="Verdana" panose="020B0604030504040204" pitchFamily="34" charset="0"/>
                <a:ea typeface="Verdana" panose="020B0604030504040204" pitchFamily="34" charset="0"/>
              </a:rPr>
              <a:t>T</a:t>
            </a:r>
            <a:r>
              <a:rPr lang="nl-NL" sz="2000" noProof="1">
                <a:latin typeface="Verdana" panose="020B0604030504040204" pitchFamily="34" charset="0"/>
                <a:ea typeface="Verdana" panose="020B0604030504040204" pitchFamily="34" charset="0"/>
              </a:rPr>
              <a:t>rade and stock market channels</a:t>
            </a:r>
          </a:p>
          <a:p>
            <a:pPr marL="285750" indent="-285750">
              <a:lnSpc>
                <a:spcPct val="10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Exposure to global semiconductor cycle comes with positive trade effects from AI-related global activity </a:t>
            </a:r>
            <a:r>
              <a:rPr lang="en-US" sz="1800" noProof="1">
                <a:latin typeface="Verdana" panose="020B0604030504040204" pitchFamily="34" charset="0"/>
                <a:ea typeface="Verdana" panose="020B0604030504040204" pitchFamily="34" charset="0"/>
              </a:rPr>
              <a:t>(ECB, 2026)</a:t>
            </a:r>
            <a:endParaRPr lang="nl-NL" sz="1800" noProof="1">
              <a:latin typeface="Verdana" panose="020B0604030504040204" pitchFamily="34" charset="0"/>
              <a:ea typeface="Verdana" panose="020B0604030504040204" pitchFamily="34" charset="0"/>
            </a:endParaRPr>
          </a:p>
          <a:p>
            <a:pPr marL="702900" lvl="3" indent="-342900">
              <a:lnSpc>
                <a:spcPct val="100000"/>
              </a:lnSpc>
              <a:spcAft>
                <a:spcPts val="300"/>
              </a:spcAft>
              <a:buSzPct val="100000"/>
              <a:buFont typeface="Courier New" panose="02070309020205020404" pitchFamily="49" charset="0"/>
              <a:buChar char="o"/>
            </a:pPr>
            <a:r>
              <a:rPr lang="nl-NL" sz="2000" noProof="1">
                <a:latin typeface="Verdana" panose="020B0604030504040204" pitchFamily="34" charset="0"/>
                <a:ea typeface="Verdana" panose="020B0604030504040204" pitchFamily="34" charset="0"/>
                <a:hlinkClick r:id="rId4" action="ppaction://hlinksldjump"/>
              </a:rPr>
              <a:t>exports</a:t>
            </a:r>
            <a:r>
              <a:rPr lang="nl-NL" sz="2000" noProof="1">
                <a:latin typeface="Verdana" panose="020B0604030504040204" pitchFamily="34" charset="0"/>
                <a:ea typeface="Verdana" panose="020B0604030504040204" pitchFamily="34" charset="0"/>
              </a:rPr>
              <a:t> ICT/AI-related products, correlation with SOX index</a:t>
            </a:r>
            <a:endParaRPr lang="en-US" sz="2000" noProof="1">
              <a:latin typeface="Verdana" panose="020B0604030504040204" pitchFamily="34" charset="0"/>
              <a:ea typeface="Verdana" panose="020B0604030504040204" pitchFamily="34" charset="0"/>
            </a:endParaRPr>
          </a:p>
          <a:p>
            <a:pPr>
              <a:lnSpc>
                <a:spcPct val="120000"/>
              </a:lnSpc>
              <a:spcAft>
                <a:spcPts val="1200"/>
              </a:spcAft>
            </a:pPr>
            <a:endParaRPr lang="nl-NL" sz="2000" noProof="1">
              <a:latin typeface="Verdana" panose="020B0604030504040204" pitchFamily="34" charset="0"/>
              <a:ea typeface="Verdana" panose="020B0604030504040204" pitchFamily="34" charset="0"/>
            </a:endParaRPr>
          </a:p>
          <a:p>
            <a:pPr>
              <a:lnSpc>
                <a:spcPct val="120000"/>
              </a:lnSpc>
              <a:spcAft>
                <a:spcPts val="1200"/>
              </a:spcAft>
            </a:pPr>
            <a:r>
              <a:rPr lang="nl-NL" sz="2000" noProof="1">
                <a:latin typeface="Verdana" panose="020B0604030504040204" pitchFamily="34" charset="0"/>
                <a:ea typeface="Verdana" panose="020B0604030504040204" pitchFamily="34" charset="0"/>
              </a:rPr>
              <a:t>Channels could capture structural and/or cyclical relations (underlying economic changes, or exposure to another cycle/factor)</a:t>
            </a:r>
          </a:p>
        </p:txBody>
      </p:sp>
    </p:spTree>
    <p:extLst>
      <p:ext uri="{BB962C8B-B14F-4D97-AF65-F5344CB8AC3E}">
        <p14:creationId xmlns:p14="http://schemas.microsoft.com/office/powerpoint/2010/main" val="35886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0A08D8-0F6C-FBDD-656B-B2A73E65BF5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27A485C-F246-D226-E4A1-7AA88455D07C}"/>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Shock </a:t>
            </a:r>
            <a:r>
              <a:rPr lang="nl-NL" sz="2400" dirty="0" err="1">
                <a:solidFill>
                  <a:schemeClr val="bg1"/>
                </a:solidFill>
              </a:rPr>
              <a:t>resilience</a:t>
            </a:r>
            <a:endParaRPr lang="nl-NL" sz="2400" dirty="0">
              <a:solidFill>
                <a:srgbClr val="FF0000"/>
              </a:solidFill>
            </a:endParaRPr>
          </a:p>
        </p:txBody>
      </p:sp>
      <p:sp>
        <p:nvSpPr>
          <p:cNvPr id="6" name="Content Placeholder 2">
            <a:extLst>
              <a:ext uri="{FF2B5EF4-FFF2-40B4-BE49-F238E27FC236}">
                <a16:creationId xmlns:a16="http://schemas.microsoft.com/office/drawing/2014/main" id="{4B7D4710-9ED0-97A7-CD0B-BD25DA4B7AA9}"/>
              </a:ext>
            </a:extLst>
          </p:cNvPr>
          <p:cNvSpPr>
            <a:spLocks noGrp="1"/>
          </p:cNvSpPr>
          <p:nvPr>
            <p:ph idx="1"/>
          </p:nvPr>
        </p:nvSpPr>
        <p:spPr>
          <a:xfrm>
            <a:off x="219455" y="1321671"/>
            <a:ext cx="2962657" cy="4989922"/>
          </a:xfrm>
        </p:spPr>
        <p:txBody>
          <a:bodyPr>
            <a:normAutofit lnSpcReduction="10000"/>
          </a:bodyPr>
          <a:lstStyle/>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Resilience </a:t>
            </a:r>
            <a:r>
              <a:rPr lang="en-US" sz="2000" noProof="1">
                <a:latin typeface="Arial" panose="020B0604020202020204" pitchFamily="34" charset="0"/>
                <a:ea typeface="Verdana" panose="020B0604030504040204" pitchFamily="34" charset="0"/>
                <a:cs typeface="Arial" panose="020B0604020202020204" pitchFamily="34" charset="0"/>
              </a:rPr>
              <a:t>→</a:t>
            </a:r>
            <a:r>
              <a:rPr lang="en-US" sz="2000" noProof="1">
                <a:latin typeface="Verdana" panose="020B0604030504040204" pitchFamily="34" charset="0"/>
                <a:ea typeface="Verdana" panose="020B0604030504040204" pitchFamily="34" charset="0"/>
              </a:rPr>
              <a:t> tendency of economy to bounce back from negative shocks </a:t>
            </a:r>
            <a:r>
              <a:rPr lang="en-US" sz="1800" noProof="1">
                <a:latin typeface="Verdana" panose="020B0604030504040204" pitchFamily="34" charset="0"/>
                <a:ea typeface="Verdana" panose="020B0604030504040204" pitchFamily="34" charset="0"/>
              </a:rPr>
              <a:t>(Eichengreen et al., 2024) </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Proxied by positive GDP growth surprises </a:t>
            </a:r>
            <a:r>
              <a:rPr lang="en-US" sz="1800" noProof="1">
                <a:latin typeface="Verdana" panose="020B0604030504040204" pitchFamily="34" charset="0"/>
                <a:ea typeface="Verdana" panose="020B0604030504040204" pitchFamily="34" charset="0"/>
              </a:rPr>
              <a:t>(based on EC bi-annual forecasts 2011-25, 10 EA countries)</a:t>
            </a:r>
          </a:p>
          <a:p>
            <a:pPr>
              <a:lnSpc>
                <a:spcPct val="120000"/>
              </a:lnSpc>
              <a:spcAft>
                <a:spcPts val="1200"/>
              </a:spcAft>
            </a:pPr>
            <a:endParaRPr lang="nl-NL" sz="1600" dirty="0">
              <a:solidFill>
                <a:schemeClr val="accent1">
                  <a:lumMod val="50000"/>
                </a:schemeClr>
              </a:solidFill>
            </a:endParaRPr>
          </a:p>
        </p:txBody>
      </p:sp>
      <p:sp>
        <p:nvSpPr>
          <p:cNvPr id="8" name="Tekstvak 3">
            <a:extLst>
              <a:ext uri="{FF2B5EF4-FFF2-40B4-BE49-F238E27FC236}">
                <a16:creationId xmlns:a16="http://schemas.microsoft.com/office/drawing/2014/main" id="{233DCD29-1BC1-E6E9-61D7-A3B8C24AFEC7}"/>
              </a:ext>
            </a:extLst>
          </p:cNvPr>
          <p:cNvSpPr txBox="1"/>
          <p:nvPr/>
        </p:nvSpPr>
        <p:spPr>
          <a:xfrm>
            <a:off x="3982421" y="5677421"/>
            <a:ext cx="4942124" cy="830997"/>
          </a:xfrm>
          <a:prstGeom prst="rect">
            <a:avLst/>
          </a:prstGeom>
          <a:noFill/>
        </p:spPr>
        <p:txBody>
          <a:bodyPr wrap="square" rtlCol="0">
            <a:spAutoFit/>
          </a:bodyPr>
          <a:lstStyle/>
          <a:p>
            <a:pPr>
              <a:defRPr/>
            </a:pPr>
            <a:r>
              <a:rPr lang="nl-NL" sz="1200" noProof="1">
                <a:solidFill>
                  <a:srgbClr val="002060"/>
                </a:solidFill>
              </a:rPr>
              <a:t>Based on European Commission Spring and Autumn forecasts of GDP growth. Surprise = realised GDP growth minus forecast (all years 2011-2025, 548 obs and shock years 2020, 2022, 2025, 120 obs).</a:t>
            </a:r>
          </a:p>
        </p:txBody>
      </p:sp>
      <p:pic>
        <p:nvPicPr>
          <p:cNvPr id="3" name="Picture 2">
            <a:extLst>
              <a:ext uri="{FF2B5EF4-FFF2-40B4-BE49-F238E27FC236}">
                <a16:creationId xmlns:a16="http://schemas.microsoft.com/office/drawing/2014/main" id="{1294A734-3F15-AF48-C076-C8D21D213F67}"/>
              </a:ext>
            </a:extLst>
          </p:cNvPr>
          <p:cNvPicPr>
            <a:picLocks noChangeAspect="1"/>
          </p:cNvPicPr>
          <p:nvPr/>
        </p:nvPicPr>
        <p:blipFill>
          <a:blip r:embed="rId3"/>
          <a:stretch>
            <a:fillRect/>
          </a:stretch>
        </p:blipFill>
        <p:spPr>
          <a:xfrm>
            <a:off x="3596639" y="2122170"/>
            <a:ext cx="5112813" cy="3254502"/>
          </a:xfrm>
          <a:prstGeom prst="rect">
            <a:avLst/>
          </a:prstGeom>
        </p:spPr>
      </p:pic>
      <p:sp>
        <p:nvSpPr>
          <p:cNvPr id="5" name="Tekstvak 3">
            <a:extLst>
              <a:ext uri="{FF2B5EF4-FFF2-40B4-BE49-F238E27FC236}">
                <a16:creationId xmlns:a16="http://schemas.microsoft.com/office/drawing/2014/main" id="{D0123357-EEBB-CDB1-0C16-42033D94D66A}"/>
              </a:ext>
            </a:extLst>
          </p:cNvPr>
          <p:cNvSpPr txBox="1"/>
          <p:nvPr/>
        </p:nvSpPr>
        <p:spPr>
          <a:xfrm>
            <a:off x="3986782" y="1482867"/>
            <a:ext cx="5157218" cy="338554"/>
          </a:xfrm>
          <a:prstGeom prst="rect">
            <a:avLst/>
          </a:prstGeom>
          <a:noFill/>
        </p:spPr>
        <p:txBody>
          <a:bodyPr wrap="square" rtlCol="0">
            <a:spAutoFit/>
          </a:bodyPr>
          <a:lstStyle/>
          <a:p>
            <a:pPr>
              <a:defRPr/>
            </a:pPr>
            <a:r>
              <a:rPr lang="nl-NL" sz="1600" noProof="1">
                <a:solidFill>
                  <a:srgbClr val="002060"/>
                </a:solidFill>
              </a:rPr>
              <a:t>Positive growth surprises </a:t>
            </a:r>
            <a:r>
              <a:rPr lang="nl-NL" sz="1600" dirty="0">
                <a:solidFill>
                  <a:srgbClr val="002060"/>
                </a:solidFill>
              </a:rPr>
              <a:t>(% of EC forecasts)</a:t>
            </a:r>
          </a:p>
        </p:txBody>
      </p:sp>
    </p:spTree>
    <p:extLst>
      <p:ext uri="{BB962C8B-B14F-4D97-AF65-F5344CB8AC3E}">
        <p14:creationId xmlns:p14="http://schemas.microsoft.com/office/powerpoint/2010/main" val="41294207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2ECBB-8EBB-9B82-F87E-88F96C93955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B51448F-E6B0-C8D8-CC16-0AFD8961EF7F}"/>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investment</a:t>
            </a:r>
            <a:endParaRPr lang="nl-NL" sz="2400" dirty="0">
              <a:solidFill>
                <a:srgbClr val="FF0000"/>
              </a:solidFill>
            </a:endParaRPr>
          </a:p>
        </p:txBody>
      </p:sp>
      <p:sp>
        <p:nvSpPr>
          <p:cNvPr id="6" name="Content Placeholder 2">
            <a:extLst>
              <a:ext uri="{FF2B5EF4-FFF2-40B4-BE49-F238E27FC236}">
                <a16:creationId xmlns:a16="http://schemas.microsoft.com/office/drawing/2014/main" id="{613E110F-8AEE-A02C-2032-1F07DE944DEB}"/>
              </a:ext>
            </a:extLst>
          </p:cNvPr>
          <p:cNvSpPr>
            <a:spLocks noGrp="1"/>
          </p:cNvSpPr>
          <p:nvPr>
            <p:ph idx="1"/>
          </p:nvPr>
        </p:nvSpPr>
        <p:spPr>
          <a:xfrm>
            <a:off x="358000" y="1098631"/>
            <a:ext cx="3253879" cy="4989922"/>
          </a:xfrm>
        </p:spPr>
        <p:txBody>
          <a:bodyPr>
            <a:noAutofit/>
          </a:bodyPr>
          <a:lstStyle/>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High ICT/AI-investm associated with more positive growth surprises …</a:t>
            </a:r>
          </a:p>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 advantage not significant in shock years</a:t>
            </a:r>
          </a:p>
          <a:p>
            <a:pPr marL="285750" indent="-285750">
              <a:lnSpc>
                <a:spcPct val="120000"/>
              </a:lnSpc>
              <a:spcAft>
                <a:spcPts val="1200"/>
              </a:spcAft>
              <a:buFont typeface="Arial" panose="020B0604020202020204" pitchFamily="34" charset="0"/>
              <a:buChar char="•"/>
            </a:pPr>
            <a:endParaRPr lang="en-US" sz="18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nl-NL" sz="1800" dirty="0"/>
              <a:t>Low </a:t>
            </a:r>
            <a:r>
              <a:rPr lang="nl-NL" sz="1800" dirty="0" err="1"/>
              <a:t>equity</a:t>
            </a:r>
            <a:r>
              <a:rPr lang="nl-NL" sz="1800" dirty="0"/>
              <a:t> AI </a:t>
            </a:r>
            <a:r>
              <a:rPr lang="nl-NL" sz="1800" dirty="0" err="1"/>
              <a:t>invest</a:t>
            </a:r>
            <a:r>
              <a:rPr lang="nl-NL" sz="1800" dirty="0"/>
              <a:t> </a:t>
            </a:r>
            <a:r>
              <a:rPr lang="en-US" sz="1800" dirty="0"/>
              <a:t>seems to be a relative advantage in shock years (less sensitivity to shocks)</a:t>
            </a:r>
            <a:endParaRPr lang="nl-NL" sz="1800" dirty="0"/>
          </a:p>
        </p:txBody>
      </p:sp>
      <p:sp>
        <p:nvSpPr>
          <p:cNvPr id="5" name="Tekstvak 3">
            <a:extLst>
              <a:ext uri="{FF2B5EF4-FFF2-40B4-BE49-F238E27FC236}">
                <a16:creationId xmlns:a16="http://schemas.microsoft.com/office/drawing/2014/main" id="{0EEE5C01-F407-B286-8291-7A84B3BBB14E}"/>
              </a:ext>
            </a:extLst>
          </p:cNvPr>
          <p:cNvSpPr txBox="1"/>
          <p:nvPr/>
        </p:nvSpPr>
        <p:spPr>
          <a:xfrm>
            <a:off x="4701404" y="636934"/>
            <a:ext cx="3985397" cy="584775"/>
          </a:xfrm>
          <a:prstGeom prst="rect">
            <a:avLst/>
          </a:prstGeom>
          <a:noFill/>
        </p:spPr>
        <p:txBody>
          <a:bodyPr wrap="square" rtlCol="0">
            <a:spAutoFit/>
          </a:bodyPr>
          <a:lstStyle/>
          <a:p>
            <a:pPr>
              <a:defRPr/>
            </a:pPr>
            <a:r>
              <a:rPr lang="nl-NL" sz="1600" noProof="1">
                <a:solidFill>
                  <a:srgbClr val="002060"/>
                </a:solidFill>
              </a:rPr>
              <a:t>Influence of AI-related investment on positive growth surprises</a:t>
            </a:r>
          </a:p>
        </p:txBody>
      </p:sp>
      <p:sp>
        <p:nvSpPr>
          <p:cNvPr id="13" name="Tekstvak 3">
            <a:extLst>
              <a:ext uri="{FF2B5EF4-FFF2-40B4-BE49-F238E27FC236}">
                <a16:creationId xmlns:a16="http://schemas.microsoft.com/office/drawing/2014/main" id="{C8DC46B8-5E08-30F3-1EE3-CB90635026CE}"/>
              </a:ext>
            </a:extLst>
          </p:cNvPr>
          <p:cNvSpPr txBox="1"/>
          <p:nvPr/>
        </p:nvSpPr>
        <p:spPr>
          <a:xfrm>
            <a:off x="4498847" y="5608859"/>
            <a:ext cx="4645153" cy="1277273"/>
          </a:xfrm>
          <a:prstGeom prst="rect">
            <a:avLst/>
          </a:prstGeom>
          <a:noFill/>
        </p:spPr>
        <p:txBody>
          <a:bodyPr wrap="square" rtlCol="0">
            <a:spAutoFit/>
          </a:bodyPr>
          <a:lstStyle/>
          <a:p>
            <a:pPr algn="just">
              <a:defRPr/>
            </a:pPr>
            <a:r>
              <a:rPr lang="nl-NL" sz="1100" noProof="1">
                <a:solidFill>
                  <a:srgbClr val="002060"/>
                </a:solidFill>
              </a:rPr>
              <a:t>Lower vs higher than the time-varying median ICT/AI-exposure (10 EA countries, 2011-25 (all years), 2020, 2022, 2025 (shock years)). ***, **, * indicate 1%, 5%, 10% significance of difference between blue and grey dot in same period. +++, ++, + indicate 1%, 5%, 10% significance of difference between blue (grey) dots in all years vs shock years (country-clustered difference-in-shares test).</a:t>
            </a:r>
          </a:p>
        </p:txBody>
      </p:sp>
      <p:pic>
        <p:nvPicPr>
          <p:cNvPr id="3" name="Picture 2">
            <a:extLst>
              <a:ext uri="{FF2B5EF4-FFF2-40B4-BE49-F238E27FC236}">
                <a16:creationId xmlns:a16="http://schemas.microsoft.com/office/drawing/2014/main" id="{B68D3A0C-D014-485F-5A02-9F50BA67BD89}"/>
              </a:ext>
            </a:extLst>
          </p:cNvPr>
          <p:cNvPicPr>
            <a:picLocks noChangeAspect="1"/>
          </p:cNvPicPr>
          <p:nvPr/>
        </p:nvPicPr>
        <p:blipFill>
          <a:blip r:embed="rId3"/>
          <a:stretch>
            <a:fillRect/>
          </a:stretch>
        </p:blipFill>
        <p:spPr>
          <a:xfrm>
            <a:off x="4686994" y="1232345"/>
            <a:ext cx="3962400" cy="2169223"/>
          </a:xfrm>
          <a:prstGeom prst="rect">
            <a:avLst/>
          </a:prstGeom>
        </p:spPr>
      </p:pic>
      <p:pic>
        <p:nvPicPr>
          <p:cNvPr id="4" name="Picture 3">
            <a:extLst>
              <a:ext uri="{FF2B5EF4-FFF2-40B4-BE49-F238E27FC236}">
                <a16:creationId xmlns:a16="http://schemas.microsoft.com/office/drawing/2014/main" id="{AFFB3634-5B82-136E-F947-D33F3E34AD6C}"/>
              </a:ext>
            </a:extLst>
          </p:cNvPr>
          <p:cNvPicPr>
            <a:picLocks noChangeAspect="1"/>
          </p:cNvPicPr>
          <p:nvPr/>
        </p:nvPicPr>
        <p:blipFill>
          <a:blip r:embed="rId4"/>
          <a:stretch>
            <a:fillRect/>
          </a:stretch>
        </p:blipFill>
        <p:spPr>
          <a:xfrm>
            <a:off x="4686994" y="3401568"/>
            <a:ext cx="3962400" cy="2179859"/>
          </a:xfrm>
          <a:prstGeom prst="rect">
            <a:avLst/>
          </a:prstGeom>
        </p:spPr>
      </p:pic>
    </p:spTree>
    <p:extLst>
      <p:ext uri="{BB962C8B-B14F-4D97-AF65-F5344CB8AC3E}">
        <p14:creationId xmlns:p14="http://schemas.microsoft.com/office/powerpoint/2010/main" val="24281015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24241-2444-F196-D04C-6270141B1B7B}"/>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0D1D165-50E0-8F1E-E2D5-7D57D4E9228C}"/>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a:t>
            </a:r>
            <a:r>
              <a:rPr lang="nl-NL" sz="2400" dirty="0" err="1">
                <a:solidFill>
                  <a:schemeClr val="bg1"/>
                </a:solidFill>
              </a:rPr>
              <a:t>trade</a:t>
            </a:r>
            <a:r>
              <a:rPr lang="nl-NL" sz="2400" dirty="0">
                <a:solidFill>
                  <a:schemeClr val="bg1"/>
                </a:solidFill>
              </a:rPr>
              <a:t> and stock market exposure</a:t>
            </a:r>
            <a:endParaRPr lang="nl-NL" sz="2400" dirty="0">
              <a:solidFill>
                <a:srgbClr val="FF0000"/>
              </a:solidFill>
            </a:endParaRPr>
          </a:p>
        </p:txBody>
      </p:sp>
      <p:sp>
        <p:nvSpPr>
          <p:cNvPr id="6" name="Content Placeholder 2">
            <a:extLst>
              <a:ext uri="{FF2B5EF4-FFF2-40B4-BE49-F238E27FC236}">
                <a16:creationId xmlns:a16="http://schemas.microsoft.com/office/drawing/2014/main" id="{CF9708F7-32AE-5645-3159-CE1174AB0729}"/>
              </a:ext>
            </a:extLst>
          </p:cNvPr>
          <p:cNvSpPr>
            <a:spLocks noGrp="1"/>
          </p:cNvSpPr>
          <p:nvPr>
            <p:ph idx="1"/>
          </p:nvPr>
        </p:nvSpPr>
        <p:spPr>
          <a:xfrm>
            <a:off x="502919" y="956753"/>
            <a:ext cx="3127249" cy="5174492"/>
          </a:xfrm>
        </p:spPr>
        <p:txBody>
          <a:bodyPr>
            <a:normAutofit fontScale="92500" lnSpcReduction="10000"/>
          </a:bodyPr>
          <a:lstStyle/>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More positive growth surprises in shock years for countries with higher tech-exports …</a:t>
            </a:r>
          </a:p>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  suggesting ICT/AI global demand is countercyclical and/or accelerates in shock years …</a:t>
            </a:r>
          </a:p>
          <a:p>
            <a:pPr marL="285750" indent="-285750">
              <a:lnSpc>
                <a:spcPct val="120000"/>
              </a:lnSpc>
              <a:spcAft>
                <a:spcPts val="1200"/>
              </a:spcAft>
              <a:buFont typeface="Arial" panose="020B0604020202020204" pitchFamily="34" charset="0"/>
              <a:buChar char="•"/>
            </a:pPr>
            <a:endParaRPr lang="en-US" sz="19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1900" noProof="1">
                <a:latin typeface="Verdana" panose="020B0604030504040204" pitchFamily="34" charset="0"/>
                <a:ea typeface="Verdana" panose="020B0604030504040204" pitchFamily="34" charset="0"/>
              </a:rPr>
              <a:t>… which is not the case for stock market exposure; common component may dominate</a:t>
            </a:r>
          </a:p>
          <a:p>
            <a:pPr>
              <a:lnSpc>
                <a:spcPct val="120000"/>
              </a:lnSpc>
              <a:spcAft>
                <a:spcPts val="1200"/>
              </a:spcAft>
            </a:pPr>
            <a:endParaRPr lang="nl-NL" sz="1800" dirty="0">
              <a:solidFill>
                <a:schemeClr val="accent1">
                  <a:lumMod val="50000"/>
                </a:schemeClr>
              </a:solidFill>
            </a:endParaRPr>
          </a:p>
        </p:txBody>
      </p:sp>
      <p:sp>
        <p:nvSpPr>
          <p:cNvPr id="8" name="Tekstvak 3">
            <a:extLst>
              <a:ext uri="{FF2B5EF4-FFF2-40B4-BE49-F238E27FC236}">
                <a16:creationId xmlns:a16="http://schemas.microsoft.com/office/drawing/2014/main" id="{AEE2C5DE-2B6A-1A21-C169-797AC72B8FC2}"/>
              </a:ext>
            </a:extLst>
          </p:cNvPr>
          <p:cNvSpPr txBox="1"/>
          <p:nvPr/>
        </p:nvSpPr>
        <p:spPr>
          <a:xfrm>
            <a:off x="4498847" y="5608859"/>
            <a:ext cx="4645153" cy="1277273"/>
          </a:xfrm>
          <a:prstGeom prst="rect">
            <a:avLst/>
          </a:prstGeom>
          <a:noFill/>
        </p:spPr>
        <p:txBody>
          <a:bodyPr wrap="square" rtlCol="0">
            <a:spAutoFit/>
          </a:bodyPr>
          <a:lstStyle/>
          <a:p>
            <a:pPr algn="just">
              <a:defRPr/>
            </a:pPr>
            <a:r>
              <a:rPr lang="nl-NL" sz="1100" noProof="1">
                <a:solidFill>
                  <a:srgbClr val="002060"/>
                </a:solidFill>
              </a:rPr>
              <a:t>Lower vs higher than the time-varying median ICT/AI-exposure (10 EA countries, 2011-25 (all years), 2020, 2022, 2025 (shock years)). ***, **, * indicate 1%, 5%, 10% significance of difference between blue and grey dot in same period. +++, ++, + indicate 1%, 5%, 10% significance of difference between blue (grey) dots in all years vs shock years (country-clustered difference-in-shares test).</a:t>
            </a:r>
          </a:p>
        </p:txBody>
      </p:sp>
      <p:sp>
        <p:nvSpPr>
          <p:cNvPr id="5" name="Tekstvak 3">
            <a:extLst>
              <a:ext uri="{FF2B5EF4-FFF2-40B4-BE49-F238E27FC236}">
                <a16:creationId xmlns:a16="http://schemas.microsoft.com/office/drawing/2014/main" id="{64CF75E5-0A93-A50A-135C-BD487E25C478}"/>
              </a:ext>
            </a:extLst>
          </p:cNvPr>
          <p:cNvSpPr txBox="1"/>
          <p:nvPr/>
        </p:nvSpPr>
        <p:spPr>
          <a:xfrm>
            <a:off x="4673972" y="646078"/>
            <a:ext cx="3985397" cy="584775"/>
          </a:xfrm>
          <a:prstGeom prst="rect">
            <a:avLst/>
          </a:prstGeom>
          <a:noFill/>
        </p:spPr>
        <p:txBody>
          <a:bodyPr wrap="square" rtlCol="0">
            <a:spAutoFit/>
          </a:bodyPr>
          <a:lstStyle/>
          <a:p>
            <a:pPr>
              <a:defRPr/>
            </a:pPr>
            <a:r>
              <a:rPr lang="nl-NL" sz="1600" noProof="1">
                <a:solidFill>
                  <a:srgbClr val="002060"/>
                </a:solidFill>
              </a:rPr>
              <a:t>Influence of AI-related trade and stock market exposure</a:t>
            </a:r>
          </a:p>
        </p:txBody>
      </p:sp>
      <p:pic>
        <p:nvPicPr>
          <p:cNvPr id="3" name="Picture 2">
            <a:extLst>
              <a:ext uri="{FF2B5EF4-FFF2-40B4-BE49-F238E27FC236}">
                <a16:creationId xmlns:a16="http://schemas.microsoft.com/office/drawing/2014/main" id="{E4247869-22B3-74B1-C2DC-BC2BF3DF0889}"/>
              </a:ext>
            </a:extLst>
          </p:cNvPr>
          <p:cNvPicPr>
            <a:picLocks noChangeAspect="1"/>
          </p:cNvPicPr>
          <p:nvPr/>
        </p:nvPicPr>
        <p:blipFill>
          <a:blip r:embed="rId3"/>
          <a:stretch>
            <a:fillRect/>
          </a:stretch>
        </p:blipFill>
        <p:spPr>
          <a:xfrm>
            <a:off x="4696969" y="1319147"/>
            <a:ext cx="3962400" cy="2161571"/>
          </a:xfrm>
          <a:prstGeom prst="rect">
            <a:avLst/>
          </a:prstGeom>
        </p:spPr>
      </p:pic>
      <p:pic>
        <p:nvPicPr>
          <p:cNvPr id="4" name="Picture 3">
            <a:extLst>
              <a:ext uri="{FF2B5EF4-FFF2-40B4-BE49-F238E27FC236}">
                <a16:creationId xmlns:a16="http://schemas.microsoft.com/office/drawing/2014/main" id="{0231C4B6-AE28-A975-F5EB-43D3FA1E2ADA}"/>
              </a:ext>
            </a:extLst>
          </p:cNvPr>
          <p:cNvPicPr>
            <a:picLocks noChangeAspect="1"/>
          </p:cNvPicPr>
          <p:nvPr/>
        </p:nvPicPr>
        <p:blipFill>
          <a:blip r:embed="rId4"/>
          <a:stretch>
            <a:fillRect/>
          </a:stretch>
        </p:blipFill>
        <p:spPr>
          <a:xfrm>
            <a:off x="4696969" y="3429000"/>
            <a:ext cx="3962400" cy="2128141"/>
          </a:xfrm>
          <a:prstGeom prst="rect">
            <a:avLst/>
          </a:prstGeom>
        </p:spPr>
      </p:pic>
    </p:spTree>
    <p:extLst>
      <p:ext uri="{BB962C8B-B14F-4D97-AF65-F5344CB8AC3E}">
        <p14:creationId xmlns:p14="http://schemas.microsoft.com/office/powerpoint/2010/main" val="23048463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F05F1A-4F52-7C0A-8747-26D5AD94412E}"/>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279E6971-F8C1-CE73-F846-F4CD2F9BE489}"/>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Probit models</a:t>
            </a:r>
          </a:p>
        </p:txBody>
      </p:sp>
      <mc:AlternateContent xmlns:mc="http://schemas.openxmlformats.org/markup-compatibility/2006">
        <mc:Choice xmlns:a14="http://schemas.microsoft.com/office/drawing/2010/main" Requires="a14">
          <p:sp>
            <p:nvSpPr>
              <p:cNvPr id="2" name="Content Placeholder 2">
                <a:extLst>
                  <a:ext uri="{FF2B5EF4-FFF2-40B4-BE49-F238E27FC236}">
                    <a16:creationId xmlns:a16="http://schemas.microsoft.com/office/drawing/2014/main" id="{6B853D72-57E4-54DF-F916-E87E4C65C99E}"/>
                  </a:ext>
                </a:extLst>
              </p:cNvPr>
              <p:cNvSpPr>
                <a:spLocks noGrp="1"/>
              </p:cNvSpPr>
              <p:nvPr>
                <p:ph idx="1"/>
              </p:nvPr>
            </p:nvSpPr>
            <p:spPr>
              <a:xfrm>
                <a:off x="420624" y="770798"/>
                <a:ext cx="8505051" cy="5679439"/>
              </a:xfrm>
            </p:spPr>
            <p:txBody>
              <a:bodyPr>
                <a:normAutofit/>
              </a:bodyPr>
              <a:lstStyle/>
              <a:p>
                <a:pPr>
                  <a:lnSpc>
                    <a:spcPct val="120000"/>
                  </a:lnSpc>
                  <a:spcAft>
                    <a:spcPts val="300"/>
                  </a:spcAft>
                </a:pPr>
                <a:r>
                  <a:rPr lang="en-US" sz="2000" noProof="1">
                    <a:latin typeface="Verdana" panose="020B0604030504040204" pitchFamily="34" charset="0"/>
                    <a:ea typeface="Verdana" panose="020B0604030504040204" pitchFamily="34" charset="0"/>
                  </a:rPr>
                  <a:t>1. Average effect (</a:t>
                </a:r>
                <a14:m>
                  <m:oMath xmlns:m="http://schemas.openxmlformats.org/officeDocument/2006/math">
                    <m:r>
                      <a:rPr lang="en-US" sz="2000" i="1" noProof="1">
                        <a:latin typeface="Cambria Math" panose="02040503050406030204" pitchFamily="18" charset="0"/>
                        <a:ea typeface="Cambria Math" panose="02040503050406030204" pitchFamily="18" charset="0"/>
                      </a:rPr>
                      <m:t>𝛽</m:t>
                    </m:r>
                  </m:oMath>
                </a14:m>
                <a:r>
                  <a:rPr lang="en-US" sz="2000" noProof="1">
                    <a:latin typeface="Verdana" panose="020B0604030504040204" pitchFamily="34" charset="0"/>
                    <a:ea typeface="Verdana" panose="020B0604030504040204" pitchFamily="34" charset="0"/>
                  </a:rPr>
                  <a:t>) of ICT/AI in all years</a:t>
                </a:r>
              </a:p>
              <a:p>
                <a:pPr>
                  <a:lnSpc>
                    <a:spcPct val="120000"/>
                  </a:lnSpc>
                  <a:spcAft>
                    <a:spcPts val="300"/>
                  </a:spcAft>
                </a:pPr>
                <a:r>
                  <a:rPr lang="en-US" sz="1800" noProof="1">
                    <a:latin typeface="Verdana" panose="020B0604030504040204" pitchFamily="34" charset="0"/>
                    <a:ea typeface="Verdana" panose="020B0604030504040204" pitchFamily="34" charset="0"/>
                  </a:rPr>
                  <a:t>	 </a:t>
                </a:r>
                <a14:m>
                  <m:oMath xmlns:m="http://schemas.openxmlformats.org/officeDocument/2006/math">
                    <m:r>
                      <a:rPr lang="en-US" sz="2200" b="0" i="1" noProof="1" smtClean="0">
                        <a:solidFill>
                          <a:schemeClr val="tx1"/>
                        </a:solidFill>
                        <a:latin typeface="Cambria Math" panose="02040503050406030204" pitchFamily="18" charset="0"/>
                        <a:ea typeface="Verdana" panose="020B0604030504040204" pitchFamily="34" charset="0"/>
                      </a:rPr>
                      <m:t>𝑃</m:t>
                    </m:r>
                    <m:r>
                      <a:rPr lang="en-US" sz="2200" b="0" i="1" noProof="1" smtClean="0">
                        <a:solidFill>
                          <a:schemeClr val="tx1"/>
                        </a:solidFill>
                        <a:latin typeface="Cambria Math" panose="02040503050406030204" pitchFamily="18" charset="0"/>
                        <a:ea typeface="Verdana" panose="020B0604030504040204" pitchFamily="34" charset="0"/>
                      </a:rPr>
                      <m:t>(</m:t>
                    </m:r>
                    <m:sSub>
                      <m:sSubPr>
                        <m:ctrlPr>
                          <a:rPr lang="en-US" sz="2200" b="0" i="1" noProof="1" smtClean="0">
                            <a:solidFill>
                              <a:schemeClr val="tx1"/>
                            </a:solidFill>
                            <a:latin typeface="Cambria Math" panose="02040503050406030204" pitchFamily="18" charset="0"/>
                            <a:ea typeface="Verdana" panose="020B0604030504040204" pitchFamily="34" charset="0"/>
                          </a:rPr>
                        </m:ctrlPr>
                      </m:sSubPr>
                      <m:e>
                        <m:r>
                          <a:rPr lang="en-US" sz="2200" b="0" i="1" noProof="1" smtClean="0">
                            <a:solidFill>
                              <a:schemeClr val="tx1"/>
                            </a:solidFill>
                            <a:latin typeface="Cambria Math" panose="02040503050406030204" pitchFamily="18" charset="0"/>
                            <a:ea typeface="Verdana" panose="020B0604030504040204" pitchFamily="34" charset="0"/>
                          </a:rPr>
                          <m:t>𝑌</m:t>
                        </m:r>
                      </m:e>
                      <m:sub>
                        <m:r>
                          <a:rPr lang="en-US" sz="2200" b="0" i="1" noProof="1" smtClean="0">
                            <a:solidFill>
                              <a:schemeClr val="tx1"/>
                            </a:solidFill>
                            <a:latin typeface="Cambria Math" panose="02040503050406030204" pitchFamily="18" charset="0"/>
                            <a:ea typeface="Verdana" panose="020B0604030504040204" pitchFamily="34" charset="0"/>
                          </a:rPr>
                          <m:t>𝑖</m:t>
                        </m:r>
                        <m:r>
                          <a:rPr lang="en-US" sz="2200" b="0" i="1" noProof="1" smtClean="0">
                            <a:solidFill>
                              <a:schemeClr val="tx1"/>
                            </a:solidFill>
                            <a:latin typeface="Cambria Math" panose="02040503050406030204" pitchFamily="18" charset="0"/>
                            <a:ea typeface="Verdana" panose="020B0604030504040204" pitchFamily="34" charset="0"/>
                          </a:rPr>
                          <m:t>,</m:t>
                        </m:r>
                        <m:r>
                          <a:rPr lang="en-US" sz="2200" b="0" i="1" noProof="1" smtClean="0">
                            <a:solidFill>
                              <a:schemeClr val="tx1"/>
                            </a:solidFill>
                            <a:latin typeface="Cambria Math" panose="02040503050406030204" pitchFamily="18" charset="0"/>
                            <a:ea typeface="Verdana" panose="020B0604030504040204" pitchFamily="34" charset="0"/>
                          </a:rPr>
                          <m:t>𝑡</m:t>
                        </m:r>
                      </m:sub>
                    </m:sSub>
                    <m:r>
                      <a:rPr lang="en-US" sz="2200" b="0" i="1" noProof="1" smtClean="0">
                        <a:solidFill>
                          <a:schemeClr val="tx1"/>
                        </a:solidFill>
                        <a:latin typeface="Cambria Math" panose="02040503050406030204" pitchFamily="18" charset="0"/>
                        <a:ea typeface="Verdana" panose="020B0604030504040204" pitchFamily="34" charset="0"/>
                      </a:rPr>
                      <m:t>)</m:t>
                    </m:r>
                    <m:r>
                      <a:rPr lang="en-US" sz="2200" i="1" noProof="1" smtClean="0">
                        <a:solidFill>
                          <a:schemeClr val="tx1"/>
                        </a:solidFill>
                        <a:latin typeface="Cambria Math" panose="02040503050406030204" pitchFamily="18" charset="0"/>
                        <a:ea typeface="Verdana" panose="020B0604030504040204" pitchFamily="34" charset="0"/>
                      </a:rPr>
                      <m:t>=</m:t>
                    </m:r>
                    <m:r>
                      <a:rPr lang="el-GR" sz="2200" i="1" noProof="1" smtClean="0">
                        <a:solidFill>
                          <a:schemeClr val="tx1"/>
                        </a:solidFill>
                        <a:latin typeface="Cambria Math" panose="02040503050406030204" pitchFamily="18" charset="0"/>
                        <a:ea typeface="Cambria Math" panose="02040503050406030204" pitchFamily="18" charset="0"/>
                      </a:rPr>
                      <m:t>𝜃</m:t>
                    </m:r>
                    <m:r>
                      <a:rPr lang="en-US" sz="2200" b="0" i="1" noProof="1" smtClean="0">
                        <a:solidFill>
                          <a:schemeClr val="tx1"/>
                        </a:solidFill>
                        <a:latin typeface="Cambria Math" panose="02040503050406030204" pitchFamily="18" charset="0"/>
                        <a:ea typeface="Cambria Math" panose="02040503050406030204" pitchFamily="18" charset="0"/>
                      </a:rPr>
                      <m:t> </m:t>
                    </m:r>
                    <m:r>
                      <a:rPr lang="en-US" sz="2200" b="0" i="1" noProof="1" smtClean="0">
                        <a:solidFill>
                          <a:schemeClr val="tx1"/>
                        </a:solidFill>
                        <a:latin typeface="Cambria Math" panose="02040503050406030204" pitchFamily="18" charset="0"/>
                        <a:ea typeface="Verdana" panose="020B0604030504040204" pitchFamily="34" charset="0"/>
                      </a:rPr>
                      <m:t>(</m:t>
                    </m:r>
                    <m:r>
                      <a:rPr lang="en-US" sz="2200" i="1" noProof="1" smtClean="0">
                        <a:solidFill>
                          <a:schemeClr val="tx1"/>
                        </a:solidFill>
                        <a:latin typeface="Cambria Math" panose="02040503050406030204" pitchFamily="18" charset="0"/>
                        <a:ea typeface="Cambria Math" panose="02040503050406030204" pitchFamily="18" charset="0"/>
                      </a:rPr>
                      <m:t>𝛼</m:t>
                    </m:r>
                    <m:r>
                      <a:rPr lang="en-US" sz="2200" b="0" i="1" noProof="1" smtClean="0">
                        <a:solidFill>
                          <a:schemeClr val="tx1"/>
                        </a:solidFill>
                        <a:latin typeface="Cambria Math" panose="02040503050406030204" pitchFamily="18" charset="0"/>
                        <a:ea typeface="Cambria Math" panose="02040503050406030204" pitchFamily="18" charset="0"/>
                      </a:rPr>
                      <m:t> </m:t>
                    </m:r>
                    <m:r>
                      <a:rPr lang="en-US" sz="2200" b="0" i="1" noProof="1" smtClean="0">
                        <a:solidFill>
                          <a:schemeClr val="tx1"/>
                        </a:solidFill>
                        <a:latin typeface="Cambria Math" panose="02040503050406030204" pitchFamily="18" charset="0"/>
                        <a:ea typeface="Verdana" panose="020B0604030504040204" pitchFamily="34" charset="0"/>
                      </a:rPr>
                      <m:t>+</m:t>
                    </m:r>
                  </m:oMath>
                </a14:m>
                <a:r>
                  <a:rPr lang="en-US" sz="2200" noProof="1">
                    <a:ea typeface="Verdana" panose="020B0604030504040204" pitchFamily="34" charset="0"/>
                  </a:rPr>
                  <a:t> </a:t>
                </a:r>
                <a14:m>
                  <m:oMath xmlns:m="http://schemas.openxmlformats.org/officeDocument/2006/math">
                    <m:sSub>
                      <m:sSubPr>
                        <m:ctrlPr>
                          <a:rPr lang="en-US" sz="2200" i="1" noProof="1" smtClean="0">
                            <a:latin typeface="Cambria Math" panose="02040503050406030204" pitchFamily="18" charset="0"/>
                            <a:ea typeface="Cambria Math" panose="02040503050406030204" pitchFamily="18" charset="0"/>
                          </a:rPr>
                        </m:ctrlPr>
                      </m:sSubPr>
                      <m:e>
                        <m:r>
                          <a:rPr lang="en-US" sz="2200" i="1" noProof="1" smtClean="0">
                            <a:latin typeface="Cambria Math" panose="02040503050406030204" pitchFamily="18" charset="0"/>
                            <a:ea typeface="Cambria Math" panose="02040503050406030204" pitchFamily="18" charset="0"/>
                          </a:rPr>
                          <m:t>𝜇</m:t>
                        </m:r>
                      </m:e>
                      <m:sub>
                        <m:r>
                          <a:rPr lang="en-US" sz="2200" b="0" i="1" noProof="1" smtClean="0">
                            <a:latin typeface="Cambria Math" panose="02040503050406030204" pitchFamily="18" charset="0"/>
                            <a:ea typeface="Verdana" panose="020B0604030504040204" pitchFamily="34" charset="0"/>
                          </a:rPr>
                          <m:t>𝑖</m:t>
                        </m:r>
                      </m:sub>
                    </m:sSub>
                    <m:r>
                      <a:rPr lang="en-US" sz="2200" b="0" i="1" noProof="1" smtClean="0">
                        <a:latin typeface="Cambria Math" panose="02040503050406030204" pitchFamily="18" charset="0"/>
                        <a:ea typeface="Verdana" panose="020B0604030504040204" pitchFamily="34" charset="0"/>
                      </a:rPr>
                      <m:t>+</m:t>
                    </m:r>
                  </m:oMath>
                </a14:m>
                <a:r>
                  <a:rPr lang="en-US" sz="2200" noProof="1">
                    <a:ea typeface="Cambria Math" panose="02040503050406030204" pitchFamily="18" charset="0"/>
                  </a:rPr>
                  <a:t> </a:t>
                </a:r>
                <a14:m>
                  <m:oMath xmlns:m="http://schemas.openxmlformats.org/officeDocument/2006/math">
                    <m:sSub>
                      <m:sSubPr>
                        <m:ctrlPr>
                          <a:rPr lang="en-US" sz="2200" i="1" noProof="1" smtClean="0">
                            <a:latin typeface="Cambria Math" panose="02040503050406030204" pitchFamily="18" charset="0"/>
                            <a:ea typeface="Cambria Math" panose="02040503050406030204" pitchFamily="18" charset="0"/>
                          </a:rPr>
                        </m:ctrlPr>
                      </m:sSubPr>
                      <m:e>
                        <m:r>
                          <a:rPr lang="en-US" sz="2200" i="1" noProof="1" smtClean="0">
                            <a:latin typeface="Cambria Math" panose="02040503050406030204" pitchFamily="18" charset="0"/>
                            <a:ea typeface="Cambria Math" panose="02040503050406030204" pitchFamily="18" charset="0"/>
                          </a:rPr>
                          <m:t>𝜏</m:t>
                        </m:r>
                      </m:e>
                      <m:sub>
                        <m:r>
                          <a:rPr lang="en-US" sz="2200" b="0" i="1" noProof="1" smtClean="0">
                            <a:latin typeface="Cambria Math" panose="02040503050406030204" pitchFamily="18" charset="0"/>
                            <a:ea typeface="Verdana" panose="020B0604030504040204" pitchFamily="34" charset="0"/>
                          </a:rPr>
                          <m:t>𝑡</m:t>
                        </m:r>
                      </m:sub>
                    </m:sSub>
                    <m:r>
                      <a:rPr lang="en-US" sz="2200" b="0" i="1" noProof="1" smtClean="0">
                        <a:latin typeface="Cambria Math" panose="02040503050406030204" pitchFamily="18" charset="0"/>
                        <a:ea typeface="Verdana" panose="020B0604030504040204" pitchFamily="34" charset="0"/>
                      </a:rPr>
                      <m:t>+ </m:t>
                    </m:r>
                    <m:r>
                      <a:rPr lang="en-US" sz="2200" b="0" i="1" noProof="1" smtClean="0">
                        <a:latin typeface="Cambria Math" panose="02040503050406030204" pitchFamily="18" charset="0"/>
                        <a:ea typeface="Cambria Math" panose="02040503050406030204" pitchFamily="18" charset="0"/>
                      </a:rPr>
                      <m:t>𝛽</m:t>
                    </m:r>
                    <m:sSub>
                      <m:sSubPr>
                        <m:ctrlPr>
                          <a:rPr lang="en-US" sz="2200" b="0" i="1" noProof="1" smtClean="0">
                            <a:latin typeface="Cambria Math" panose="02040503050406030204" pitchFamily="18" charset="0"/>
                            <a:ea typeface="Verdana" panose="020B0604030504040204" pitchFamily="34" charset="0"/>
                          </a:rPr>
                        </m:ctrlPr>
                      </m:sSubPr>
                      <m:e>
                        <m:r>
                          <a:rPr lang="en-US" sz="2200" b="0" i="1" noProof="1" smtClean="0">
                            <a:latin typeface="Cambria Math" panose="02040503050406030204" pitchFamily="18" charset="0"/>
                            <a:ea typeface="Verdana" panose="020B0604030504040204" pitchFamily="34" charset="0"/>
                          </a:rPr>
                          <m:t> </m:t>
                        </m:r>
                        <m:r>
                          <a:rPr lang="en-US" sz="2200" b="0" i="1" noProof="1" smtClean="0">
                            <a:latin typeface="Cambria Math" panose="02040503050406030204" pitchFamily="18" charset="0"/>
                            <a:ea typeface="Verdana" panose="020B0604030504040204" pitchFamily="34" charset="0"/>
                          </a:rPr>
                          <m:t>𝑋</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i="1" noProof="1" smtClean="0">
                        <a:latin typeface="Cambria Math" panose="02040503050406030204" pitchFamily="18" charset="0"/>
                        <a:ea typeface="Verdana" panose="020B0604030504040204" pitchFamily="34" charset="0"/>
                      </a:rPr>
                      <m:t>+</m:t>
                    </m:r>
                    <m:r>
                      <a:rPr lang="en-US" sz="2200" i="1" noProof="1" smtClean="0">
                        <a:latin typeface="Cambria Math" panose="02040503050406030204" pitchFamily="18" charset="0"/>
                        <a:ea typeface="Cambria Math" panose="02040503050406030204" pitchFamily="18" charset="0"/>
                      </a:rPr>
                      <m:t>𝜑</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r>
                          <a:rPr lang="en-US" sz="2200" b="0" i="1" noProof="1" smtClean="0">
                            <a:latin typeface="Cambria Math" panose="02040503050406030204" pitchFamily="18" charset="0"/>
                            <a:ea typeface="Verdana" panose="020B0604030504040204" pitchFamily="34" charset="0"/>
                          </a:rPr>
                          <m:t>𝑍</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b="0" i="1" noProof="1" smtClean="0">
                        <a:latin typeface="Cambria Math" panose="02040503050406030204" pitchFamily="18" charset="0"/>
                        <a:ea typeface="Verdana" panose="020B0604030504040204" pitchFamily="34" charset="0"/>
                      </a:rPr>
                      <m:t>)</m:t>
                    </m:r>
                  </m:oMath>
                </a14:m>
                <a:endParaRPr lang="en-US" sz="2200" noProof="1">
                  <a:solidFill>
                    <a:schemeClr val="tx1"/>
                  </a:solidFill>
                  <a:latin typeface="Verdana" panose="020B0604030504040204" pitchFamily="34" charset="0"/>
                  <a:ea typeface="Verdana" panose="020B0604030504040204" pitchFamily="34" charset="0"/>
                </a:endParaRPr>
              </a:p>
              <a:p>
                <a:pPr>
                  <a:lnSpc>
                    <a:spcPct val="120000"/>
                  </a:lnSpc>
                  <a:spcAft>
                    <a:spcPts val="300"/>
                  </a:spcAft>
                </a:pPr>
                <a:endParaRPr lang="en-US" sz="1800" noProof="1">
                  <a:latin typeface="Verdana" panose="020B0604030504040204" pitchFamily="34" charset="0"/>
                  <a:ea typeface="Verdana" panose="020B0604030504040204" pitchFamily="34" charset="0"/>
                </a:endParaRPr>
              </a:p>
              <a:p>
                <a:pPr>
                  <a:lnSpc>
                    <a:spcPct val="120000"/>
                  </a:lnSpc>
                  <a:spcAft>
                    <a:spcPts val="300"/>
                  </a:spcAft>
                </a:pPr>
                <a:r>
                  <a:rPr lang="en-US" sz="1800" noProof="1">
                    <a:latin typeface="Verdana" panose="020B0604030504040204" pitchFamily="34" charset="0"/>
                    <a:ea typeface="Verdana" panose="020B0604030504040204" pitchFamily="34" charset="0"/>
                  </a:rPr>
                  <a:t>2. </a:t>
                </a:r>
                <a:r>
                  <a:rPr lang="en-US" sz="2000" noProof="1">
                    <a:latin typeface="Verdana" panose="020B0604030504040204" pitchFamily="34" charset="0"/>
                    <a:ea typeface="Verdana" panose="020B0604030504040204" pitchFamily="34" charset="0"/>
                  </a:rPr>
                  <a:t>Additional effect (</a:t>
                </a:r>
                <a14:m>
                  <m:oMath xmlns:m="http://schemas.openxmlformats.org/officeDocument/2006/math">
                    <m:r>
                      <a:rPr lang="en-US" sz="2000" i="1" noProof="1" smtClean="0">
                        <a:latin typeface="Cambria Math" panose="02040503050406030204" pitchFamily="18" charset="0"/>
                        <a:ea typeface="Cambria Math" panose="02040503050406030204" pitchFamily="18" charset="0"/>
                      </a:rPr>
                      <m:t>𝛾</m:t>
                    </m:r>
                  </m:oMath>
                </a14:m>
                <a:r>
                  <a:rPr lang="en-US" sz="2000" noProof="1">
                    <a:latin typeface="Verdana" panose="020B0604030504040204" pitchFamily="34" charset="0"/>
                    <a:ea typeface="Verdana" panose="020B0604030504040204" pitchFamily="34" charset="0"/>
                  </a:rPr>
                  <a:t>) of ICT/AI in shock years</a:t>
                </a:r>
              </a:p>
              <a:p>
                <a:pPr>
                  <a:lnSpc>
                    <a:spcPct val="120000"/>
                  </a:lnSpc>
                  <a:spcAft>
                    <a:spcPts val="300"/>
                  </a:spcAft>
                </a:pPr>
                <a:r>
                  <a:rPr lang="en-US" sz="1800" noProof="1">
                    <a:latin typeface="Verdana" panose="020B0604030504040204" pitchFamily="34" charset="0"/>
                    <a:ea typeface="Verdana" panose="020B0604030504040204" pitchFamily="34" charset="0"/>
                  </a:rPr>
                  <a:t>	 </a:t>
                </a:r>
                <a14:m>
                  <m:oMath xmlns:m="http://schemas.openxmlformats.org/officeDocument/2006/math">
                    <m:r>
                      <a:rPr lang="en-US" sz="2200" b="0" i="1" noProof="1" smtClean="0">
                        <a:latin typeface="Cambria Math" panose="02040503050406030204" pitchFamily="18" charset="0"/>
                        <a:ea typeface="Verdana" panose="020B0604030504040204" pitchFamily="34" charset="0"/>
                      </a:rPr>
                      <m:t>𝑃</m:t>
                    </m:r>
                    <m:r>
                      <a:rPr lang="en-US" sz="2200" b="0" i="0" noProof="1" smtClean="0">
                        <a:latin typeface="Cambria Math" panose="02040503050406030204" pitchFamily="18" charset="0"/>
                        <a:ea typeface="Verdana" panose="020B0604030504040204" pitchFamily="34" charset="0"/>
                      </a:rPr>
                      <m:t>(</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𝑌</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sub>
                    </m:sSub>
                    <m:r>
                      <a:rPr lang="en-US" sz="2200" b="0" i="1" noProof="1" smtClean="0">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m:t>
                    </m:r>
                    <m:r>
                      <a:rPr lang="el-GR" sz="2200" i="1" noProof="1">
                        <a:latin typeface="Cambria Math" panose="02040503050406030204" pitchFamily="18" charset="0"/>
                        <a:ea typeface="Cambria Math" panose="02040503050406030204" pitchFamily="18" charset="0"/>
                      </a:rPr>
                      <m:t>𝜃</m:t>
                    </m:r>
                    <m:r>
                      <a:rPr lang="en-US" sz="2200" b="0" i="1" noProof="1" smtClean="0">
                        <a:latin typeface="Cambria Math" panose="02040503050406030204" pitchFamily="18" charset="0"/>
                        <a:ea typeface="Cambria Math" panose="02040503050406030204" pitchFamily="18" charset="0"/>
                      </a:rPr>
                      <m:t> </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𝛼</m:t>
                    </m:r>
                    <m:r>
                      <a:rPr lang="en-US" sz="2200" b="0" i="1" noProof="1" smtClean="0">
                        <a:latin typeface="Cambria Math" panose="02040503050406030204" pitchFamily="18" charset="0"/>
                        <a:ea typeface="Cambria Math" panose="02040503050406030204" pitchFamily="18" charset="0"/>
                      </a:rPr>
                      <m:t> </m:t>
                    </m:r>
                    <m:r>
                      <a:rPr lang="en-US" sz="2200" i="1" noProof="1">
                        <a:latin typeface="Cambria Math" panose="02040503050406030204" pitchFamily="18" charset="0"/>
                        <a:ea typeface="Verdana" panose="020B0604030504040204" pitchFamily="34" charset="0"/>
                      </a:rPr>
                      <m:t>+</m:t>
                    </m:r>
                  </m:oMath>
                </a14:m>
                <a:r>
                  <a:rPr lang="en-US" sz="2200" noProof="1">
                    <a:ea typeface="Verdana" panose="020B0604030504040204" pitchFamily="34"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𝜇</m:t>
                        </m:r>
                      </m:e>
                      <m:sub>
                        <m:r>
                          <a:rPr lang="en-US" sz="2200" i="1" noProof="1">
                            <a:latin typeface="Cambria Math" panose="02040503050406030204" pitchFamily="18" charset="0"/>
                            <a:ea typeface="Verdana" panose="020B0604030504040204" pitchFamily="34" charset="0"/>
                          </a:rPr>
                          <m:t>𝑖</m:t>
                        </m:r>
                      </m:sub>
                    </m:sSub>
                    <m:r>
                      <a:rPr lang="en-US" sz="2200" i="1" noProof="1">
                        <a:latin typeface="Cambria Math" panose="02040503050406030204" pitchFamily="18" charset="0"/>
                        <a:ea typeface="Verdana" panose="020B0604030504040204" pitchFamily="34" charset="0"/>
                      </a:rPr>
                      <m:t>+</m:t>
                    </m:r>
                  </m:oMath>
                </a14:m>
                <a:r>
                  <a:rPr lang="en-US" sz="2200" noProof="1">
                    <a:ea typeface="Cambria Math" panose="02040503050406030204" pitchFamily="18"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𝜏</m:t>
                        </m:r>
                      </m:e>
                      <m:sub>
                        <m:r>
                          <a:rPr lang="en-US" sz="2200" b="0" i="1" noProof="1" smtClean="0">
                            <a:latin typeface="Cambria Math" panose="02040503050406030204" pitchFamily="18" charset="0"/>
                            <a:ea typeface="Verdana" panose="020B0604030504040204" pitchFamily="34" charset="0"/>
                          </a:rPr>
                          <m:t>𝑡</m:t>
                        </m:r>
                      </m:sub>
                    </m:sSub>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𝛽</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r>
                          <a:rPr lang="en-US" sz="2200" i="1" noProof="1">
                            <a:latin typeface="Cambria Math" panose="02040503050406030204" pitchFamily="18" charset="0"/>
                            <a:ea typeface="Verdana" panose="020B0604030504040204" pitchFamily="34" charset="0"/>
                          </a:rPr>
                          <m:t>𝑋</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i="1" noProof="1">
                        <a:latin typeface="Cambria Math" panose="02040503050406030204" pitchFamily="18" charset="0"/>
                        <a:ea typeface="Verdana" panose="020B0604030504040204" pitchFamily="34" charset="0"/>
                      </a:rPr>
                      <m:t>+</m:t>
                    </m:r>
                  </m:oMath>
                </a14:m>
                <a:r>
                  <a:rPr lang="en-US" sz="2000" noProof="1">
                    <a:ea typeface="Cambria Math" panose="02040503050406030204" pitchFamily="18" charset="0"/>
                  </a:rPr>
                  <a:t> </a:t>
                </a:r>
                <a14:m>
                  <m:oMath xmlns:m="http://schemas.openxmlformats.org/officeDocument/2006/math">
                    <m:r>
                      <a:rPr lang="en-US" sz="2000" i="1" noProof="1">
                        <a:latin typeface="Cambria Math" panose="02040503050406030204" pitchFamily="18" charset="0"/>
                        <a:ea typeface="Cambria Math" panose="02040503050406030204" pitchFamily="18" charset="0"/>
                      </a:rPr>
                      <m:t>𝛾</m:t>
                    </m:r>
                    <m:sSub>
                      <m:sSubPr>
                        <m:ctrlPr>
                          <a:rPr lang="en-US" sz="2000" i="1" noProof="1">
                            <a:latin typeface="Cambria Math" panose="02040503050406030204" pitchFamily="18" charset="0"/>
                            <a:ea typeface="Verdana" panose="020B0604030504040204" pitchFamily="34" charset="0"/>
                          </a:rPr>
                        </m:ctrlPr>
                      </m:sSubPr>
                      <m:e>
                        <m:r>
                          <a:rPr lang="en-US" sz="2000" i="1" noProof="1">
                            <a:latin typeface="Cambria Math" panose="02040503050406030204" pitchFamily="18" charset="0"/>
                            <a:ea typeface="Verdana" panose="020B0604030504040204" pitchFamily="34" charset="0"/>
                          </a:rPr>
                          <m:t> </m:t>
                        </m:r>
                        <m:r>
                          <a:rPr lang="en-US" sz="2000" i="1" noProof="1">
                            <a:latin typeface="Cambria Math" panose="02040503050406030204" pitchFamily="18" charset="0"/>
                            <a:ea typeface="Verdana" panose="020B0604030504040204" pitchFamily="34" charset="0"/>
                          </a:rPr>
                          <m:t>𝑋</m:t>
                        </m:r>
                      </m:e>
                      <m:sub>
                        <m:r>
                          <a:rPr lang="en-US" sz="2000" i="1" noProof="1">
                            <a:latin typeface="Cambria Math" panose="02040503050406030204" pitchFamily="18" charset="0"/>
                            <a:ea typeface="Verdana" panose="020B0604030504040204" pitchFamily="34" charset="0"/>
                          </a:rPr>
                          <m:t>𝑖</m:t>
                        </m:r>
                        <m:r>
                          <a:rPr lang="en-US" sz="2000" i="1" noProof="1">
                            <a:latin typeface="Cambria Math" panose="02040503050406030204" pitchFamily="18" charset="0"/>
                            <a:ea typeface="Verdana" panose="020B0604030504040204" pitchFamily="34" charset="0"/>
                          </a:rPr>
                          <m:t>,</m:t>
                        </m:r>
                        <m:r>
                          <a:rPr lang="en-US" sz="2000" i="1" noProof="1">
                            <a:latin typeface="Cambria Math" panose="02040503050406030204" pitchFamily="18" charset="0"/>
                            <a:ea typeface="Verdana" panose="020B0604030504040204" pitchFamily="34" charset="0"/>
                          </a:rPr>
                          <m:t>𝑡</m:t>
                        </m:r>
                        <m:r>
                          <a:rPr lang="en-US" sz="2000" b="0" i="1" noProof="1" smtClean="0">
                            <a:latin typeface="Cambria Math" panose="02040503050406030204" pitchFamily="18" charset="0"/>
                            <a:ea typeface="Verdana" panose="020B0604030504040204" pitchFamily="34" charset="0"/>
                          </a:rPr>
                          <m:t>−1</m:t>
                        </m:r>
                      </m:sub>
                    </m:sSub>
                    <m:sSub>
                      <m:sSubPr>
                        <m:ctrlPr>
                          <a:rPr lang="en-US" sz="2000" i="1" noProof="1">
                            <a:latin typeface="Cambria Math" panose="02040503050406030204" pitchFamily="18" charset="0"/>
                            <a:ea typeface="Verdana" panose="020B0604030504040204" pitchFamily="34" charset="0"/>
                          </a:rPr>
                        </m:ctrlPr>
                      </m:sSubPr>
                      <m:e>
                        <m:r>
                          <a:rPr lang="en-US" sz="2000" i="1" noProof="1">
                            <a:latin typeface="Cambria Math" panose="02040503050406030204" pitchFamily="18" charset="0"/>
                            <a:ea typeface="Verdana" panose="020B0604030504040204" pitchFamily="34" charset="0"/>
                          </a:rPr>
                          <m:t>𝐷</m:t>
                        </m:r>
                      </m:e>
                      <m:sub>
                        <m:r>
                          <a:rPr lang="en-US" sz="2000" i="1" noProof="1">
                            <a:latin typeface="Cambria Math" panose="02040503050406030204" pitchFamily="18" charset="0"/>
                            <a:ea typeface="Verdana" panose="020B0604030504040204" pitchFamily="34" charset="0"/>
                          </a:rPr>
                          <m:t>𝑡</m:t>
                        </m:r>
                      </m:sub>
                    </m:sSub>
                    <m:r>
                      <a:rPr lang="en-US" sz="2000" i="1" noProof="1">
                        <a:latin typeface="Cambria Math" panose="02040503050406030204" pitchFamily="18" charset="0"/>
                        <a:ea typeface="Verdana" panose="020B0604030504040204" pitchFamily="34" charset="0"/>
                      </a:rPr>
                      <m:t>+</m:t>
                    </m:r>
                    <m:r>
                      <a:rPr lang="en-US" sz="2000" i="1" noProof="1">
                        <a:latin typeface="Cambria Math" panose="02040503050406030204" pitchFamily="18" charset="0"/>
                        <a:ea typeface="Cambria Math" panose="02040503050406030204" pitchFamily="18" charset="0"/>
                      </a:rPr>
                      <m:t>𝜑</m:t>
                    </m:r>
                    <m:sSub>
                      <m:sSubPr>
                        <m:ctrlPr>
                          <a:rPr lang="en-US" sz="2000" i="1" noProof="1">
                            <a:latin typeface="Cambria Math" panose="02040503050406030204" pitchFamily="18" charset="0"/>
                            <a:ea typeface="Verdana" panose="020B0604030504040204" pitchFamily="34" charset="0"/>
                          </a:rPr>
                        </m:ctrlPr>
                      </m:sSubPr>
                      <m:e>
                        <m:r>
                          <a:rPr lang="en-US" sz="2000" i="1" noProof="1">
                            <a:latin typeface="Cambria Math" panose="02040503050406030204" pitchFamily="18" charset="0"/>
                            <a:ea typeface="Verdana" panose="020B0604030504040204" pitchFamily="34" charset="0"/>
                          </a:rPr>
                          <m:t> </m:t>
                        </m:r>
                        <m:r>
                          <a:rPr lang="en-US" sz="2000" i="1" noProof="1">
                            <a:latin typeface="Cambria Math" panose="02040503050406030204" pitchFamily="18" charset="0"/>
                            <a:ea typeface="Verdana" panose="020B0604030504040204" pitchFamily="34" charset="0"/>
                          </a:rPr>
                          <m:t>𝑍</m:t>
                        </m:r>
                      </m:e>
                      <m:sub>
                        <m:r>
                          <a:rPr lang="en-US" sz="2000" i="1" noProof="1">
                            <a:latin typeface="Cambria Math" panose="02040503050406030204" pitchFamily="18" charset="0"/>
                            <a:ea typeface="Verdana" panose="020B0604030504040204" pitchFamily="34" charset="0"/>
                          </a:rPr>
                          <m:t>𝑖</m:t>
                        </m:r>
                        <m:r>
                          <a:rPr lang="en-US" sz="2000" i="1" noProof="1">
                            <a:latin typeface="Cambria Math" panose="02040503050406030204" pitchFamily="18" charset="0"/>
                            <a:ea typeface="Verdana" panose="020B0604030504040204" pitchFamily="34" charset="0"/>
                          </a:rPr>
                          <m:t>,</m:t>
                        </m:r>
                        <m:r>
                          <a:rPr lang="en-US" sz="2000" i="1" noProof="1">
                            <a:latin typeface="Cambria Math" panose="02040503050406030204" pitchFamily="18" charset="0"/>
                            <a:ea typeface="Verdana" panose="020B0604030504040204" pitchFamily="34" charset="0"/>
                          </a:rPr>
                          <m:t>𝑡</m:t>
                        </m:r>
                        <m:r>
                          <a:rPr lang="en-US" sz="2000" b="0" i="1" noProof="1" smtClean="0">
                            <a:latin typeface="Cambria Math" panose="02040503050406030204" pitchFamily="18" charset="0"/>
                            <a:ea typeface="Verdana" panose="020B0604030504040204" pitchFamily="34" charset="0"/>
                          </a:rPr>
                          <m:t>−1</m:t>
                        </m:r>
                      </m:sub>
                    </m:sSub>
                    <m:r>
                      <a:rPr lang="en-US" sz="2000" i="1" noProof="1">
                        <a:latin typeface="Cambria Math" panose="02040503050406030204" pitchFamily="18" charset="0"/>
                        <a:ea typeface="Verdana" panose="020B0604030504040204" pitchFamily="34" charset="0"/>
                      </a:rPr>
                      <m:t>)</m:t>
                    </m:r>
                  </m:oMath>
                </a14:m>
                <a:endParaRPr lang="en-US" sz="2000" noProof="1">
                  <a:ea typeface="Verdana" panose="020B0604030504040204" pitchFamily="34" charset="0"/>
                </a:endParaRPr>
              </a:p>
              <a:p>
                <a:pPr>
                  <a:lnSpc>
                    <a:spcPct val="120000"/>
                  </a:lnSpc>
                  <a:spcAft>
                    <a:spcPts val="300"/>
                  </a:spcAft>
                </a:pPr>
                <a:endParaRPr lang="en-US" sz="2000" noProof="1">
                  <a:latin typeface="Verdana" panose="020B0604030504040204" pitchFamily="34" charset="0"/>
                  <a:ea typeface="Verdana" panose="020B0604030504040204" pitchFamily="34" charset="0"/>
                </a:endParaRPr>
              </a:p>
              <a:p>
                <a:pPr>
                  <a:lnSpc>
                    <a:spcPct val="120000"/>
                  </a:lnSpc>
                  <a:spcAft>
                    <a:spcPts val="300"/>
                  </a:spcAft>
                </a:pPr>
                <a:r>
                  <a:rPr lang="en-US" sz="2000" noProof="1">
                    <a:latin typeface="Verdana" panose="020B0604030504040204" pitchFamily="34" charset="0"/>
                    <a:ea typeface="Verdana" panose="020B0604030504040204" pitchFamily="34" charset="0"/>
                  </a:rPr>
                  <a:t>3. Additional effect (</a:t>
                </a:r>
                <a14:m>
                  <m:oMath xmlns:m="http://schemas.openxmlformats.org/officeDocument/2006/math">
                    <m:r>
                      <a:rPr lang="en-US" sz="2000" noProof="1">
                        <a:latin typeface="Cambria Math" panose="02040503050406030204" pitchFamily="18" charset="0"/>
                        <a:ea typeface="Verdana" panose="020B0604030504040204" pitchFamily="34" charset="0"/>
                      </a:rPr>
                      <m:t>𝛾</m:t>
                    </m:r>
                  </m:oMath>
                </a14:m>
                <a:r>
                  <a:rPr lang="en-US" sz="2000" noProof="1">
                    <a:latin typeface="Verdana" panose="020B0604030504040204" pitchFamily="34" charset="0"/>
                    <a:ea typeface="Verdana" panose="020B0604030504040204" pitchFamily="34" charset="0"/>
                  </a:rPr>
                  <a:t>) of high ICT/AI in shock years</a:t>
                </a:r>
              </a:p>
              <a:p>
                <a:pPr>
                  <a:lnSpc>
                    <a:spcPct val="120000"/>
                  </a:lnSpc>
                  <a:spcAft>
                    <a:spcPts val="300"/>
                  </a:spcAft>
                </a:pPr>
                <a:r>
                  <a:rPr lang="en-US" sz="2000" noProof="1">
                    <a:latin typeface="Verdana" panose="020B0604030504040204" pitchFamily="34" charset="0"/>
                    <a:ea typeface="Verdana" panose="020B0604030504040204" pitchFamily="34" charset="0"/>
                  </a:rPr>
                  <a:t>	</a:t>
                </a:r>
                <a:r>
                  <a:rPr lang="en-US" sz="2200" noProof="1">
                    <a:latin typeface="Verdana" panose="020B0604030504040204" pitchFamily="34" charset="0"/>
                    <a:ea typeface="Verdana" panose="020B0604030504040204" pitchFamily="34" charset="0"/>
                  </a:rPr>
                  <a:t> </a:t>
                </a:r>
                <a14:m>
                  <m:oMath xmlns:m="http://schemas.openxmlformats.org/officeDocument/2006/math">
                    <m:sSub>
                      <m:sSubPr>
                        <m:ctrlPr>
                          <a:rPr lang="en-US" sz="2200" b="0" i="1" noProof="1" smtClean="0">
                            <a:latin typeface="Cambria Math" panose="02040503050406030204" pitchFamily="18" charset="0"/>
                            <a:ea typeface="Verdana" panose="020B0604030504040204" pitchFamily="34" charset="0"/>
                          </a:rPr>
                        </m:ctrlPr>
                      </m:sSubPr>
                      <m:e>
                        <m:r>
                          <a:rPr lang="en-US" sz="2200" b="0" i="1" noProof="1" smtClean="0">
                            <a:latin typeface="Cambria Math" panose="02040503050406030204" pitchFamily="18" charset="0"/>
                            <a:ea typeface="Verdana" panose="020B0604030504040204" pitchFamily="34" charset="0"/>
                          </a:rPr>
                          <m:t>𝑃</m:t>
                        </m:r>
                        <m:r>
                          <a:rPr lang="en-US" sz="2200" b="0" i="1" noProof="1" smtClean="0">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𝑌</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sub>
                    </m:sSub>
                    <m:r>
                      <a:rPr lang="en-US" sz="2200" b="0" i="1" noProof="1" smtClean="0">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m:t>
                    </m:r>
                    <m:r>
                      <a:rPr lang="el-GR" sz="2200" i="1" noProof="1">
                        <a:latin typeface="Cambria Math" panose="02040503050406030204" pitchFamily="18" charset="0"/>
                        <a:ea typeface="Cambria Math" panose="02040503050406030204" pitchFamily="18" charset="0"/>
                      </a:rPr>
                      <m:t>𝜃</m:t>
                    </m:r>
                    <m:r>
                      <a:rPr lang="en-US" sz="2200" b="0" i="1" noProof="1" smtClean="0">
                        <a:latin typeface="Cambria Math" panose="02040503050406030204" pitchFamily="18" charset="0"/>
                        <a:ea typeface="Cambria Math" panose="02040503050406030204" pitchFamily="18" charset="0"/>
                      </a:rPr>
                      <m:t> </m:t>
                    </m:r>
                    <m:r>
                      <a:rPr lang="en-US" sz="2200" i="1" noProof="1">
                        <a:latin typeface="Cambria Math" panose="02040503050406030204" pitchFamily="18" charset="0"/>
                        <a:ea typeface="Cambria Math" panose="02040503050406030204" pitchFamily="18" charset="0"/>
                      </a:rPr>
                      <m:t>(</m:t>
                    </m:r>
                    <m:r>
                      <a:rPr lang="en-US" sz="2200" i="1" noProof="1">
                        <a:latin typeface="Cambria Math" panose="02040503050406030204" pitchFamily="18" charset="0"/>
                        <a:ea typeface="Cambria Math" panose="02040503050406030204" pitchFamily="18" charset="0"/>
                      </a:rPr>
                      <m:t>𝛼</m:t>
                    </m:r>
                    <m:r>
                      <a:rPr lang="en-US" sz="2200" i="1" noProof="1">
                        <a:latin typeface="Cambria Math" panose="02040503050406030204" pitchFamily="18" charset="0"/>
                        <a:ea typeface="Verdana" panose="020B0604030504040204" pitchFamily="34" charset="0"/>
                      </a:rPr>
                      <m:t>+</m:t>
                    </m:r>
                  </m:oMath>
                </a14:m>
                <a:r>
                  <a:rPr lang="en-US" sz="2200" noProof="1">
                    <a:ea typeface="Verdana" panose="020B0604030504040204" pitchFamily="34"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𝜇</m:t>
                        </m:r>
                      </m:e>
                      <m:sub>
                        <m:r>
                          <a:rPr lang="en-US" sz="2200" i="1" noProof="1">
                            <a:latin typeface="Cambria Math" panose="02040503050406030204" pitchFamily="18" charset="0"/>
                            <a:ea typeface="Verdana" panose="020B0604030504040204" pitchFamily="34" charset="0"/>
                          </a:rPr>
                          <m:t>𝑖</m:t>
                        </m:r>
                        <m:r>
                          <a:rPr lang="en-US" sz="2200" b="0" i="1" noProof="1" smtClean="0">
                            <a:latin typeface="Cambria Math" panose="02040503050406030204" pitchFamily="18" charset="0"/>
                            <a:ea typeface="Verdana" panose="020B0604030504040204" pitchFamily="34" charset="0"/>
                          </a:rPr>
                          <m:t> </m:t>
                        </m:r>
                      </m:sub>
                    </m:sSub>
                    <m:r>
                      <a:rPr lang="en-US" sz="2200" i="1" noProof="1">
                        <a:latin typeface="Cambria Math" panose="02040503050406030204" pitchFamily="18" charset="0"/>
                        <a:ea typeface="Verdana" panose="020B0604030504040204" pitchFamily="34" charset="0"/>
                      </a:rPr>
                      <m:t>+</m:t>
                    </m:r>
                  </m:oMath>
                </a14:m>
                <a:r>
                  <a:rPr lang="en-US" sz="2200" noProof="1">
                    <a:ea typeface="Cambria Math" panose="02040503050406030204" pitchFamily="18" charset="0"/>
                  </a:rPr>
                  <a:t> </a:t>
                </a:r>
                <a14:m>
                  <m:oMath xmlns:m="http://schemas.openxmlformats.org/officeDocument/2006/math">
                    <m:sSub>
                      <m:sSubPr>
                        <m:ctrlPr>
                          <a:rPr lang="en-US" sz="2200" i="1" noProof="1">
                            <a:latin typeface="Cambria Math" panose="02040503050406030204" pitchFamily="18" charset="0"/>
                            <a:ea typeface="Cambria Math" panose="02040503050406030204" pitchFamily="18" charset="0"/>
                          </a:rPr>
                        </m:ctrlPr>
                      </m:sSubPr>
                      <m:e>
                        <m:r>
                          <a:rPr lang="en-US" sz="2200" i="1" noProof="1">
                            <a:latin typeface="Cambria Math" panose="02040503050406030204" pitchFamily="18" charset="0"/>
                            <a:ea typeface="Cambria Math" panose="02040503050406030204" pitchFamily="18" charset="0"/>
                          </a:rPr>
                          <m:t>𝜏</m:t>
                        </m:r>
                      </m:e>
                      <m:sub>
                        <m:r>
                          <a:rPr lang="en-US" sz="2200" b="0" i="1" noProof="1" smtClean="0">
                            <a:latin typeface="Cambria Math" panose="02040503050406030204" pitchFamily="18" charset="0"/>
                            <a:ea typeface="Verdana" panose="020B0604030504040204" pitchFamily="34" charset="0"/>
                          </a:rPr>
                          <m:t>𝑡</m:t>
                        </m:r>
                      </m:sub>
                    </m:sSub>
                    <m:r>
                      <a:rPr lang="en-US" sz="2200" i="1" noProof="1">
                        <a:latin typeface="Cambria Math" panose="02040503050406030204" pitchFamily="18" charset="0"/>
                        <a:ea typeface="Verdana" panose="020B0604030504040204" pitchFamily="34" charset="0"/>
                      </a:rPr>
                      <m:t>+</m:t>
                    </m:r>
                    <m:r>
                      <a:rPr lang="en-US" sz="2200" b="0" i="1" noProof="1" smtClean="0">
                        <a:latin typeface="Cambria Math" panose="02040503050406030204" pitchFamily="18" charset="0"/>
                        <a:ea typeface="Verdana" panose="020B0604030504040204" pitchFamily="34" charset="0"/>
                      </a:rPr>
                      <m:t> </m:t>
                    </m:r>
                    <m:r>
                      <a:rPr lang="en-US" sz="2200" i="1" noProof="1">
                        <a:latin typeface="Cambria Math" panose="02040503050406030204" pitchFamily="18" charset="0"/>
                        <a:ea typeface="Cambria Math" panose="02040503050406030204" pitchFamily="18" charset="0"/>
                      </a:rPr>
                      <m:t>𝛽</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sSubSup>
                          <m:sSubSupPr>
                            <m:ctrlPr>
                              <a:rPr lang="en-US" sz="2200" b="0" i="1" noProof="1" smtClean="0">
                                <a:latin typeface="Cambria Math" panose="02040503050406030204" pitchFamily="18" charset="0"/>
                                <a:ea typeface="Verdana" panose="020B0604030504040204" pitchFamily="34" charset="0"/>
                              </a:rPr>
                            </m:ctrlPr>
                          </m:sSubSupPr>
                          <m:e>
                            <m:r>
                              <a:rPr lang="en-US" sz="2200" b="0" i="1" noProof="1" smtClean="0">
                                <a:latin typeface="Cambria Math" panose="02040503050406030204" pitchFamily="18" charset="0"/>
                                <a:ea typeface="Verdana" panose="020B0604030504040204" pitchFamily="34" charset="0"/>
                              </a:rPr>
                              <m:t>𝑋</m:t>
                            </m:r>
                          </m:e>
                          <m:sub>
                            <m:r>
                              <a:rPr lang="en-US" sz="2200" b="0" i="1" noProof="1" smtClean="0">
                                <a:latin typeface="Cambria Math" panose="02040503050406030204" pitchFamily="18" charset="0"/>
                                <a:ea typeface="Verdana" panose="020B0604030504040204" pitchFamily="34" charset="0"/>
                              </a:rPr>
                              <m:t>𝑖</m:t>
                            </m:r>
                            <m:r>
                              <a:rPr lang="en-US" sz="2200" b="0" i="1" noProof="1" smtClean="0">
                                <a:latin typeface="Cambria Math" panose="02040503050406030204" pitchFamily="18" charset="0"/>
                                <a:ea typeface="Verdana" panose="020B0604030504040204" pitchFamily="34" charset="0"/>
                              </a:rPr>
                              <m:t>,</m:t>
                            </m:r>
                            <m:r>
                              <a:rPr lang="en-US" sz="2200" b="0" i="1" noProof="1" smtClean="0">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up>
                            <m:r>
                              <a:rPr lang="en-US" sz="2200" b="0" i="1" noProof="1" smtClean="0">
                                <a:latin typeface="Cambria Math" panose="02040503050406030204" pitchFamily="18" charset="0"/>
                                <a:ea typeface="Verdana" panose="020B0604030504040204" pitchFamily="34" charset="0"/>
                              </a:rPr>
                              <m:t>ℎ𝑖𝑔ℎ</m:t>
                            </m:r>
                          </m:sup>
                        </m:sSubSup>
                      </m:e>
                      <m:sub>
                        <m:r>
                          <a:rPr lang="en-US" sz="2200" i="1" noProof="1" smtClean="0">
                            <a:latin typeface="Cambria Math" panose="02040503050406030204" pitchFamily="18" charset="0"/>
                            <a:ea typeface="Verdana" panose="020B0604030504040204" pitchFamily="34" charset="0"/>
                          </a:rPr>
                          <m:t> </m:t>
                        </m:r>
                      </m:sub>
                    </m:sSub>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𝛾</m:t>
                    </m:r>
                    <m:r>
                      <a:rPr lang="en-US" sz="2200" i="1" noProof="1">
                        <a:latin typeface="Cambria Math" panose="02040503050406030204" pitchFamily="18" charset="0"/>
                        <a:ea typeface="Cambria Math" panose="02040503050406030204" pitchFamily="18" charset="0"/>
                      </a:rPr>
                      <m:t> </m:t>
                    </m:r>
                    <m:sSubSup>
                      <m:sSubSupPr>
                        <m:ctrlPr>
                          <a:rPr lang="en-US" sz="2200" i="1" noProof="1">
                            <a:latin typeface="Cambria Math" panose="02040503050406030204" pitchFamily="18" charset="0"/>
                            <a:ea typeface="Verdana" panose="020B0604030504040204" pitchFamily="34" charset="0"/>
                          </a:rPr>
                        </m:ctrlPr>
                      </m:sSubSupPr>
                      <m:e>
                        <m:r>
                          <a:rPr lang="en-US" sz="2200" i="1" noProof="1">
                            <a:latin typeface="Cambria Math" panose="02040503050406030204" pitchFamily="18" charset="0"/>
                            <a:ea typeface="Verdana" panose="020B0604030504040204" pitchFamily="34" charset="0"/>
                          </a:rPr>
                          <m:t>𝑋</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up>
                        <m:r>
                          <a:rPr lang="en-US" sz="2200" i="1" noProof="1">
                            <a:latin typeface="Cambria Math" panose="02040503050406030204" pitchFamily="18" charset="0"/>
                            <a:ea typeface="Verdana" panose="020B0604030504040204" pitchFamily="34" charset="0"/>
                          </a:rPr>
                          <m:t>ℎ𝑖𝑔ℎ</m:t>
                        </m:r>
                      </m:sup>
                    </m:sSubSup>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𝐷</m:t>
                        </m:r>
                      </m:e>
                      <m:sub>
                        <m:r>
                          <a:rPr lang="en-US" sz="2200" i="1" noProof="1">
                            <a:latin typeface="Cambria Math" panose="02040503050406030204" pitchFamily="18" charset="0"/>
                            <a:ea typeface="Verdana" panose="020B0604030504040204" pitchFamily="34" charset="0"/>
                          </a:rPr>
                          <m:t>𝑡</m:t>
                        </m:r>
                      </m:sub>
                    </m:sSub>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Cambria Math" panose="02040503050406030204" pitchFamily="18" charset="0"/>
                      </a:rPr>
                      <m:t>𝜑</m:t>
                    </m:r>
                    <m:sSub>
                      <m:sSubPr>
                        <m:ctrlPr>
                          <a:rPr lang="en-US" sz="2200" i="1" noProof="1">
                            <a:latin typeface="Cambria Math" panose="02040503050406030204" pitchFamily="18" charset="0"/>
                            <a:ea typeface="Verdana" panose="020B0604030504040204" pitchFamily="34" charset="0"/>
                          </a:rPr>
                        </m:ctrlPr>
                      </m:sSubPr>
                      <m:e>
                        <m:r>
                          <a:rPr lang="en-US" sz="2200" i="1" noProof="1">
                            <a:latin typeface="Cambria Math" panose="02040503050406030204" pitchFamily="18" charset="0"/>
                            <a:ea typeface="Verdana" panose="020B0604030504040204" pitchFamily="34" charset="0"/>
                          </a:rPr>
                          <m:t> </m:t>
                        </m:r>
                        <m:r>
                          <a:rPr lang="en-US" sz="2200" i="1" noProof="1">
                            <a:latin typeface="Cambria Math" panose="02040503050406030204" pitchFamily="18" charset="0"/>
                            <a:ea typeface="Verdana" panose="020B0604030504040204" pitchFamily="34" charset="0"/>
                          </a:rPr>
                          <m:t>𝑍</m:t>
                        </m:r>
                      </m:e>
                      <m:sub>
                        <m:r>
                          <a:rPr lang="en-US" sz="2200" i="1" noProof="1">
                            <a:latin typeface="Cambria Math" panose="02040503050406030204" pitchFamily="18" charset="0"/>
                            <a:ea typeface="Verdana" panose="020B0604030504040204" pitchFamily="34" charset="0"/>
                          </a:rPr>
                          <m:t>𝑖</m:t>
                        </m:r>
                        <m:r>
                          <a:rPr lang="en-US" sz="2200" i="1" noProof="1">
                            <a:latin typeface="Cambria Math" panose="02040503050406030204" pitchFamily="18" charset="0"/>
                            <a:ea typeface="Verdana" panose="020B0604030504040204" pitchFamily="34" charset="0"/>
                          </a:rPr>
                          <m:t>,</m:t>
                        </m:r>
                        <m:r>
                          <a:rPr lang="en-US" sz="2200" i="1" noProof="1">
                            <a:latin typeface="Cambria Math" panose="02040503050406030204" pitchFamily="18" charset="0"/>
                            <a:ea typeface="Verdana" panose="020B0604030504040204" pitchFamily="34" charset="0"/>
                          </a:rPr>
                          <m:t>𝑡</m:t>
                        </m:r>
                        <m:r>
                          <a:rPr lang="en-US" sz="2200" b="0" i="1" noProof="1" smtClean="0">
                            <a:latin typeface="Cambria Math" panose="02040503050406030204" pitchFamily="18" charset="0"/>
                            <a:ea typeface="Verdana" panose="020B0604030504040204" pitchFamily="34" charset="0"/>
                          </a:rPr>
                          <m:t>−1</m:t>
                        </m:r>
                      </m:sub>
                    </m:sSub>
                    <m:r>
                      <a:rPr lang="en-US" sz="2200" b="0" i="1" noProof="1" smtClean="0">
                        <a:latin typeface="Cambria Math" panose="02040503050406030204" pitchFamily="18" charset="0"/>
                        <a:ea typeface="Verdana" panose="020B0604030504040204" pitchFamily="34" charset="0"/>
                      </a:rPr>
                      <m:t>)</m:t>
                    </m:r>
                  </m:oMath>
                </a14:m>
                <a:endParaRPr lang="en-US" sz="2200" noProof="1">
                  <a:solidFill>
                    <a:schemeClr val="tx1"/>
                  </a:solidFill>
                  <a:latin typeface="Verdana" panose="020B0604030504040204" pitchFamily="34" charset="0"/>
                  <a:ea typeface="Verdana" panose="020B0604030504040204" pitchFamily="34" charset="0"/>
                </a:endParaRPr>
              </a:p>
              <a:p>
                <a:pPr>
                  <a:lnSpc>
                    <a:spcPct val="120000"/>
                  </a:lnSpc>
                  <a:spcAft>
                    <a:spcPts val="300"/>
                  </a:spcAft>
                </a:pPr>
                <a:endParaRPr lang="en-US" sz="2200" noProof="1">
                  <a:solidFill>
                    <a:schemeClr val="tx1"/>
                  </a:solidFill>
                  <a:latin typeface="Verdana" panose="020B0604030504040204" pitchFamily="34" charset="0"/>
                  <a:ea typeface="Verdana" panose="020B0604030504040204" pitchFamily="34" charset="0"/>
                </a:endParaRPr>
              </a:p>
              <a:p>
                <a:pPr>
                  <a:lnSpc>
                    <a:spcPct val="120000"/>
                  </a:lnSpc>
                  <a:spcAft>
                    <a:spcPts val="1200"/>
                  </a:spcAft>
                </a:pPr>
                <a14:m>
                  <m:oMath xmlns:m="http://schemas.openxmlformats.org/officeDocument/2006/math">
                    <m:sSub>
                      <m:sSubPr>
                        <m:ctrlPr>
                          <a:rPr lang="en-US" sz="1900" i="1" noProof="1">
                            <a:solidFill>
                              <a:schemeClr val="tx1"/>
                            </a:solidFill>
                            <a:latin typeface="Cambria Math" panose="02040503050406030204" pitchFamily="18" charset="0"/>
                            <a:ea typeface="Verdana" panose="020B0604030504040204" pitchFamily="34" charset="0"/>
                          </a:rPr>
                        </m:ctrlPr>
                      </m:sSubPr>
                      <m:e>
                        <m:r>
                          <a:rPr lang="en-US" sz="1900" i="1" noProof="1">
                            <a:solidFill>
                              <a:schemeClr val="tx1"/>
                            </a:solidFill>
                            <a:latin typeface="Cambria Math" panose="02040503050406030204" pitchFamily="18" charset="0"/>
                            <a:ea typeface="Verdana" panose="020B0604030504040204" pitchFamily="34" charset="0"/>
                          </a:rPr>
                          <m:t>𝑌</m:t>
                        </m:r>
                      </m:e>
                      <m:sub>
                        <m:r>
                          <a:rPr lang="en-US" sz="1900" i="1" noProof="1">
                            <a:solidFill>
                              <a:schemeClr val="tx1"/>
                            </a:solidFill>
                            <a:latin typeface="Cambria Math" panose="02040503050406030204" pitchFamily="18" charset="0"/>
                            <a:ea typeface="Verdana" panose="020B0604030504040204" pitchFamily="34" charset="0"/>
                          </a:rPr>
                          <m:t>𝑖</m:t>
                        </m:r>
                        <m:r>
                          <a:rPr lang="en-US" sz="1900" i="1" noProof="1">
                            <a:solidFill>
                              <a:schemeClr val="tx1"/>
                            </a:solidFill>
                            <a:latin typeface="Cambria Math" panose="02040503050406030204" pitchFamily="18" charset="0"/>
                            <a:ea typeface="Verdana" panose="020B0604030504040204" pitchFamily="34" charset="0"/>
                          </a:rPr>
                          <m:t>,</m:t>
                        </m:r>
                        <m:r>
                          <a:rPr lang="en-US" sz="1900" i="1" noProof="1">
                            <a:solidFill>
                              <a:schemeClr val="tx1"/>
                            </a:solidFill>
                            <a:latin typeface="Cambria Math" panose="02040503050406030204" pitchFamily="18" charset="0"/>
                            <a:ea typeface="Verdana" panose="020B0604030504040204" pitchFamily="34" charset="0"/>
                          </a:rPr>
                          <m:t>𝑡</m:t>
                        </m:r>
                      </m:sub>
                    </m:sSub>
                    <m:r>
                      <a:rPr lang="en-US" sz="1900" b="0" i="1" noProof="1" smtClean="0">
                        <a:solidFill>
                          <a:schemeClr val="tx1"/>
                        </a:solidFill>
                        <a:latin typeface="Cambria Math" panose="02040503050406030204" pitchFamily="18" charset="0"/>
                        <a:ea typeface="Verdana" panose="020B0604030504040204" pitchFamily="34" charset="0"/>
                      </a:rPr>
                      <m:t>=1 </m:t>
                    </m:r>
                    <m:r>
                      <a:rPr lang="en-US" sz="1900" b="0" i="0" noProof="1" smtClean="0">
                        <a:solidFill>
                          <a:schemeClr val="tx1"/>
                        </a:solidFill>
                        <a:latin typeface="Cambria Math" panose="02040503050406030204" pitchFamily="18" charset="0"/>
                        <a:ea typeface="Verdana" panose="020B0604030504040204" pitchFamily="34" charset="0"/>
                      </a:rPr>
                      <m:t> </m:t>
                    </m:r>
                  </m:oMath>
                </a14:m>
                <a:r>
                  <a:rPr lang="nl-NL" sz="1800" dirty="0">
                    <a:solidFill>
                      <a:schemeClr val="tx1"/>
                    </a:solidFill>
                  </a:rPr>
                  <a:t>if </a:t>
                </a:r>
                <a:r>
                  <a:rPr lang="nl-NL" sz="1800" dirty="0" err="1">
                    <a:solidFill>
                      <a:schemeClr val="tx1"/>
                    </a:solidFill>
                  </a:rPr>
                  <a:t>growth</a:t>
                </a:r>
                <a:r>
                  <a:rPr lang="nl-NL" sz="1800" dirty="0">
                    <a:solidFill>
                      <a:schemeClr val="tx1"/>
                    </a:solidFill>
                  </a:rPr>
                  <a:t> surprise &gt; 0 (</a:t>
                </a:r>
                <a:r>
                  <a:rPr lang="nl-NL" sz="1800" dirty="0" err="1">
                    <a:solidFill>
                      <a:schemeClr val="tx1"/>
                    </a:solidFill>
                  </a:rPr>
                  <a:t>otherwise</a:t>
                </a:r>
                <a:r>
                  <a:rPr lang="nl-NL" sz="1800" dirty="0">
                    <a:solidFill>
                      <a:schemeClr val="tx1"/>
                    </a:solidFill>
                  </a:rPr>
                  <a:t> 0)</a:t>
                </a:r>
                <a:r>
                  <a:rPr lang="nl-NL" sz="1800" dirty="0"/>
                  <a:t>;</a:t>
                </a:r>
                <a:r>
                  <a:rPr lang="nl-NL" sz="1800" dirty="0">
                    <a:solidFill>
                      <a:schemeClr val="tx1"/>
                    </a:solidFill>
                  </a:rPr>
                  <a:t> </a:t>
                </a:r>
                <a14:m>
                  <m:oMath xmlns:m="http://schemas.openxmlformats.org/officeDocument/2006/math">
                    <m:r>
                      <a:rPr lang="en-US" sz="2000" b="0" i="0" noProof="1" smtClean="0">
                        <a:latin typeface="Cambria Math" panose="02040503050406030204" pitchFamily="18" charset="0"/>
                        <a:ea typeface="Cambria Math" panose="02040503050406030204" pitchFamily="18" charset="0"/>
                      </a:rPr>
                      <m:t> </m:t>
                    </m:r>
                    <m:r>
                      <a:rPr lang="el-GR" sz="2000" i="1" noProof="1">
                        <a:latin typeface="Cambria Math" panose="02040503050406030204" pitchFamily="18" charset="0"/>
                        <a:ea typeface="Cambria Math" panose="02040503050406030204" pitchFamily="18" charset="0"/>
                      </a:rPr>
                      <m:t>𝜃</m:t>
                    </m:r>
                  </m:oMath>
                </a14:m>
                <a:r>
                  <a:rPr lang="nl-NL" sz="1800" dirty="0"/>
                  <a:t> is standard </a:t>
                </a:r>
                <a:r>
                  <a:rPr lang="nl-NL" sz="1800" dirty="0" err="1"/>
                  <a:t>normal</a:t>
                </a:r>
                <a:r>
                  <a:rPr lang="nl-NL" sz="1800" dirty="0"/>
                  <a:t> CDF</a:t>
                </a:r>
              </a:p>
              <a:p>
                <a:pPr>
                  <a:lnSpc>
                    <a:spcPct val="120000"/>
                  </a:lnSpc>
                  <a:spcAft>
                    <a:spcPts val="1200"/>
                  </a:spcAft>
                </a:pP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oMath>
                </a14:m>
                <a:r>
                  <a:rPr lang="nl-NL" sz="1800" dirty="0">
                    <a:solidFill>
                      <a:schemeClr val="tx1"/>
                    </a:solidFill>
                  </a:rPr>
                  <a:t> is ICT/AI-</a:t>
                </a:r>
                <a:r>
                  <a:rPr lang="nl-NL" sz="1800" dirty="0" err="1">
                    <a:solidFill>
                      <a:schemeClr val="tx1"/>
                    </a:solidFill>
                  </a:rPr>
                  <a:t>related</a:t>
                </a:r>
                <a:r>
                  <a:rPr lang="nl-NL" sz="1800" dirty="0">
                    <a:solidFill>
                      <a:schemeClr val="tx1"/>
                    </a:solidFill>
                  </a:rPr>
                  <a:t> </a:t>
                </a:r>
                <a:r>
                  <a:rPr lang="nl-NL" sz="1800" dirty="0" err="1">
                    <a:solidFill>
                      <a:schemeClr val="tx1"/>
                    </a:solidFill>
                  </a:rPr>
                  <a:t>variable</a:t>
                </a:r>
                <a:r>
                  <a:rPr lang="nl-NL" sz="1800" dirty="0">
                    <a:solidFill>
                      <a:schemeClr val="tx1"/>
                    </a:solidFill>
                  </a:rPr>
                  <a:t>. </a:t>
                </a:r>
                <a14:m>
                  <m:oMath xmlns:m="http://schemas.openxmlformats.org/officeDocument/2006/math">
                    <m:sSubSup>
                      <m:sSubSupPr>
                        <m:ctrlPr>
                          <a:rPr lang="en-US" sz="1900" i="1" noProof="1">
                            <a:latin typeface="Cambria Math" panose="02040503050406030204" pitchFamily="18" charset="0"/>
                            <a:ea typeface="Verdana" panose="020B0604030504040204" pitchFamily="34" charset="0"/>
                          </a:rPr>
                        </m:ctrlPr>
                      </m:sSubSup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up>
                        <m:r>
                          <a:rPr lang="en-US" sz="1900" i="1" noProof="1">
                            <a:latin typeface="Cambria Math" panose="02040503050406030204" pitchFamily="18" charset="0"/>
                            <a:ea typeface="Verdana" panose="020B0604030504040204" pitchFamily="34" charset="0"/>
                          </a:rPr>
                          <m:t>ℎ𝑖𝑔ℎ</m:t>
                        </m:r>
                      </m:sup>
                    </m:sSubSup>
                    <m:r>
                      <a:rPr lang="en-US" sz="1900" b="0" i="1" noProof="1" smtClean="0">
                        <a:latin typeface="Cambria Math" panose="02040503050406030204" pitchFamily="18" charset="0"/>
                        <a:ea typeface="Verdana" panose="020B0604030504040204" pitchFamily="34" charset="0"/>
                      </a:rPr>
                      <m:t>=</m:t>
                    </m:r>
                  </m:oMath>
                </a14:m>
                <a:r>
                  <a:rPr lang="en-US" sz="1900" noProof="1">
                    <a:ea typeface="Verdana" panose="020B0604030504040204" pitchFamily="34" charset="0"/>
                  </a:rPr>
                  <a:t>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oMath>
                </a14:m>
                <a:r>
                  <a:rPr lang="nl-NL" sz="1800" dirty="0"/>
                  <a:t> if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𝑋</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r>
                      <a:rPr lang="en-US" sz="1900" b="0" i="1" noProof="1" smtClean="0">
                        <a:latin typeface="Cambria Math" panose="02040503050406030204" pitchFamily="18" charset="0"/>
                        <a:ea typeface="Verdana" panose="020B0604030504040204" pitchFamily="34" charset="0"/>
                      </a:rPr>
                      <m:t>&gt;</m:t>
                    </m:r>
                    <m:r>
                      <m:rPr>
                        <m:sty m:val="p"/>
                      </m:rPr>
                      <a:rPr lang="en-US" sz="1900" b="0" i="0" noProof="1" smtClean="0">
                        <a:latin typeface="Cambria Math" panose="02040503050406030204" pitchFamily="18" charset="0"/>
                        <a:ea typeface="Verdana" panose="020B0604030504040204" pitchFamily="34" charset="0"/>
                      </a:rPr>
                      <m:t>median</m:t>
                    </m:r>
                    <m:d>
                      <m:dPr>
                        <m:ctrlPr>
                          <a:rPr lang="en-US" sz="1900" b="0" i="1" noProof="1" smtClean="0">
                            <a:latin typeface="Cambria Math" panose="02040503050406030204" pitchFamily="18" charset="0"/>
                            <a:ea typeface="Verdana" panose="020B0604030504040204" pitchFamily="34" charset="0"/>
                          </a:rPr>
                        </m:ctrlPr>
                      </m:dPr>
                      <m:e>
                        <m:r>
                          <a:rPr lang="en-US" sz="1900" b="0" i="1" noProof="1" smtClean="0">
                            <a:latin typeface="Cambria Math" panose="02040503050406030204" pitchFamily="18" charset="0"/>
                            <a:ea typeface="Verdana" panose="020B0604030504040204" pitchFamily="34" charset="0"/>
                          </a:rPr>
                          <m:t>𝑋</m:t>
                        </m:r>
                      </m:e>
                    </m:d>
                    <m:r>
                      <a:rPr lang="en-US" sz="1900" b="0" i="1" noProof="1" smtClean="0">
                        <a:latin typeface="Cambria Math" panose="02040503050406030204" pitchFamily="18" charset="0"/>
                        <a:ea typeface="Verdana" panose="020B0604030504040204" pitchFamily="34" charset="0"/>
                      </a:rPr>
                      <m:t>, </m:t>
                    </m:r>
                    <m:r>
                      <m:rPr>
                        <m:sty m:val="p"/>
                      </m:rPr>
                      <a:rPr lang="en-US" sz="1900" b="0" i="0" noProof="1" smtClean="0">
                        <a:latin typeface="Cambria Math" panose="02040503050406030204" pitchFamily="18" charset="0"/>
                        <a:ea typeface="Verdana" panose="020B0604030504040204" pitchFamily="34" charset="0"/>
                      </a:rPr>
                      <m:t>otherwise</m:t>
                    </m:r>
                    <m:r>
                      <a:rPr lang="en-US" sz="1900" b="0" i="1" noProof="1" smtClean="0">
                        <a:latin typeface="Cambria Math" panose="02040503050406030204" pitchFamily="18" charset="0"/>
                        <a:ea typeface="Verdana" panose="020B0604030504040204" pitchFamily="34" charset="0"/>
                      </a:rPr>
                      <m:t> 0</m:t>
                    </m:r>
                  </m:oMath>
                </a14:m>
                <a:r>
                  <a:rPr lang="nl-NL" sz="2000" dirty="0"/>
                  <a:t> </a:t>
                </a:r>
              </a:p>
              <a:p>
                <a:pPr>
                  <a:lnSpc>
                    <a:spcPct val="120000"/>
                  </a:lnSpc>
                  <a:spcAft>
                    <a:spcPts val="1200"/>
                  </a:spcAft>
                </a:pP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𝐷</m:t>
                        </m:r>
                      </m:e>
                      <m:sub>
                        <m:r>
                          <a:rPr lang="en-US" sz="1900" i="1" noProof="1">
                            <a:latin typeface="Cambria Math" panose="02040503050406030204" pitchFamily="18" charset="0"/>
                            <a:ea typeface="Verdana" panose="020B0604030504040204" pitchFamily="34" charset="0"/>
                          </a:rPr>
                          <m:t>𝑡</m:t>
                        </m:r>
                      </m:sub>
                    </m:sSub>
                    <m:r>
                      <a:rPr lang="en-US" sz="1900" b="0" i="1" noProof="1" smtClean="0">
                        <a:latin typeface="Cambria Math" panose="02040503050406030204" pitchFamily="18" charset="0"/>
                        <a:ea typeface="Verdana" panose="020B0604030504040204" pitchFamily="34" charset="0"/>
                      </a:rPr>
                      <m:t> </m:t>
                    </m:r>
                  </m:oMath>
                </a14:m>
                <a:r>
                  <a:rPr lang="nl-NL" sz="1800" dirty="0">
                    <a:solidFill>
                      <a:schemeClr val="tx1"/>
                    </a:solidFill>
                  </a:rPr>
                  <a:t>is dummy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𝐷</m:t>
                        </m:r>
                      </m:e>
                      <m:sub>
                        <m:r>
                          <a:rPr lang="en-US" sz="1900" i="1" noProof="1">
                            <a:latin typeface="Cambria Math" panose="02040503050406030204" pitchFamily="18" charset="0"/>
                            <a:ea typeface="Verdana" panose="020B0604030504040204" pitchFamily="34" charset="0"/>
                          </a:rPr>
                          <m:t>𝑡</m:t>
                        </m:r>
                      </m:sub>
                    </m:sSub>
                    <m:r>
                      <a:rPr lang="en-US" sz="1900" b="0" i="1" noProof="1" smtClean="0">
                        <a:latin typeface="Cambria Math" panose="02040503050406030204" pitchFamily="18" charset="0"/>
                        <a:ea typeface="Verdana" panose="020B0604030504040204" pitchFamily="34" charset="0"/>
                      </a:rPr>
                      <m:t>=1 </m:t>
                    </m:r>
                  </m:oMath>
                </a14:m>
                <a:r>
                  <a:rPr lang="nl-NL" sz="1800" dirty="0"/>
                  <a:t>for shock </a:t>
                </a:r>
                <a:r>
                  <a:rPr lang="nl-NL" sz="1800" dirty="0" err="1"/>
                  <a:t>years</a:t>
                </a:r>
                <a:r>
                  <a:rPr lang="nl-NL" sz="1800" dirty="0"/>
                  <a:t>, </a:t>
                </a:r>
                <a:r>
                  <a:rPr lang="nl-NL" sz="1800" dirty="0" err="1"/>
                  <a:t>otherwise</a:t>
                </a:r>
                <a:r>
                  <a:rPr lang="nl-NL" sz="1800" dirty="0"/>
                  <a:t> 0); </a:t>
                </a:r>
                <a14:m>
                  <m:oMath xmlns:m="http://schemas.openxmlformats.org/officeDocument/2006/math">
                    <m:sSub>
                      <m:sSubPr>
                        <m:ctrlPr>
                          <a:rPr lang="en-US" sz="1900" i="1" noProof="1">
                            <a:latin typeface="Cambria Math" panose="02040503050406030204" pitchFamily="18" charset="0"/>
                            <a:ea typeface="Verdana" panose="020B0604030504040204" pitchFamily="34" charset="0"/>
                          </a:rPr>
                        </m:ctrlPr>
                      </m:sSubPr>
                      <m:e>
                        <m:r>
                          <a:rPr lang="en-US" sz="1900" i="1" noProof="1">
                            <a:latin typeface="Cambria Math" panose="02040503050406030204" pitchFamily="18" charset="0"/>
                            <a:ea typeface="Verdana" panose="020B0604030504040204" pitchFamily="34" charset="0"/>
                          </a:rPr>
                          <m:t> </m:t>
                        </m:r>
                        <m:r>
                          <a:rPr lang="en-US" sz="1900" i="1" noProof="1">
                            <a:latin typeface="Cambria Math" panose="02040503050406030204" pitchFamily="18" charset="0"/>
                            <a:ea typeface="Verdana" panose="020B0604030504040204" pitchFamily="34" charset="0"/>
                          </a:rPr>
                          <m:t>𝑍</m:t>
                        </m:r>
                      </m:e>
                      <m:sub>
                        <m:r>
                          <a:rPr lang="en-US" sz="1900" i="1" noProof="1">
                            <a:latin typeface="Cambria Math" panose="02040503050406030204" pitchFamily="18" charset="0"/>
                            <a:ea typeface="Verdana" panose="020B0604030504040204" pitchFamily="34" charset="0"/>
                          </a:rPr>
                          <m:t>𝑖</m:t>
                        </m:r>
                        <m:r>
                          <a:rPr lang="en-US" sz="1900" i="1" noProof="1">
                            <a:latin typeface="Cambria Math" panose="02040503050406030204" pitchFamily="18" charset="0"/>
                            <a:ea typeface="Verdana" panose="020B0604030504040204" pitchFamily="34" charset="0"/>
                          </a:rPr>
                          <m:t>,</m:t>
                        </m:r>
                        <m:r>
                          <a:rPr lang="en-US" sz="1900" i="1" noProof="1">
                            <a:latin typeface="Cambria Math" panose="02040503050406030204" pitchFamily="18" charset="0"/>
                            <a:ea typeface="Verdana" panose="020B0604030504040204" pitchFamily="34" charset="0"/>
                          </a:rPr>
                          <m:t>𝑡</m:t>
                        </m:r>
                      </m:sub>
                    </m:sSub>
                  </m:oMath>
                </a14:m>
                <a:r>
                  <a:rPr lang="nl-NL" sz="1800" dirty="0">
                    <a:solidFill>
                      <a:schemeClr val="tx1"/>
                    </a:solidFill>
                  </a:rPr>
                  <a:t> control variables</a:t>
                </a:r>
              </a:p>
            </p:txBody>
          </p:sp>
        </mc:Choice>
        <mc:Fallback>
          <p:sp>
            <p:nvSpPr>
              <p:cNvPr id="2" name="Content Placeholder 2">
                <a:extLst>
                  <a:ext uri="{FF2B5EF4-FFF2-40B4-BE49-F238E27FC236}">
                    <a16:creationId xmlns:a16="http://schemas.microsoft.com/office/drawing/2014/main" id="{6B853D72-57E4-54DF-F916-E87E4C65C99E}"/>
                  </a:ext>
                </a:extLst>
              </p:cNvPr>
              <p:cNvSpPr>
                <a:spLocks noGrp="1" noRot="1" noChangeAspect="1" noMove="1" noResize="1" noEditPoints="1" noAdjustHandles="1" noChangeArrowheads="1" noChangeShapeType="1" noTextEdit="1"/>
              </p:cNvSpPr>
              <p:nvPr>
                <p:ph idx="1"/>
              </p:nvPr>
            </p:nvSpPr>
            <p:spPr>
              <a:xfrm>
                <a:off x="420624" y="770798"/>
                <a:ext cx="8505051" cy="5679439"/>
              </a:xfrm>
              <a:blipFill>
                <a:blip r:embed="rId3"/>
                <a:stretch>
                  <a:fillRect l="-1792" t="-966"/>
                </a:stretch>
              </a:blipFill>
            </p:spPr>
            <p:txBody>
              <a:bodyPr/>
              <a:lstStyle/>
              <a:p>
                <a:r>
                  <a:rPr lang="en-GB">
                    <a:noFill/>
                  </a:rPr>
                  <a:t> </a:t>
                </a:r>
              </a:p>
            </p:txBody>
          </p:sp>
        </mc:Fallback>
      </mc:AlternateContent>
    </p:spTree>
    <p:extLst>
      <p:ext uri="{BB962C8B-B14F-4D97-AF65-F5344CB8AC3E}">
        <p14:creationId xmlns:p14="http://schemas.microsoft.com/office/powerpoint/2010/main" val="5156658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9027D3-935D-C730-7AF0-AF109ECE8EC5}"/>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784B30AC-5ECB-6948-E309-0039374246EA}"/>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Results</a:t>
            </a:r>
          </a:p>
        </p:txBody>
      </p:sp>
      <p:sp>
        <p:nvSpPr>
          <p:cNvPr id="2" name="Content Placeholder 2">
            <a:extLst>
              <a:ext uri="{FF2B5EF4-FFF2-40B4-BE49-F238E27FC236}">
                <a16:creationId xmlns:a16="http://schemas.microsoft.com/office/drawing/2014/main" id="{9D7DFCD1-CA74-2C76-7A49-94B41E557F74}"/>
              </a:ext>
            </a:extLst>
          </p:cNvPr>
          <p:cNvSpPr>
            <a:spLocks noGrp="1"/>
          </p:cNvSpPr>
          <p:nvPr>
            <p:ph idx="1"/>
          </p:nvPr>
        </p:nvSpPr>
        <p:spPr>
          <a:xfrm>
            <a:off x="105536" y="1016441"/>
            <a:ext cx="8756744" cy="5679439"/>
          </a:xfrm>
        </p:spPr>
        <p:txBody>
          <a:bodyPr>
            <a:normAutofit/>
          </a:bodyPr>
          <a:lstStyle/>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ICT/AI-related investment </a:t>
            </a:r>
            <a:r>
              <a:rPr lang="en-US" sz="1800" noProof="1">
                <a:latin typeface="Arial" panose="020B0604020202020204" pitchFamily="34" charset="0"/>
                <a:ea typeface="Verdana" panose="020B0604030504040204" pitchFamily="34" charset="0"/>
                <a:cs typeface="Arial" panose="020B0604020202020204" pitchFamily="34" charset="0"/>
              </a:rPr>
              <a:t>→</a:t>
            </a:r>
            <a:r>
              <a:rPr lang="en-US" sz="1800" noProof="1">
                <a:latin typeface="Verdana" panose="020B0604030504040204" pitchFamily="34" charset="0"/>
                <a:ea typeface="Verdana" panose="020B0604030504040204" pitchFamily="34" charset="0"/>
              </a:rPr>
              <a:t> positive average effect on growth surprises</a:t>
            </a:r>
          </a:p>
          <a:p>
            <a:pPr marL="285750" indent="-285750">
              <a:lnSpc>
                <a:spcPct val="120000"/>
              </a:lnSpc>
              <a:spcAft>
                <a:spcPts val="1200"/>
              </a:spcAft>
              <a:buFont typeface="Arial" panose="020B0604020202020204" pitchFamily="34" charset="0"/>
              <a:buChar char="•"/>
            </a:pPr>
            <a:r>
              <a:rPr lang="en-US" sz="1800" noProof="1">
                <a:latin typeface="Verdana" panose="020B0604030504040204" pitchFamily="34" charset="0"/>
                <a:ea typeface="Verdana" panose="020B0604030504040204" pitchFamily="34" charset="0"/>
              </a:rPr>
              <a:t>ICT/AI-related trade exposure </a:t>
            </a:r>
            <a:r>
              <a:rPr lang="en-US" sz="1800" noProof="1">
                <a:latin typeface="Arial" panose="020B0604020202020204" pitchFamily="34" charset="0"/>
                <a:ea typeface="Verdana" panose="020B0604030504040204" pitchFamily="34" charset="0"/>
                <a:cs typeface="Arial" panose="020B0604020202020204" pitchFamily="34" charset="0"/>
              </a:rPr>
              <a:t>→</a:t>
            </a:r>
            <a:r>
              <a:rPr lang="en-US" sz="1800" noProof="1">
                <a:latin typeface="Verdana" panose="020B0604030504040204" pitchFamily="34" charset="0"/>
                <a:ea typeface="Verdana" panose="020B0604030504040204" pitchFamily="34" charset="0"/>
              </a:rPr>
              <a:t> additional effect on positive growth surprise in shock years, confirming the unconditional tests</a:t>
            </a:r>
          </a:p>
          <a:p>
            <a:pPr>
              <a:lnSpc>
                <a:spcPct val="120000"/>
              </a:lnSpc>
              <a:spcAft>
                <a:spcPts val="1200"/>
              </a:spcAft>
            </a:pPr>
            <a:endParaRPr lang="nl-NL" sz="1600" dirty="0">
              <a:solidFill>
                <a:schemeClr val="accent1">
                  <a:lumMod val="50000"/>
                </a:schemeClr>
              </a:solidFill>
            </a:endParaRPr>
          </a:p>
        </p:txBody>
      </p:sp>
      <p:sp>
        <p:nvSpPr>
          <p:cNvPr id="6" name="Tekstvak 3">
            <a:extLst>
              <a:ext uri="{FF2B5EF4-FFF2-40B4-BE49-F238E27FC236}">
                <a16:creationId xmlns:a16="http://schemas.microsoft.com/office/drawing/2014/main" id="{4ED6076C-5ED2-F560-9ECC-68A359BFC0CA}"/>
              </a:ext>
            </a:extLst>
          </p:cNvPr>
          <p:cNvSpPr txBox="1"/>
          <p:nvPr/>
        </p:nvSpPr>
        <p:spPr>
          <a:xfrm>
            <a:off x="163552" y="5061145"/>
            <a:ext cx="8748822" cy="1107996"/>
          </a:xfrm>
          <a:prstGeom prst="rect">
            <a:avLst/>
          </a:prstGeom>
          <a:noFill/>
        </p:spPr>
        <p:txBody>
          <a:bodyPr wrap="square" rtlCol="0">
            <a:spAutoFit/>
          </a:bodyPr>
          <a:lstStyle/>
          <a:p>
            <a:pPr algn="just">
              <a:defRPr/>
            </a:pPr>
            <a:r>
              <a:rPr lang="nl-NL" sz="1100" noProof="1">
                <a:solidFill>
                  <a:srgbClr val="002060"/>
                </a:solidFill>
              </a:rPr>
              <a:t>***, **, * indicate 1%, 5%, 10% significance. Standard errors based on country-clustered sandwich covariance matrix (robust to heteroscedasticity and within country dependence, so countries (clusters) are assumed independent of each other). </a:t>
            </a:r>
            <a:r>
              <a:rPr lang="en-US" sz="1100" noProof="1">
                <a:solidFill>
                  <a:srgbClr val="002060"/>
                </a:solidFill>
              </a:rPr>
              <a:t>Explanatory variables are standardised and included one period lagged (to address endogeneity concerns and numerator effects in the ratios based on GDP as numerator). In each equation, one of the AI/ICT-related variables is included in </a:t>
            </a:r>
            <a:r>
              <a:rPr lang="en-US" sz="1100" i="1" noProof="1">
                <a:solidFill>
                  <a:srgbClr val="002060"/>
                </a:solidFill>
              </a:rPr>
              <a:t>X</a:t>
            </a:r>
            <a:r>
              <a:rPr lang="en-US" sz="1100" noProof="1">
                <a:solidFill>
                  <a:srgbClr val="002060"/>
                </a:solidFill>
              </a:rPr>
              <a:t>. As control variables we included i) state aid as ratio of GDP (contemporaneous value of state aid and one period lagged GDP, source </a:t>
            </a:r>
            <a:r>
              <a:rPr lang="en-US" sz="1100" noProof="1">
                <a:solidFill>
                  <a:srgbClr val="002060"/>
                </a:solidFill>
                <a:hlinkClick r:id="rId3"/>
              </a:rPr>
              <a:t>Eurostat</a:t>
            </a:r>
            <a:r>
              <a:rPr lang="en-US" sz="1100" noProof="1">
                <a:solidFill>
                  <a:srgbClr val="002060"/>
                </a:solidFill>
              </a:rPr>
              <a:t>) and a measure for trade openness (source Worldbank).</a:t>
            </a:r>
            <a:endParaRPr lang="nl-NL" sz="1100" noProof="1">
              <a:solidFill>
                <a:srgbClr val="002060"/>
              </a:solidFill>
            </a:endParaRPr>
          </a:p>
        </p:txBody>
      </p:sp>
      <p:pic>
        <p:nvPicPr>
          <p:cNvPr id="3" name="Picture 2">
            <a:extLst>
              <a:ext uri="{FF2B5EF4-FFF2-40B4-BE49-F238E27FC236}">
                <a16:creationId xmlns:a16="http://schemas.microsoft.com/office/drawing/2014/main" id="{6492589E-33A7-C5CD-04E6-4BE9402B49C5}"/>
              </a:ext>
            </a:extLst>
          </p:cNvPr>
          <p:cNvPicPr>
            <a:picLocks noChangeAspect="1"/>
          </p:cNvPicPr>
          <p:nvPr/>
        </p:nvPicPr>
        <p:blipFill>
          <a:blip r:embed="rId4"/>
          <a:stretch>
            <a:fillRect/>
          </a:stretch>
        </p:blipFill>
        <p:spPr>
          <a:xfrm>
            <a:off x="222636" y="2329223"/>
            <a:ext cx="8698728" cy="2470589"/>
          </a:xfrm>
          <a:prstGeom prst="rect">
            <a:avLst/>
          </a:prstGeom>
        </p:spPr>
      </p:pic>
    </p:spTree>
    <p:extLst>
      <p:ext uri="{BB962C8B-B14F-4D97-AF65-F5344CB8AC3E}">
        <p14:creationId xmlns:p14="http://schemas.microsoft.com/office/powerpoint/2010/main" val="9091460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CD0D6-1CFA-E426-08B0-AF5055AC2BF0}"/>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2EDEA4FF-77B4-1210-0800-2B8BF9AA0C33}"/>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Conclusions</a:t>
            </a:r>
          </a:p>
        </p:txBody>
      </p:sp>
      <p:sp>
        <p:nvSpPr>
          <p:cNvPr id="2" name="Content Placeholder 2">
            <a:extLst>
              <a:ext uri="{FF2B5EF4-FFF2-40B4-BE49-F238E27FC236}">
                <a16:creationId xmlns:a16="http://schemas.microsoft.com/office/drawing/2014/main" id="{EFBED4CC-73CB-5E21-890E-866BC0B3643A}"/>
              </a:ext>
            </a:extLst>
          </p:cNvPr>
          <p:cNvSpPr>
            <a:spLocks noGrp="1"/>
          </p:cNvSpPr>
          <p:nvPr>
            <p:ph idx="1"/>
          </p:nvPr>
        </p:nvSpPr>
        <p:spPr>
          <a:xfrm>
            <a:off x="281720" y="1072550"/>
            <a:ext cx="8396454" cy="5679439"/>
          </a:xfrm>
        </p:spPr>
        <p:txBody>
          <a:bodyPr>
            <a:normAutofit/>
          </a:bodyPr>
          <a:lstStyle/>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Positive growth surprises more common in shock years than in normal years, pointing to larger than expected resilience</a:t>
            </a: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ICT/AI-related corporate investment matters in normal times</a:t>
            </a: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AI equity investment does not play this role and even seems to be a relative disadvantage during shocks</a:t>
            </a:r>
          </a:p>
          <a:p>
            <a:pPr marL="285750" indent="-285750">
              <a:lnSpc>
                <a:spcPct val="120000"/>
              </a:lnSpc>
              <a:spcAft>
                <a:spcPts val="1200"/>
              </a:spcAft>
              <a:buFont typeface="Arial" panose="020B0604020202020204" pitchFamily="34" charset="0"/>
              <a:buChar char="•"/>
            </a:pPr>
            <a:r>
              <a:rPr lang="en-US" sz="2000" noProof="1">
                <a:latin typeface="Verdana" panose="020B0604030504040204" pitchFamily="34" charset="0"/>
                <a:ea typeface="Verdana" panose="020B0604030504040204" pitchFamily="34" charset="0"/>
              </a:rPr>
              <a:t>Trade exposure has been a resilience channel in shock years (AI-stock market correlation has not) …</a:t>
            </a:r>
          </a:p>
          <a:p>
            <a:pPr>
              <a:lnSpc>
                <a:spcPct val="120000"/>
              </a:lnSpc>
              <a:spcAft>
                <a:spcPts val="1200"/>
              </a:spcAft>
            </a:pPr>
            <a:r>
              <a:rPr lang="en-US" sz="2000" noProof="1">
                <a:latin typeface="Verdana" panose="020B0604030504040204" pitchFamily="34" charset="0"/>
                <a:ea typeface="Verdana" panose="020B0604030504040204" pitchFamily="34" charset="0"/>
              </a:rPr>
              <a:t>	… but </a:t>
            </a:r>
            <a:r>
              <a:rPr lang="en-US" sz="2000" noProof="1">
                <a:latin typeface="Verdana" panose="020B0604030504040204" pitchFamily="34" charset="0"/>
                <a:ea typeface="Verdana" panose="020B0604030504040204" pitchFamily="34" charset="0"/>
                <a:cs typeface="Arial" panose="020B0604020202020204" pitchFamily="34" charset="0"/>
              </a:rPr>
              <a:t>if a future shock would originate from the AI sector 	itself, high-tech trade exposure could turn from an 	advantage into a vulnerability</a:t>
            </a: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a:lnSpc>
                <a:spcPct val="120000"/>
              </a:lnSpc>
              <a:spcAft>
                <a:spcPts val="1200"/>
              </a:spcAft>
            </a:pPr>
            <a:endParaRPr lang="nl-NL" sz="1600" dirty="0">
              <a:solidFill>
                <a:schemeClr val="accent1">
                  <a:lumMod val="50000"/>
                </a:schemeClr>
              </a:solidFill>
            </a:endParaRPr>
          </a:p>
        </p:txBody>
      </p:sp>
    </p:spTree>
    <p:extLst>
      <p:ext uri="{BB962C8B-B14F-4D97-AF65-F5344CB8AC3E}">
        <p14:creationId xmlns:p14="http://schemas.microsoft.com/office/powerpoint/2010/main" val="37776620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771139-22FF-EBBF-773A-91572EAD08B7}"/>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98F2D218-3382-A4F9-611C-8C2FC2F0440C}"/>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Background slides</a:t>
            </a:r>
          </a:p>
        </p:txBody>
      </p:sp>
    </p:spTree>
    <p:extLst>
      <p:ext uri="{BB962C8B-B14F-4D97-AF65-F5344CB8AC3E}">
        <p14:creationId xmlns:p14="http://schemas.microsoft.com/office/powerpoint/2010/main" val="36663425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63FEDE-A68E-263C-78AD-8A94B89C1D6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A3DE4CC-1235-6A5B-5226-EACB34CDA045}"/>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Wild swings in semiconductor short-term </a:t>
            </a:r>
            <a:r>
              <a:rPr lang="nl-NL" sz="2400" dirty="0" err="1">
                <a:solidFill>
                  <a:schemeClr val="bg1"/>
                </a:solidFill>
              </a:rPr>
              <a:t>cycle</a:t>
            </a:r>
            <a:endParaRPr lang="nl-NL" sz="2400" dirty="0">
              <a:solidFill>
                <a:srgbClr val="FF0000"/>
              </a:solidFill>
            </a:endParaRPr>
          </a:p>
        </p:txBody>
      </p:sp>
      <p:sp>
        <p:nvSpPr>
          <p:cNvPr id="6" name="Content Placeholder 2">
            <a:extLst>
              <a:ext uri="{FF2B5EF4-FFF2-40B4-BE49-F238E27FC236}">
                <a16:creationId xmlns:a16="http://schemas.microsoft.com/office/drawing/2014/main" id="{1E8422D5-2452-DB5E-9929-FF6B42FB6722}"/>
              </a:ext>
            </a:extLst>
          </p:cNvPr>
          <p:cNvSpPr>
            <a:spLocks noGrp="1"/>
          </p:cNvSpPr>
          <p:nvPr>
            <p:ph idx="1"/>
          </p:nvPr>
        </p:nvSpPr>
        <p:spPr>
          <a:xfrm>
            <a:off x="146303" y="935391"/>
            <a:ext cx="2962657" cy="4989922"/>
          </a:xfrm>
        </p:spPr>
        <p:txBody>
          <a:bodyPr>
            <a:normAutofit/>
          </a:bodyPr>
          <a:lstStyle/>
          <a:p>
            <a:pPr marL="285750" indent="-285750">
              <a:lnSpc>
                <a:spcPct val="120000"/>
              </a:lnSpc>
              <a:spcAft>
                <a:spcPts val="1200"/>
              </a:spcAft>
              <a:buFont typeface="Arial" panose="020B0604020202020204" pitchFamily="34" charset="0"/>
              <a:buChar char="•"/>
            </a:pPr>
            <a:endParaRPr lang="en-US" sz="2000" noProof="1">
              <a:solidFill>
                <a:schemeClr val="accent1">
                  <a:lumMod val="50000"/>
                </a:schemeClr>
              </a:solidFill>
              <a:latin typeface="Verdana" panose="020B0604030504040204" pitchFamily="34" charset="0"/>
              <a:ea typeface="Verdana" panose="020B0604030504040204" pitchFamily="34" charset="0"/>
            </a:endParaRPr>
          </a:p>
          <a:p>
            <a:pPr marL="285750" indent="-285750">
              <a:lnSpc>
                <a:spcPct val="120000"/>
              </a:lnSpc>
              <a:spcAft>
                <a:spcPts val="1200"/>
              </a:spcAft>
              <a:buFont typeface="Arial" panose="020B0604020202020204" pitchFamily="34" charset="0"/>
              <a:buChar char="•"/>
            </a:pPr>
            <a:r>
              <a:rPr lang="en-US" sz="2000" noProof="1">
                <a:solidFill>
                  <a:schemeClr val="accent1">
                    <a:lumMod val="50000"/>
                  </a:schemeClr>
                </a:solidFill>
                <a:latin typeface="Verdana" panose="020B0604030504040204" pitchFamily="34" charset="0"/>
                <a:ea typeface="Verdana" panose="020B0604030504040204" pitchFamily="34" charset="0"/>
              </a:rPr>
              <a:t>Short-term semiconductor cycle more volatile than traditional stocks</a:t>
            </a:r>
          </a:p>
          <a:p>
            <a:pPr>
              <a:lnSpc>
                <a:spcPct val="120000"/>
              </a:lnSpc>
              <a:spcAft>
                <a:spcPts val="1200"/>
              </a:spcAft>
            </a:pPr>
            <a:endParaRPr lang="nl-NL" sz="1600" dirty="0">
              <a:solidFill>
                <a:schemeClr val="accent1">
                  <a:lumMod val="50000"/>
                </a:schemeClr>
              </a:solidFill>
            </a:endParaRPr>
          </a:p>
        </p:txBody>
      </p:sp>
      <p:sp>
        <p:nvSpPr>
          <p:cNvPr id="8" name="Tekstvak 3">
            <a:extLst>
              <a:ext uri="{FF2B5EF4-FFF2-40B4-BE49-F238E27FC236}">
                <a16:creationId xmlns:a16="http://schemas.microsoft.com/office/drawing/2014/main" id="{F8831F86-71DE-C3FE-B109-F7E9B5952F04}"/>
              </a:ext>
            </a:extLst>
          </p:cNvPr>
          <p:cNvSpPr txBox="1"/>
          <p:nvPr/>
        </p:nvSpPr>
        <p:spPr>
          <a:xfrm>
            <a:off x="3790386" y="5833124"/>
            <a:ext cx="5207311" cy="461665"/>
          </a:xfrm>
          <a:prstGeom prst="rect">
            <a:avLst/>
          </a:prstGeom>
          <a:noFill/>
        </p:spPr>
        <p:txBody>
          <a:bodyPr wrap="square" rtlCol="0">
            <a:spAutoFit/>
          </a:bodyPr>
          <a:lstStyle/>
          <a:p>
            <a:pPr>
              <a:defRPr/>
            </a:pPr>
            <a:r>
              <a:rPr lang="nl-NL" sz="1200" dirty="0" err="1">
                <a:solidFill>
                  <a:srgbClr val="002060"/>
                </a:solidFill>
              </a:rPr>
              <a:t>Annual</a:t>
            </a:r>
            <a:r>
              <a:rPr lang="nl-NL" sz="1200" dirty="0">
                <a:solidFill>
                  <a:srgbClr val="002060"/>
                </a:solidFill>
              </a:rPr>
              <a:t> log return of STOXX Europe 600 and Semiconductor stock index (SOX), source Yahoo Finance. </a:t>
            </a:r>
            <a:r>
              <a:rPr lang="nl-NL" sz="1200" dirty="0">
                <a:solidFill>
                  <a:srgbClr val="002060"/>
                </a:solidFill>
                <a:hlinkClick r:id="rId3" action="ppaction://hlinksldjump"/>
              </a:rPr>
              <a:t>Link</a:t>
            </a:r>
            <a:r>
              <a:rPr lang="nl-NL" sz="1200" dirty="0">
                <a:solidFill>
                  <a:srgbClr val="002060"/>
                </a:solidFill>
              </a:rPr>
              <a:t> back.</a:t>
            </a:r>
          </a:p>
        </p:txBody>
      </p:sp>
      <p:pic>
        <p:nvPicPr>
          <p:cNvPr id="3" name="Picture 2">
            <a:extLst>
              <a:ext uri="{FF2B5EF4-FFF2-40B4-BE49-F238E27FC236}">
                <a16:creationId xmlns:a16="http://schemas.microsoft.com/office/drawing/2014/main" id="{91A85948-69E3-BFEE-81F1-A1C9C4ED33BD}"/>
              </a:ext>
            </a:extLst>
          </p:cNvPr>
          <p:cNvPicPr>
            <a:picLocks noChangeAspect="1"/>
          </p:cNvPicPr>
          <p:nvPr/>
        </p:nvPicPr>
        <p:blipFill>
          <a:blip r:embed="rId4"/>
          <a:stretch>
            <a:fillRect/>
          </a:stretch>
        </p:blipFill>
        <p:spPr>
          <a:xfrm>
            <a:off x="3538729" y="1533014"/>
            <a:ext cx="5458968" cy="3514473"/>
          </a:xfrm>
          <a:prstGeom prst="rect">
            <a:avLst/>
          </a:prstGeom>
        </p:spPr>
      </p:pic>
    </p:spTree>
    <p:extLst>
      <p:ext uri="{BB962C8B-B14F-4D97-AF65-F5344CB8AC3E}">
        <p14:creationId xmlns:p14="http://schemas.microsoft.com/office/powerpoint/2010/main" val="14736962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E651E-039A-5D85-5C26-C3731B5E62B3}"/>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33D671E-1B58-DEFA-8900-436B363D6930}"/>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investment</a:t>
            </a:r>
            <a:endParaRPr lang="nl-NL" sz="2400" dirty="0">
              <a:solidFill>
                <a:srgbClr val="FF0000"/>
              </a:solidFill>
            </a:endParaRPr>
          </a:p>
        </p:txBody>
      </p:sp>
      <p:sp>
        <p:nvSpPr>
          <p:cNvPr id="8" name="Tekstvak 3">
            <a:extLst>
              <a:ext uri="{FF2B5EF4-FFF2-40B4-BE49-F238E27FC236}">
                <a16:creationId xmlns:a16="http://schemas.microsoft.com/office/drawing/2014/main" id="{21C63CC4-9F1C-6D6D-9FEF-9D04021E36EE}"/>
              </a:ext>
            </a:extLst>
          </p:cNvPr>
          <p:cNvSpPr txBox="1"/>
          <p:nvPr/>
        </p:nvSpPr>
        <p:spPr>
          <a:xfrm>
            <a:off x="4820687" y="5251888"/>
            <a:ext cx="4087369" cy="646331"/>
          </a:xfrm>
          <a:prstGeom prst="rect">
            <a:avLst/>
          </a:prstGeom>
          <a:noFill/>
        </p:spPr>
        <p:txBody>
          <a:bodyPr wrap="square" rtlCol="0">
            <a:spAutoFit/>
          </a:bodyPr>
          <a:lstStyle/>
          <a:p>
            <a:pPr>
              <a:defRPr/>
            </a:pPr>
            <a:r>
              <a:rPr lang="nl-NL" sz="1200" dirty="0">
                <a:solidFill>
                  <a:srgbClr val="002060"/>
                </a:solidFill>
              </a:rPr>
              <a:t>Number of </a:t>
            </a:r>
            <a:r>
              <a:rPr lang="nl-NL" sz="1200" dirty="0" err="1">
                <a:solidFill>
                  <a:srgbClr val="002060"/>
                </a:solidFill>
              </a:rPr>
              <a:t>incoming</a:t>
            </a:r>
            <a:r>
              <a:rPr lang="nl-NL" sz="1200" dirty="0">
                <a:solidFill>
                  <a:srgbClr val="002060"/>
                </a:solidFill>
              </a:rPr>
              <a:t> </a:t>
            </a:r>
            <a:r>
              <a:rPr lang="nl-NL" sz="1200" dirty="0" err="1">
                <a:solidFill>
                  <a:srgbClr val="002060"/>
                </a:solidFill>
              </a:rPr>
              <a:t>equity</a:t>
            </a:r>
            <a:r>
              <a:rPr lang="nl-NL" sz="1200" dirty="0">
                <a:solidFill>
                  <a:srgbClr val="002060"/>
                </a:solidFill>
              </a:rPr>
              <a:t> </a:t>
            </a:r>
            <a:r>
              <a:rPr lang="nl-NL" sz="1200" dirty="0" err="1">
                <a:solidFill>
                  <a:srgbClr val="002060"/>
                </a:solidFill>
              </a:rPr>
              <a:t>investments</a:t>
            </a:r>
            <a:r>
              <a:rPr lang="nl-NL" sz="1200" dirty="0">
                <a:solidFill>
                  <a:srgbClr val="002060"/>
                </a:solidFill>
              </a:rPr>
              <a:t> in AI fields, </a:t>
            </a:r>
            <a:r>
              <a:rPr lang="nl-NL" sz="1200" dirty="0" err="1">
                <a:solidFill>
                  <a:srgbClr val="002060"/>
                </a:solidFill>
              </a:rPr>
              <a:t>scaled</a:t>
            </a:r>
            <a:r>
              <a:rPr lang="nl-NL" sz="1200" dirty="0">
                <a:solidFill>
                  <a:srgbClr val="002060"/>
                </a:solidFill>
              </a:rPr>
              <a:t> </a:t>
            </a:r>
            <a:r>
              <a:rPr lang="nl-NL" sz="1200" dirty="0" err="1">
                <a:solidFill>
                  <a:srgbClr val="002060"/>
                </a:solidFill>
              </a:rPr>
              <a:t>by</a:t>
            </a:r>
            <a:r>
              <a:rPr lang="nl-NL" sz="1200" dirty="0">
                <a:solidFill>
                  <a:srgbClr val="002060"/>
                </a:solidFill>
              </a:rPr>
              <a:t> GDP. </a:t>
            </a:r>
            <a:r>
              <a:rPr lang="nl-NL" sz="1200" dirty="0" err="1">
                <a:solidFill>
                  <a:srgbClr val="002060"/>
                </a:solidFill>
              </a:rPr>
              <a:t>Annual</a:t>
            </a:r>
            <a:r>
              <a:rPr lang="nl-NL" sz="1200" dirty="0">
                <a:solidFill>
                  <a:srgbClr val="002060"/>
                </a:solidFill>
              </a:rPr>
              <a:t> data 2015-2025 (Source: </a:t>
            </a:r>
            <a:r>
              <a:rPr lang="en-US" sz="1200" dirty="0">
                <a:solidFill>
                  <a:srgbClr val="002060"/>
                </a:solidFill>
              </a:rPr>
              <a:t>ETO's CAT, </a:t>
            </a:r>
            <a:r>
              <a:rPr lang="en-US" sz="1200" dirty="0">
                <a:solidFill>
                  <a:srgbClr val="002060"/>
                </a:solidFill>
                <a:hlinkClick r:id="rId3"/>
              </a:rPr>
              <a:t>Country Activity Tracker</a:t>
            </a:r>
            <a:r>
              <a:rPr lang="en-US" sz="1200" dirty="0">
                <a:solidFill>
                  <a:srgbClr val="002060"/>
                </a:solidFill>
              </a:rPr>
              <a:t>)</a:t>
            </a:r>
            <a:r>
              <a:rPr lang="nl-NL" sz="1200" dirty="0">
                <a:solidFill>
                  <a:srgbClr val="002060"/>
                </a:solidFill>
              </a:rPr>
              <a:t>.</a:t>
            </a:r>
          </a:p>
        </p:txBody>
      </p:sp>
      <p:pic>
        <p:nvPicPr>
          <p:cNvPr id="7" name="Picture 6">
            <a:extLst>
              <a:ext uri="{FF2B5EF4-FFF2-40B4-BE49-F238E27FC236}">
                <a16:creationId xmlns:a16="http://schemas.microsoft.com/office/drawing/2014/main" id="{00D67D2D-8767-2D3D-DB1A-994B39847091}"/>
              </a:ext>
            </a:extLst>
          </p:cNvPr>
          <p:cNvPicPr>
            <a:picLocks noChangeAspect="1"/>
          </p:cNvPicPr>
          <p:nvPr/>
        </p:nvPicPr>
        <p:blipFill>
          <a:blip r:embed="rId4"/>
          <a:stretch>
            <a:fillRect/>
          </a:stretch>
        </p:blipFill>
        <p:spPr>
          <a:xfrm>
            <a:off x="4661999" y="1728216"/>
            <a:ext cx="4335697" cy="3203135"/>
          </a:xfrm>
          <a:prstGeom prst="rect">
            <a:avLst/>
          </a:prstGeom>
        </p:spPr>
      </p:pic>
      <p:sp>
        <p:nvSpPr>
          <p:cNvPr id="11" name="Tekstvak 3">
            <a:extLst>
              <a:ext uri="{FF2B5EF4-FFF2-40B4-BE49-F238E27FC236}">
                <a16:creationId xmlns:a16="http://schemas.microsoft.com/office/drawing/2014/main" id="{7D1FCEE6-8AAC-959D-A8E8-B4CF4C9F0122}"/>
              </a:ext>
            </a:extLst>
          </p:cNvPr>
          <p:cNvSpPr txBox="1"/>
          <p:nvPr/>
        </p:nvSpPr>
        <p:spPr>
          <a:xfrm>
            <a:off x="304990" y="5053409"/>
            <a:ext cx="4087369" cy="1200329"/>
          </a:xfrm>
          <a:prstGeom prst="rect">
            <a:avLst/>
          </a:prstGeom>
          <a:noFill/>
        </p:spPr>
        <p:txBody>
          <a:bodyPr wrap="square" rtlCol="0">
            <a:spAutoFit/>
          </a:bodyPr>
          <a:lstStyle/>
          <a:p>
            <a:pPr>
              <a:defRPr/>
            </a:pPr>
            <a:r>
              <a:rPr lang="nl-NL" sz="1200" dirty="0">
                <a:solidFill>
                  <a:srgbClr val="002060"/>
                </a:solidFill>
              </a:rPr>
              <a:t>Share of ICT/AI-</a:t>
            </a:r>
            <a:r>
              <a:rPr lang="nl-NL" sz="1200" dirty="0" err="1">
                <a:solidFill>
                  <a:srgbClr val="002060"/>
                </a:solidFill>
              </a:rPr>
              <a:t>related</a:t>
            </a:r>
            <a:r>
              <a:rPr lang="nl-NL" sz="1200" dirty="0">
                <a:solidFill>
                  <a:srgbClr val="002060"/>
                </a:solidFill>
              </a:rPr>
              <a:t> investment in </a:t>
            </a:r>
            <a:r>
              <a:rPr lang="nl-NL" sz="1200" dirty="0" err="1">
                <a:solidFill>
                  <a:srgbClr val="002060"/>
                </a:solidFill>
              </a:rPr>
              <a:t>total</a:t>
            </a:r>
            <a:r>
              <a:rPr lang="nl-NL" sz="1200" dirty="0">
                <a:solidFill>
                  <a:srgbClr val="002060"/>
                </a:solidFill>
              </a:rPr>
              <a:t> GFCF</a:t>
            </a:r>
          </a:p>
          <a:p>
            <a:pPr>
              <a:defRPr/>
            </a:pPr>
            <a:r>
              <a:rPr lang="nl-NL" sz="1200" dirty="0" err="1">
                <a:solidFill>
                  <a:srgbClr val="002060"/>
                </a:solidFill>
              </a:rPr>
              <a:t>Annual</a:t>
            </a:r>
            <a:r>
              <a:rPr lang="nl-NL" sz="1200" dirty="0">
                <a:solidFill>
                  <a:srgbClr val="002060"/>
                </a:solidFill>
              </a:rPr>
              <a:t> data 2000-2025 (</a:t>
            </a:r>
            <a:r>
              <a:rPr lang="nl-NL" sz="1200" dirty="0" err="1">
                <a:solidFill>
                  <a:srgbClr val="002060"/>
                </a:solidFill>
              </a:rPr>
              <a:t>for</a:t>
            </a:r>
            <a:r>
              <a:rPr lang="nl-NL" sz="1200" dirty="0">
                <a:solidFill>
                  <a:srgbClr val="002060"/>
                </a:solidFill>
              </a:rPr>
              <a:t> </a:t>
            </a:r>
            <a:r>
              <a:rPr lang="nl-NL" sz="1200" dirty="0" err="1">
                <a:solidFill>
                  <a:srgbClr val="002060"/>
                </a:solidFill>
              </a:rPr>
              <a:t>countries</a:t>
            </a:r>
            <a:r>
              <a:rPr lang="nl-NL" sz="1200" dirty="0">
                <a:solidFill>
                  <a:srgbClr val="002060"/>
                </a:solidFill>
              </a:rPr>
              <a:t> of </a:t>
            </a:r>
            <a:r>
              <a:rPr lang="nl-NL" sz="1200" dirty="0" err="1">
                <a:solidFill>
                  <a:srgbClr val="002060"/>
                </a:solidFill>
              </a:rPr>
              <a:t>which</a:t>
            </a:r>
            <a:r>
              <a:rPr lang="nl-NL" sz="1200" dirty="0">
                <a:solidFill>
                  <a:srgbClr val="002060"/>
                </a:solidFill>
              </a:rPr>
              <a:t> 2025 data is </a:t>
            </a:r>
            <a:r>
              <a:rPr lang="nl-NL" sz="1200" dirty="0" err="1">
                <a:solidFill>
                  <a:srgbClr val="002060"/>
                </a:solidFill>
              </a:rPr>
              <a:t>not</a:t>
            </a:r>
            <a:r>
              <a:rPr lang="nl-NL" sz="1200" dirty="0">
                <a:solidFill>
                  <a:srgbClr val="002060"/>
                </a:solidFill>
              </a:rPr>
              <a:t> </a:t>
            </a:r>
            <a:r>
              <a:rPr lang="nl-NL" sz="1200" dirty="0" err="1">
                <a:solidFill>
                  <a:srgbClr val="002060"/>
                </a:solidFill>
              </a:rPr>
              <a:t>available</a:t>
            </a:r>
            <a:r>
              <a:rPr lang="nl-NL" sz="1200" dirty="0">
                <a:solidFill>
                  <a:srgbClr val="002060"/>
                </a:solidFill>
              </a:rPr>
              <a:t> </a:t>
            </a:r>
            <a:r>
              <a:rPr lang="nl-NL" sz="1200" dirty="0" err="1">
                <a:solidFill>
                  <a:srgbClr val="002060"/>
                </a:solidFill>
              </a:rPr>
              <a:t>yet</a:t>
            </a:r>
            <a:r>
              <a:rPr lang="nl-NL" sz="1200" dirty="0">
                <a:solidFill>
                  <a:srgbClr val="002060"/>
                </a:solidFill>
              </a:rPr>
              <a:t>; 2024 data is </a:t>
            </a:r>
            <a:r>
              <a:rPr lang="nl-NL" sz="1200" dirty="0" err="1">
                <a:solidFill>
                  <a:srgbClr val="002060"/>
                </a:solidFill>
              </a:rPr>
              <a:t>used</a:t>
            </a:r>
            <a:r>
              <a:rPr lang="nl-NL" sz="1200" dirty="0">
                <a:solidFill>
                  <a:srgbClr val="002060"/>
                </a:solidFill>
              </a:rPr>
              <a:t>). Product </a:t>
            </a:r>
            <a:r>
              <a:rPr lang="nl-NL" sz="1200" dirty="0" err="1">
                <a:solidFill>
                  <a:srgbClr val="002060"/>
                </a:solidFill>
              </a:rPr>
              <a:t>groups</a:t>
            </a:r>
            <a:r>
              <a:rPr lang="nl-NL" sz="1200" dirty="0">
                <a:solidFill>
                  <a:srgbClr val="002060"/>
                </a:solidFill>
              </a:rPr>
              <a:t>: </a:t>
            </a:r>
            <a:r>
              <a:rPr lang="pt-BR" sz="1200" dirty="0">
                <a:solidFill>
                  <a:srgbClr val="002060"/>
                </a:solidFill>
              </a:rPr>
              <a:t>N1132G, N1173G, N112G_secJ, N117G_secJ, N1173G_secJ (source: </a:t>
            </a:r>
            <a:r>
              <a:rPr lang="pt-BR" sz="1200" dirty="0">
                <a:solidFill>
                  <a:srgbClr val="002060"/>
                </a:solidFill>
                <a:hlinkClick r:id="rId5"/>
              </a:rPr>
              <a:t>Eurostat</a:t>
            </a:r>
            <a:r>
              <a:rPr lang="pt-BR" sz="1200" dirty="0">
                <a:solidFill>
                  <a:srgbClr val="002060"/>
                </a:solidFill>
              </a:rPr>
              <a:t>).</a:t>
            </a:r>
          </a:p>
          <a:p>
            <a:pPr>
              <a:defRPr/>
            </a:pPr>
            <a:endParaRPr lang="nl-NL" sz="1200" dirty="0">
              <a:solidFill>
                <a:srgbClr val="002060"/>
              </a:solidFill>
            </a:endParaRPr>
          </a:p>
        </p:txBody>
      </p:sp>
      <p:sp>
        <p:nvSpPr>
          <p:cNvPr id="13" name="Tekstvak 3">
            <a:extLst>
              <a:ext uri="{FF2B5EF4-FFF2-40B4-BE49-F238E27FC236}">
                <a16:creationId xmlns:a16="http://schemas.microsoft.com/office/drawing/2014/main" id="{338A2D59-53C8-50EE-C6F5-E44B1EC58C7B}"/>
              </a:ext>
            </a:extLst>
          </p:cNvPr>
          <p:cNvSpPr txBox="1"/>
          <p:nvPr/>
        </p:nvSpPr>
        <p:spPr>
          <a:xfrm>
            <a:off x="7713162" y="6354330"/>
            <a:ext cx="1030301" cy="277001"/>
          </a:xfrm>
          <a:prstGeom prst="rect">
            <a:avLst/>
          </a:prstGeom>
          <a:noFill/>
        </p:spPr>
        <p:txBody>
          <a:bodyPr wrap="square" rtlCol="0">
            <a:spAutoFit/>
          </a:bodyPr>
          <a:lstStyle/>
          <a:p>
            <a:pPr>
              <a:defRPr/>
            </a:pPr>
            <a:r>
              <a:rPr lang="nl-NL" sz="1200" dirty="0">
                <a:solidFill>
                  <a:srgbClr val="002060"/>
                </a:solidFill>
                <a:hlinkClick r:id="rId6" action="ppaction://hlinksldjump"/>
              </a:rPr>
              <a:t>Link</a:t>
            </a:r>
            <a:r>
              <a:rPr lang="nl-NL" sz="1200" dirty="0">
                <a:solidFill>
                  <a:srgbClr val="002060"/>
                </a:solidFill>
              </a:rPr>
              <a:t> back</a:t>
            </a:r>
          </a:p>
        </p:txBody>
      </p:sp>
      <p:sp>
        <p:nvSpPr>
          <p:cNvPr id="4" name="Tekstvak 3">
            <a:extLst>
              <a:ext uri="{FF2B5EF4-FFF2-40B4-BE49-F238E27FC236}">
                <a16:creationId xmlns:a16="http://schemas.microsoft.com/office/drawing/2014/main" id="{80A3C609-6383-27DE-510C-C64F4B0DBC92}"/>
              </a:ext>
            </a:extLst>
          </p:cNvPr>
          <p:cNvSpPr txBox="1"/>
          <p:nvPr/>
        </p:nvSpPr>
        <p:spPr>
          <a:xfrm>
            <a:off x="5181412" y="975170"/>
            <a:ext cx="3726644" cy="584775"/>
          </a:xfrm>
          <a:prstGeom prst="rect">
            <a:avLst/>
          </a:prstGeom>
          <a:noFill/>
        </p:spPr>
        <p:txBody>
          <a:bodyPr wrap="square" rtlCol="0">
            <a:spAutoFit/>
          </a:bodyPr>
          <a:lstStyle/>
          <a:p>
            <a:pPr>
              <a:defRPr/>
            </a:pPr>
            <a:r>
              <a:rPr lang="nl-NL" sz="1600" noProof="1">
                <a:solidFill>
                  <a:srgbClr val="002060"/>
                </a:solidFill>
              </a:rPr>
              <a:t>Number of equity investments in AI fields</a:t>
            </a:r>
            <a:endParaRPr lang="nl-NL" sz="1600" dirty="0">
              <a:solidFill>
                <a:srgbClr val="002060"/>
              </a:solidFill>
            </a:endParaRPr>
          </a:p>
        </p:txBody>
      </p:sp>
      <p:sp>
        <p:nvSpPr>
          <p:cNvPr id="6" name="Tekstvak 3">
            <a:extLst>
              <a:ext uri="{FF2B5EF4-FFF2-40B4-BE49-F238E27FC236}">
                <a16:creationId xmlns:a16="http://schemas.microsoft.com/office/drawing/2014/main" id="{0AC6B175-D1D2-F0DB-D461-D0CAED9EE46F}"/>
              </a:ext>
            </a:extLst>
          </p:cNvPr>
          <p:cNvSpPr txBox="1"/>
          <p:nvPr/>
        </p:nvSpPr>
        <p:spPr>
          <a:xfrm>
            <a:off x="596671" y="1098280"/>
            <a:ext cx="3726644" cy="338554"/>
          </a:xfrm>
          <a:prstGeom prst="rect">
            <a:avLst/>
          </a:prstGeom>
          <a:noFill/>
        </p:spPr>
        <p:txBody>
          <a:bodyPr wrap="square" rtlCol="0">
            <a:spAutoFit/>
          </a:bodyPr>
          <a:lstStyle/>
          <a:p>
            <a:pPr>
              <a:defRPr/>
            </a:pPr>
            <a:r>
              <a:rPr lang="nl-NL" sz="1600" noProof="1">
                <a:solidFill>
                  <a:srgbClr val="002060"/>
                </a:solidFill>
              </a:rPr>
              <a:t>ICT/AI investment ratio</a:t>
            </a:r>
            <a:endParaRPr lang="nl-NL" sz="1600" dirty="0">
              <a:solidFill>
                <a:srgbClr val="002060"/>
              </a:solidFill>
            </a:endParaRPr>
          </a:p>
        </p:txBody>
      </p:sp>
      <p:pic>
        <p:nvPicPr>
          <p:cNvPr id="3" name="Picture 2">
            <a:extLst>
              <a:ext uri="{FF2B5EF4-FFF2-40B4-BE49-F238E27FC236}">
                <a16:creationId xmlns:a16="http://schemas.microsoft.com/office/drawing/2014/main" id="{8A7EFEE7-907A-EF9C-42CF-70E7257DAC35}"/>
              </a:ext>
            </a:extLst>
          </p:cNvPr>
          <p:cNvPicPr>
            <a:picLocks noChangeAspect="1"/>
          </p:cNvPicPr>
          <p:nvPr/>
        </p:nvPicPr>
        <p:blipFill>
          <a:blip r:embed="rId7"/>
          <a:stretch>
            <a:fillRect/>
          </a:stretch>
        </p:blipFill>
        <p:spPr>
          <a:xfrm>
            <a:off x="146304" y="1728216"/>
            <a:ext cx="4048523" cy="3063240"/>
          </a:xfrm>
          <a:prstGeom prst="rect">
            <a:avLst/>
          </a:prstGeom>
        </p:spPr>
      </p:pic>
    </p:spTree>
    <p:extLst>
      <p:ext uri="{BB962C8B-B14F-4D97-AF65-F5344CB8AC3E}">
        <p14:creationId xmlns:p14="http://schemas.microsoft.com/office/powerpoint/2010/main" val="3748330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A6C947-4B1F-5814-B5F0-19183D09F00D}"/>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2C9CA68-4F8B-00E1-9EA9-77192F3EDB84}"/>
              </a:ext>
            </a:extLst>
          </p:cNvPr>
          <p:cNvSpPr>
            <a:spLocks noGrp="1"/>
          </p:cNvSpPr>
          <p:nvPr>
            <p:ph type="title"/>
          </p:nvPr>
        </p:nvSpPr>
        <p:spPr>
          <a:xfrm>
            <a:off x="0" y="0"/>
            <a:ext cx="9144000" cy="557784"/>
          </a:xfrm>
          <a:solidFill>
            <a:srgbClr val="44287F"/>
          </a:solidFill>
        </p:spPr>
        <p:txBody>
          <a:bodyPr anchor="ctr"/>
          <a:lstStyle/>
          <a:p>
            <a:pPr algn="ctr"/>
            <a:r>
              <a:rPr lang="nl-NL" sz="2400" dirty="0">
                <a:solidFill>
                  <a:schemeClr val="bg1"/>
                </a:solidFill>
              </a:rPr>
              <a:t>AI-</a:t>
            </a:r>
            <a:r>
              <a:rPr lang="nl-NL" sz="2400" dirty="0" err="1">
                <a:solidFill>
                  <a:schemeClr val="bg1"/>
                </a:solidFill>
              </a:rPr>
              <a:t>related</a:t>
            </a:r>
            <a:r>
              <a:rPr lang="nl-NL" sz="2400" dirty="0">
                <a:solidFill>
                  <a:schemeClr val="bg1"/>
                </a:solidFill>
              </a:rPr>
              <a:t> </a:t>
            </a:r>
            <a:r>
              <a:rPr lang="nl-NL" sz="2400" dirty="0" err="1">
                <a:solidFill>
                  <a:schemeClr val="bg1"/>
                </a:solidFill>
              </a:rPr>
              <a:t>trade</a:t>
            </a:r>
            <a:r>
              <a:rPr lang="nl-NL" sz="2400" dirty="0">
                <a:solidFill>
                  <a:schemeClr val="bg1"/>
                </a:solidFill>
              </a:rPr>
              <a:t> and stock market exposure</a:t>
            </a:r>
            <a:endParaRPr lang="nl-NL" sz="2400" dirty="0">
              <a:solidFill>
                <a:srgbClr val="FF0000"/>
              </a:solidFill>
            </a:endParaRPr>
          </a:p>
        </p:txBody>
      </p:sp>
      <p:sp>
        <p:nvSpPr>
          <p:cNvPr id="8" name="Tekstvak 3">
            <a:extLst>
              <a:ext uri="{FF2B5EF4-FFF2-40B4-BE49-F238E27FC236}">
                <a16:creationId xmlns:a16="http://schemas.microsoft.com/office/drawing/2014/main" id="{0677632A-56D3-3DDB-C434-EB0FC24E2732}"/>
              </a:ext>
            </a:extLst>
          </p:cNvPr>
          <p:cNvSpPr txBox="1"/>
          <p:nvPr/>
        </p:nvSpPr>
        <p:spPr>
          <a:xfrm>
            <a:off x="4902230" y="5051417"/>
            <a:ext cx="4087369" cy="646331"/>
          </a:xfrm>
          <a:prstGeom prst="rect">
            <a:avLst/>
          </a:prstGeom>
          <a:noFill/>
        </p:spPr>
        <p:txBody>
          <a:bodyPr wrap="square" rtlCol="0">
            <a:spAutoFit/>
          </a:bodyPr>
          <a:lstStyle/>
          <a:p>
            <a:pPr>
              <a:defRPr/>
            </a:pPr>
            <a:r>
              <a:rPr lang="nl-NL" sz="1200" dirty="0">
                <a:solidFill>
                  <a:srgbClr val="002060"/>
                </a:solidFill>
              </a:rPr>
              <a:t>Rolling </a:t>
            </a:r>
            <a:r>
              <a:rPr lang="nl-NL" sz="1200" dirty="0" err="1">
                <a:solidFill>
                  <a:srgbClr val="002060"/>
                </a:solidFill>
              </a:rPr>
              <a:t>correlation</a:t>
            </a:r>
            <a:r>
              <a:rPr lang="nl-NL" sz="1200" dirty="0">
                <a:solidFill>
                  <a:srgbClr val="002060"/>
                </a:solidFill>
              </a:rPr>
              <a:t> </a:t>
            </a:r>
            <a:r>
              <a:rPr lang="nl-NL" sz="1200" dirty="0" err="1">
                <a:solidFill>
                  <a:srgbClr val="002060"/>
                </a:solidFill>
              </a:rPr>
              <a:t>between</a:t>
            </a:r>
            <a:r>
              <a:rPr lang="nl-NL" sz="1200" dirty="0">
                <a:solidFill>
                  <a:srgbClr val="002060"/>
                </a:solidFill>
              </a:rPr>
              <a:t> </a:t>
            </a:r>
            <a:r>
              <a:rPr lang="nl-NL" sz="1200" dirty="0" err="1">
                <a:solidFill>
                  <a:srgbClr val="002060"/>
                </a:solidFill>
              </a:rPr>
              <a:t>national</a:t>
            </a:r>
            <a:r>
              <a:rPr lang="nl-NL" sz="1200" dirty="0">
                <a:solidFill>
                  <a:srgbClr val="002060"/>
                </a:solidFill>
              </a:rPr>
              <a:t> stock index and SOX index (8 </a:t>
            </a:r>
            <a:r>
              <a:rPr lang="nl-NL" sz="1200" dirty="0" err="1">
                <a:solidFill>
                  <a:srgbClr val="002060"/>
                </a:solidFill>
              </a:rPr>
              <a:t>quarters</a:t>
            </a:r>
            <a:r>
              <a:rPr lang="nl-NL" sz="1200" dirty="0">
                <a:solidFill>
                  <a:srgbClr val="002060"/>
                </a:solidFill>
              </a:rPr>
              <a:t> </a:t>
            </a:r>
            <a:r>
              <a:rPr lang="nl-NL" sz="1200" dirty="0" err="1">
                <a:solidFill>
                  <a:srgbClr val="002060"/>
                </a:solidFill>
              </a:rPr>
              <a:t>window</a:t>
            </a:r>
            <a:r>
              <a:rPr lang="nl-NL" sz="1200" dirty="0">
                <a:solidFill>
                  <a:srgbClr val="002060"/>
                </a:solidFill>
              </a:rPr>
              <a:t>). </a:t>
            </a:r>
            <a:r>
              <a:rPr lang="nl-NL" sz="1200" dirty="0" err="1">
                <a:solidFill>
                  <a:srgbClr val="002060"/>
                </a:solidFill>
              </a:rPr>
              <a:t>Quarterly</a:t>
            </a:r>
            <a:r>
              <a:rPr lang="nl-NL" sz="1200" dirty="0">
                <a:solidFill>
                  <a:srgbClr val="002060"/>
                </a:solidFill>
              </a:rPr>
              <a:t> data 2000Q1-2026Q2 (Source: Yahoo Finance).</a:t>
            </a:r>
          </a:p>
        </p:txBody>
      </p:sp>
      <p:sp>
        <p:nvSpPr>
          <p:cNvPr id="11" name="Tekstvak 3">
            <a:extLst>
              <a:ext uri="{FF2B5EF4-FFF2-40B4-BE49-F238E27FC236}">
                <a16:creationId xmlns:a16="http://schemas.microsoft.com/office/drawing/2014/main" id="{D6974398-2614-1310-0782-A3E80B13A2FD}"/>
              </a:ext>
            </a:extLst>
          </p:cNvPr>
          <p:cNvSpPr txBox="1"/>
          <p:nvPr/>
        </p:nvSpPr>
        <p:spPr>
          <a:xfrm>
            <a:off x="207038" y="4774417"/>
            <a:ext cx="4034734" cy="1384995"/>
          </a:xfrm>
          <a:prstGeom prst="rect">
            <a:avLst/>
          </a:prstGeom>
          <a:noFill/>
        </p:spPr>
        <p:txBody>
          <a:bodyPr wrap="square" rtlCol="0">
            <a:spAutoFit/>
          </a:bodyPr>
          <a:lstStyle/>
          <a:p>
            <a:pPr>
              <a:defRPr/>
            </a:pPr>
            <a:r>
              <a:rPr lang="nl-NL" sz="1200" dirty="0">
                <a:solidFill>
                  <a:srgbClr val="002060"/>
                </a:solidFill>
              </a:rPr>
              <a:t>Share of ICT/AI-</a:t>
            </a:r>
            <a:r>
              <a:rPr lang="nl-NL" sz="1200" dirty="0" err="1">
                <a:solidFill>
                  <a:srgbClr val="002060"/>
                </a:solidFill>
              </a:rPr>
              <a:t>related</a:t>
            </a:r>
            <a:r>
              <a:rPr lang="nl-NL" sz="1200" dirty="0">
                <a:solidFill>
                  <a:srgbClr val="002060"/>
                </a:solidFill>
              </a:rPr>
              <a:t> exports in </a:t>
            </a:r>
            <a:r>
              <a:rPr lang="nl-NL" sz="1200" dirty="0" err="1">
                <a:solidFill>
                  <a:srgbClr val="002060"/>
                </a:solidFill>
              </a:rPr>
              <a:t>total</a:t>
            </a:r>
            <a:r>
              <a:rPr lang="nl-NL" sz="1200" dirty="0">
                <a:solidFill>
                  <a:srgbClr val="002060"/>
                </a:solidFill>
              </a:rPr>
              <a:t> </a:t>
            </a:r>
            <a:r>
              <a:rPr lang="nl-NL" sz="1200" dirty="0" err="1">
                <a:solidFill>
                  <a:srgbClr val="002060"/>
                </a:solidFill>
              </a:rPr>
              <a:t>goods</a:t>
            </a:r>
            <a:r>
              <a:rPr lang="nl-NL" sz="1200" dirty="0">
                <a:solidFill>
                  <a:srgbClr val="002060"/>
                </a:solidFill>
              </a:rPr>
              <a:t> exports, </a:t>
            </a:r>
            <a:r>
              <a:rPr lang="nl-NL" sz="1200" dirty="0" err="1">
                <a:solidFill>
                  <a:srgbClr val="002060"/>
                </a:solidFill>
              </a:rPr>
              <a:t>Annual</a:t>
            </a:r>
            <a:r>
              <a:rPr lang="nl-NL" sz="1200" dirty="0">
                <a:solidFill>
                  <a:srgbClr val="002060"/>
                </a:solidFill>
              </a:rPr>
              <a:t> data 2000-2025. </a:t>
            </a:r>
            <a:r>
              <a:rPr lang="en-US" sz="1200" dirty="0">
                <a:solidFill>
                  <a:srgbClr val="002060"/>
                </a:solidFill>
              </a:rPr>
              <a:t>Products groups: HS 8471.50, HS 8471.80, HS 8473.30, HS 8486.10, HS 8486.20, HS 8486.30, HS 8486.40, HS 8486.90 </a:t>
            </a:r>
            <a:r>
              <a:rPr lang="pt-BR" sz="1200" dirty="0">
                <a:solidFill>
                  <a:srgbClr val="002060"/>
                </a:solidFill>
              </a:rPr>
              <a:t>(source: </a:t>
            </a:r>
            <a:r>
              <a:rPr lang="pt-BR" sz="1200" dirty="0">
                <a:solidFill>
                  <a:srgbClr val="002060"/>
                </a:solidFill>
                <a:hlinkClick r:id="rId3"/>
              </a:rPr>
              <a:t>Eurostat</a:t>
            </a:r>
            <a:r>
              <a:rPr lang="pt-BR" sz="1200" dirty="0">
                <a:solidFill>
                  <a:srgbClr val="002060"/>
                </a:solidFill>
              </a:rPr>
              <a:t>, Comext, HS2022).</a:t>
            </a:r>
            <a:endParaRPr lang="en-US" sz="1200" dirty="0">
              <a:solidFill>
                <a:srgbClr val="002060"/>
              </a:solidFill>
            </a:endParaRPr>
          </a:p>
          <a:p>
            <a:pPr>
              <a:defRPr/>
            </a:pPr>
            <a:endParaRPr lang="nl-NL" sz="1200" dirty="0">
              <a:solidFill>
                <a:srgbClr val="002060"/>
              </a:solidFill>
            </a:endParaRPr>
          </a:p>
        </p:txBody>
      </p:sp>
      <p:sp>
        <p:nvSpPr>
          <p:cNvPr id="13" name="Tekstvak 3">
            <a:extLst>
              <a:ext uri="{FF2B5EF4-FFF2-40B4-BE49-F238E27FC236}">
                <a16:creationId xmlns:a16="http://schemas.microsoft.com/office/drawing/2014/main" id="{4329BB17-F16F-495E-1F2E-C473B8ADC642}"/>
              </a:ext>
            </a:extLst>
          </p:cNvPr>
          <p:cNvSpPr txBox="1"/>
          <p:nvPr/>
        </p:nvSpPr>
        <p:spPr>
          <a:xfrm>
            <a:off x="7713162" y="6354330"/>
            <a:ext cx="1030301" cy="277001"/>
          </a:xfrm>
          <a:prstGeom prst="rect">
            <a:avLst/>
          </a:prstGeom>
          <a:noFill/>
        </p:spPr>
        <p:txBody>
          <a:bodyPr wrap="square" rtlCol="0">
            <a:spAutoFit/>
          </a:bodyPr>
          <a:lstStyle/>
          <a:p>
            <a:pPr>
              <a:defRPr/>
            </a:pPr>
            <a:r>
              <a:rPr lang="nl-NL" sz="1200" dirty="0">
                <a:solidFill>
                  <a:srgbClr val="002060"/>
                </a:solidFill>
                <a:hlinkClick r:id="rId4" action="ppaction://hlinksldjump"/>
              </a:rPr>
              <a:t>Link</a:t>
            </a:r>
            <a:r>
              <a:rPr lang="nl-NL" sz="1200" dirty="0">
                <a:solidFill>
                  <a:srgbClr val="002060"/>
                </a:solidFill>
              </a:rPr>
              <a:t> back</a:t>
            </a:r>
          </a:p>
        </p:txBody>
      </p:sp>
      <p:pic>
        <p:nvPicPr>
          <p:cNvPr id="4" name="Picture 3">
            <a:extLst>
              <a:ext uri="{FF2B5EF4-FFF2-40B4-BE49-F238E27FC236}">
                <a16:creationId xmlns:a16="http://schemas.microsoft.com/office/drawing/2014/main" id="{D752BB6B-84D3-1A02-4BE3-8EAA21B12319}"/>
              </a:ext>
            </a:extLst>
          </p:cNvPr>
          <p:cNvPicPr>
            <a:picLocks noChangeAspect="1"/>
          </p:cNvPicPr>
          <p:nvPr/>
        </p:nvPicPr>
        <p:blipFill>
          <a:blip r:embed="rId5"/>
          <a:stretch>
            <a:fillRect/>
          </a:stretch>
        </p:blipFill>
        <p:spPr>
          <a:xfrm>
            <a:off x="4902229" y="1522726"/>
            <a:ext cx="3949219" cy="3200400"/>
          </a:xfrm>
          <a:prstGeom prst="rect">
            <a:avLst/>
          </a:prstGeom>
        </p:spPr>
      </p:pic>
      <p:sp>
        <p:nvSpPr>
          <p:cNvPr id="6" name="Tekstvak 3">
            <a:extLst>
              <a:ext uri="{FF2B5EF4-FFF2-40B4-BE49-F238E27FC236}">
                <a16:creationId xmlns:a16="http://schemas.microsoft.com/office/drawing/2014/main" id="{42ACDE40-4CF9-25D5-B152-CDE514C54D15}"/>
              </a:ext>
            </a:extLst>
          </p:cNvPr>
          <p:cNvSpPr txBox="1"/>
          <p:nvPr/>
        </p:nvSpPr>
        <p:spPr>
          <a:xfrm>
            <a:off x="5013517" y="921978"/>
            <a:ext cx="3726644" cy="584775"/>
          </a:xfrm>
          <a:prstGeom prst="rect">
            <a:avLst/>
          </a:prstGeom>
          <a:noFill/>
        </p:spPr>
        <p:txBody>
          <a:bodyPr wrap="square" rtlCol="0">
            <a:spAutoFit/>
          </a:bodyPr>
          <a:lstStyle/>
          <a:p>
            <a:pPr>
              <a:defRPr/>
            </a:pPr>
            <a:r>
              <a:rPr lang="nl-NL" sz="1600" noProof="1">
                <a:solidFill>
                  <a:srgbClr val="002060"/>
                </a:solidFill>
              </a:rPr>
              <a:t>Correlation national stock index and SOX index</a:t>
            </a:r>
            <a:endParaRPr lang="nl-NL" sz="1600" dirty="0">
              <a:solidFill>
                <a:srgbClr val="002060"/>
              </a:solidFill>
            </a:endParaRPr>
          </a:p>
        </p:txBody>
      </p:sp>
      <p:sp>
        <p:nvSpPr>
          <p:cNvPr id="12" name="Tekstvak 3">
            <a:extLst>
              <a:ext uri="{FF2B5EF4-FFF2-40B4-BE49-F238E27FC236}">
                <a16:creationId xmlns:a16="http://schemas.microsoft.com/office/drawing/2014/main" id="{37AFEB65-C677-E635-F153-64D4EC70C109}"/>
              </a:ext>
            </a:extLst>
          </p:cNvPr>
          <p:cNvSpPr txBox="1"/>
          <p:nvPr/>
        </p:nvSpPr>
        <p:spPr>
          <a:xfrm>
            <a:off x="567762" y="978295"/>
            <a:ext cx="3726644" cy="338554"/>
          </a:xfrm>
          <a:prstGeom prst="rect">
            <a:avLst/>
          </a:prstGeom>
          <a:noFill/>
        </p:spPr>
        <p:txBody>
          <a:bodyPr wrap="square" rtlCol="0">
            <a:spAutoFit/>
          </a:bodyPr>
          <a:lstStyle/>
          <a:p>
            <a:pPr>
              <a:defRPr/>
            </a:pPr>
            <a:r>
              <a:rPr lang="nl-NL" sz="1600" noProof="1">
                <a:solidFill>
                  <a:srgbClr val="002060"/>
                </a:solidFill>
              </a:rPr>
              <a:t>ICT/AI-related export share</a:t>
            </a:r>
            <a:endParaRPr lang="nl-NL" sz="1600" dirty="0">
              <a:solidFill>
                <a:srgbClr val="002060"/>
              </a:solidFill>
            </a:endParaRPr>
          </a:p>
        </p:txBody>
      </p:sp>
      <p:pic>
        <p:nvPicPr>
          <p:cNvPr id="5" name="Picture 4">
            <a:extLst>
              <a:ext uri="{FF2B5EF4-FFF2-40B4-BE49-F238E27FC236}">
                <a16:creationId xmlns:a16="http://schemas.microsoft.com/office/drawing/2014/main" id="{7596D83C-A172-D741-78FB-EBEC12FF1632}"/>
              </a:ext>
            </a:extLst>
          </p:cNvPr>
          <p:cNvPicPr>
            <a:picLocks noChangeAspect="1"/>
          </p:cNvPicPr>
          <p:nvPr/>
        </p:nvPicPr>
        <p:blipFill>
          <a:blip r:embed="rId6"/>
          <a:stretch>
            <a:fillRect/>
          </a:stretch>
        </p:blipFill>
        <p:spPr>
          <a:xfrm>
            <a:off x="111598" y="1698111"/>
            <a:ext cx="4460402" cy="2849630"/>
          </a:xfrm>
          <a:prstGeom prst="rect">
            <a:avLst/>
          </a:prstGeom>
        </p:spPr>
      </p:pic>
    </p:spTree>
    <p:extLst>
      <p:ext uri="{BB962C8B-B14F-4D97-AF65-F5344CB8AC3E}">
        <p14:creationId xmlns:p14="http://schemas.microsoft.com/office/powerpoint/2010/main" val="2407438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DEE4E-62EE-0BE5-AD2F-11094599F35C}"/>
            </a:ext>
          </a:extLst>
        </p:cNvPr>
        <p:cNvGrpSpPr/>
        <p:nvPr/>
      </p:nvGrpSpPr>
      <p:grpSpPr>
        <a:xfrm>
          <a:off x="0" y="0"/>
          <a:ext cx="0" cy="0"/>
          <a:chOff x="0" y="0"/>
          <a:chExt cx="0" cy="0"/>
        </a:xfrm>
      </p:grpSpPr>
      <p:sp>
        <p:nvSpPr>
          <p:cNvPr id="9" name="Titel 1">
            <a:extLst>
              <a:ext uri="{FF2B5EF4-FFF2-40B4-BE49-F238E27FC236}">
                <a16:creationId xmlns:a16="http://schemas.microsoft.com/office/drawing/2014/main" id="{03204D0B-CF7E-0BFC-4F0F-962010862E03}"/>
              </a:ext>
            </a:extLst>
          </p:cNvPr>
          <p:cNvSpPr>
            <a:spLocks noGrp="1"/>
          </p:cNvSpPr>
          <p:nvPr>
            <p:ph type="title"/>
          </p:nvPr>
        </p:nvSpPr>
        <p:spPr>
          <a:xfrm>
            <a:off x="0" y="0"/>
            <a:ext cx="9144000" cy="566928"/>
          </a:xfrm>
          <a:solidFill>
            <a:srgbClr val="44287F"/>
          </a:solidFill>
        </p:spPr>
        <p:txBody>
          <a:bodyPr anchor="ctr"/>
          <a:lstStyle/>
          <a:p>
            <a:pPr algn="ctr">
              <a:lnSpc>
                <a:spcPct val="100000"/>
              </a:lnSpc>
            </a:pPr>
            <a:r>
              <a:rPr lang="en-US" sz="2400" noProof="1">
                <a:solidFill>
                  <a:schemeClr val="bg1"/>
                </a:solidFill>
              </a:rPr>
              <a:t>Robustness tests</a:t>
            </a:r>
          </a:p>
        </p:txBody>
      </p:sp>
      <p:sp>
        <p:nvSpPr>
          <p:cNvPr id="2" name="Content Placeholder 2">
            <a:extLst>
              <a:ext uri="{FF2B5EF4-FFF2-40B4-BE49-F238E27FC236}">
                <a16:creationId xmlns:a16="http://schemas.microsoft.com/office/drawing/2014/main" id="{69505807-7DB6-66DD-D0C3-991E02849C08}"/>
              </a:ext>
            </a:extLst>
          </p:cNvPr>
          <p:cNvSpPr>
            <a:spLocks noGrp="1"/>
          </p:cNvSpPr>
          <p:nvPr>
            <p:ph idx="1"/>
          </p:nvPr>
        </p:nvSpPr>
        <p:spPr>
          <a:xfrm>
            <a:off x="438652" y="803135"/>
            <a:ext cx="8129275" cy="5679439"/>
          </a:xfrm>
        </p:spPr>
        <p:txBody>
          <a:bodyPr>
            <a:normAutofit/>
          </a:bodyPr>
          <a:lstStyle/>
          <a:p>
            <a:pPr marL="342900" indent="-342900">
              <a:lnSpc>
                <a:spcPct val="120000"/>
              </a:lnSpc>
              <a:spcAft>
                <a:spcPts val="1200"/>
              </a:spcAft>
              <a:buFont typeface="Arial" panose="020B0604020202020204" pitchFamily="34" charset="0"/>
              <a:buChar char="•"/>
            </a:pPr>
            <a:endParaRPr lang="nl-NL" sz="2000" noProof="1">
              <a:solidFill>
                <a:schemeClr val="accent1">
                  <a:lumMod val="50000"/>
                </a:schemeClr>
              </a:solidFill>
              <a:latin typeface="Verdana" panose="020B0604030504040204" pitchFamily="34" charset="0"/>
              <a:ea typeface="Verdana" panose="020B0604030504040204" pitchFamily="34" charset="0"/>
            </a:endParaRP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Panel logit regressions → similar results</a:t>
            </a: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Trade data based on Eurostat CPA instead of HS → similar results</a:t>
            </a: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Modified stock correlation variable (to do)</a:t>
            </a:r>
          </a:p>
          <a:p>
            <a:pPr marL="342900" indent="-342900">
              <a:lnSpc>
                <a:spcPct val="120000"/>
              </a:lnSpc>
              <a:spcAft>
                <a:spcPts val="1200"/>
              </a:spcAft>
              <a:buFont typeface="Arial" panose="020B0604020202020204" pitchFamily="34" charset="0"/>
              <a:buChar char="•"/>
            </a:pPr>
            <a:r>
              <a:rPr lang="nl-NL" sz="2000" noProof="1">
                <a:latin typeface="Arial" panose="020B0604020202020204" pitchFamily="34" charset="0"/>
                <a:ea typeface="Verdana" panose="020B0604030504040204" pitchFamily="34" charset="0"/>
                <a:cs typeface="Arial" panose="020B0604020202020204" pitchFamily="34" charset="0"/>
              </a:rPr>
              <a:t>Other control variables (to do)</a:t>
            </a:r>
          </a:p>
          <a:p>
            <a:pPr marL="285750" indent="-285750">
              <a:lnSpc>
                <a:spcPct val="120000"/>
              </a:lnSpc>
              <a:spcAft>
                <a:spcPts val="1200"/>
              </a:spcAft>
              <a:buFont typeface="Arial" panose="020B0604020202020204" pitchFamily="34" charset="0"/>
              <a:buChar char="•"/>
            </a:pPr>
            <a:endParaRPr lang="nl-NL" sz="1600" dirty="0">
              <a:solidFill>
                <a:schemeClr val="accent1">
                  <a:lumMod val="50000"/>
                </a:schemeClr>
              </a:solidFill>
            </a:endParaRPr>
          </a:p>
        </p:txBody>
      </p:sp>
    </p:spTree>
    <p:extLst>
      <p:ext uri="{BB962C8B-B14F-4D97-AF65-F5344CB8AC3E}">
        <p14:creationId xmlns:p14="http://schemas.microsoft.com/office/powerpoint/2010/main" val="341592472"/>
      </p:ext>
    </p:extLst>
  </p:cSld>
  <p:clrMapOvr>
    <a:masterClrMapping/>
  </p:clrMapOvr>
</p:sld>
</file>

<file path=ppt/theme/theme1.xml><?xml version="1.0" encoding="utf-8"?>
<a:theme xmlns:a="http://schemas.openxmlformats.org/drawingml/2006/main" name="1_LichteAchtergrond4x3">
  <a:themeElements>
    <a:clrScheme name="DNB">
      <a:dk1>
        <a:sysClr val="windowText" lastClr="000000"/>
      </a:dk1>
      <a:lt1>
        <a:sysClr val="window" lastClr="FFFFFF"/>
      </a:lt1>
      <a:dk2>
        <a:srgbClr val="44546A"/>
      </a:dk2>
      <a:lt2>
        <a:srgbClr val="E7E6E6"/>
      </a:lt2>
      <a:accent1>
        <a:srgbClr val="2FB5E4"/>
      </a:accent1>
      <a:accent2>
        <a:srgbClr val="162257"/>
      </a:accent2>
      <a:accent3>
        <a:srgbClr val="B8450E"/>
      </a:accent3>
      <a:accent4>
        <a:srgbClr val="9B9000"/>
      </a:accent4>
      <a:accent5>
        <a:srgbClr val="D7CCAF"/>
      </a:accent5>
      <a:accent6>
        <a:srgbClr val="003E3B"/>
      </a:accent6>
      <a:hlink>
        <a:srgbClr val="162257"/>
      </a:hlink>
      <a:folHlink>
        <a:srgbClr val="422335"/>
      </a:folHlink>
    </a:clrScheme>
    <a:fontScheme name="DNB">
      <a:majorFont>
        <a:latin typeface="Verdana"/>
        <a:ea typeface=""/>
        <a:cs typeface=""/>
      </a:majorFont>
      <a:minorFont>
        <a:latin typeface="Verdana"/>
        <a:ea typeface=""/>
        <a:cs typeface=""/>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_v1.0.5.potx" id="{B270FB89-5B9F-428A-BCB9-6C207FB2C8FE}" vid="{AFFF9D4B-64E8-4DB5-B4AD-056B69DF5234}"/>
    </a:ext>
  </a:extLst>
</a:theme>
</file>

<file path=ppt/theme/theme2.xml><?xml version="1.0" encoding="utf-8"?>
<a:theme xmlns:a="http://schemas.openxmlformats.org/drawingml/2006/main" name="3_LichteAchtergrond4x3">
  <a:themeElements>
    <a:clrScheme name="DNB">
      <a:dk1>
        <a:sysClr val="windowText" lastClr="000000"/>
      </a:dk1>
      <a:lt1>
        <a:sysClr val="window" lastClr="FFFFFF"/>
      </a:lt1>
      <a:dk2>
        <a:srgbClr val="44546A"/>
      </a:dk2>
      <a:lt2>
        <a:srgbClr val="E7E6E6"/>
      </a:lt2>
      <a:accent1>
        <a:srgbClr val="2FB5E4"/>
      </a:accent1>
      <a:accent2>
        <a:srgbClr val="162257"/>
      </a:accent2>
      <a:accent3>
        <a:srgbClr val="B8450E"/>
      </a:accent3>
      <a:accent4>
        <a:srgbClr val="9B9000"/>
      </a:accent4>
      <a:accent5>
        <a:srgbClr val="D7CCAF"/>
      </a:accent5>
      <a:accent6>
        <a:srgbClr val="003E3B"/>
      </a:accent6>
      <a:hlink>
        <a:srgbClr val="162257"/>
      </a:hlink>
      <a:folHlink>
        <a:srgbClr val="422335"/>
      </a:folHlink>
    </a:clrScheme>
    <a:fontScheme name="DNB">
      <a:majorFont>
        <a:latin typeface="Verdana"/>
        <a:ea typeface=""/>
        <a:cs typeface=""/>
      </a:majorFont>
      <a:minorFont>
        <a:latin typeface="Verdana"/>
        <a:ea typeface=""/>
        <a:cs typeface=""/>
      </a:minorFont>
    </a:fontScheme>
    <a:fmtScheme name="Kantoorthema">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_v1.0.5.potx" id="{B270FB89-5B9F-428A-BCB9-6C207FB2C8FE}" vid="{AFFF9D4B-64E8-4DB5-B4AD-056B69DF5234}"/>
    </a:ext>
  </a:extLst>
</a:theme>
</file>

<file path=ppt/theme/theme3.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Kantoor">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Kanto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antoor">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Kanto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1ddf9560-f40a-4faa-b693-65e98d55b544}" enabled="1" method="Privileged" siteId="{9ecbd628-0072-405d-8567-32c6750b0d3e}" removed="0"/>
</clbl:labelList>
</file>

<file path=docProps/app.xml><?xml version="1.0" encoding="utf-8"?>
<Properties xmlns="http://schemas.openxmlformats.org/officeDocument/2006/extended-properties" xmlns:vt="http://schemas.openxmlformats.org/officeDocument/2006/docPropsVTypes">
  <Template>LichteAchtergrond4x3</Template>
  <TotalTime>2005</TotalTime>
  <Words>1384</Words>
  <Application>Microsoft Office PowerPoint</Application>
  <PresentationFormat>On-screen Show (4:3)</PresentationFormat>
  <Paragraphs>122</Paragraphs>
  <Slides>15</Slides>
  <Notes>15</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15</vt:i4>
      </vt:variant>
    </vt:vector>
  </HeadingPairs>
  <TitlesOfParts>
    <vt:vector size="24" baseType="lpstr">
      <vt:lpstr>Aptos</vt:lpstr>
      <vt:lpstr>Arial</vt:lpstr>
      <vt:lpstr>Calibri</vt:lpstr>
      <vt:lpstr>Cambria Math</vt:lpstr>
      <vt:lpstr>Courier New</vt:lpstr>
      <vt:lpstr>Verdana</vt:lpstr>
      <vt:lpstr>Wingdings</vt:lpstr>
      <vt:lpstr>1_LichteAchtergrond4x3</vt:lpstr>
      <vt:lpstr>3_LichteAchtergrond4x3</vt:lpstr>
      <vt:lpstr>PowerPoint Presentation</vt:lpstr>
      <vt:lpstr>Semiconductor super-cycle seems immune to shocks</vt:lpstr>
      <vt:lpstr>Empirical approach</vt:lpstr>
      <vt:lpstr>AI-related exposure</vt:lpstr>
      <vt:lpstr>Shock resilience</vt:lpstr>
      <vt:lpstr>AI-related investment</vt:lpstr>
      <vt:lpstr>AI-related trade and stock market exposure</vt:lpstr>
      <vt:lpstr>Probit models</vt:lpstr>
      <vt:lpstr>Results</vt:lpstr>
      <vt:lpstr>Conclusions</vt:lpstr>
      <vt:lpstr>Background slides</vt:lpstr>
      <vt:lpstr>Wild swings in semiconductor short-term cycle</vt:lpstr>
      <vt:lpstr>AI-related investment</vt:lpstr>
      <vt:lpstr>AI-related trade and stock market exposure</vt:lpstr>
      <vt:lpstr>Robustness tests</vt:lpstr>
    </vt:vector>
  </TitlesOfParts>
  <Company>De Nederlandsche Bank N.V.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Jan Willem van den End (EBO_CMA)</dc:creator>
  <dc:description/>
  <cp:lastModifiedBy>Jan Willem van den End (EBO_CMA)</cp:lastModifiedBy>
  <cp:revision>17</cp:revision>
  <cp:lastPrinted>2021-12-14T08:32:52Z</cp:lastPrinted>
  <dcterms:created xsi:type="dcterms:W3CDTF">2026-09-18T13:31:25Z</dcterms:created>
  <dcterms:modified xsi:type="dcterms:W3CDTF">2026-09-29T19:17:39Z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HeaderLocations">
    <vt:lpwstr>LichteAchtergrond4x3:5\1_LichteAchtergrond4x3:5\3_LichteAchtergrond4x3:5</vt:lpwstr>
  </property>
  <property fmtid="{D5CDD505-2E9C-101B-9397-08002B2CF9AE}" pid="3" name="ClassificationContentMarkingHeaderText">
    <vt:lpwstr>| DNB PUBLIC |</vt:lpwstr>
  </property>
</Properties>
</file>