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7102E3-B1ED-4733-957D-85FAB5094C64}" v="59" dt="2026-09-18T13:15:23.091"/>
    <p1510:client id="{13B43BEF-9B9B-431D-9308-0B2B126B7992}" v="78" dt="2026-09-18T19:27:36.6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custSel modSld">
      <pc:chgData name="Jan Willem van den End (EBO_CMA)" userId="32ade95a-e024-4672-952f-5ed8641a9e00" providerId="ADAL" clId="{3BBBE02E-ACD4-4586-9407-5E79BF620DF1}" dt="2026-09-18T19:36:01.454" v="1535" actId="20577"/>
      <pc:docMkLst>
        <pc:docMk/>
      </pc:docMkLst>
      <pc:sldChg chg="modSp mod">
        <pc:chgData name="Jan Willem van den End (EBO_CMA)" userId="32ade95a-e024-4672-952f-5ed8641a9e00" providerId="ADAL" clId="{3BBBE02E-ACD4-4586-9407-5E79BF620DF1}" dt="2026-09-18T19:36:01.454" v="1535" actId="20577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18T19:36:01.454" v="1535" actId="20577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8T19:27:10.448" v="1158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18T19:26:14.232" v="1154" actId="20577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18T19:26:14.232" v="1154" actId="20577"/>
          <ac:spMkLst>
            <pc:docMk/>
            <pc:sldMk cId="2304846322" sldId="792"/>
            <ac:spMk id="6" creationId="{CF9708F7-32AE-5645-3159-CE1174AB0729}"/>
          </ac:spMkLst>
        </pc:spChg>
        <pc:graphicFrameChg chg="add del modGraphic">
          <ac:chgData name="Jan Willem van den End (EBO_CMA)" userId="32ade95a-e024-4672-952f-5ed8641a9e00" providerId="ADAL" clId="{3BBBE02E-ACD4-4586-9407-5E79BF620DF1}" dt="2026-09-18T18:49:54.512" v="98" actId="27309"/>
          <ac:graphicFrameMkLst>
            <pc:docMk/>
            <pc:sldMk cId="2304846322" sldId="792"/>
            <ac:graphicFrameMk id="9" creationId="{271B1B44-14A0-3DCE-F0CE-A489973C9714}"/>
          </ac:graphicFrameMkLst>
        </pc:graphicFrameChg>
      </pc:sldChg>
      <pc:sldChg chg="modSp mod">
        <pc:chgData name="Jan Willem van den End (EBO_CMA)" userId="32ade95a-e024-4672-952f-5ed8641a9e00" providerId="ADAL" clId="{3BBBE02E-ACD4-4586-9407-5E79BF620DF1}" dt="2026-09-18T18:42:26.091" v="73" actId="20577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8T18:42:26.091" v="73" actId="20577"/>
          <ac:spMkLst>
            <pc:docMk/>
            <pc:sldMk cId="515665883" sldId="793"/>
            <ac:spMk id="2" creationId="{6B853D72-57E4-54DF-F916-E87E4C65C99E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18T19:12:02.526" v="592" actId="20577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18T19:12:02.526" v="592" actId="20577"/>
          <ac:spMkLst>
            <pc:docMk/>
            <pc:sldMk cId="909146083" sldId="796"/>
            <ac:spMk id="2" creationId="{9D7DFCD1-CA74-2C76-7A49-94B41E557F74}"/>
          </ac:spMkLst>
        </pc:spChg>
        <pc:spChg chg="add mod">
          <ac:chgData name="Jan Willem van den End (EBO_CMA)" userId="32ade95a-e024-4672-952f-5ed8641a9e00" providerId="ADAL" clId="{3BBBE02E-ACD4-4586-9407-5E79BF620DF1}" dt="2026-09-18T18:56:06.647" v="165" actId="1038"/>
          <ac:spMkLst>
            <pc:docMk/>
            <pc:sldMk cId="909146083" sldId="796"/>
            <ac:spMk id="6" creationId="{4ED6076C-5ED2-F560-9ECC-68A359BFC0CA}"/>
          </ac:spMkLst>
        </pc:spChg>
        <pc:picChg chg="del mod">
          <ac:chgData name="Jan Willem van den End (EBO_CMA)" userId="32ade95a-e024-4672-952f-5ed8641a9e00" providerId="ADAL" clId="{3BBBE02E-ACD4-4586-9407-5E79BF620DF1}" dt="2026-09-18T18:49:16.922" v="91" actId="478"/>
          <ac:picMkLst>
            <pc:docMk/>
            <pc:sldMk cId="909146083" sldId="796"/>
            <ac:picMk id="3" creationId="{B8AE92C3-2830-FAC2-938C-8AB03FFDFA8A}"/>
          </ac:picMkLst>
        </pc:picChg>
        <pc:picChg chg="mod">
          <ac:chgData name="Jan Willem van den End (EBO_CMA)" userId="32ade95a-e024-4672-952f-5ed8641a9e00" providerId="ADAL" clId="{3BBBE02E-ACD4-4586-9407-5E79BF620DF1}" dt="2026-09-18T18:56:06.647" v="165" actId="1038"/>
          <ac:picMkLst>
            <pc:docMk/>
            <pc:sldMk cId="909146083" sldId="796"/>
            <ac:picMk id="4" creationId="{FD6B8E7D-29E9-A720-3479-9CC57D8735B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variables for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regressions (probit models)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5358385" y="2992436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in 2011-2025, 548 obs) and 2020, 2022, 2025 (shock years,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136" y="956753"/>
            <a:ext cx="3383281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in normal years than in shock years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of digitalization washed out by common shock component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stress periods (maybe creating 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7F3FA9-013F-F0A8-95C8-DBD688C3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87268"/>
            <a:ext cx="4014216" cy="2117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374" y="3504405"/>
            <a:ext cx="4088978" cy="221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1125724"/>
            <a:ext cx="3127249" cy="517449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Countries with higher tech-exports benefit disproportionately during shocks…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Stock market correlation with chip sector does not make a difference (in this unconditional test). Common component dominates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3E89F4-0265-ABF8-064D-EE79C4DCA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5" y="1292833"/>
            <a:ext cx="3985397" cy="21049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 investment and AI-related stock market exposure raise probability of positive growth surprises in normal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trade exposure has an additional effect on positive growth surprises in shock years (confirming unconditional tests)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B8E7D-29E9-A720-3479-9CC57D873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7" y="2807209"/>
            <a:ext cx="8774267" cy="2586798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500152"/>
            <a:ext cx="87488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Analytic-Hessian standard errors.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Positive growth surprises more common in shock years than in normal years, pointing to larger than expected resilience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investment matters, but mainly in normal times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Financial AI-exposure does not play this role and may even be a relative disadvantage in stress periods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Trade exposure has been a resilience channel in shock years (AI-stock market correlation has not) …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	… but 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if a future shock would originate from the AI sector 	itself, high-tech trade exposure could turn from an 	advantage into a vulnerability</a:t>
            </a: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37145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0" y="1668620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235946" y="5371457"/>
            <a:ext cx="40873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</a:t>
            </a:r>
          </a:p>
          <a:p>
            <a:pPr>
              <a:defRPr/>
            </a:pPr>
            <a:r>
              <a:rPr lang="pt-BR" sz="1200" dirty="0">
                <a:solidFill>
                  <a:srgbClr val="002060"/>
                </a:solidFill>
              </a:rPr>
              <a:t>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5051417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737360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30" y="1737360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1674</TotalTime>
  <Words>1081</Words>
  <Application>Microsoft Office PowerPoint</Application>
  <PresentationFormat>On-screen Show (4:3)</PresentationFormat>
  <Paragraphs>109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Cambria Math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Conclusions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2026-09-18T19:36:04Z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