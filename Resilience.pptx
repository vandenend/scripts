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20"/>
  </p:notesMasterIdLst>
  <p:handoutMasterIdLst>
    <p:handoutMasterId r:id="rId21"/>
  </p:handoutMasterIdLst>
  <p:sldIdLst>
    <p:sldId id="781" r:id="rId3"/>
    <p:sldId id="768" r:id="rId4"/>
    <p:sldId id="795" r:id="rId5"/>
    <p:sldId id="657" r:id="rId6"/>
    <p:sldId id="786" r:id="rId7"/>
    <p:sldId id="784" r:id="rId8"/>
    <p:sldId id="792" r:id="rId9"/>
    <p:sldId id="793" r:id="rId10"/>
    <p:sldId id="796" r:id="rId11"/>
    <p:sldId id="798" r:id="rId12"/>
    <p:sldId id="799" r:id="rId13"/>
    <p:sldId id="790" r:id="rId14"/>
    <p:sldId id="783" r:id="rId15"/>
    <p:sldId id="782" r:id="rId16"/>
    <p:sldId id="791" r:id="rId17"/>
    <p:sldId id="794" r:id="rId18"/>
    <p:sldId id="797" r:id="rId19"/>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603" dt="2026-10-10T09:50:47.429"/>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0" d="100"/>
          <a:sy n="70" d="100"/>
        </p:scale>
        <p:origin x="1180" y="52"/>
      </p:cViewPr>
      <p:guideLst>
        <p:guide orient="horz" pos="2160"/>
        <p:guide pos="2880"/>
      </p:guideLst>
    </p:cSldViewPr>
  </p:slideViewPr>
  <p:notesTextViewPr>
    <p:cViewPr>
      <p:scale>
        <a:sx n="1" d="1"/>
        <a:sy n="1" d="1"/>
      </p:scale>
      <p:origin x="0" y="0"/>
    </p:cViewPr>
  </p:notesTextViewPr>
  <p:notesViewPr>
    <p:cSldViewPr snapToGrid="0">
      <p:cViewPr>
        <p:scale>
          <a:sx n="120" d="100"/>
          <a:sy n="120" d="100"/>
        </p:scale>
        <p:origin x="1228" y="-20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6/11/relationships/changesInfo" Target="changesInfos/changesInfo1.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sldOrd">
      <pc:chgData name="Jan Willem van den End (EBO_CMA)" userId="32ade95a-e024-4672-952f-5ed8641a9e00" providerId="ADAL" clId="{3BBBE02E-ACD4-4586-9407-5E79BF620DF1}" dt="2026-10-10T09:53:52.912" v="9780" actId="20577"/>
      <pc:docMkLst>
        <pc:docMk/>
      </pc:docMkLst>
      <pc:sldChg chg="delSp modSp mod modNotes modNotesTx">
        <pc:chgData name="Jan Willem van den End (EBO_CMA)" userId="32ade95a-e024-4672-952f-5ed8641a9e00" providerId="ADAL" clId="{3BBBE02E-ACD4-4586-9407-5E79BF620DF1}" dt="2026-10-05T18:17:21.030" v="8587" actId="255"/>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NotesTx">
        <pc:chgData name="Jan Willem van den End (EBO_CMA)" userId="32ade95a-e024-4672-952f-5ed8641a9e00" providerId="ADAL" clId="{3BBBE02E-ACD4-4586-9407-5E79BF620DF1}" dt="2026-10-06T07:05:40.929" v="8819" actId="20577"/>
        <pc:sldMkLst>
          <pc:docMk/>
          <pc:sldMk cId="2835017235" sldId="781"/>
        </pc:sldMkLst>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sldChg>
      <pc:sldChg chg="modSp mod modNotes modNotesTx">
        <pc:chgData name="Jan Willem van den End (EBO_CMA)" userId="32ade95a-e024-4672-952f-5ed8641a9e00" providerId="ADAL" clId="{3BBBE02E-ACD4-4586-9407-5E79BF620DF1}" dt="2026-10-06T07:27:52.456" v="8906" actId="6549"/>
        <pc:sldMkLst>
          <pc:docMk/>
          <pc:sldMk cId="4129420739" sldId="786"/>
        </pc:sldMkLst>
        <pc:spChg chg="mod">
          <ac:chgData name="Jan Willem van den End (EBO_CMA)" userId="32ade95a-e024-4672-952f-5ed8641a9e00" providerId="ADAL" clId="{3BBBE02E-ACD4-4586-9407-5E79BF620DF1}" dt="2026-10-05T06:43:41.240" v="6163"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ord">
        <pc:chgData name="Jan Willem van den End (EBO_CMA)" userId="32ade95a-e024-4672-952f-5ed8641a9e00" providerId="ADAL" clId="{3BBBE02E-ACD4-4586-9407-5E79BF620DF1}" dt="2026-10-05T18:13:52.126" v="850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sldChg>
      <pc:sldChg chg="modSp mod modNotes modNotesTx">
        <pc:chgData name="Jan Willem van den End (EBO_CMA)" userId="32ade95a-e024-4672-952f-5ed8641a9e00" providerId="ADAL" clId="{3BBBE02E-ACD4-4586-9407-5E79BF620DF1}" dt="2026-10-10T09:43:47.731" v="9700" actId="20577"/>
        <pc:sldMkLst>
          <pc:docMk/>
          <pc:sldMk cId="515665883" sldId="793"/>
        </pc:sldMkLst>
        <pc:spChg chg="mod">
          <ac:chgData name="Jan Willem van den End (EBO_CMA)" userId="32ade95a-e024-4672-952f-5ed8641a9e00" providerId="ADAL" clId="{3BBBE02E-ACD4-4586-9407-5E79BF620DF1}" dt="2026-10-10T09:43:47.731" v="9700" actId="20577"/>
          <ac:spMkLst>
            <pc:docMk/>
            <pc:sldMk cId="515665883" sldId="793"/>
            <ac:spMk id="2" creationId="{6B853D72-57E4-54DF-F916-E87E4C65C99E}"/>
          </ac:spMkLst>
        </pc:spChg>
        <pc:spChg chg="mod">
          <ac:chgData name="Jan Willem van den End (EBO_CMA)" userId="32ade95a-e024-4672-952f-5ed8641a9e00" providerId="ADAL" clId="{3BBBE02E-ACD4-4586-9407-5E79BF620DF1}" dt="2026-10-10T08:31:21.054" v="8971" actId="20577"/>
          <ac:spMkLst>
            <pc:docMk/>
            <pc:sldMk cId="515665883" sldId="793"/>
            <ac:spMk id="9" creationId="{279E6971-F8C1-CE73-F846-F4CD2F9BE489}"/>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10-10T09:53:52.912" v="9780" actId="20577"/>
        <pc:sldMkLst>
          <pc:docMk/>
          <pc:sldMk cId="165802264" sldId="795"/>
        </pc:sldMkLst>
        <pc:spChg chg="mod">
          <ac:chgData name="Jan Willem van den End (EBO_CMA)" userId="32ade95a-e024-4672-952f-5ed8641a9e00" providerId="ADAL" clId="{3BBBE02E-ACD4-4586-9407-5E79BF620DF1}" dt="2026-10-10T09:53:52.912" v="9780"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10-10T08:37:15.146" v="9089" actId="1036"/>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10-10T08:35:18.609" v="9075" actId="20577"/>
          <ac:spMkLst>
            <pc:docMk/>
            <pc:sldMk cId="909146083" sldId="796"/>
            <ac:spMk id="6" creationId="{4ED6076C-5ED2-F560-9ECC-68A359BFC0CA}"/>
          </ac:spMkLst>
        </pc:spChg>
        <pc:spChg chg="mod">
          <ac:chgData name="Jan Willem van den End (EBO_CMA)" userId="32ade95a-e024-4672-952f-5ed8641a9e00" providerId="ADAL" clId="{3BBBE02E-ACD4-4586-9407-5E79BF620DF1}" dt="2026-10-10T08:34:09.979" v="9069" actId="20577"/>
          <ac:spMkLst>
            <pc:docMk/>
            <pc:sldMk cId="909146083" sldId="796"/>
            <ac:spMk id="9" creationId="{784B30AC-5ECB-6948-E309-0039374246EA}"/>
          </ac:spMkLst>
        </pc:spChg>
        <pc:picChg chg="del mod">
          <ac:chgData name="Jan Willem van den End (EBO_CMA)" userId="32ade95a-e024-4672-952f-5ed8641a9e00" providerId="ADAL" clId="{3BBBE02E-ACD4-4586-9407-5E79BF620DF1}" dt="2026-10-10T08:31:52.584" v="8972" actId="478"/>
          <ac:picMkLst>
            <pc:docMk/>
            <pc:sldMk cId="909146083" sldId="796"/>
            <ac:picMk id="3" creationId="{55B13636-9215-8A37-3974-917B9B355D12}"/>
          </ac:picMkLst>
        </pc:picChg>
        <pc:picChg chg="mod">
          <ac:chgData name="Jan Willem van den End (EBO_CMA)" userId="32ade95a-e024-4672-952f-5ed8641a9e00" providerId="ADAL" clId="{3BBBE02E-ACD4-4586-9407-5E79BF620DF1}" dt="2026-10-10T08:37:15.146" v="9089" actId="1036"/>
          <ac:picMkLst>
            <pc:docMk/>
            <pc:sldMk cId="909146083" sldId="796"/>
            <ac:picMk id="4" creationId="{CC406C6F-97A4-2854-9FCD-FD08F187902C}"/>
          </ac:picMkLst>
        </pc:picChg>
        <pc:picChg chg="mod">
          <ac:chgData name="Jan Willem van den End (EBO_CMA)" userId="32ade95a-e024-4672-952f-5ed8641a9e00" providerId="ADAL" clId="{3BBBE02E-ACD4-4586-9407-5E79BF620DF1}" dt="2026-10-10T08:37:15.146" v="9089" actId="1036"/>
          <ac:picMkLst>
            <pc:docMk/>
            <pc:sldMk cId="909146083" sldId="796"/>
            <ac:picMk id="5" creationId="{E062AC67-D726-4D45-300A-EB28E70BA46D}"/>
          </ac:picMkLst>
        </pc:picChg>
      </pc:sldChg>
      <pc:sldChg chg="modSp add mod modNotesTx">
        <pc:chgData name="Jan Willem van den End (EBO_CMA)" userId="32ade95a-e024-4672-952f-5ed8641a9e00" providerId="ADAL" clId="{3BBBE02E-ACD4-4586-9407-5E79BF620DF1}" dt="2026-10-10T08:37:42.051" v="9131" actId="6549"/>
        <pc:sldMkLst>
          <pc:docMk/>
          <pc:sldMk cId="341592472" sldId="797"/>
        </pc:sldMkLst>
        <pc:spChg chg="mod">
          <ac:chgData name="Jan Willem van den End (EBO_CMA)" userId="32ade95a-e024-4672-952f-5ed8641a9e00" providerId="ADAL" clId="{3BBBE02E-ACD4-4586-9407-5E79BF620DF1}" dt="2026-10-10T08:37:42.051" v="9131" actId="6549"/>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sldChg chg="modSp add mod">
        <pc:chgData name="Jan Willem van den End (EBO_CMA)" userId="32ade95a-e024-4672-952f-5ed8641a9e00" providerId="ADAL" clId="{3BBBE02E-ACD4-4586-9407-5E79BF620DF1}" dt="2026-10-10T09:46:55.958" v="9708" actId="20577"/>
        <pc:sldMkLst>
          <pc:docMk/>
          <pc:sldMk cId="3745319895" sldId="798"/>
        </pc:sldMkLst>
        <pc:spChg chg="mod">
          <ac:chgData name="Jan Willem van den End (EBO_CMA)" userId="32ade95a-e024-4672-952f-5ed8641a9e00" providerId="ADAL" clId="{3BBBE02E-ACD4-4586-9407-5E79BF620DF1}" dt="2026-10-10T09:46:55.958" v="9708" actId="20577"/>
          <ac:spMkLst>
            <pc:docMk/>
            <pc:sldMk cId="3745319895" sldId="798"/>
            <ac:spMk id="2" creationId="{4E2FFC46-D6F5-41BF-DECB-9FA98C0F56DD}"/>
          </ac:spMkLst>
        </pc:spChg>
        <pc:spChg chg="mod">
          <ac:chgData name="Jan Willem van den End (EBO_CMA)" userId="32ade95a-e024-4672-952f-5ed8641a9e00" providerId="ADAL" clId="{3BBBE02E-ACD4-4586-9407-5E79BF620DF1}" dt="2026-10-10T08:55:46.068" v="9232" actId="20577"/>
          <ac:spMkLst>
            <pc:docMk/>
            <pc:sldMk cId="3745319895" sldId="798"/>
            <ac:spMk id="9" creationId="{B1A8A21F-73A6-21A9-7607-658345AEC559}"/>
          </ac:spMkLst>
        </pc:spChg>
      </pc:sldChg>
      <pc:sldChg chg="delSp modSp add mod">
        <pc:chgData name="Jan Willem van den End (EBO_CMA)" userId="32ade95a-e024-4672-952f-5ed8641a9e00" providerId="ADAL" clId="{3BBBE02E-ACD4-4586-9407-5E79BF620DF1}" dt="2026-10-10T09:53:09.812" v="9754" actId="20577"/>
        <pc:sldMkLst>
          <pc:docMk/>
          <pc:sldMk cId="2790278619" sldId="799"/>
        </pc:sldMkLst>
        <pc:spChg chg="mod">
          <ac:chgData name="Jan Willem van den End (EBO_CMA)" userId="32ade95a-e024-4672-952f-5ed8641a9e00" providerId="ADAL" clId="{3BBBE02E-ACD4-4586-9407-5E79BF620DF1}" dt="2026-10-10T09:53:09.812" v="9754" actId="20577"/>
          <ac:spMkLst>
            <pc:docMk/>
            <pc:sldMk cId="2790278619" sldId="799"/>
            <ac:spMk id="9" creationId="{E303A361-90E1-35B2-AE64-2B40EE87BE60}"/>
          </ac:spMkLst>
        </pc:spChg>
        <pc:picChg chg="mod">
          <ac:chgData name="Jan Willem van den End (EBO_CMA)" userId="32ade95a-e024-4672-952f-5ed8641a9e00" providerId="ADAL" clId="{3BBBE02E-ACD4-4586-9407-5E79BF620DF1}" dt="2026-10-10T09:51:28.557" v="9718" actId="1035"/>
          <ac:picMkLst>
            <pc:docMk/>
            <pc:sldMk cId="2790278619" sldId="799"/>
            <ac:picMk id="3" creationId="{BA1AEE6B-C3CF-FAEB-FF58-BBA90707E8D1}"/>
          </ac:picMkLst>
        </pc:picChg>
        <pc:picChg chg="del">
          <ac:chgData name="Jan Willem van den End (EBO_CMA)" userId="32ade95a-e024-4672-952f-5ed8641a9e00" providerId="ADAL" clId="{3BBBE02E-ACD4-4586-9407-5E79BF620DF1}" dt="2026-10-10T08:56:53.227" v="9243" actId="478"/>
          <ac:picMkLst>
            <pc:docMk/>
            <pc:sldMk cId="2790278619" sldId="799"/>
            <ac:picMk id="4" creationId="{38FE1EB0-0B67-BA03-98DA-03667A2455DC}"/>
          </ac:picMkLst>
        </pc:picChg>
        <pc:picChg chg="mod">
          <ac:chgData name="Jan Willem van den End (EBO_CMA)" userId="32ade95a-e024-4672-952f-5ed8641a9e00" providerId="ADAL" clId="{3BBBE02E-ACD4-4586-9407-5E79BF620DF1}" dt="2026-10-10T09:51:18.722" v="9717" actId="1076"/>
          <ac:picMkLst>
            <pc:docMk/>
            <pc:sldMk cId="2790278619" sldId="799"/>
            <ac:picMk id="5" creationId="{1934FC63-0880-B9C7-3990-4C41059B0EE7}"/>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10-10-2026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10-10-2026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r>
              <a:rPr lang="nl-NL" dirty="0"/>
              <a:t>Commentaar</a:t>
            </a:r>
            <a:r>
              <a:rPr lang="nl-NL"/>
              <a:t>: Berben, Bun, Mink</a:t>
            </a:r>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r>
              <a:rPr lang="nl-NL" sz="1400" dirty="0"/>
              <a:t>The variables </a:t>
            </a:r>
            <a:r>
              <a:rPr lang="nl-NL" sz="1400" dirty="0" err="1"/>
              <a:t>for</a:t>
            </a:r>
            <a:r>
              <a:rPr lang="nl-NL" sz="1400" dirty="0"/>
              <a:t> the investment </a:t>
            </a:r>
            <a:r>
              <a:rPr lang="nl-NL" sz="1400" dirty="0" err="1"/>
              <a:t>channel</a:t>
            </a:r>
            <a:r>
              <a:rPr lang="nl-NL" sz="1400" dirty="0"/>
              <a:t> are </a:t>
            </a:r>
            <a:r>
              <a:rPr lang="nl-NL" sz="1400" dirty="0" err="1"/>
              <a:t>proxies</a:t>
            </a:r>
            <a:r>
              <a:rPr lang="nl-NL" sz="1400" dirty="0"/>
              <a:t> </a:t>
            </a:r>
            <a:r>
              <a:rPr lang="nl-NL" sz="1400" dirty="0" err="1"/>
              <a:t>for</a:t>
            </a:r>
            <a:r>
              <a:rPr lang="nl-NL" sz="1400" dirty="0"/>
              <a:t> the </a:t>
            </a:r>
            <a:r>
              <a:rPr lang="nl-NL" sz="1400" dirty="0" err="1"/>
              <a:t>use</a:t>
            </a:r>
            <a:r>
              <a:rPr lang="nl-NL" sz="1400" dirty="0"/>
              <a:t> and the </a:t>
            </a:r>
            <a:r>
              <a:rPr lang="nl-NL" sz="1400" dirty="0" err="1"/>
              <a:t>extent</a:t>
            </a:r>
            <a:r>
              <a:rPr lang="nl-NL" sz="1400" dirty="0"/>
              <a:t> of </a:t>
            </a:r>
            <a:r>
              <a:rPr lang="nl-NL" sz="1400" dirty="0" err="1"/>
              <a:t>which</a:t>
            </a:r>
            <a:r>
              <a:rPr lang="nl-NL" sz="1400" dirty="0"/>
              <a:t> AI/ICT is </a:t>
            </a:r>
            <a:r>
              <a:rPr lang="nl-NL" sz="1400" dirty="0" err="1"/>
              <a:t>applied</a:t>
            </a:r>
            <a:r>
              <a:rPr lang="nl-NL" sz="1400" dirty="0"/>
              <a:t> </a:t>
            </a:r>
            <a:r>
              <a:rPr lang="nl-NL" sz="1400" dirty="0" err="1"/>
              <a:t>by</a:t>
            </a:r>
            <a:r>
              <a:rPr lang="nl-NL" sz="1400" dirty="0"/>
              <a:t> companies. </a:t>
            </a:r>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14:m>
                  <m:oMath xmlns:m="http://schemas.openxmlformats.org/officeDocument/2006/math">
                    <m:r>
                      <a:rPr lang="en-US" sz="1400" b="0" i="0" smtClean="0">
                        <a:latin typeface="Cambria Math" panose="02040503050406030204" pitchFamily="18" charset="0"/>
                      </a:rPr>
                      <m:t> </m:t>
                    </m:r>
                    <m:sSub>
                      <m:sSubPr>
                        <m:ctrlPr>
                          <a:rPr lang="en-NL" sz="1400" i="1">
                            <a:latin typeface="Cambria Math" panose="02040503050406030204" pitchFamily="18" charset="0"/>
                          </a:rPr>
                        </m:ctrlPr>
                      </m:sSubPr>
                      <m:e>
                        <m:r>
                          <a:rPr lang="en-NL" sz="1400" i="1">
                            <a:latin typeface="Cambria Math" panose="02040503050406030204" pitchFamily="18" charset="0"/>
                          </a:rPr>
                          <m:t>𝛾</m:t>
                        </m:r>
                      </m:e>
                      <m:sub>
                        <m:r>
                          <a:rPr lang="en-NL" sz="1400">
                            <a:latin typeface="Cambria Math" panose="02040503050406030204" pitchFamily="18" charset="0"/>
                          </a:rPr>
                          <m:t>2</m:t>
                        </m:r>
                      </m:sub>
                    </m:sSub>
                    <m:r>
                      <a:rPr lang="en-NL" sz="1400">
                        <a:latin typeface="Cambria Math" panose="02040503050406030204" pitchFamily="18" charset="0"/>
                      </a:rPr>
                      <m:t>&lt;0</m:t>
                    </m:r>
                  </m:oMath>
                </a14:m>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14:m>
                  <m:oMath xmlns:m="http://schemas.openxmlformats.org/officeDocument/2006/math">
                    <m:r>
                      <a:rPr lang="en-NL" i="1">
                        <a:latin typeface="Cambria Math" panose="02040503050406030204" pitchFamily="18" charset="0"/>
                      </a:rPr>
                      <m:t>𝑡</m:t>
                    </m:r>
                  </m:oMath>
                </a14:m>
                <a:r>
                  <a:rPr lang="en-NL" dirty="0"/>
                  <a:t>or </a:t>
                </a:r>
                <a14:m>
                  <m:oMath xmlns:m="http://schemas.openxmlformats.org/officeDocument/2006/math">
                    <m:r>
                      <a:rPr lang="en-NL" i="1">
                        <a:latin typeface="Cambria Math" panose="02040503050406030204" pitchFamily="18" charset="0"/>
                      </a:rPr>
                      <m:t>𝑡</m:t>
                    </m:r>
                    <m:r>
                      <a:rPr lang="en-NL">
                        <a:latin typeface="Cambria Math" panose="02040503050406030204" pitchFamily="18" charset="0"/>
                      </a:rPr>
                      <m:t>+</m:t>
                    </m:r>
                    <m:r>
                      <a:rPr lang="en-US" b="0" i="0" smtClean="0">
                        <a:latin typeface="Cambria Math" panose="02040503050406030204" pitchFamily="18" charset="0"/>
                      </a:rPr>
                      <m:t>1</m:t>
                    </m:r>
                  </m:oMath>
                </a14:m>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Choice>
        <mc:Fallback xmlns="">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r>
                  <a:rPr lang="en-US" sz="1400" b="0" i="0">
                    <a:latin typeface="Cambria Math" panose="02040503050406030204" pitchFamily="18" charset="0"/>
                  </a:rPr>
                  <a:t> </a:t>
                </a:r>
                <a:r>
                  <a:rPr lang="en-NL" sz="1400" i="0">
                    <a:latin typeface="Cambria Math" panose="02040503050406030204" pitchFamily="18" charset="0"/>
                  </a:rPr>
                  <a:t>𝛾_2&lt;0</a:t>
                </a:r>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r>
                  <a:rPr lang="en-NL" i="0">
                    <a:latin typeface="Cambria Math" panose="02040503050406030204" pitchFamily="18" charset="0"/>
                  </a:rPr>
                  <a:t>𝑡</a:t>
                </a:r>
                <a:r>
                  <a:rPr lang="en-NL" dirty="0"/>
                  <a:t>or </a:t>
                </a:r>
                <a:r>
                  <a:rPr lang="en-NL" i="0">
                    <a:latin typeface="Cambria Math" panose="02040503050406030204" pitchFamily="18" charset="0"/>
                  </a:rPr>
                  <a:t>𝑡+</a:t>
                </a:r>
                <a:r>
                  <a:rPr lang="en-US" b="0" i="0">
                    <a:latin typeface="Cambria Math" panose="02040503050406030204" pitchFamily="18" charset="0"/>
                  </a:rPr>
                  <a:t>1</a:t>
                </a:r>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Fallback>
      </mc:AlternateContent>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en-US" sz="14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400" dirty="0"/>
          </a:p>
          <a:p>
            <a:pPr marL="171450" indent="-171450">
              <a:buFontTx/>
              <a:buChar char="-"/>
            </a:pPr>
            <a:r>
              <a:rPr lang="en-US" sz="1400" dirty="0"/>
              <a:t>Investing in ICT does not yet equal its effective application. It is a proxy, also for a country's exposure to the ICT factor without having to change economic processes.</a:t>
            </a:r>
          </a:p>
          <a:p>
            <a:pPr marL="171450" indent="-171450">
              <a:buFontTx/>
              <a:buChar char="-"/>
            </a:pPr>
            <a:endParaRPr lang="nl-NL" sz="1400" dirty="0"/>
          </a:p>
          <a:p>
            <a:pPr marL="171450" indent="-171450">
              <a:buFontTx/>
              <a:buChar char="-"/>
            </a:pPr>
            <a:r>
              <a:rPr lang="nl-NL" sz="1400" dirty="0" err="1"/>
              <a:t>Each</a:t>
            </a:r>
            <a:r>
              <a:rPr lang="nl-NL" sz="1400" dirty="0"/>
              <a:t> </a:t>
            </a:r>
            <a:r>
              <a:rPr lang="nl-NL" sz="1400" dirty="0" err="1"/>
              <a:t>year</a:t>
            </a:r>
            <a:r>
              <a:rPr lang="nl-NL" sz="1400" dirty="0"/>
              <a:t> the </a:t>
            </a:r>
            <a:r>
              <a:rPr lang="nl-NL" sz="1400" dirty="0" err="1"/>
              <a:t>median</a:t>
            </a:r>
            <a:r>
              <a:rPr lang="nl-NL" sz="1400" dirty="0"/>
              <a:t> </a:t>
            </a:r>
            <a:r>
              <a:rPr lang="nl-NL" sz="1400" dirty="0" err="1"/>
              <a:t>threshold</a:t>
            </a:r>
            <a:r>
              <a:rPr lang="nl-NL" sz="1400" dirty="0"/>
              <a:t> </a:t>
            </a:r>
            <a:r>
              <a:rPr lang="nl-NL" sz="1400" dirty="0" err="1"/>
              <a:t>for</a:t>
            </a:r>
            <a:r>
              <a:rPr lang="nl-NL" sz="1400" dirty="0"/>
              <a:t> </a:t>
            </a:r>
            <a:r>
              <a:rPr lang="nl-NL" sz="1400" dirty="0" err="1"/>
              <a:t>Above</a:t>
            </a:r>
            <a:r>
              <a:rPr lang="nl-NL" sz="1400" dirty="0"/>
              <a:t> </a:t>
            </a:r>
            <a:r>
              <a:rPr lang="nl-NL" sz="1400" dirty="0" err="1"/>
              <a:t>vs</a:t>
            </a:r>
            <a:r>
              <a:rPr lang="nl-NL" sz="1400" dirty="0"/>
              <a:t> Below changes, </a:t>
            </a:r>
            <a:r>
              <a:rPr lang="nl-NL" sz="1400" dirty="0" err="1"/>
              <a:t>so</a:t>
            </a:r>
            <a:r>
              <a:rPr lang="nl-NL" sz="1400" dirty="0"/>
              <a:t>: </a:t>
            </a:r>
            <a:r>
              <a:rPr lang="nl-NL" sz="1400" dirty="0" err="1"/>
              <a:t>each</a:t>
            </a:r>
            <a:r>
              <a:rPr lang="nl-NL" sz="1400" dirty="0"/>
              <a:t> </a:t>
            </a:r>
            <a:r>
              <a:rPr lang="nl-NL" sz="1400" dirty="0" err="1"/>
              <a:t>year</a:t>
            </a:r>
            <a:r>
              <a:rPr lang="nl-NL" sz="1400" dirty="0"/>
              <a:t> the </a:t>
            </a:r>
            <a:r>
              <a:rPr lang="nl-NL" sz="1400" dirty="0" err="1"/>
              <a:t>Above</a:t>
            </a:r>
            <a:r>
              <a:rPr lang="nl-NL" sz="1400" dirty="0"/>
              <a:t> and Below </a:t>
            </a:r>
            <a:r>
              <a:rPr lang="nl-NL" sz="1400" dirty="0" err="1"/>
              <a:t>groups</a:t>
            </a:r>
            <a:r>
              <a:rPr lang="nl-NL" sz="1400" dirty="0"/>
              <a:t> of </a:t>
            </a:r>
            <a:r>
              <a:rPr lang="nl-NL" sz="1400" dirty="0" err="1"/>
              <a:t>countries</a:t>
            </a:r>
            <a:r>
              <a:rPr lang="nl-NL" sz="1400" dirty="0"/>
              <a:t> </a:t>
            </a:r>
            <a:r>
              <a:rPr lang="nl-NL" sz="1400" dirty="0" err="1"/>
              <a:t>differ</a:t>
            </a:r>
            <a:r>
              <a:rPr lang="nl-NL" sz="1400" dirty="0"/>
              <a:t>.</a:t>
            </a:r>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76A53-A44A-40F9-6AEB-D4604691F90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1A525D6-CCD9-BB08-433C-BC82E9D4D224}"/>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41B7F79-C5DD-F3BA-D516-7A8B8AF19412}"/>
              </a:ext>
            </a:extLst>
          </p:cNvPr>
          <p:cNvSpPr>
            <a:spLocks noGrp="1"/>
          </p:cNvSpPr>
          <p:nvPr>
            <p:ph type="body" idx="1"/>
          </p:nvPr>
        </p:nvSpPr>
        <p:spPr/>
        <p:txBody>
          <a:bodyPr/>
          <a:lstStyle/>
          <a:p>
            <a:pPr marL="171450" indent="-171450">
              <a:buFontTx/>
              <a:buChar char="-"/>
            </a:pPr>
            <a:r>
              <a:rPr lang="en-US" sz="14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400" dirty="0"/>
          </a:p>
          <a:p>
            <a:pPr marL="171450" indent="-171450">
              <a:buFontTx/>
              <a:buChar char="-"/>
            </a:pPr>
            <a:r>
              <a:rPr lang="en-US" sz="1400" dirty="0"/>
              <a:t>Investing in ICT does not yet equal its effective application. It is a proxy, also for a country's exposure to the ICT factor without having to change economic processes.</a:t>
            </a:r>
          </a:p>
          <a:p>
            <a:pPr marL="171450" indent="-171450">
              <a:buFontTx/>
              <a:buChar char="-"/>
            </a:pPr>
            <a:endParaRPr lang="nl-NL" sz="1400" dirty="0"/>
          </a:p>
          <a:p>
            <a:pPr marL="171450" indent="-171450">
              <a:buFontTx/>
              <a:buChar char="-"/>
            </a:pPr>
            <a:r>
              <a:rPr lang="nl-NL" sz="1400" dirty="0" err="1"/>
              <a:t>Each</a:t>
            </a:r>
            <a:r>
              <a:rPr lang="nl-NL" sz="1400" dirty="0"/>
              <a:t> </a:t>
            </a:r>
            <a:r>
              <a:rPr lang="nl-NL" sz="1400" dirty="0" err="1"/>
              <a:t>year</a:t>
            </a:r>
            <a:r>
              <a:rPr lang="nl-NL" sz="1400" dirty="0"/>
              <a:t> the </a:t>
            </a:r>
            <a:r>
              <a:rPr lang="nl-NL" sz="1400" dirty="0" err="1"/>
              <a:t>median</a:t>
            </a:r>
            <a:r>
              <a:rPr lang="nl-NL" sz="1400" dirty="0"/>
              <a:t> </a:t>
            </a:r>
            <a:r>
              <a:rPr lang="nl-NL" sz="1400" dirty="0" err="1"/>
              <a:t>threshold</a:t>
            </a:r>
            <a:r>
              <a:rPr lang="nl-NL" sz="1400" dirty="0"/>
              <a:t> </a:t>
            </a:r>
            <a:r>
              <a:rPr lang="nl-NL" sz="1400" dirty="0" err="1"/>
              <a:t>for</a:t>
            </a:r>
            <a:r>
              <a:rPr lang="nl-NL" sz="1400" dirty="0"/>
              <a:t> </a:t>
            </a:r>
            <a:r>
              <a:rPr lang="nl-NL" sz="1400" dirty="0" err="1"/>
              <a:t>Above</a:t>
            </a:r>
            <a:r>
              <a:rPr lang="nl-NL" sz="1400" dirty="0"/>
              <a:t> </a:t>
            </a:r>
            <a:r>
              <a:rPr lang="nl-NL" sz="1400" dirty="0" err="1"/>
              <a:t>vs</a:t>
            </a:r>
            <a:r>
              <a:rPr lang="nl-NL" sz="1400" dirty="0"/>
              <a:t> Below changes, </a:t>
            </a:r>
            <a:r>
              <a:rPr lang="nl-NL" sz="1400" dirty="0" err="1"/>
              <a:t>so</a:t>
            </a:r>
            <a:r>
              <a:rPr lang="nl-NL" sz="1400" dirty="0"/>
              <a:t>: </a:t>
            </a:r>
            <a:r>
              <a:rPr lang="nl-NL" sz="1400" dirty="0" err="1"/>
              <a:t>each</a:t>
            </a:r>
            <a:r>
              <a:rPr lang="nl-NL" sz="1400" dirty="0"/>
              <a:t> </a:t>
            </a:r>
            <a:r>
              <a:rPr lang="nl-NL" sz="1400" dirty="0" err="1"/>
              <a:t>year</a:t>
            </a:r>
            <a:r>
              <a:rPr lang="nl-NL" sz="1400" dirty="0"/>
              <a:t> the </a:t>
            </a:r>
            <a:r>
              <a:rPr lang="nl-NL" sz="1400" dirty="0" err="1"/>
              <a:t>Above</a:t>
            </a:r>
            <a:r>
              <a:rPr lang="nl-NL" sz="1400" dirty="0"/>
              <a:t> and Below </a:t>
            </a:r>
            <a:r>
              <a:rPr lang="nl-NL" sz="1400" dirty="0" err="1"/>
              <a:t>groups</a:t>
            </a:r>
            <a:r>
              <a:rPr lang="nl-NL" sz="1400" dirty="0"/>
              <a:t> of </a:t>
            </a:r>
            <a:r>
              <a:rPr lang="nl-NL" sz="1400" dirty="0" err="1"/>
              <a:t>countries</a:t>
            </a:r>
            <a:r>
              <a:rPr lang="nl-NL" sz="1400" dirty="0"/>
              <a:t> </a:t>
            </a:r>
            <a:r>
              <a:rPr lang="nl-NL" sz="1400" dirty="0" err="1"/>
              <a:t>differ</a:t>
            </a:r>
            <a:r>
              <a:rPr lang="nl-NL" sz="1400" dirty="0"/>
              <a:t>.</a:t>
            </a:r>
          </a:p>
        </p:txBody>
      </p:sp>
      <p:sp>
        <p:nvSpPr>
          <p:cNvPr id="4" name="Tijdelijke aanduiding voor dianummer 3">
            <a:extLst>
              <a:ext uri="{FF2B5EF4-FFF2-40B4-BE49-F238E27FC236}">
                <a16:creationId xmlns:a16="http://schemas.microsoft.com/office/drawing/2014/main" id="{7337F1BA-05B0-AA9C-28F9-DF416BB0B6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74336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94C5-5DF8-CF0D-9F40-18220F46836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585E70F-86F1-ABB3-C0A5-851B721BADB8}"/>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E9CC7E-C39E-CD4E-A766-7DBE8097F989}"/>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DFAF7B08-4D7D-35A3-3C73-1281369EA460}"/>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36278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15</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16</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6.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4.emf"/><Relationship Id="rId5" Type="http://schemas.openxmlformats.org/officeDocument/2006/relationships/image" Target="../media/image12.emf"/><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regression models (linear and non-linear)</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1015663"/>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(selection based on peaks in global uncertainty index,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Linear panel models (LPM)</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347472" y="935390"/>
                <a:ext cx="8723376" cy="6087202"/>
              </a:xfrm>
            </p:spPr>
            <p:txBody>
              <a:bodyPr>
                <a:normAutofit lnSpcReduction="10000"/>
              </a:bodyPr>
              <a:lstStyle/>
              <a:p>
                <a:pPr>
                  <a:lnSpc>
                    <a:spcPct val="120000"/>
                  </a:lnSpc>
                  <a:spcAft>
                    <a:spcPts val="300"/>
                  </a:spcAft>
                </a:pPr>
                <a:r>
                  <a:rPr lang="en-GB" sz="2000" noProof="1">
                    <a:latin typeface="Verdana" panose="020B0604030504040204" pitchFamily="34" charset="0"/>
                    <a:ea typeface="Verdana" panose="020B0604030504040204" pitchFamily="34" charset="0"/>
                  </a:rPr>
                  <a:t>1. Average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𝛽</m:t>
                    </m:r>
                  </m:oMath>
                </a14:m>
                <a:r>
                  <a:rPr lang="en-GB"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b="0" i="1" noProof="1" dirty="0" smtClean="0">
                            <a:solidFill>
                              <a:schemeClr val="tx1"/>
                            </a:solidFill>
                            <a:latin typeface="Cambria Math" panose="02040503050406030204" pitchFamily="18" charset="0"/>
                            <a:ea typeface="Verdana" panose="020B0604030504040204" pitchFamily="34" charset="0"/>
                          </a:rPr>
                        </m:ctrlPr>
                      </m:sSubPr>
                      <m:e>
                        <m:r>
                          <a:rPr lang="en-GB" sz="2200" b="0" i="1" noProof="1" dirty="0" smtClean="0">
                            <a:solidFill>
                              <a:schemeClr val="tx1"/>
                            </a:solidFill>
                            <a:latin typeface="Cambria Math" panose="02040503050406030204" pitchFamily="18" charset="0"/>
                            <a:ea typeface="Verdana" panose="020B0604030504040204" pitchFamily="34" charset="0"/>
                          </a:rPr>
                          <m:t>𝑆</m:t>
                        </m:r>
                      </m:e>
                      <m:sub>
                        <m:r>
                          <a:rPr lang="en-GB" sz="2200" b="0" i="1" noProof="1" dirty="0" smtClean="0">
                            <a:solidFill>
                              <a:schemeClr val="tx1"/>
                            </a:solidFill>
                            <a:latin typeface="Cambria Math" panose="02040503050406030204" pitchFamily="18" charset="0"/>
                            <a:ea typeface="Verdana" panose="020B0604030504040204" pitchFamily="34" charset="0"/>
                          </a:rPr>
                          <m:t>𝑖</m:t>
                        </m:r>
                        <m:r>
                          <a:rPr lang="en-GB" sz="2200" b="0" i="1" noProof="1" dirty="0" smtClean="0">
                            <a:solidFill>
                              <a:schemeClr val="tx1"/>
                            </a:solidFill>
                            <a:latin typeface="Cambria Math" panose="02040503050406030204" pitchFamily="18" charset="0"/>
                            <a:ea typeface="Verdana" panose="020B0604030504040204" pitchFamily="34" charset="0"/>
                          </a:rPr>
                          <m:t>,</m:t>
                        </m:r>
                        <m:r>
                          <a:rPr lang="en-GB" sz="2200" b="0" i="1" noProof="1" dirty="0" smtClean="0">
                            <a:solidFill>
                              <a:schemeClr val="tx1"/>
                            </a:solidFill>
                            <a:latin typeface="Cambria Math" panose="02040503050406030204" pitchFamily="18" charset="0"/>
                            <a:ea typeface="Verdana" panose="020B0604030504040204" pitchFamily="34" charset="0"/>
                          </a:rPr>
                          <m:t>𝑡</m:t>
                        </m:r>
                      </m:sub>
                    </m:sSub>
                    <m:r>
                      <a:rPr lang="en-GB" sz="2200" i="1" noProof="1" dirty="0" smtClean="0">
                        <a:solidFill>
                          <a:schemeClr val="tx1"/>
                        </a:solidFill>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b="0" i="1" noProof="1" dirty="0" smtClean="0">
                            <a:latin typeface="Cambria Math" panose="02040503050406030204" pitchFamily="18" charset="0"/>
                            <a:ea typeface="Verdana" panose="020B0604030504040204" pitchFamily="34" charset="0"/>
                          </a:rPr>
                          <m:t>𝑖</m:t>
                        </m:r>
                      </m:sub>
                    </m:sSub>
                    <m:r>
                      <a:rPr lang="en-GB" sz="2200" b="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b="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Cambria Math" panose="02040503050406030204" pitchFamily="18" charset="0"/>
                      </a:rPr>
                      <m:t>𝛽</m:t>
                    </m:r>
                    <m:sSub>
                      <m:sSubPr>
                        <m:ctrlPr>
                          <a:rPr lang="en-GB" sz="2200" b="0" i="1" noProof="1" dirty="0" smtClean="0">
                            <a:latin typeface="Cambria Math" panose="02040503050406030204" pitchFamily="18" charset="0"/>
                            <a:ea typeface="Verdana" panose="020B0604030504040204" pitchFamily="34" charset="0"/>
                          </a:rPr>
                        </m:ctrlPr>
                      </m:sSubPr>
                      <m:e>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m:rPr>
                        <m:nor/>
                      </m:rPr>
                      <a:rPr lang="en-GB" sz="2200" noProof="1" dirty="0" smtClean="0">
                        <a:ea typeface="Cambria Math" panose="02040503050406030204" pitchFamily="18" charset="0"/>
                      </a:rPr>
                      <m:t> </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b="0" i="1" noProof="1" dirty="0" smtClean="0">
                            <a:latin typeface="Cambria Math" panose="02040503050406030204" pitchFamily="18" charset="0"/>
                            <a:ea typeface="Cambria Math" panose="02040503050406030204" pitchFamily="18" charset="0"/>
                          </a:rPr>
                          <m:t>𝑖</m:t>
                        </m:r>
                        <m:r>
                          <a:rPr lang="en-GB" sz="2200" b="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1800" noProof="1">
                    <a:latin typeface="Verdana" panose="020B0604030504040204" pitchFamily="34" charset="0"/>
                    <a:ea typeface="Verdana" panose="020B0604030504040204" pitchFamily="34" charset="0"/>
                  </a:rPr>
                  <a:t>2. </a:t>
                </a:r>
                <a:r>
                  <a:rPr lang="en-GB" sz="2000" noProof="1">
                    <a:latin typeface="Verdana" panose="020B0604030504040204" pitchFamily="34" charset="0"/>
                    <a:ea typeface="Verdana" panose="020B0604030504040204" pitchFamily="34" charset="0"/>
                  </a:rPr>
                  <a:t>Additional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𝛾</m:t>
                    </m:r>
                  </m:oMath>
                </a14:m>
                <a:r>
                  <a:rPr lang="en-GB"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b="0" i="1" noProof="1" dirty="0" smtClean="0">
                        <a:latin typeface="Cambria Math" panose="02040503050406030204" pitchFamily="18" charset="0"/>
                        <a:ea typeface="Verdana" panose="020B0604030504040204" pitchFamily="34" charset="0"/>
                      </a:rPr>
                      <m:t>+ </m:t>
                    </m:r>
                    <m:r>
                      <a:rPr lang="en-GB" sz="2400" i="1" noProof="1" dirty="0" smtClean="0">
                        <a:latin typeface="Cambria Math" panose="02040503050406030204" pitchFamily="18" charset="0"/>
                        <a:ea typeface="Cambria Math" panose="02040503050406030204" pitchFamily="18" charset="0"/>
                      </a:rPr>
                      <m:t>𝛾</m:t>
                    </m:r>
                    <m:r>
                      <a:rPr lang="en-GB" sz="2400" b="0" i="1" noProof="1" dirty="0" smtClean="0">
                        <a:latin typeface="Cambria Math" panose="02040503050406030204" pitchFamily="18" charset="0"/>
                        <a:ea typeface="Cambria Math" panose="02040503050406030204" pitchFamily="18" charset="0"/>
                      </a:rPr>
                      <m:t> </m:t>
                    </m:r>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𝑋</m:t>
                        </m:r>
                      </m:e>
                      <m:sub>
                        <m:r>
                          <a:rPr lang="en-GB" sz="2400" i="1" noProof="1" dirty="0" smtClean="0">
                            <a:latin typeface="Cambria Math" panose="02040503050406030204" pitchFamily="18" charset="0"/>
                            <a:ea typeface="Verdana" panose="020B0604030504040204" pitchFamily="34" charset="0"/>
                          </a:rPr>
                          <m:t>𝑖</m:t>
                        </m:r>
                        <m:r>
                          <a:rPr lang="en-GB" sz="2400" i="1" noProof="1" dirty="0" smtClean="0">
                            <a:latin typeface="Cambria Math" panose="02040503050406030204" pitchFamily="18" charset="0"/>
                            <a:ea typeface="Verdana" panose="020B0604030504040204" pitchFamily="34" charset="0"/>
                          </a:rPr>
                          <m:t>,</m:t>
                        </m:r>
                        <m:r>
                          <a:rPr lang="en-GB" sz="2400" i="1" noProof="1" dirty="0" smtClean="0">
                            <a:latin typeface="Cambria Math" panose="02040503050406030204" pitchFamily="18" charset="0"/>
                            <a:ea typeface="Verdana" panose="020B0604030504040204" pitchFamily="34" charset="0"/>
                          </a:rPr>
                          <m:t>𝑡</m:t>
                        </m:r>
                        <m:r>
                          <a:rPr lang="en-GB" sz="2400" i="1" noProof="1" dirty="0" smtClean="0">
                            <a:latin typeface="Cambria Math" panose="02040503050406030204" pitchFamily="18" charset="0"/>
                            <a:ea typeface="Verdana" panose="020B0604030504040204" pitchFamily="34" charset="0"/>
                          </a:rPr>
                          <m:t>−1</m:t>
                        </m:r>
                      </m:sub>
                    </m:sSub>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𝐷</m:t>
                        </m:r>
                      </m:e>
                      <m:sub>
                        <m:r>
                          <a:rPr lang="en-GB" sz="2400" i="1" noProof="1" dirty="0" smtClean="0">
                            <a:latin typeface="Cambria Math" panose="02040503050406030204" pitchFamily="18" charset="0"/>
                            <a:ea typeface="Verdana" panose="020B0604030504040204" pitchFamily="34" charset="0"/>
                          </a:rPr>
                          <m:t>𝑡</m:t>
                        </m:r>
                      </m:sub>
                    </m:sSub>
                    <m:r>
                      <a:rPr lang="en-GB" sz="2400" b="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000" noProof="1">
                  <a:latin typeface="Verdana" panose="020B0604030504040204" pitchFamily="34" charset="0"/>
                  <a:ea typeface="Verdana" panose="020B0604030504040204" pitchFamily="34" charset="0"/>
                </a:endParaRP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000" noProof="1">
                    <a:latin typeface="Verdana" panose="020B0604030504040204" pitchFamily="34" charset="0"/>
                    <a:ea typeface="Verdana" panose="020B0604030504040204" pitchFamily="34" charset="0"/>
                  </a:rPr>
                  <a:t>3. Additional effect (</a:t>
                </a:r>
                <a14:m>
                  <m:oMath xmlns:m="http://schemas.openxmlformats.org/officeDocument/2006/math">
                    <m:r>
                      <a:rPr lang="en-GB" sz="2000" noProof="1" dirty="0" smtClean="0">
                        <a:latin typeface="Cambria Math" panose="02040503050406030204" pitchFamily="18" charset="0"/>
                        <a:ea typeface="Verdana" panose="020B0604030504040204" pitchFamily="34" charset="0"/>
                      </a:rPr>
                      <m:t>𝛾</m:t>
                    </m:r>
                  </m:oMath>
                </a14:m>
                <a:r>
                  <a:rPr lang="en-GB" sz="20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e>
                      <m:sub>
                        <m:r>
                          <a:rPr lang="en-GB" sz="2200" i="1" noProof="1" dirty="0" smtClean="0">
                            <a:latin typeface="Cambria Math" panose="02040503050406030204" pitchFamily="18" charset="0"/>
                            <a:ea typeface="Verdana" panose="020B0604030504040204" pitchFamily="34" charset="0"/>
                          </a:rPr>
                          <m:t> </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𝛾</m:t>
                    </m:r>
                    <m:r>
                      <a:rPr lang="en-GB" sz="2200" i="1" noProof="1" dirty="0" smtClean="0">
                        <a:latin typeface="Cambria Math" panose="02040503050406030204" pitchFamily="18" charset="0"/>
                        <a:ea typeface="Cambria Math" panose="02040503050406030204" pitchFamily="18"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𝐷</m:t>
                        </m:r>
                      </m:e>
                      <m:sub>
                        <m:r>
                          <a:rPr lang="en-GB" sz="220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ea typeface="Verdana" panose="020B0604030504040204" pitchFamily="34" charset="0"/>
                </a:endParaRP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dirty="0" smtClean="0">
                            <a:solidFill>
                              <a:schemeClr val="tx1"/>
                            </a:solidFill>
                            <a:latin typeface="Cambria Math" panose="02040503050406030204" pitchFamily="18" charset="0"/>
                            <a:ea typeface="Verdana" panose="020B0604030504040204" pitchFamily="34" charset="0"/>
                          </a:rPr>
                        </m:ctrlPr>
                      </m:sSubPr>
                      <m:e>
                        <m:r>
                          <a:rPr lang="en-GB" sz="1900" b="0" i="1" noProof="1" dirty="0" smtClean="0">
                            <a:solidFill>
                              <a:schemeClr val="tx1"/>
                            </a:solidFill>
                            <a:latin typeface="Cambria Math" panose="02040503050406030204" pitchFamily="18" charset="0"/>
                            <a:ea typeface="Verdana" panose="020B0604030504040204" pitchFamily="34" charset="0"/>
                          </a:rPr>
                          <m:t>𝑆</m:t>
                        </m:r>
                      </m:e>
                      <m:sub>
                        <m:r>
                          <a:rPr lang="en-GB" sz="1900" i="1" noProof="1" dirty="0" smtClean="0">
                            <a:solidFill>
                              <a:schemeClr val="tx1"/>
                            </a:solidFill>
                            <a:latin typeface="Cambria Math" panose="02040503050406030204" pitchFamily="18" charset="0"/>
                            <a:ea typeface="Verdana" panose="020B0604030504040204" pitchFamily="34" charset="0"/>
                          </a:rPr>
                          <m:t>𝑖</m:t>
                        </m:r>
                        <m:r>
                          <a:rPr lang="en-GB" sz="1900" i="1" noProof="1" dirty="0" smtClean="0">
                            <a:solidFill>
                              <a:schemeClr val="tx1"/>
                            </a:solidFill>
                            <a:latin typeface="Cambria Math" panose="02040503050406030204" pitchFamily="18" charset="0"/>
                            <a:ea typeface="Verdana" panose="020B0604030504040204" pitchFamily="34" charset="0"/>
                          </a:rPr>
                          <m:t>,</m:t>
                        </m:r>
                        <m:r>
                          <a:rPr lang="en-GB" sz="1900" i="1" noProof="1" dirty="0" smtClean="0">
                            <a:solidFill>
                              <a:schemeClr val="tx1"/>
                            </a:solidFill>
                            <a:latin typeface="Cambria Math" panose="02040503050406030204" pitchFamily="18" charset="0"/>
                            <a:ea typeface="Verdana" panose="020B0604030504040204" pitchFamily="34" charset="0"/>
                          </a:rPr>
                          <m:t>𝑡</m:t>
                        </m:r>
                      </m:sub>
                    </m:sSub>
                    <m:r>
                      <a:rPr lang="en-GB" sz="1900" b="0" i="1" noProof="1" dirty="0" smtClean="0">
                        <a:solidFill>
                          <a:schemeClr val="tx1"/>
                        </a:solidFill>
                        <a:latin typeface="Cambria Math" panose="02040503050406030204" pitchFamily="18" charset="0"/>
                        <a:ea typeface="Verdana" panose="020B0604030504040204" pitchFamily="34" charset="0"/>
                      </a:rPr>
                      <m:t>=1 </m:t>
                    </m:r>
                    <m:r>
                      <a:rPr lang="en-GB" sz="1900" b="0" i="0" noProof="1" dirty="0" smtClean="0">
                        <a:solidFill>
                          <a:schemeClr val="tx1"/>
                        </a:solidFill>
                        <a:latin typeface="Cambria Math" panose="02040503050406030204" pitchFamily="18" charset="0"/>
                        <a:ea typeface="Verdana" panose="020B0604030504040204" pitchFamily="34" charset="0"/>
                      </a:rPr>
                      <m:t> </m:t>
                    </m:r>
                  </m:oMath>
                </a14:m>
                <a:r>
                  <a:rPr lang="en-GB" sz="1800" noProof="1">
                    <a:solidFill>
                      <a:schemeClr val="tx1"/>
                    </a:solidFill>
                  </a:rPr>
                  <a:t>if growth surprise &gt;0 (otherwise 0)</a:t>
                </a:r>
                <a:r>
                  <a:rPr lang="en-GB" sz="1800" noProof="1"/>
                  <a:t>; </a:t>
                </a:r>
                <a14:m>
                  <m:oMath xmlns:m="http://schemas.openxmlformats.org/officeDocument/2006/math">
                    <m:sSub>
                      <m:sSubPr>
                        <m:ctrlPr>
                          <a:rPr lang="en-GB" sz="1800" i="1" noProof="1" dirty="0" smtClean="0">
                            <a:latin typeface="Cambria Math" panose="02040503050406030204" pitchFamily="18" charset="0"/>
                            <a:ea typeface="Cambria Math" panose="02040503050406030204" pitchFamily="18" charset="0"/>
                          </a:rPr>
                        </m:ctrlPr>
                      </m:sSubPr>
                      <m:e>
                        <m:r>
                          <a:rPr lang="en-GB" sz="1800" i="1" noProof="1" dirty="0" smtClean="0">
                            <a:latin typeface="Cambria Math" panose="02040503050406030204" pitchFamily="18" charset="0"/>
                            <a:ea typeface="Cambria Math" panose="02040503050406030204" pitchFamily="18" charset="0"/>
                          </a:rPr>
                          <m:t>𝜇</m:t>
                        </m:r>
                      </m:e>
                      <m:sub>
                        <m:r>
                          <a:rPr lang="en-GB" sz="1800" i="1" noProof="1" dirty="0" smtClean="0">
                            <a:latin typeface="Cambria Math" panose="02040503050406030204" pitchFamily="18" charset="0"/>
                            <a:ea typeface="Verdana" panose="020B0604030504040204" pitchFamily="34" charset="0"/>
                          </a:rPr>
                          <m:t>𝑖</m:t>
                        </m:r>
                      </m:sub>
                    </m:sSub>
                  </m:oMath>
                </a14:m>
                <a:r>
                  <a:rPr lang="en-GB" sz="1800" noProof="1"/>
                  <a:t> is country FE; </a:t>
                </a:r>
                <a14:m>
                  <m:oMath xmlns:m="http://schemas.openxmlformats.org/officeDocument/2006/math">
                    <m:sSub>
                      <m:sSubPr>
                        <m:ctrlPr>
                          <a:rPr lang="en-GB" sz="1800" i="1" noProof="1" dirty="0" smtClean="0">
                            <a:latin typeface="Cambria Math" panose="02040503050406030204" pitchFamily="18" charset="0"/>
                            <a:ea typeface="Cambria Math" panose="02040503050406030204" pitchFamily="18" charset="0"/>
                          </a:rPr>
                        </m:ctrlPr>
                      </m:sSubPr>
                      <m:e>
                        <m:r>
                          <a:rPr lang="en-GB" sz="1800" i="1" noProof="1" dirty="0" smtClean="0">
                            <a:latin typeface="Cambria Math" panose="02040503050406030204" pitchFamily="18" charset="0"/>
                            <a:ea typeface="Cambria Math" panose="02040503050406030204" pitchFamily="18" charset="0"/>
                          </a:rPr>
                          <m:t>𝜏</m:t>
                        </m:r>
                      </m:e>
                      <m:sub>
                        <m:r>
                          <a:rPr lang="en-GB" sz="1800" i="1" noProof="1" dirty="0" smtClean="0">
                            <a:latin typeface="Cambria Math" panose="02040503050406030204" pitchFamily="18" charset="0"/>
                            <a:ea typeface="Verdana" panose="020B0604030504040204" pitchFamily="34" charset="0"/>
                          </a:rPr>
                          <m:t>𝑡</m:t>
                        </m:r>
                      </m:sub>
                    </m:sSub>
                  </m:oMath>
                </a14:m>
                <a:r>
                  <a:rPr lang="en-GB" sz="1800" noProof="1"/>
                  <a:t> is time FE</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𝑋</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is ICT/AI-related variable</a:t>
                </a:r>
                <a:r>
                  <a:rPr lang="en-GB" sz="1800" noProof="1"/>
                  <a:t>; </a:t>
                </a:r>
                <a:r>
                  <a:rPr lang="en-GB" sz="1800" noProof="1">
                    <a:solidFill>
                      <a:schemeClr val="tx1"/>
                    </a:solidFill>
                  </a:rPr>
                  <a:t> </a:t>
                </a:r>
                <a14:m>
                  <m:oMath xmlns:m="http://schemas.openxmlformats.org/officeDocument/2006/math">
                    <m:sSubSup>
                      <m:sSubSupPr>
                        <m:ctrlPr>
                          <a:rPr lang="en-GB" sz="2000" i="1" noProof="1" dirty="0" smtClean="0">
                            <a:latin typeface="Cambria Math" panose="02040503050406030204" pitchFamily="18" charset="0"/>
                            <a:ea typeface="Verdana" panose="020B0604030504040204" pitchFamily="34" charset="0"/>
                          </a:rPr>
                        </m:ctrlPr>
                      </m:sSubSup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up>
                        <m:r>
                          <a:rPr lang="en-GB" sz="2000" i="1" noProof="1" dirty="0" smtClean="0">
                            <a:latin typeface="Cambria Math" panose="02040503050406030204" pitchFamily="18" charset="0"/>
                            <a:ea typeface="Verdana" panose="020B0604030504040204" pitchFamily="34" charset="0"/>
                          </a:rPr>
                          <m:t>ℎ𝑖𝑔ℎ</m:t>
                        </m:r>
                      </m:sup>
                    </m:sSubSup>
                    <m:r>
                      <a:rPr lang="en-GB" sz="2000" b="0" i="1" noProof="1" dirty="0" smtClean="0">
                        <a:latin typeface="Cambria Math" panose="02040503050406030204" pitchFamily="18" charset="0"/>
                        <a:ea typeface="Verdana" panose="020B0604030504040204" pitchFamily="34" charset="0"/>
                      </a:rPr>
                      <m:t>=</m:t>
                    </m:r>
                  </m:oMath>
                </a14:m>
                <a:r>
                  <a:rPr lang="en-GB" sz="2000" noProof="1">
                    <a:ea typeface="Verdana" panose="020B0604030504040204" pitchFamily="34" charset="0"/>
                  </a:rPr>
                  <a:t>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oMath>
                </a14:m>
                <a:r>
                  <a:rPr lang="en-GB" sz="2000" noProof="1"/>
                  <a:t> if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r>
                      <a:rPr lang="en-GB" sz="2000" b="0" i="1" noProof="1" dirty="0" smtClean="0">
                        <a:latin typeface="Cambria Math" panose="02040503050406030204" pitchFamily="18" charset="0"/>
                        <a:ea typeface="Verdana" panose="020B0604030504040204" pitchFamily="34" charset="0"/>
                      </a:rPr>
                      <m:t>&gt;</m:t>
                    </m:r>
                    <m:r>
                      <m:rPr>
                        <m:sty m:val="p"/>
                      </m:rPr>
                      <a:rPr lang="en-GB" sz="2000" b="0" i="0" noProof="1" dirty="0" smtClean="0">
                        <a:latin typeface="Cambria Math" panose="02040503050406030204" pitchFamily="18" charset="0"/>
                        <a:ea typeface="Verdana" panose="020B0604030504040204" pitchFamily="34" charset="0"/>
                      </a:rPr>
                      <m:t>median</m:t>
                    </m:r>
                    <m:d>
                      <m:dPr>
                        <m:ctrlPr>
                          <a:rPr lang="en-GB" sz="2000" b="0" i="1" noProof="1" dirty="0" smtClean="0">
                            <a:latin typeface="Cambria Math" panose="02040503050406030204" pitchFamily="18" charset="0"/>
                            <a:ea typeface="Verdana" panose="020B0604030504040204" pitchFamily="34" charset="0"/>
                          </a:rPr>
                        </m:ctrlPr>
                      </m:dPr>
                      <m:e>
                        <m:r>
                          <a:rPr lang="en-GB" sz="2000" b="0" i="1" noProof="1" dirty="0" smtClean="0">
                            <a:latin typeface="Cambria Math" panose="02040503050406030204" pitchFamily="18" charset="0"/>
                            <a:ea typeface="Verdana" panose="020B0604030504040204" pitchFamily="34" charset="0"/>
                          </a:rPr>
                          <m:t>𝑋</m:t>
                        </m:r>
                      </m:e>
                    </m:d>
                    <m:r>
                      <a:rPr lang="en-GB" sz="2000" b="0" i="1" noProof="1" dirty="0" smtClean="0">
                        <a:latin typeface="Cambria Math" panose="02040503050406030204" pitchFamily="18" charset="0"/>
                        <a:ea typeface="Verdana" panose="020B0604030504040204" pitchFamily="34" charset="0"/>
                      </a:rPr>
                      <m:t>, </m:t>
                    </m:r>
                    <m:r>
                      <m:rPr>
                        <m:sty m:val="p"/>
                      </m:rPr>
                      <a:rPr lang="en-GB" sz="2000" b="0" i="0" noProof="1" dirty="0" smtClean="0">
                        <a:latin typeface="Cambria Math" panose="02040503050406030204" pitchFamily="18" charset="0"/>
                        <a:ea typeface="Verdana" panose="020B0604030504040204" pitchFamily="34" charset="0"/>
                      </a:rPr>
                      <m:t>otherwise</m:t>
                    </m:r>
                    <m:r>
                      <a:rPr lang="en-GB" sz="2000" b="0" i="1" noProof="1" dirty="0" smtClean="0">
                        <a:latin typeface="Cambria Math" panose="02040503050406030204" pitchFamily="18" charset="0"/>
                        <a:ea typeface="Verdana" panose="020B0604030504040204" pitchFamily="34" charset="0"/>
                      </a:rPr>
                      <m:t> 0</m:t>
                    </m:r>
                  </m:oMath>
                </a14:m>
                <a:r>
                  <a:rPr lang="en-GB" sz="2000" noProof="1"/>
                  <a:t> </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 </m:t>
                    </m:r>
                  </m:oMath>
                </a14:m>
                <a:r>
                  <a:rPr lang="en-GB" sz="1800" noProof="1">
                    <a:solidFill>
                      <a:schemeClr val="tx1"/>
                    </a:solidFill>
                  </a:rPr>
                  <a:t>is dummy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=1 </m:t>
                    </m:r>
                  </m:oMath>
                </a14:m>
                <a:r>
                  <a:rPr lang="en-GB" sz="1800" noProof="1"/>
                  <a:t>for shock years, otherwise 0);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 </m:t>
                        </m:r>
                        <m:r>
                          <a:rPr lang="en-GB" sz="1900" i="1" noProof="1" dirty="0" smtClean="0">
                            <a:latin typeface="Cambria Math" panose="02040503050406030204" pitchFamily="18" charset="0"/>
                            <a:ea typeface="Verdana" panose="020B0604030504040204" pitchFamily="34" charset="0"/>
                          </a:rPr>
                          <m:t>𝑍</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control variables</a:t>
                </a:r>
              </a:p>
              <a:p>
                <a:pPr>
                  <a:lnSpc>
                    <a:spcPct val="120000"/>
                  </a:lnSpc>
                  <a:spcAft>
                    <a:spcPts val="1200"/>
                  </a:spcAft>
                </a:pPr>
                <a:r>
                  <a:rPr lang="en-GB" sz="1800" noProof="1"/>
                  <a:t>		</a:t>
                </a:r>
                <a:endParaRPr lang="en-GB" sz="1800" noProof="1">
                  <a:solidFill>
                    <a:schemeClr val="tx1"/>
                  </a:solidFill>
                </a:endParaRPr>
              </a:p>
              <a:p>
                <a:pPr>
                  <a:lnSpc>
                    <a:spcPct val="120000"/>
                  </a:lnSpc>
                  <a:spcAft>
                    <a:spcPts val="1200"/>
                  </a:spcAft>
                </a:pPr>
                <a:endParaRPr lang="en-GB" sz="1800" noProof="1">
                  <a:solidFill>
                    <a:schemeClr val="tx1"/>
                  </a:solidFill>
                </a:endParaRPr>
              </a:p>
            </p:txBody>
          </p:sp>
        </mc:Choice>
        <mc:Fallback>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347472" y="935390"/>
                <a:ext cx="8723376" cy="6087202"/>
              </a:xfrm>
              <a:blipFill>
                <a:blip r:embed="rId3"/>
                <a:stretch>
                  <a:fillRect l="-1747" t="-1301"/>
                </a:stretch>
              </a:blipFill>
            </p:spPr>
            <p:txBody>
              <a:bodyPr/>
              <a:lstStyle/>
              <a:p>
                <a:r>
                  <a:rPr lang="en-US">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LPM models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mc:Choice xmlns:a14="http://schemas.microsoft.com/office/drawing/2010/main" Requires="a14">
          <p:sp>
            <p:nvSpPr>
              <p:cNvPr id="6" name="Tekstvak 3">
                <a:extLst>
                  <a:ext uri="{FF2B5EF4-FFF2-40B4-BE49-F238E27FC236}">
                    <a16:creationId xmlns:a16="http://schemas.microsoft.com/office/drawing/2014/main" id="{4ED6076C-5ED2-F560-9ECC-68A359BFC0CA}"/>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p:sp>
            <p:nvSpPr>
              <p:cNvPr id="6" name="Tekstvak 3">
                <a:extLst>
                  <a:ext uri="{FF2B5EF4-FFF2-40B4-BE49-F238E27FC236}">
                    <a16:creationId xmlns:a16="http://schemas.microsoft.com/office/drawing/2014/main" id="{4ED6076C-5ED2-F560-9ECC-68A359BFC0CA}"/>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C406C6F-97A4-2854-9FCD-FD08F187902C}"/>
              </a:ext>
            </a:extLst>
          </p:cNvPr>
          <p:cNvPicPr>
            <a:picLocks noChangeAspect="1"/>
          </p:cNvPicPr>
          <p:nvPr/>
        </p:nvPicPr>
        <p:blipFill>
          <a:blip r:embed="rId5"/>
          <a:stretch>
            <a:fillRect/>
          </a:stretch>
        </p:blipFill>
        <p:spPr>
          <a:xfrm>
            <a:off x="3441776" y="2435733"/>
            <a:ext cx="5136134" cy="2169414"/>
          </a:xfrm>
          <a:prstGeom prst="rect">
            <a:avLst/>
          </a:prstGeom>
        </p:spPr>
      </p:pic>
      <p:pic>
        <p:nvPicPr>
          <p:cNvPr id="5" name="Picture 4">
            <a:extLst>
              <a:ext uri="{FF2B5EF4-FFF2-40B4-BE49-F238E27FC236}">
                <a16:creationId xmlns:a16="http://schemas.microsoft.com/office/drawing/2014/main" id="{E062AC67-D726-4D45-300A-EB28E70BA46D}"/>
              </a:ext>
            </a:extLst>
          </p:cNvPr>
          <p:cNvPicPr>
            <a:picLocks noChangeAspect="1"/>
          </p:cNvPicPr>
          <p:nvPr/>
        </p:nvPicPr>
        <p:blipFill>
          <a:blip r:embed="rId6"/>
          <a:stretch>
            <a:fillRect/>
          </a:stretch>
        </p:blipFill>
        <p:spPr>
          <a:xfrm>
            <a:off x="448818" y="2435733"/>
            <a:ext cx="3077972" cy="2169414"/>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21DBA-7690-8D1C-0099-C415D51B024D}"/>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1A8A21F-73A6-21A9-7607-658345AEC55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Correlated random-effects probit models (CRE)</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4E2FFC46-D6F5-41BF-DECB-9FA98C0F56DD}"/>
                  </a:ext>
                </a:extLst>
              </p:cNvPr>
              <p:cNvSpPr>
                <a:spLocks noGrp="1"/>
              </p:cNvSpPr>
              <p:nvPr>
                <p:ph idx="1"/>
              </p:nvPr>
            </p:nvSpPr>
            <p:spPr>
              <a:xfrm>
                <a:off x="310896" y="877824"/>
                <a:ext cx="8723376" cy="6364224"/>
              </a:xfrm>
            </p:spPr>
            <p:txBody>
              <a:bodyPr>
                <a:normAutofit fontScale="85000" lnSpcReduction="10000"/>
              </a:bodyPr>
              <a:lstStyle/>
              <a:p>
                <a:pPr>
                  <a:lnSpc>
                    <a:spcPct val="120000"/>
                  </a:lnSpc>
                  <a:spcAft>
                    <a:spcPts val="300"/>
                  </a:spcAft>
                </a:pPr>
                <a:r>
                  <a:rPr lang="en-GB" sz="2400" noProof="1">
                    <a:latin typeface="Verdana" panose="020B0604030504040204" pitchFamily="34" charset="0"/>
                    <a:ea typeface="Verdana" panose="020B0604030504040204" pitchFamily="34" charset="0"/>
                  </a:rPr>
                  <a:t>1. Average effect (</a:t>
                </a:r>
                <a14:m>
                  <m:oMath xmlns:m="http://schemas.openxmlformats.org/officeDocument/2006/math">
                    <m:r>
                      <a:rPr lang="en-GB" sz="2400" i="1" noProof="1" smtClean="0">
                        <a:latin typeface="Cambria Math" panose="02040503050406030204" pitchFamily="18" charset="0"/>
                        <a:ea typeface="Cambria Math" panose="02040503050406030204" pitchFamily="18" charset="0"/>
                      </a:rPr>
                      <m:t>𝛽</m:t>
                    </m:r>
                  </m:oMath>
                </a14:m>
                <a:r>
                  <a:rPr lang="en-GB" sz="24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GB" sz="2400" b="0" noProof="1">
                    <a:solidFill>
                      <a:schemeClr val="tx1"/>
                    </a:solidFill>
                    <a:ea typeface="Verdana" panose="020B0604030504040204" pitchFamily="34" charset="0"/>
                  </a:rPr>
                  <a:t>	</a:t>
                </a:r>
                <a14:m>
                  <m:oMath xmlns:m="http://schemas.openxmlformats.org/officeDocument/2006/math">
                    <m:sSub>
                      <m:sSubPr>
                        <m:ctrlPr>
                          <a:rPr lang="en-GB" sz="2600" b="0" i="1" noProof="1" smtClean="0">
                            <a:solidFill>
                              <a:schemeClr val="tx1"/>
                            </a:solidFill>
                            <a:latin typeface="Cambria Math" panose="02040503050406030204" pitchFamily="18" charset="0"/>
                            <a:ea typeface="Verdana" panose="020B0604030504040204" pitchFamily="34" charset="0"/>
                          </a:rPr>
                        </m:ctrlPr>
                      </m:sSubPr>
                      <m:e>
                        <m:r>
                          <a:rPr lang="en-GB" sz="2600" b="0" i="1" noProof="1" smtClean="0">
                            <a:solidFill>
                              <a:schemeClr val="tx1"/>
                            </a:solidFill>
                            <a:latin typeface="Cambria Math" panose="02040503050406030204" pitchFamily="18" charset="0"/>
                            <a:ea typeface="Verdana" panose="020B0604030504040204" pitchFamily="34" charset="0"/>
                          </a:rPr>
                          <m:t>𝑃</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𝑆</m:t>
                        </m:r>
                      </m:e>
                      <m:sub>
                        <m:r>
                          <a:rPr lang="en-GB" sz="2600" b="0" i="1" noProof="1" smtClean="0">
                            <a:solidFill>
                              <a:schemeClr val="tx1"/>
                            </a:solidFill>
                            <a:latin typeface="Cambria Math" panose="02040503050406030204" pitchFamily="18" charset="0"/>
                            <a:ea typeface="Verdana" panose="020B0604030504040204" pitchFamily="34" charset="0"/>
                          </a:rPr>
                          <m:t>𝑖</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𝑡</m:t>
                        </m:r>
                      </m:sub>
                    </m:sSub>
                    <m:r>
                      <a:rPr lang="en-GB" sz="2600" b="0" i="1" noProof="1" smtClean="0">
                        <a:solidFill>
                          <a:schemeClr val="tx1"/>
                        </a:solidFill>
                        <a:latin typeface="Cambria Math" panose="02040503050406030204" pitchFamily="18" charset="0"/>
                        <a:ea typeface="Verdana" panose="020B0604030504040204" pitchFamily="34" charset="0"/>
                      </a:rPr>
                      <m:t>=1| </m:t>
                    </m:r>
                    <m:r>
                      <a:rPr lang="en-GB" sz="2600" b="0" i="1" noProof="1" smtClean="0">
                        <a:solidFill>
                          <a:schemeClr val="tx1"/>
                        </a:solidFill>
                        <a:latin typeface="Cambria Math" panose="02040503050406030204" pitchFamily="18" charset="0"/>
                        <a:ea typeface="Verdana" panose="020B0604030504040204" pitchFamily="34" charset="0"/>
                      </a:rPr>
                      <m:t>𝑋</m:t>
                    </m:r>
                    <m:r>
                      <a:rPr lang="en-GB" sz="2600" b="0" i="1" noProof="1" smtClean="0">
                        <a:solidFill>
                          <a:schemeClr val="tx1"/>
                        </a:solidFill>
                        <a:latin typeface="Cambria Math" panose="02040503050406030204" pitchFamily="18" charset="0"/>
                        <a:ea typeface="Verdana" panose="020B0604030504040204" pitchFamily="34" charset="0"/>
                      </a:rPr>
                      <m:t>, </m:t>
                    </m:r>
                    <m:r>
                      <a:rPr lang="en-GB" sz="2600" b="0" i="1" noProof="1" smtClean="0">
                        <a:solidFill>
                          <a:schemeClr val="tx1"/>
                        </a:solidFill>
                        <a:latin typeface="Cambria Math" panose="02040503050406030204" pitchFamily="18" charset="0"/>
                        <a:ea typeface="Verdana" panose="020B0604030504040204" pitchFamily="34" charset="0"/>
                      </a:rPr>
                      <m:t>𝑍</m:t>
                    </m:r>
                    <m:r>
                      <a:rPr lang="en-GB" sz="2600" b="0" i="1" noProof="1" smtClean="0">
                        <a:solidFill>
                          <a:schemeClr val="tx1"/>
                        </a:solidFill>
                        <a:latin typeface="Cambria Math" panose="02040503050406030204" pitchFamily="18" charset="0"/>
                        <a:ea typeface="Verdana" panose="020B0604030504040204" pitchFamily="34" charset="0"/>
                      </a:rPr>
                      <m:t>,</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m:t>
                    </m:r>
                    <m:r>
                      <a:rPr lang="en-GB" sz="2600" i="1" noProof="1" smtClean="0">
                        <a:solidFill>
                          <a:schemeClr val="tx1"/>
                        </a:solidFill>
                        <a:latin typeface="Cambria Math" panose="02040503050406030204" pitchFamily="18" charset="0"/>
                        <a:ea typeface="Verdana" panose="020B0604030504040204" pitchFamily="34" charset="0"/>
                      </a:rPr>
                      <m:t>=</m:t>
                    </m:r>
                  </m:oMath>
                </a14:m>
                <a:r>
                  <a:rPr lang="en-GB" sz="2600" noProof="1">
                    <a:ea typeface="Verdana" panose="020B0604030504040204" pitchFamily="34" charset="0"/>
                  </a:rPr>
                  <a:t> </a:t>
                </a:r>
                <a:r>
                  <a:rPr lang="en-GB" sz="2600" noProof="1">
                    <a:latin typeface="Cambria Math" panose="02040503050406030204" pitchFamily="18" charset="0"/>
                    <a:ea typeface="Cambria Math" panose="02040503050406030204" pitchFamily="18" charset="0"/>
                  </a:rPr>
                  <a:t>𝛼 +</a:t>
                </a:r>
                <a14:m>
                  <m:oMath xmlns:m="http://schemas.openxmlformats.org/officeDocument/2006/math">
                    <m:sSub>
                      <m:sSubPr>
                        <m:ctrlPr>
                          <a:rPr lang="en-GB" sz="2600" b="0" i="1" noProof="1" smtClean="0">
                            <a:latin typeface="Cambria Math" panose="02040503050406030204" pitchFamily="18" charset="0"/>
                            <a:ea typeface="Cambria Math" panose="02040503050406030204" pitchFamily="18" charset="0"/>
                          </a:rPr>
                        </m:ctrlPr>
                      </m:sSubPr>
                      <m:e>
                        <m:r>
                          <a:rPr lang="en-GB" sz="2600" b="0" i="1" noProof="1" smtClean="0">
                            <a:latin typeface="Cambria Math" panose="02040503050406030204" pitchFamily="18" charset="0"/>
                            <a:ea typeface="Cambria Math" panose="02040503050406030204" pitchFamily="18" charset="0"/>
                          </a:rPr>
                          <m:t> </m:t>
                        </m:r>
                        <m:r>
                          <a:rPr lang="en-GB" sz="2600" i="1" noProof="1" smtClean="0">
                            <a:latin typeface="Cambria Math" panose="02040503050406030204" pitchFamily="18" charset="0"/>
                            <a:ea typeface="Cambria Math" panose="02040503050406030204" pitchFamily="18" charset="0"/>
                          </a:rPr>
                          <m:t>𝜇</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m:t>
                    </m:r>
                  </m:oMath>
                </a14:m>
                <a:r>
                  <a:rPr lang="en-GB" sz="2600" noProof="1">
                    <a:ea typeface="Cambria Math" panose="02040503050406030204" pitchFamily="18" charset="0"/>
                  </a:rPr>
                  <a:t> </a:t>
                </a:r>
                <a14:m>
                  <m:oMath xmlns:m="http://schemas.openxmlformats.org/officeDocument/2006/math">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𝜏</m:t>
                        </m:r>
                      </m:e>
                      <m:sub>
                        <m:r>
                          <a:rPr lang="en-GB" sz="2600" b="0" i="1" noProof="1" smtClean="0">
                            <a:latin typeface="Cambria Math" panose="02040503050406030204" pitchFamily="18" charset="0"/>
                            <a:ea typeface="Verdana" panose="020B0604030504040204" pitchFamily="34" charset="0"/>
                          </a:rPr>
                          <m:t>𝑡</m:t>
                        </m:r>
                      </m:sub>
                    </m:sSub>
                    <m:r>
                      <a:rPr lang="en-GB" sz="2600" b="0" i="1" noProof="1" smtClean="0">
                        <a:latin typeface="Cambria Math" panose="02040503050406030204" pitchFamily="18" charset="0"/>
                        <a:ea typeface="Verdana" panose="020B0604030504040204" pitchFamily="34"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𝑤</m:t>
                        </m:r>
                      </m:sub>
                    </m:sSub>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𝐵</m:t>
                        </m:r>
                      </m:sub>
                    </m:sSub>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sub>
                      <m:sup>
                        <m:r>
                          <a:rPr lang="en-GB" sz="2600" b="0" i="1" noProof="1" smtClean="0">
                            <a:latin typeface="Cambria Math" panose="02040503050406030204" pitchFamily="18" charset="0"/>
                            <a:ea typeface="Verdana" panose="020B0604030504040204" pitchFamily="34" charset="0"/>
                          </a:rPr>
                          <m:t>𝐵</m:t>
                        </m:r>
                      </m:sup>
                    </m:sSubSup>
                  </m:oMath>
                </a14:m>
                <a:endParaRPr lang="en-GB" sz="2600" i="1" noProof="1">
                  <a:latin typeface="Cambria Math" panose="02040503050406030204" pitchFamily="18" charset="0"/>
                  <a:ea typeface="Verdana" panose="020B0604030504040204" pitchFamily="34" charset="0"/>
                </a:endParaRPr>
              </a:p>
              <a:p>
                <a:pPr>
                  <a:lnSpc>
                    <a:spcPct val="120000"/>
                  </a:lnSpc>
                  <a:spcAft>
                    <a:spcPts val="300"/>
                  </a:spcAft>
                </a:pPr>
                <a14:m>
                  <m:oMathPara xmlns:m="http://schemas.openxmlformats.org/officeDocument/2006/math">
                    <m:o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𝑤</m:t>
                          </m:r>
                        </m:sub>
                        <m:sup>
                          <m:r>
                            <a:rPr lang="en-GB" sz="2600" b="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i="1" noProof="1" smtClean="0">
                          <a:latin typeface="Cambria Math" panose="02040503050406030204" pitchFamily="18" charset="0"/>
                          <a:ea typeface="Verdana" panose="020B0604030504040204" pitchFamily="34" charset="0"/>
                        </a:rPr>
                        <m:t>+</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i="1" noProof="1" smtClean="0">
                          <a:latin typeface="Cambria Math" panose="02040503050406030204" pitchFamily="18" charset="0"/>
                          <a:ea typeface="Verdana" panose="020B0604030504040204" pitchFamily="34" charset="0"/>
                        </a:rPr>
                        <m:t>+</m:t>
                      </m:r>
                      <m:r>
                        <m:rPr>
                          <m:nor/>
                        </m:rPr>
                        <a:rPr lang="en-GB" sz="2600" noProof="1" smtClean="0">
                          <a:ea typeface="Cambria Math" panose="02040503050406030204" pitchFamily="18"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𝜀</m:t>
                          </m:r>
                        </m:e>
                        <m:sub>
                          <m:r>
                            <a:rPr lang="en-GB" sz="2600" b="0" i="1" noProof="1" smtClean="0">
                              <a:latin typeface="Cambria Math" panose="02040503050406030204" pitchFamily="18" charset="0"/>
                              <a:ea typeface="Cambria Math" panose="02040503050406030204" pitchFamily="18" charset="0"/>
                            </a:rPr>
                            <m:t>𝑖</m:t>
                          </m:r>
                          <m:r>
                            <a:rPr lang="en-GB" sz="2600" b="0" i="1" noProof="1" smtClean="0">
                              <a:latin typeface="Cambria Math" panose="02040503050406030204" pitchFamily="18" charset="0"/>
                              <a:ea typeface="Cambria Math" panose="02040503050406030204" pitchFamily="18" charset="0"/>
                            </a:rPr>
                            <m:t>,</m:t>
                          </m:r>
                          <m:r>
                            <a:rPr lang="en-GB" sz="2600" i="1" noProof="1" smtClean="0">
                              <a:latin typeface="Cambria Math" panose="02040503050406030204" pitchFamily="18" charset="0"/>
                              <a:ea typeface="Verdana" panose="020B0604030504040204" pitchFamily="34" charset="0"/>
                            </a:rPr>
                            <m:t>𝑡</m:t>
                          </m:r>
                        </m:sub>
                      </m:sSub>
                    </m:oMath>
                  </m:oMathPara>
                </a14:m>
                <a:endParaRPr lang="en-GB" sz="26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2. Additional effect (</a:t>
                </a:r>
                <a14:m>
                  <m:oMath xmlns:m="http://schemas.openxmlformats.org/officeDocument/2006/math">
                    <m:r>
                      <a:rPr lang="en-GB" sz="2400" i="1" noProof="1" smtClean="0">
                        <a:latin typeface="Cambria Math" panose="02040503050406030204" pitchFamily="18" charset="0"/>
                        <a:ea typeface="Cambria Math" panose="02040503050406030204" pitchFamily="18" charset="0"/>
                      </a:rPr>
                      <m:t>𝛾</m:t>
                    </m:r>
                  </m:oMath>
                </a14:m>
                <a:r>
                  <a:rPr lang="en-GB" sz="24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GB" sz="24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𝑌</m:t>
                    </m:r>
                    <m:r>
                      <a:rPr lang="en-GB" sz="2600" b="0" i="1" noProof="1" smtClean="0">
                        <a:latin typeface="Cambria Math" panose="02040503050406030204" pitchFamily="18" charset="0"/>
                        <a:ea typeface="Verdana" panose="020B0604030504040204" pitchFamily="34" charset="0"/>
                      </a:rPr>
                      <m:t>,</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noProof="1">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b="0" i="1" noProof="1" smtClean="0">
                        <a:latin typeface="Cambria Math" panose="02040503050406030204" pitchFamily="18" charset="0"/>
                        <a:ea typeface="Verdana" panose="020B0604030504040204" pitchFamily="34" charset="0"/>
                      </a:rPr>
                      <m:t> </m:t>
                    </m:r>
                  </m:oMath>
                </a14:m>
                <a:r>
                  <a:rPr lang="en-GB" sz="2600" noProof="1">
                    <a:latin typeface="Verdana" panose="020B0604030504040204" pitchFamily="34" charset="0"/>
                    <a:ea typeface="Verdana" panose="020B0604030504040204" pitchFamily="34" charset="0"/>
                  </a:rPr>
                  <a:t>…</a:t>
                </a: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3. Additional effect (</a:t>
                </a:r>
                <a14:m>
                  <m:oMath xmlns:m="http://schemas.openxmlformats.org/officeDocument/2006/math">
                    <m:r>
                      <a:rPr lang="en-GB" sz="2400" noProof="1" smtClean="0">
                        <a:latin typeface="Cambria Math" panose="02040503050406030204" pitchFamily="18" charset="0"/>
                        <a:ea typeface="Verdana" panose="020B0604030504040204" pitchFamily="34" charset="0"/>
                      </a:rPr>
                      <m:t>𝛾</m:t>
                    </m:r>
                  </m:oMath>
                </a14:m>
                <a:r>
                  <a:rPr lang="en-GB" sz="24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sSup>
                      <m:sSupPr>
                        <m:ctrlPr>
                          <a:rPr lang="en-GB" sz="2600" b="0" i="1" noProof="1" smtClean="0">
                            <a:latin typeface="Cambria Math" panose="02040503050406030204" pitchFamily="18" charset="0"/>
                            <a:ea typeface="Verdana" panose="020B0604030504040204" pitchFamily="34" charset="0"/>
                          </a:rPr>
                        </m:ctrlPr>
                      </m:sSupPr>
                      <m:e>
                        <m:r>
                          <a:rPr lang="en-GB" sz="2600" b="0" i="1" noProof="1" smtClean="0">
                            <a:latin typeface="Cambria Math" panose="02040503050406030204" pitchFamily="18" charset="0"/>
                            <a:ea typeface="Verdana" panose="020B0604030504040204" pitchFamily="34" charset="0"/>
                          </a:rPr>
                          <m:t>𝑌</m:t>
                        </m:r>
                      </m:e>
                      <m:sup>
                        <m:r>
                          <a:rPr lang="en-GB" sz="2600" b="0" i="1" noProof="1" smtClean="0">
                            <a:latin typeface="Cambria Math" panose="02040503050406030204" pitchFamily="18" charset="0"/>
                            <a:ea typeface="Verdana" panose="020B0604030504040204" pitchFamily="34" charset="0"/>
                          </a:rPr>
                          <m:t>ℎ𝑖𝑔ℎ</m:t>
                        </m:r>
                      </m:sup>
                    </m:sSup>
                    <m:r>
                      <a:rPr lang="en-GB" sz="2600" b="0" i="1" noProof="1" smtClean="0">
                        <a:latin typeface="Cambria Math" panose="02040503050406030204" pitchFamily="18" charset="0"/>
                        <a:ea typeface="Verdana" panose="020B0604030504040204" pitchFamily="34" charset="0"/>
                      </a:rPr>
                      <m:t>,</m:t>
                    </m:r>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i="1" noProof="1">
                    <a:latin typeface="Cambria Math" panose="02040503050406030204" pitchFamily="18" charset="0"/>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𝐵</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oMath>
                </a14:m>
                <a:r>
                  <a:rPr lang="en-GB" sz="2600" i="1" noProof="1">
                    <a:latin typeface="Cambria Math" panose="02040503050406030204" pitchFamily="18" charset="0"/>
                    <a:ea typeface="Verdana" panose="020B0604030504040204" pitchFamily="34" charset="0"/>
                  </a:rPr>
                  <a:t>…</a:t>
                </a: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smtClean="0">
                            <a:solidFill>
                              <a:schemeClr val="tx1"/>
                            </a:solidFill>
                            <a:latin typeface="Cambria Math" panose="02040503050406030204" pitchFamily="18" charset="0"/>
                            <a:ea typeface="Verdana" panose="020B0604030504040204" pitchFamily="34" charset="0"/>
                          </a:rPr>
                        </m:ctrlPr>
                      </m:sSubPr>
                      <m:e>
                        <m:r>
                          <a:rPr lang="en-GB" sz="1900" b="0" i="1" noProof="1" smtClean="0">
                            <a:solidFill>
                              <a:schemeClr val="tx1"/>
                            </a:solidFill>
                            <a:latin typeface="Cambria Math" panose="02040503050406030204" pitchFamily="18" charset="0"/>
                            <a:ea typeface="Verdana" panose="020B0604030504040204" pitchFamily="34" charset="0"/>
                          </a:rPr>
                          <m:t>𝑆</m:t>
                        </m:r>
                      </m:e>
                      <m:sub>
                        <m:r>
                          <a:rPr lang="en-GB" sz="1900" i="1" noProof="1" smtClean="0">
                            <a:solidFill>
                              <a:schemeClr val="tx1"/>
                            </a:solidFill>
                            <a:latin typeface="Cambria Math" panose="02040503050406030204" pitchFamily="18" charset="0"/>
                            <a:ea typeface="Verdana" panose="020B0604030504040204" pitchFamily="34" charset="0"/>
                          </a:rPr>
                          <m:t>𝑖</m:t>
                        </m:r>
                        <m:r>
                          <a:rPr lang="en-GB" sz="1900" i="1" noProof="1" smtClean="0">
                            <a:solidFill>
                              <a:schemeClr val="tx1"/>
                            </a:solidFill>
                            <a:latin typeface="Cambria Math" panose="02040503050406030204" pitchFamily="18" charset="0"/>
                            <a:ea typeface="Verdana" panose="020B0604030504040204" pitchFamily="34" charset="0"/>
                          </a:rPr>
                          <m:t>,</m:t>
                        </m:r>
                        <m:r>
                          <a:rPr lang="en-GB" sz="1900" i="1" noProof="1" smtClean="0">
                            <a:solidFill>
                              <a:schemeClr val="tx1"/>
                            </a:solidFill>
                            <a:latin typeface="Cambria Math" panose="02040503050406030204" pitchFamily="18" charset="0"/>
                            <a:ea typeface="Verdana" panose="020B0604030504040204" pitchFamily="34" charset="0"/>
                          </a:rPr>
                          <m:t>𝑡</m:t>
                        </m:r>
                      </m:sub>
                    </m:sSub>
                    <m:r>
                      <a:rPr lang="en-GB" sz="1900" b="0" i="1" noProof="1" smtClean="0">
                        <a:solidFill>
                          <a:schemeClr val="tx1"/>
                        </a:solidFill>
                        <a:latin typeface="Cambria Math" panose="02040503050406030204" pitchFamily="18" charset="0"/>
                        <a:ea typeface="Verdana" panose="020B0604030504040204" pitchFamily="34" charset="0"/>
                      </a:rPr>
                      <m:t>=1 </m:t>
                    </m:r>
                    <m:r>
                      <a:rPr lang="en-GB" sz="1900" b="0" i="0" noProof="1" smtClean="0">
                        <a:solidFill>
                          <a:schemeClr val="tx1"/>
                        </a:solidFill>
                        <a:latin typeface="Cambria Math" panose="02040503050406030204" pitchFamily="18" charset="0"/>
                        <a:ea typeface="Verdana" panose="020B0604030504040204" pitchFamily="34" charset="0"/>
                      </a:rPr>
                      <m:t> </m:t>
                    </m:r>
                  </m:oMath>
                </a14:m>
                <a:r>
                  <a:rPr lang="en-GB" sz="1900" dirty="0">
                    <a:solidFill>
                      <a:schemeClr val="tx1"/>
                    </a:solidFill>
                  </a:rPr>
                  <a:t>if growth surprise &gt;0 (otherwise 0)</a:t>
                </a:r>
                <a:r>
                  <a:rPr lang="en-GB" sz="1900" dirty="0"/>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sub>
                    </m:sSub>
                  </m:oMath>
                </a14:m>
                <a:r>
                  <a:rPr lang="en-GB" sz="1900" dirty="0">
                    <a:solidFill>
                      <a:schemeClr val="tx1"/>
                    </a:solidFill>
                  </a:rPr>
                  <a:t> is ICT/AI-related variable</a:t>
                </a:r>
              </a:p>
              <a:p>
                <a:pPr>
                  <a:lnSpc>
                    <a:spcPct val="120000"/>
                  </a:lnSpc>
                  <a:spcAft>
                    <a:spcPts val="1200"/>
                  </a:spcAft>
                </a:pP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𝑤</m:t>
                        </m:r>
                      </m:sub>
                    </m:sSub>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r>
                  <a:rPr lang="en-GB" sz="1900" dirty="0"/>
                  <a:t>(within-country ICT/AI exposure coefficient); </a:t>
                </a: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𝐵</m:t>
                        </m:r>
                      </m:sub>
                    </m:sSub>
                  </m:oMath>
                </a14:m>
                <a:r>
                  <a:rPr lang="en-GB" sz="1900" dirty="0"/>
                  <a:t> (between-country coefficient)</a:t>
                </a:r>
                <a:endParaRPr lang="en-GB" sz="1900" dirty="0">
                  <a:solidFill>
                    <a:schemeClr val="tx1"/>
                  </a:solidFill>
                </a:endParaRPr>
              </a:p>
              <a:p>
                <a:pPr>
                  <a:lnSpc>
                    <a:spcPct val="120000"/>
                  </a:lnSpc>
                  <a:spcAft>
                    <a:spcPts val="1200"/>
                  </a:spcAft>
                </a:pP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r>
                      <a:rPr lang="en-GB" sz="1900" b="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b="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 </m:t>
                    </m:r>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𝑋</m:t>
                            </m:r>
                          </m:e>
                          <m:sub>
                            <m:r>
                              <a:rPr lang="en-GB" sz="1900" b="0" i="1" noProof="1" smtClean="0">
                                <a:latin typeface="Cambria Math" panose="02040503050406030204" pitchFamily="18" charset="0"/>
                                <a:ea typeface="Verdana" panose="020B0604030504040204" pitchFamily="34" charset="0"/>
                              </a:rPr>
                              <m:t>𝑖</m:t>
                            </m:r>
                          </m:sub>
                        </m:sSub>
                      </m:e>
                    </m:acc>
                    <m:r>
                      <a:rPr lang="en-GB" sz="1900" b="0" i="0" noProof="1" smtClean="0">
                        <a:latin typeface="Cambria Math" panose="02040503050406030204" pitchFamily="18" charset="0"/>
                        <a:ea typeface="Verdana" panose="020B0604030504040204" pitchFamily="34" charset="0"/>
                      </a:rPr>
                      <m:t> </m:t>
                    </m:r>
                  </m:oMath>
                </a14:m>
                <a:r>
                  <a:rPr lang="en-GB" sz="1900" dirty="0"/>
                  <a:t>(within-country change)</a:t>
                </a:r>
                <a:r>
                  <a:rPr lang="en-GB" sz="1900" dirty="0">
                    <a:solidFill>
                      <a:schemeClr val="tx1"/>
                    </a:solidFill>
                  </a:rPr>
                  <a:t>; </a:t>
                </a:r>
                <a14:m>
                  <m:oMath xmlns:m="http://schemas.openxmlformats.org/officeDocument/2006/math">
                    <m:sSubSup>
                      <m:sSubSupPr>
                        <m:ctrlPr>
                          <a:rPr lang="en-GB" sz="1900" b="0" i="1" noProof="1" smtClean="0">
                            <a:latin typeface="Cambria Math" panose="02040503050406030204" pitchFamily="18" charset="0"/>
                            <a:ea typeface="Verdana" panose="020B0604030504040204" pitchFamily="34" charset="0"/>
                          </a:rPr>
                        </m:ctrlPr>
                      </m:sSubSupPr>
                      <m:e>
                        <m:r>
                          <a:rPr lang="en-GB" sz="1900" b="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up>
                        <m:r>
                          <a:rPr lang="en-GB" sz="1900" b="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dirty="0"/>
                  <a:t> (between-country differences)</a:t>
                </a:r>
              </a:p>
              <a:p>
                <a:pPr>
                  <a:lnSpc>
                    <a:spcPct val="120000"/>
                  </a:lnSpc>
                  <a:spcAft>
                    <a:spcPts val="1200"/>
                  </a:spcAft>
                </a:pPr>
                <a:r>
                  <a:rPr lang="en-GB" sz="1900" dirty="0"/>
                  <a:t>			</a:t>
                </a:r>
                <a14:m>
                  <m:oMath xmlns:m="http://schemas.openxmlformats.org/officeDocument/2006/math">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 </m:t>
                    </m:r>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𝐷</m:t>
                        </m:r>
                      </m:e>
                      <m:sub>
                        <m:r>
                          <a:rPr lang="en-GB" sz="1900" i="1" noProof="1" smtClean="0">
                            <a:latin typeface="Cambria Math" panose="02040503050406030204" pitchFamily="18" charset="0"/>
                            <a:ea typeface="Verdana" panose="020B0604030504040204" pitchFamily="34" charset="0"/>
                          </a:rPr>
                          <m:t>𝑡</m:t>
                        </m:r>
                      </m:sub>
                    </m:sSub>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i="1" noProof="1" smtClean="0">
                        <a:latin typeface="Cambria Math" panose="02040503050406030204" pitchFamily="18" charset="0"/>
                        <a:ea typeface="Verdana" panose="020B0604030504040204" pitchFamily="34" charset="0"/>
                      </a:rPr>
                      <m:t>−</m:t>
                    </m:r>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up>
                        <m:r>
                          <a:rPr lang="en-GB" sz="190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endParaRPr lang="en-GB" sz="1900" noProof="1"/>
              </a:p>
              <a:p>
                <a:pPr>
                  <a:lnSpc>
                    <a:spcPct val="120000"/>
                  </a:lnSpc>
                  <a:spcAft>
                    <a:spcPts val="1200"/>
                  </a:spcAft>
                </a:pPr>
                <a:r>
                  <a:rPr lang="en-GB" sz="1800" dirty="0"/>
                  <a:t>		</a:t>
                </a:r>
                <a:endParaRPr lang="en-GB" sz="1800" dirty="0">
                  <a:solidFill>
                    <a:schemeClr val="tx1"/>
                  </a:solidFill>
                </a:endParaRPr>
              </a:p>
              <a:p>
                <a:pPr>
                  <a:lnSpc>
                    <a:spcPct val="120000"/>
                  </a:lnSpc>
                  <a:spcAft>
                    <a:spcPts val="1200"/>
                  </a:spcAft>
                </a:pPr>
                <a:endParaRPr lang="en-GB" sz="1800" dirty="0">
                  <a:solidFill>
                    <a:schemeClr val="tx1"/>
                  </a:solidFill>
                </a:endParaRPr>
              </a:p>
            </p:txBody>
          </p:sp>
        </mc:Choice>
        <mc:Fallback>
          <p:sp>
            <p:nvSpPr>
              <p:cNvPr id="2" name="Content Placeholder 2">
                <a:extLst>
                  <a:ext uri="{FF2B5EF4-FFF2-40B4-BE49-F238E27FC236}">
                    <a16:creationId xmlns:a16="http://schemas.microsoft.com/office/drawing/2014/main" id="{4E2FFC46-D6F5-41BF-DECB-9FA98C0F56DD}"/>
                  </a:ext>
                </a:extLst>
              </p:cNvPr>
              <p:cNvSpPr>
                <a:spLocks noGrp="1" noRot="1" noChangeAspect="1" noMove="1" noResize="1" noEditPoints="1" noAdjustHandles="1" noChangeArrowheads="1" noChangeShapeType="1" noTextEdit="1"/>
              </p:cNvSpPr>
              <p:nvPr>
                <p:ph idx="1"/>
              </p:nvPr>
            </p:nvSpPr>
            <p:spPr>
              <a:xfrm>
                <a:off x="310896" y="877824"/>
                <a:ext cx="8723376" cy="6364224"/>
              </a:xfrm>
              <a:blipFill>
                <a:blip r:embed="rId3"/>
                <a:stretch>
                  <a:fillRect l="-1747" t="-1245"/>
                </a:stretch>
              </a:blipFill>
            </p:spPr>
            <p:txBody>
              <a:bodyPr/>
              <a:lstStyle/>
              <a:p>
                <a:r>
                  <a:rPr lang="en-US">
                    <a:noFill/>
                  </a:rPr>
                  <a:t> </a:t>
                </a:r>
              </a:p>
            </p:txBody>
          </p:sp>
        </mc:Fallback>
      </mc:AlternateContent>
    </p:spTree>
    <p:extLst>
      <p:ext uri="{BB962C8B-B14F-4D97-AF65-F5344CB8AC3E}">
        <p14:creationId xmlns:p14="http://schemas.microsoft.com/office/powerpoint/2010/main" val="37453198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A225-5025-E775-0BD3-776D66DBA8A8}"/>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E303A361-90E1-35B2-AE64-2B40EE87BE60}"/>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CRE probit models</a:t>
            </a:r>
          </a:p>
        </p:txBody>
      </p:sp>
      <p:sp>
        <p:nvSpPr>
          <p:cNvPr id="2" name="Content Placeholder 2">
            <a:extLst>
              <a:ext uri="{FF2B5EF4-FFF2-40B4-BE49-F238E27FC236}">
                <a16:creationId xmlns:a16="http://schemas.microsoft.com/office/drawing/2014/main" id="{A3001772-3E0A-65B5-1F29-4C5CF7BC0C4D}"/>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mc:Choice xmlns:a14="http://schemas.microsoft.com/office/drawing/2010/main" Requires="a14">
          <p:sp>
            <p:nvSpPr>
              <p:cNvPr id="6" name="Tekstvak 3">
                <a:extLst>
                  <a:ext uri="{FF2B5EF4-FFF2-40B4-BE49-F238E27FC236}">
                    <a16:creationId xmlns:a16="http://schemas.microsoft.com/office/drawing/2014/main" id="{A7CF6141-D8EB-7171-49B8-DB2C33D6D240}"/>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p:sp>
            <p:nvSpPr>
              <p:cNvPr id="6" name="Tekstvak 3">
                <a:extLst>
                  <a:ext uri="{FF2B5EF4-FFF2-40B4-BE49-F238E27FC236}">
                    <a16:creationId xmlns:a16="http://schemas.microsoft.com/office/drawing/2014/main" id="{A7CF6141-D8EB-7171-49B8-DB2C33D6D240}"/>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1934FC63-0880-B9C7-3990-4C41059B0EE7}"/>
              </a:ext>
            </a:extLst>
          </p:cNvPr>
          <p:cNvPicPr>
            <a:picLocks noChangeAspect="1"/>
          </p:cNvPicPr>
          <p:nvPr/>
        </p:nvPicPr>
        <p:blipFill>
          <a:blip r:embed="rId5"/>
          <a:stretch>
            <a:fillRect/>
          </a:stretch>
        </p:blipFill>
        <p:spPr>
          <a:xfrm>
            <a:off x="512826" y="2435733"/>
            <a:ext cx="3077972" cy="2169414"/>
          </a:xfrm>
          <a:prstGeom prst="rect">
            <a:avLst/>
          </a:prstGeom>
        </p:spPr>
      </p:pic>
      <p:pic>
        <p:nvPicPr>
          <p:cNvPr id="3" name="Picture 2">
            <a:extLst>
              <a:ext uri="{FF2B5EF4-FFF2-40B4-BE49-F238E27FC236}">
                <a16:creationId xmlns:a16="http://schemas.microsoft.com/office/drawing/2014/main" id="{BA1AEE6B-C3CF-FAEB-FF58-BBA90707E8D1}"/>
              </a:ext>
            </a:extLst>
          </p:cNvPr>
          <p:cNvPicPr>
            <a:picLocks noChangeAspect="1"/>
          </p:cNvPicPr>
          <p:nvPr/>
        </p:nvPicPr>
        <p:blipFill>
          <a:blip r:embed="rId6"/>
          <a:stretch>
            <a:fillRect/>
          </a:stretch>
        </p:blipFill>
        <p:spPr>
          <a:xfrm>
            <a:off x="3525121" y="2435733"/>
            <a:ext cx="4858006" cy="2169415"/>
          </a:xfrm>
          <a:prstGeom prst="rect">
            <a:avLst/>
          </a:prstGeom>
        </p:spPr>
      </p:pic>
    </p:spTree>
    <p:extLst>
      <p:ext uri="{BB962C8B-B14F-4D97-AF65-F5344CB8AC3E}">
        <p14:creationId xmlns:p14="http://schemas.microsoft.com/office/powerpoint/2010/main" val="2790278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6"/>
            <a:ext cx="8129275" cy="5287564"/>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Forecast vintage controls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Different choice of shock years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index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2232</TotalTime>
  <Words>2324</Words>
  <Application>Microsoft Office PowerPoint</Application>
  <PresentationFormat>On-screen Show (4:3)</PresentationFormat>
  <Paragraphs>164</Paragraphs>
  <Slides>17</Slides>
  <Notes>17</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17</vt:i4>
      </vt:variant>
    </vt:vector>
  </HeadingPairs>
  <TitlesOfParts>
    <vt:vector size="26"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Linear panel models (LPM)</vt:lpstr>
      <vt:lpstr>Results LPM models</vt:lpstr>
      <vt:lpstr>Correlated random-effects probit models (CRE)</vt:lpstr>
      <vt:lpstr>Results CRE probit models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2026-10-10T09:53:55Z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